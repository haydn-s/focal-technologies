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437b5ef90a4fc5" /><Relationship Type="http://schemas.openxmlformats.org/officeDocument/2006/relationships/extended-properties" Target="/docProps/app.xml" Id="R65de23b2750b49ca" /><Relationship Type="http://schemas.openxmlformats.org/officeDocument/2006/relationships/officeDocument" Target="/ppt/presentation.xml" Id="Rb5df1c8dab2442ca" /></Relationships>
</file>

<file path=ppt/presentation.xml><?xml version="1.0" encoding="utf-8"?>
<p:presentation xmlns:p="http://schemas.openxmlformats.org/presentationml/2006/main">
  <p:sldMasterIdLst>
    <p:sldMasterId xmlns:r="http://schemas.openxmlformats.org/officeDocument/2006/relationships" id="2147483648" r:id="R86f024d6fe2b43fe"/>
  </p:sldMasterIdLst>
  <p:notesMasterIdLst>
    <p:notesMasterId xmlns:r="http://schemas.openxmlformats.org/officeDocument/2006/relationships" r:id="R566c2a27d79a4af7"/>
  </p:notesMasterIdLst>
  <p:sldIdLst>
    <p:sldId xmlns:r="http://schemas.openxmlformats.org/officeDocument/2006/relationships" id="256" r:id="Ra163a84bb76f42a0"/>
    <p:sldId xmlns:r="http://schemas.openxmlformats.org/officeDocument/2006/relationships" id="257" r:id="R8bfa6dbd6cb643c9"/>
    <p:sldId xmlns:r="http://schemas.openxmlformats.org/officeDocument/2006/relationships" id="258" r:id="Re6c6a7b14a224fa6"/>
    <p:sldId xmlns:r="http://schemas.openxmlformats.org/officeDocument/2006/relationships" id="259" r:id="R41616f9d17d9476a"/>
    <p:sldId xmlns:r="http://schemas.openxmlformats.org/officeDocument/2006/relationships" id="260" r:id="Ref17cc2c3040448a"/>
    <p:sldId xmlns:r="http://schemas.openxmlformats.org/officeDocument/2006/relationships" id="261" r:id="R946867a36d6d4145"/>
    <p:sldId xmlns:r="http://schemas.openxmlformats.org/officeDocument/2006/relationships" id="262" r:id="R2b65b248b62a43fa"/>
    <p:sldId xmlns:r="http://schemas.openxmlformats.org/officeDocument/2006/relationships" id="263" r:id="R07085f3ad9e84503"/>
    <p:sldId xmlns:r="http://schemas.openxmlformats.org/officeDocument/2006/relationships" id="264" r:id="R648a7438e5eb4896"/>
    <p:sldId xmlns:r="http://schemas.openxmlformats.org/officeDocument/2006/relationships" id="265" r:id="R35e88f15efce4b5b"/>
    <p:sldId xmlns:r="http://schemas.openxmlformats.org/officeDocument/2006/relationships" id="266" r:id="R6193c40184164231"/>
    <p:sldId xmlns:r="http://schemas.openxmlformats.org/officeDocument/2006/relationships" id="267" r:id="R339311ef64674d1c"/>
    <p:sldId xmlns:r="http://schemas.openxmlformats.org/officeDocument/2006/relationships" id="268" r:id="R5f10ea2766ee4707"/>
    <p:sldId xmlns:r="http://schemas.openxmlformats.org/officeDocument/2006/relationships" id="269" r:id="Rda35f75718b8402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7192b15db24b1a" /><Relationship Type="http://schemas.openxmlformats.org/officeDocument/2006/relationships/slideMaster" Target="/ppt/slideMasters/slideMaster1.xml" Id="R86f024d6fe2b43fe" /><Relationship Type="http://schemas.openxmlformats.org/officeDocument/2006/relationships/notesMaster" Target="/ppt/notesMasters/notesMaster1.xml" Id="R566c2a27d79a4af7" /><Relationship Type="http://schemas.openxmlformats.org/officeDocument/2006/relationships/presProps" Target="/ppt/presProps.xml" Id="Re02d8509634348a1" /><Relationship Type="http://schemas.openxmlformats.org/officeDocument/2006/relationships/tableStyles" Target="/ppt/tableStyles.xml" Id="R5f3e1b6327d54f88" /><Relationship Type="http://schemas.openxmlformats.org/officeDocument/2006/relationships/slide" Target="/ppt/slides/slide1.xml" Id="Ra163a84bb76f42a0" /><Relationship Type="http://schemas.openxmlformats.org/officeDocument/2006/relationships/slide" Target="/ppt/slides/slide2.xml" Id="R8bfa6dbd6cb643c9" /><Relationship Type="http://schemas.openxmlformats.org/officeDocument/2006/relationships/slide" Target="/ppt/slides/slide3.xml" Id="Re6c6a7b14a224fa6" /><Relationship Type="http://schemas.openxmlformats.org/officeDocument/2006/relationships/slide" Target="/ppt/slides/slide4.xml" Id="R41616f9d17d9476a" /><Relationship Type="http://schemas.openxmlformats.org/officeDocument/2006/relationships/slide" Target="/ppt/slides/slide5.xml" Id="Ref17cc2c3040448a" /><Relationship Type="http://schemas.openxmlformats.org/officeDocument/2006/relationships/slide" Target="/ppt/slides/slide6.xml" Id="R946867a36d6d4145" /><Relationship Type="http://schemas.openxmlformats.org/officeDocument/2006/relationships/slide" Target="/ppt/slides/slide7.xml" Id="R2b65b248b62a43fa" /><Relationship Type="http://schemas.openxmlformats.org/officeDocument/2006/relationships/slide" Target="/ppt/slides/slide8.xml" Id="R07085f3ad9e84503" /><Relationship Type="http://schemas.openxmlformats.org/officeDocument/2006/relationships/slide" Target="/ppt/slides/slide9.xml" Id="R648a7438e5eb4896" /><Relationship Type="http://schemas.openxmlformats.org/officeDocument/2006/relationships/slide" Target="/ppt/slides/slide10.xml" Id="R35e88f15efce4b5b" /><Relationship Type="http://schemas.openxmlformats.org/officeDocument/2006/relationships/slide" Target="/ppt/slides/slide11.xml" Id="R6193c40184164231" /><Relationship Type="http://schemas.openxmlformats.org/officeDocument/2006/relationships/slide" Target="/ppt/slides/slide12.xml" Id="R339311ef64674d1c" /><Relationship Type="http://schemas.openxmlformats.org/officeDocument/2006/relationships/slide" Target="/ppt/slides/slide13.xml" Id="R5f10ea2766ee4707" /><Relationship Type="http://schemas.openxmlformats.org/officeDocument/2006/relationships/slide" Target="/ppt/slides/slide14.xml" Id="Rda35f75718b840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4b0c5ba5a04e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1d8b463ab949f7" /><Relationship Type="http://schemas.openxmlformats.org/officeDocument/2006/relationships/notesMaster" Target="/ppt/notesMasters/notesMaster1.xml" Id="R74a7214d94b146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459245a7e84624" /><Relationship Type="http://schemas.openxmlformats.org/officeDocument/2006/relationships/notesMaster" Target="/ppt/notesMasters/notesMaster1.xml" Id="R6872ab5702e246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37bda49278457f" /><Relationship Type="http://schemas.openxmlformats.org/officeDocument/2006/relationships/notesMaster" Target="/ppt/notesMasters/notesMaster1.xml" Id="R4b1f149dcdf84a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a026e4953e42cb" /><Relationship Type="http://schemas.openxmlformats.org/officeDocument/2006/relationships/notesMaster" Target="/ppt/notesMasters/notesMaster1.xml" Id="Rd637131d785c40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4051396c7e4791" /><Relationship Type="http://schemas.openxmlformats.org/officeDocument/2006/relationships/notesMaster" Target="/ppt/notesMasters/notesMaster1.xml" Id="R7dd884fa42314c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2fa957b7a248b8" /><Relationship Type="http://schemas.openxmlformats.org/officeDocument/2006/relationships/notesMaster" Target="/ppt/notesMasters/notesMaster1.xml" Id="R6d1d12fb3ae249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435fd6d4d64581" /><Relationship Type="http://schemas.openxmlformats.org/officeDocument/2006/relationships/notesMaster" Target="/ppt/notesMasters/notesMaster1.xml" Id="Ra570c79f34834a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2a237b73a7477f" /><Relationship Type="http://schemas.openxmlformats.org/officeDocument/2006/relationships/notesMaster" Target="/ppt/notesMasters/notesMaster1.xml" Id="R69d7416494cb4f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c06a093b2c4e56" /><Relationship Type="http://schemas.openxmlformats.org/officeDocument/2006/relationships/notesMaster" Target="/ppt/notesMasters/notesMaster1.xml" Id="R51a6d8b33e2642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932fb19588400b" /><Relationship Type="http://schemas.openxmlformats.org/officeDocument/2006/relationships/notesMaster" Target="/ppt/notesMasters/notesMaster1.xml" Id="R21ed465f2e4440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3fb70fac4e4294" /><Relationship Type="http://schemas.openxmlformats.org/officeDocument/2006/relationships/notesMaster" Target="/ppt/notesMasters/notesMaster1.xml" Id="R4a053783e0ba45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99e279d09b4f22" /><Relationship Type="http://schemas.openxmlformats.org/officeDocument/2006/relationships/notesMaster" Target="/ppt/notesMasters/notesMaster1.xml" Id="Rf9a933f8c1f846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945c9391624eed" /><Relationship Type="http://schemas.openxmlformats.org/officeDocument/2006/relationships/notesMaster" Target="/ppt/notesMasters/notesMaster1.xml" Id="Rc2dd8fb36bfc47f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87c62305eb48cb" /><Relationship Type="http://schemas.openxmlformats.org/officeDocument/2006/relationships/notesMaster" Target="/ppt/notesMasters/notesMaster1.xml" Id="Re0a61901ca2d4e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a:t>
            </a:r>
          </a:p>
          <a:p xmlns:a="http://schemas.openxmlformats.org/drawingml/2006/main">
            <a:r>
              <a:t/>
            </a:r>
          </a:p>
          <a:p xmlns:a="http://schemas.openxmlformats.org/drawingml/2006/main">
            <a:r>
              <a:t>Introduce Focal and the team. We built three working experiences to compare where to focus first. This deck accompanies the websites. It does not replace the live demos. Slides 1–3 together take no more than two minutes.</a:t>
            </a:r>
          </a:p>
          <a:p xmlns:a="http://schemas.openxmlformats.org/drawingml/2006/main">
            <a:r>
              <a:t/>
            </a:r>
          </a:p>
          <a:p xmlns:a="http://schemas.openxmlformats.org/drawingml/2006/main">
            <a:r>
              <a:t>Sources</a:t>
            </a:r>
          </a:p>
          <a:p xmlns:a="http://schemas.openxmlformats.org/drawingml/2006/main">
            <a:r>
              <a:t>docs/assignments/prototype-assignment.md</a:t>
            </a:r>
          </a:p>
          <a:p xmlns:a="http://schemas.openxmlformats.org/drawingml/2006/main">
            <a:r>
              <a:t>docs/strategy/lean-canvas.pptx, slides 1–2</a:t>
            </a:r>
          </a:p>
          <a:p xmlns:a="http://schemas.openxmlformats.org/drawingml/2006/main">
            <a:r>
              <a:t>Logo: assets/brand/focal-lockup.svg, original supplied artwork</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Our original Lean Canvas emphasized accessibility, outdated testing and routine monitoring. Discovery widened the problem: the obstacle can be effort, fear of the answer, low urgency, or uncertainty about the next step. This is the current product framing, not a clinical finding. Introduce the three situations: Riley notices possible change, Pat notices a child struggling, and Alex has a DMV visit coming up.</a:t>
            </a:r>
          </a:p>
          <a:p xmlns:a="http://schemas.openxmlformats.org/drawingml/2006/main">
            <a:r>
              <a:t/>
            </a:r>
          </a:p>
          <a:p xmlns:a="http://schemas.openxmlformats.org/drawingml/2006/main">
            <a:r>
              <a:t>Sources</a:t>
            </a:r>
          </a:p>
          <a:p xmlns:a="http://schemas.openxmlformats.org/drawingml/2006/main">
            <a:r>
              <a:t>docs/strategy/lean-canvas.pptx, slides 1–2</a:t>
            </a:r>
          </a:p>
          <a:p xmlns:a="http://schemas.openxmlformats.org/drawingml/2006/main">
            <a:r>
              <a:t>docs/research/customer-discovery/presentation.pptx, slides 2, 3, 5, 6, 7; docs/research/customer-discovery/interview-workbook.docx, sections 3B, 3C and the existing Team Final Assessment</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Explain the shift without overstating the interviews. The discovery presentation records five virtual and five in-person interviews, with no real licensing supervisor. The small convenience sample challenged universal claims about tracking, trust and urgency. The parent finding is from a real interview. Alex's detailed DMV scenario and Lisa's institutional scenario are virtual-persona evidence. C's deadline is therefore a bet to test with real applicants. Do not present the personas as confirmed market segments. End the problem section at two minutes total.</a:t>
            </a:r>
          </a:p>
          <a:p xmlns:a="http://schemas.openxmlformats.org/drawingml/2006/main">
            <a:r>
              <a:t/>
            </a:r>
          </a:p>
          <a:p xmlns:a="http://schemas.openxmlformats.org/drawingml/2006/main">
            <a:r>
              <a:t>Sources</a:t>
            </a:r>
          </a:p>
          <a:p xmlns:a="http://schemas.openxmlformats.org/drawingml/2006/main">
            <a:r>
              <a:t>docs/research/customer-discovery/presentation.pptx, slides 2, 3, 5, 6, 7; docs/research/customer-discovery/interview-workbook.docx, sections 3B, 3C and the existing Team Final Assessment</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Riley wears corrective lenses and wants to understand change between exams. The hypothesis is that historical context will feel more useful than an isolated result. Explain the eight-item interaction, then the same current result in two formats. Historical records are fictional, clearly separate from the completed demo session. Initial comparison order is randomized and feedback requires both views. Ask for preference and the reason, including equal, neither or uncertain answers. A pilot signal is at least three of five Riley-like participants stating a format preference and explaining why. That is a proposed decision aid, not a finding. A flat preference, confusion between fictional and current data, or a preference for the single result would challenge the bet. Stated preference does not establish return behavior. A previous isolated result may anchor the comparison. The acuity-style label is illustrative and uncalibrated.</a:t>
            </a:r>
          </a:p>
          <a:p xmlns:a="http://schemas.openxmlformats.org/drawingml/2006/main">
            <a:r>
              <a:t/>
            </a:r>
          </a:p>
          <a:p xmlns:a="http://schemas.openxmlformats.org/drawingml/2006/main">
            <a:r>
              <a:t>Sources</a:t>
            </a:r>
          </a:p>
          <a:p xmlns:a="http://schemas.openxmlformats.org/drawingml/2006/main">
            <a:r>
              <a:t>prototypes/prototype-a-riley-vision-tracking/README.md and app.py</a:t>
            </a:r>
          </a:p>
          <a:p xmlns:a="http://schemas.openxmlformats.org/drawingml/2006/main">
            <a:r>
              <a:t>https://focal-demo-a.streamlit.app/</a:t>
            </a:r>
          </a:p>
          <a:p xmlns:a="http://schemas.openxmlformats.org/drawingml/2006/main">
            <a:r>
              <a:t>Screenshot: actual public demo, captured October 21, 2026. Test responses were made for the demonstration.</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Pat is a working parent of children aged four to ten. One real parent already tracked exam records and described children memorizing a home chart. B explores a shared activity and preparation rather than adding another tracking dashboard. Children learn a practice picture, then complete or skip six fixed-size pictures with breaks available. The parent records what they noticed, chooses a next step, adds questions and edits a message. The app never infers a care recommendation from matching performance. Proposed pilot signals are four of five parents completing unaided and three of five choosing appointment or school-contact preparation. Ask how clear their next step is and what could prevent follow-through. Participants may find the activity irrelevant or the note unhelpful, which would challenge the bet. A download request or expressed intention does not prove an appointment happened. The fictional example is labeled and must be analyzed separately.</a:t>
            </a:r>
          </a:p>
          <a:p xmlns:a="http://schemas.openxmlformats.org/drawingml/2006/main">
            <a:r>
              <a:t/>
            </a:r>
          </a:p>
          <a:p xmlns:a="http://schemas.openxmlformats.org/drawingml/2006/main">
            <a:r>
              <a:t>Sources</a:t>
            </a:r>
          </a:p>
          <a:p xmlns:a="http://schemas.openxmlformats.org/drawingml/2006/main">
            <a:r>
              <a:t>prototypes/prototype-b-parent-guided-check/README.md, app.py and demo.py</a:t>
            </a:r>
          </a:p>
          <a:p xmlns:a="http://schemas.openxmlformats.org/drawingml/2006/main">
            <a:r>
              <a:t>docs/research/customer-discovery/presentation.pptx, slides 2, 3, 5, 6, 7; docs/research/customer-discovery/interview-workbook.docx, sections 3B, 3C and the existing Team Final Assessment</a:t>
            </a:r>
          </a:p>
          <a:p xmlns:a="http://schemas.openxmlformats.org/drawingml/2006/main">
            <a:r>
              <a:t>https://focal-demo-b.streamlit.app/</a:t>
            </a:r>
          </a:p>
          <a:p xmlns:a="http://schemas.openxmlformats.org/drawingml/2006/main">
            <a:r>
              <a:t>Screenshot: built-in fictional example on the public demo, captured October 21, 2026.</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Alex has a first license or renewal coming up. The hypothesis is that a concrete deadline and a contextual practice result will motivate use more than an unexplained score. The app includes a state picker, card-based screen sizing, a chosen viewing distance, randomized letters, one honest retake, and a next-step plan. Reminders are simulated and the parent message is a draft. Proposed signals include seventy percent reporting that they understand the practice result and sixty percent of deadline-relevant people saying they would likely use it. For people shown the see-an-eye-doctor route, the existing scope proposes fifty percent stated intent to book. Confirm these pilot rules with the team. There is no controlled general-score comparator in this app, so its preference question cannot establish a causal advantage. Alex said the road test worried him more than the vision screening in the virtual interview. Low urgency among real applicants would challenge the bet. This is not an official DMV test or clinical prediction of passing.</a:t>
            </a:r>
          </a:p>
          <a:p xmlns:a="http://schemas.openxmlformats.org/drawingml/2006/main">
            <a:r>
              <a:t/>
            </a:r>
          </a:p>
          <a:p xmlns:a="http://schemas.openxmlformats.org/drawingml/2006/main">
            <a:r>
              <a:t>Sources</a:t>
            </a:r>
          </a:p>
          <a:p xmlns:a="http://schemas.openxmlformats.org/drawingml/2006/main">
            <a:r>
              <a:t>prototypes/prototype-c-alex-dmv-precheck/README.md and app.py</a:t>
            </a:r>
          </a:p>
          <a:p xmlns:a="http://schemas.openxmlformats.org/drawingml/2006/main">
            <a:r>
              <a:t>docs/research/customer-discovery/presentation.pptx, slides 2, 3, 5, 6, 7; docs/research/customer-discovery/interview-workbook.docx, sections 3B, 3C and the existing Team Final Assessment</a:t>
            </a:r>
          </a:p>
          <a:p xmlns:a="http://schemas.openxmlformats.org/drawingml/2006/main">
            <a:r>
              <a:t>docs/strategy/lean-canvas.pptx, slides 1–2</a:t>
            </a:r>
          </a:p>
          <a:p xmlns:a="http://schemas.openxmlformats.org/drawingml/2006/main">
            <a:r>
              <a:t>https://focal-demo-c.streamlit.app/</a:t>
            </a:r>
          </a:p>
          <a:p xmlns:a="http://schemas.openxmlformats.org/drawingml/2006/main">
            <a:r>
              <a:t>Screenshot: actual public welcome page, captured October 21, 2026.</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0:00–0:20 Open the published app in a fresh tab and introduce Riley.</a:t>
            </a:r>
          </a:p>
          <a:p xmlns:a="http://schemas.openxmlformats.org/drawingml/2006/main">
            <a:r>
              <a:t>0:20–0:55 Complete the eight E responses with the demo interaction.</a:t>
            </a:r>
          </a:p>
          <a:p xmlns:a="http://schemas.openxmlformats.org/drawingml/2006/main">
            <a:r>
              <a:t>0:55–1:30 Open Compare Results, visit both Single Result and Trend Tracking, and point out the fictional history versus the completed session.</a:t>
            </a:r>
          </a:p>
          <a:p xmlns:a="http://schemas.openxmlformats.org/drawingml/2006/main">
            <a:r>
              <a:t>1:30–2:00 Show the neutral feedback and reset path. Do not describe the demo acuity label as a measurement. Keep a separately prepared completed session available if answering takes too long. If the live app fails, use the screenshot to describe the intended journey and move on.</a:t>
            </a:r>
          </a:p>
          <a:p xmlns:a="http://schemas.openxmlformats.org/drawingml/2006/main">
            <a:r>
              <a:t/>
            </a:r>
          </a:p>
          <a:p xmlns:a="http://schemas.openxmlformats.org/drawingml/2006/main">
            <a:r>
              <a:t>Sources</a:t>
            </a:r>
          </a:p>
          <a:p xmlns:a="http://schemas.openxmlformats.org/drawingml/2006/main">
            <a:r>
              <a:t>prototypes/prototype-a-riley-vision-tracking/README.md and app.py</a:t>
            </a:r>
          </a:p>
          <a:p xmlns:a="http://schemas.openxmlformats.org/drawingml/2006/main">
            <a:r>
              <a:t>https://focal-demo-a.streamlit.app/</a:t>
            </a:r>
          </a:p>
          <a:p xmlns:a="http://schemas.openxmlformats.org/drawingml/2006/main">
            <a:r>
              <a:t>Image: actual public demo screenshot captured October 21, 2026. Screenshots illustrate the interface and are not clinical evidence.</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0:00–0:20 Select a label and age group, then complete the practice circle.</a:t>
            </a:r>
          </a:p>
          <a:p xmlns:a="http://schemas.openxmlformats.org/drawingml/2006/main">
            <a:r>
              <a:t>0:20–0:55 Explore the six pictures, skip one, and briefly pause and resume.</a:t>
            </a:r>
          </a:p>
          <a:p xmlns:a="http://schemas.openxmlformats.org/drawingml/2006/main">
            <a:r>
              <a:t>0:55–1:20 Record an observation and choose appointment or school preparation.</a:t>
            </a:r>
          </a:p>
          <a:p xmlns:a="http://schemas.openxmlformats.org/drawingml/2006/main">
            <a:r>
              <a:t>1:20–1:45 Add a question or edit the message, then show the summary download.</a:t>
            </a:r>
          </a:p>
          <a:p xmlns:a="http://schemas.openxmlformats.org/drawingml/2006/main">
            <a:r>
              <a:t>1:45–2:00 Show clarity and barrier feedback and the reset. Nothing is booked or sent. The built-in fictional example is a labeled backup, not a participant result. If the live app fails, use the screenshot to explain the intended journey and move on.</a:t>
            </a:r>
          </a:p>
          <a:p xmlns:a="http://schemas.openxmlformats.org/drawingml/2006/main">
            <a:r>
              <a:t/>
            </a:r>
          </a:p>
          <a:p xmlns:a="http://schemas.openxmlformats.org/drawingml/2006/main">
            <a:r>
              <a:t>Sources</a:t>
            </a:r>
          </a:p>
          <a:p xmlns:a="http://schemas.openxmlformats.org/drawingml/2006/main">
            <a:r>
              <a:t>prototypes/prototype-b-parent-guided-check/README.md, app.py and demo.py</a:t>
            </a:r>
          </a:p>
          <a:p xmlns:a="http://schemas.openxmlformats.org/drawingml/2006/main">
            <a:r>
              <a:t>https://focal-demo-b.streamlit.app/</a:t>
            </a:r>
          </a:p>
          <a:p xmlns:a="http://schemas.openxmlformats.org/drawingml/2006/main">
            <a:r>
              <a:t>Image: actual public demo screenshot captured October 21, 2026. Screenshots illustrate the interface and are not clinical evidence.</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0:00–0:30 Select a state, show the linked source, match the card width, choose distance and complete the setup checklist.</a:t>
            </a:r>
          </a:p>
          <a:p xmlns:a="http://schemas.openxmlformats.org/drawingml/2006/main">
            <a:r>
              <a:t>0:30–1:15 Answer the letters, using Can't tell when appropriate. Show the result of this attempt without forcing a favorable outcome.</a:t>
            </a:r>
          </a:p>
          <a:p xmlns:a="http://schemas.openxmlformats.org/drawingml/2006/main">
            <a:r>
              <a:t>1:15–1:45 Explain the practice verdict and next-step plan. Point out the simulated reminder and the message draft.</a:t>
            </a:r>
          </a:p>
          <a:p xmlns:a="http://schemas.openxmlformats.org/drawingml/2006/main">
            <a:r>
              <a:t>1:45–2:00 Show the feedback path. A separately prepared completed session can serve as a backup. The app does not certify eligibility or predict the official result. If the live app fails, use the screenshot to explain the intended journey and move on.</a:t>
            </a:r>
          </a:p>
          <a:p xmlns:a="http://schemas.openxmlformats.org/drawingml/2006/main">
            <a:r>
              <a:t/>
            </a:r>
          </a:p>
          <a:p xmlns:a="http://schemas.openxmlformats.org/drawingml/2006/main">
            <a:r>
              <a:t>Sources</a:t>
            </a:r>
          </a:p>
          <a:p xmlns:a="http://schemas.openxmlformats.org/drawingml/2006/main">
            <a:r>
              <a:t>prototypes/prototype-c-alex-dmv-precheck/README.md and app.py</a:t>
            </a:r>
          </a:p>
          <a:p xmlns:a="http://schemas.openxmlformats.org/drawingml/2006/main">
            <a:r>
              <a:t>https://focal-demo-c.streamlit.app/</a:t>
            </a:r>
          </a:p>
          <a:p xmlns:a="http://schemas.openxmlformats.org/drawingml/2006/main">
            <a:r>
              <a:t>Image: actual public demo screenshot captured October 21, 2026. Screenshots illustrate the interface and are not clinical evidence.</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Explain prioritization using value, effort, complexity and success signals. These are qualitative team estimates synthesized from the per-prototype scope cards. A's medium work protects a fair format comparison. B keeps observation capture simple and spends additional effort on note editing and pause state. C spends effort on setup and communicating the result. All three keep feedback visible because the goal is learning. The numerical signals come from the documented proposed scope rules. They are not observed results or statistically powered thresholds. They also do not make the three personas directly comparable.</a:t>
            </a:r>
          </a:p>
          <a:p xmlns:a="http://schemas.openxmlformats.org/drawingml/2006/main">
            <a:r>
              <a:t/>
            </a:r>
          </a:p>
          <a:p xmlns:a="http://schemas.openxmlformats.org/drawingml/2006/main">
            <a:r>
              <a:t>Sources</a:t>
            </a:r>
          </a:p>
          <a:p xmlns:a="http://schemas.openxmlformats.org/drawingml/2006/main">
            <a:r>
              <a:t>prototypes/prototype-a-riley-vision-tracking/README.md and app.py</a:t>
            </a:r>
          </a:p>
          <a:p xmlns:a="http://schemas.openxmlformats.org/drawingml/2006/main">
            <a:r>
              <a:t>prototypes/prototype-b-parent-guided-check/README.md, app.py and demo.py</a:t>
            </a:r>
          </a:p>
          <a:p xmlns:a="http://schemas.openxmlformats.org/drawingml/2006/main">
            <a:r>
              <a:t>prototypes/prototype-c-alex-dmv-precheck/README.md and app.py</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These cuts preserve the feature each prototype needs to test. Explain the cost: A cannot show actual retention, B cannot show that an appointment happened, and C cannot claim official acceptance or reminder-driven follow-through. Adding every integration now would increase effort while muddying the comparison. Clinical calibration and validation need their own work before anyone relies on the apps as measurements.</a:t>
            </a:r>
          </a:p>
          <a:p xmlns:a="http://schemas.openxmlformats.org/drawingml/2006/main">
            <a:r>
              <a:t/>
            </a:r>
          </a:p>
          <a:p xmlns:a="http://schemas.openxmlformats.org/drawingml/2006/main">
            <a:r>
              <a:t>Sources</a:t>
            </a:r>
          </a:p>
          <a:p xmlns:a="http://schemas.openxmlformats.org/drawingml/2006/main">
            <a:r>
              <a:t>prototypes/prototype-a-riley-vision-tracking/README.md and app.py</a:t>
            </a:r>
          </a:p>
          <a:p xmlns:a="http://schemas.openxmlformats.org/drawingml/2006/main">
            <a:r>
              <a:t>prototypes/prototype-b-parent-guided-check/README.md, app.py and demo.py</a:t>
            </a:r>
          </a:p>
          <a:p xmlns:a="http://schemas.openxmlformats.org/drawingml/2006/main">
            <a:r>
              <a:t>prototypes/prototype-c-alex-dmv-precheck/README.md and app.py</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
            </a:r>
          </a:p>
          <a:p xmlns:a="http://schemas.openxmlformats.org/drawingml/2006/main">
            <a:r>
              <a:t>We have not chosen a winner or collected classroom results yet. A favorable vote identifies the next direction to investigate, not proof of market demand. Recruit the relevant persona for each follow-up and observe behavior. Capture completion time, help needed, comprehension and reasons. Keep fictional examples separate from participant sessions. Do not equate usefulness with clinical validity or download intent with action. If classroom preference conflicts with persona evidence, explain the conflict and discuss a reasoned alternative with the teaching team, following the assignment.</a:t>
            </a:r>
          </a:p>
          <a:p xmlns:a="http://schemas.openxmlformats.org/drawingml/2006/main">
            <a:r>
              <a:t/>
            </a:r>
          </a:p>
          <a:p xmlns:a="http://schemas.openxmlformats.org/drawingml/2006/main">
            <a:r>
              <a:t>Sources</a:t>
            </a:r>
          </a:p>
          <a:p xmlns:a="http://schemas.openxmlformats.org/drawingml/2006/main">
            <a:r>
              <a:t>docs/assignments/prototype-assignment.md</a:t>
            </a:r>
          </a:p>
          <a:p xmlns:a="http://schemas.openxmlformats.org/drawingml/2006/main">
            <a:r>
              <a:t>prototypes/prototype-a-riley-vision-tracking/README.md and app.py</a:t>
            </a:r>
          </a:p>
          <a:p xmlns:a="http://schemas.openxmlformats.org/drawingml/2006/main">
            <a:r>
              <a:t>prototypes/prototype-b-parent-guided-check/README.md, app.py and demo.py</a:t>
            </a:r>
          </a:p>
          <a:p xmlns:a="http://schemas.openxmlformats.org/drawingml/2006/main">
            <a:r>
              <a:t>prototypes/prototype-c-alex-dmv-precheck/README.md and app.py</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 then class vote</a:t>
            </a:r>
          </a:p>
          <a:p xmlns:a="http://schemas.openxmlformats.org/drawingml/2006/main">
            <a:r>
              <a:t/>
            </a:r>
          </a:p>
          <a:p xmlns:a="http://schemas.openxmlformats.org/drawingml/2006/main">
            <a:r>
              <a:t>Ask the class to vote for the prototype they would actually use and capture the reason. Do not show a predicted or invented vote total. Record the tally after the class votes. The assignment expects us to move forward with the voted option unless we bring the teaching team a reasoned case for another version.</a:t>
            </a:r>
          </a:p>
          <a:p xmlns:a="http://schemas.openxmlformats.org/drawingml/2006/main">
            <a:r>
              <a:t/>
            </a:r>
          </a:p>
          <a:p xmlns:a="http://schemas.openxmlformats.org/drawingml/2006/main">
            <a:r>
              <a:t>Sources</a:t>
            </a:r>
          </a:p>
          <a:p xmlns:a="http://schemas.openxmlformats.org/drawingml/2006/main">
            <a:r>
              <a:t>docs/assignments/prototype-assignment.md</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slide, outside the main talk</a:t>
            </a:r>
          </a:p>
          <a:p xmlns:a="http://schemas.openxmlformats.org/drawingml/2006/main">
            <a:r>
              <a:t/>
            </a:r>
          </a:p>
          <a:p xmlns:a="http://schemas.openxmlformats.org/drawingml/2006/main">
            <a:r>
              <a:t>All three public landing pages loaded during preparation on October 21, 2026. The team still needs two human rehearsals per demo, a final public full-flow check and Canvas submission. This slide provides actual links, not a submission receipt. Detailed evidence and implementation sources appear in the notes of the relevant slides.</a:t>
            </a:r>
          </a:p>
          <a:p xmlns:a="http://schemas.openxmlformats.org/drawingml/2006/main">
            <a:r>
              <a:t/>
            </a:r>
          </a:p>
          <a:p xmlns:a="http://schemas.openxmlformats.org/drawingml/2006/main">
            <a:r>
              <a:t>Sources</a:t>
            </a:r>
          </a:p>
          <a:p xmlns:a="http://schemas.openxmlformats.org/drawingml/2006/main">
            <a:r>
              <a:t>https://focal-demo-a.streamlit.app/</a:t>
            </a:r>
          </a:p>
          <a:p xmlns:a="http://schemas.openxmlformats.org/drawingml/2006/main">
            <a:r>
              <a:t>https://focal-demo-b.streamlit.app/</a:t>
            </a:r>
          </a:p>
          <a:p xmlns:a="http://schemas.openxmlformats.org/drawingml/2006/main">
            <a:r>
              <a:t>https://focal-demo-c.streamlit.app/</a:t>
            </a:r>
          </a:p>
          <a:p xmlns:a="http://schemas.openxmlformats.org/drawingml/2006/main">
            <a:r>
              <a:t>https://github.com/haydn-s/focal-technologies/blob/main/prompts.md</a:t>
            </a:r>
          </a:p>
          <a:p xmlns:a="http://schemas.openxmlformats.org/drawingml/2006/main">
            <a:r>
              <a:t>docs/assignments/prototype-assignment.md</a:t>
            </a:r>
          </a:p>
          <a:p xmlns:a="http://schemas.openxmlformats.org/drawingml/2006/main">
            <a:r>
              <a:t>Repository: https://github.com/haydn-s/focal-technologies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4ef18bd0554c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8528bce98e4e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3b407688b848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5f79c5c3344d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99173dc3c46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e4fd64530d41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989FE-3642-4E86-B9C0-5719E5C7B80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26B8CB-D8B0-4285-A9B0-C505E17F271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57B38D-7F8F-4FD7-8D42-777FB3304EC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AEABF6-617E-4D32-BAC1-4A654F6FE24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5E9ED5-E0B7-409A-AC23-39029A536492}"/>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E92E92-2904-46D3-AE94-46139888DE8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18258A-3303-4816-8453-107BADE75F4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2A5E6F-428F-465C-9F56-7906BC7ED4D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8A68FE-EED6-45E4-B934-D54700B1B23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6F84AD-D1E6-48DF-983A-4426876CF97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2337012d0b487e" /><Relationship Type="http://schemas.openxmlformats.org/officeDocument/2006/relationships/slideLayout" Target="/ppt/slideLayouts/slideLayout1.xml" Id="Rcca10a4614f44d9a" /><Relationship Type="http://schemas.openxmlformats.org/officeDocument/2006/relationships/slideLayout" Target="/ppt/slideLayouts/slideLayout2.xml" Id="R44d3c19932bb4a9b" /><Relationship Type="http://schemas.openxmlformats.org/officeDocument/2006/relationships/slideLayout" Target="/ppt/slideLayouts/slideLayout3.xml" Id="R0c8abe661e7a48f6" /><Relationship Type="http://schemas.openxmlformats.org/officeDocument/2006/relationships/slideLayout" Target="/ppt/slideLayouts/slideLayout4.xml" Id="R04c6b40b90834887" /><Relationship Type="http://schemas.openxmlformats.org/officeDocument/2006/relationships/slideLayout" Target="/ppt/slideLayouts/slideLayout5.xml" Id="Rd19f18b9b0174f85" /><Relationship Type="http://schemas.openxmlformats.org/officeDocument/2006/relationships/slideLayout" Target="/ppt/slideLayouts/slideLayout6.xml" Id="Rf17a202c325b4f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a10a4614f44d9a"/>
    <p:sldLayoutId xmlns:r="http://schemas.openxmlformats.org/officeDocument/2006/relationships" id="2147483650" r:id="R44d3c19932bb4a9b"/>
    <p:sldLayoutId xmlns:r="http://schemas.openxmlformats.org/officeDocument/2006/relationships" id="2147483651" r:id="R0c8abe661e7a48f6"/>
    <p:sldLayoutId xmlns:r="http://schemas.openxmlformats.org/officeDocument/2006/relationships" id="2147483652" r:id="R04c6b40b90834887"/>
    <p:sldLayoutId xmlns:r="http://schemas.openxmlformats.org/officeDocument/2006/relationships" id="2147483653" r:id="Rd19f18b9b0174f85"/>
    <p:sldLayoutId xmlns:r="http://schemas.openxmlformats.org/officeDocument/2006/relationships" id="2147483654" r:id="Rf17a202c325b4f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08b4040b8c41a3" /><Relationship Type="http://schemas.openxmlformats.org/officeDocument/2006/relationships/image" Target="/ppt/media/image.png" Id="R3d47e480dae74143" /><Relationship Type="http://schemas.openxmlformats.org/officeDocument/2006/relationships/image" Target="/ppt/media/image.svg" Id="Rf02194b6290441ac" /><Relationship Type="http://schemas.openxmlformats.org/officeDocument/2006/relationships/notesSlide" Target="/ppt/notesSlides/notesSlide1.xml" Id="R39e7dadfb4534d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e4b0f07dcb44ac" /><Relationship Type="http://schemas.openxmlformats.org/officeDocument/2006/relationships/notesSlide" Target="/ppt/notesSlides/notesSlide2.xml" Id="R9a6c58bf866f40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c7b3f8bfc245eb" /><Relationship Type="http://schemas.openxmlformats.org/officeDocument/2006/relationships/notesSlide" Target="/ppt/notesSlides/notesSlide3.xml" Id="Rac8d5376786e4c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3275c8fbc8f4d57" /><Relationship Type="http://schemas.openxmlformats.org/officeDocument/2006/relationships/image" Target="/ppt/media/image.jpeg" Id="Rb7c56b3c5811408b" /><Relationship Type="http://schemas.openxmlformats.org/officeDocument/2006/relationships/notesSlide" Target="/ppt/notesSlides/notesSlide4.xml" Id="R1fe97f57f0ac45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3bfd0b8851433d" /><Relationship Type="http://schemas.openxmlformats.org/officeDocument/2006/relationships/image" Target="/ppt/media/image2.jpeg" Id="R6b8fd971e7054d3c" /><Relationship Type="http://schemas.openxmlformats.org/officeDocument/2006/relationships/notesSlide" Target="/ppt/notesSlides/notesSlide5.xml" Id="R88b54861ef444e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9aaab8bc0a4eb3" /><Relationship Type="http://schemas.openxmlformats.org/officeDocument/2006/relationships/image" Target="/ppt/media/image3.jpeg" Id="Re185f14ceb8a468b" /><Relationship Type="http://schemas.openxmlformats.org/officeDocument/2006/relationships/notesSlide" Target="/ppt/notesSlides/notesSlide6.xml" Id="R5e83aba062b54f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7c0ea406ba4a6d" /><Relationship Type="http://schemas.openxmlformats.org/officeDocument/2006/relationships/hyperlink" Target="https://focal-demo-a.streamlit.app/" TargetMode="External" Id="Re1ede68adb9a48ee" /><Relationship Type="http://schemas.openxmlformats.org/officeDocument/2006/relationships/image" Target="/ppt/media/image4.jpeg" Id="R373d4fd6595f4ca9" /><Relationship Type="http://schemas.openxmlformats.org/officeDocument/2006/relationships/notesSlide" Target="/ppt/notesSlides/notesSlide7.xml" Id="R1e36aa55c97147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255654ab544f79" /><Relationship Type="http://schemas.openxmlformats.org/officeDocument/2006/relationships/hyperlink" Target="https://focal-demo-b.streamlit.app/" TargetMode="External" Id="R9caef55958404f91" /><Relationship Type="http://schemas.openxmlformats.org/officeDocument/2006/relationships/image" Target="/ppt/media/image5.jpeg" Id="R696d1dc2593f4e2b" /><Relationship Type="http://schemas.openxmlformats.org/officeDocument/2006/relationships/notesSlide" Target="/ppt/notesSlides/notesSlide8.xml" Id="R5b6b4a7e5bf249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23b532916b4521" /><Relationship Type="http://schemas.openxmlformats.org/officeDocument/2006/relationships/hyperlink" Target="https://focal-demo-c.streamlit.app/" TargetMode="External" Id="R64c485e8edee43f0" /><Relationship Type="http://schemas.openxmlformats.org/officeDocument/2006/relationships/image" Target="/ppt/media/image6.jpeg" Id="R7a40565ee06f41b3" /><Relationship Type="http://schemas.openxmlformats.org/officeDocument/2006/relationships/notesSlide" Target="/ppt/notesSlides/notesSlide9.xml" Id="R095b94ca60ef44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5956aba266841da" /><Relationship Type="http://schemas.openxmlformats.org/officeDocument/2006/relationships/notesSlide" Target="/ppt/notesSlides/notesSlide10.xml" Id="Re16b9e51d30f46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a5dc149a9284273" /><Relationship Type="http://schemas.openxmlformats.org/officeDocument/2006/relationships/notesSlide" Target="/ppt/notesSlides/notesSlide11.xml" Id="R83382315602a4c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8f5fd0ed82b44f8" /><Relationship Type="http://schemas.openxmlformats.org/officeDocument/2006/relationships/notesSlide" Target="/ppt/notesSlides/notesSlide12.xml" Id="R6bfb68a4843f47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0f5b11eb30454c" /><Relationship Type="http://schemas.openxmlformats.org/officeDocument/2006/relationships/notesSlide" Target="/ppt/notesSlides/notesSlide13.xml" Id="R8767781f0e3a45e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0785bc2d7445af" /><Relationship Type="http://schemas.openxmlformats.org/officeDocument/2006/relationships/hyperlink" Target="https://focal-demo-a.streamlit.app/" TargetMode="External" Id="Re81a525bba0c44e9" /><Relationship Type="http://schemas.openxmlformats.org/officeDocument/2006/relationships/hyperlink" Target="https://focal-demo-b.streamlit.app/" TargetMode="External" Id="Rd35831b1104643f6" /><Relationship Type="http://schemas.openxmlformats.org/officeDocument/2006/relationships/hyperlink" Target="https://focal-demo-c.streamlit.app/" TargetMode="External" Id="R20d919ae7e6f44f9" /><Relationship Type="http://schemas.openxmlformats.org/officeDocument/2006/relationships/hyperlink" Target="https://github.com/haydn-s/focal-technologies/blob/main/prompts.md" TargetMode="External" Id="R9a95012ec88e4d3d" /><Relationship Type="http://schemas.openxmlformats.org/officeDocument/2006/relationships/notesSlide" Target="/ppt/notesSlides/notesSlide14.xml" Id="R13bcafa71a61434d" /></Relationships>
</file>

<file path=ppt/slides/slide1.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FF974CAC-5AC1-40F1-A09A-5C7551AFA34F}"/>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01</a:t>
            </a:r>
          </a:p>
        </p:txBody>
      </p:sp>
      <p:pic>
        <p:nvPicPr>
          <p:cNvPr id="2" name="">
            <a:extLst xmlns:a="http://schemas.openxmlformats.org/drawingml/2006/main">
              <a:ext uri="{FF2B5EF4-FFF2-40B4-BE49-F238E27FC236}">
                <a16:creationId xmlns:a16="http://schemas.microsoft.com/office/drawing/2014/main" id="{25AB75B9-489A-45C6-BD45-AB4E3D506A55}"/>
              </a:ext>
            </a:extLst>
          </p:cNvPr>
          <p:cNvPicPr>
            <a:picLocks xmlns:a="http://schemas.openxmlformats.org/drawingml/2006/main" noChangeAspect="1"/>
          </p:cNvPicPr>
          <p:nvPr/>
        </p:nvPicPr>
        <p:blipFill>
          <a:blip xmlns:r="http://schemas.openxmlformats.org/officeDocument/2006/relationships" xmlns:a="http://schemas.openxmlformats.org/drawingml/2006/main" r:embed="R3d47e480dae74143">
            <a:extLst>
              <a:ext uri="{96DAC541-7B7A-43D3-8B79-37D633B846F1}">
                <asvg:svgBlip xmlns:asvg="http://schemas.microsoft.com/office/drawing/2016/SVG/main" r:embed="Rf02194b6290441ac"/>
              </a:ext>
            </a:extLst>
          </a:blip>
          <a:stretch xmlns:a="http://schemas.openxmlformats.org/drawingml/2006/main"/>
        </p:blipFill>
        <p:spPr>
          <a:xfrm xmlns:a="http://schemas.openxmlformats.org/drawingml/2006/main">
            <a:off x="704850" y="666750"/>
            <a:ext cx="3314700" cy="1371600"/>
          </a:xfrm>
          <a:prstGeom xmlns:a="http://schemas.openxmlformats.org/drawingml/2006/main" prst="rect">
            <a:avLst/>
          </a:prstGeom>
        </p:spPr>
      </p:pic>
      <p:sp>
        <p:nvSpPr>
          <p:cNvPr id="3" name="Focal Prototype&#10;Presentation">
            <a:extLst xmlns:a="http://schemas.openxmlformats.org/drawingml/2006/main">
              <a:ext uri="{FF2B5EF4-FFF2-40B4-BE49-F238E27FC236}">
                <a16:creationId xmlns:a16="http://schemas.microsoft.com/office/drawing/2014/main" id="{F6E1749F-FE77-40BA-B3C2-BC09902CBA07}"/>
              </a:ext>
            </a:extLst>
          </p:cNvPr>
          <p:cNvSpPr>
            <a:spLocks xmlns:a="http://schemas.openxmlformats.org/drawingml/2006/main" noGrp="1"/>
          </p:cNvSpPr>
          <p:nvPr/>
        </p:nvSpPr>
        <p:spPr>
          <a:xfrm xmlns:a="http://schemas.openxmlformats.org/drawingml/2006/main">
            <a:off x="762000" y="2686050"/>
            <a:ext cx="13144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16234B"/>
                </a:solidFill>
                <a:latin typeface="Helvetica Neue"/>
                <a:ea typeface="Helvetica Neue"/>
                <a:cs typeface="Helvetica Neue"/>
              </a:defRPr>
            </a:defPPr>
            <a:lvl1pPr algn="l">
              <a:defRPr sz="6600" b="1">
                <a:solidFill>
                  <a:srgbClr val="16234B"/>
                </a:solidFill>
                <a:latin typeface="Helvetica Neue"/>
                <a:ea typeface="Helvetica Neue"/>
                <a:cs typeface="Helvetica Neue"/>
              </a:defRPr>
            </a:lvl1pPr>
            <a:lvl2pPr algn="l">
              <a:defRPr sz="6600" b="1">
                <a:solidFill>
                  <a:srgbClr val="16234B"/>
                </a:solidFill>
                <a:latin typeface="Helvetica Neue"/>
                <a:ea typeface="Helvetica Neue"/>
                <a:cs typeface="Helvetica Neue"/>
              </a:defRPr>
            </a:lvl2pPr>
            <a:lvl3pPr algn="l">
              <a:defRPr sz="6600" b="1">
                <a:solidFill>
                  <a:srgbClr val="16234B"/>
                </a:solidFill>
                <a:latin typeface="Helvetica Neue"/>
                <a:ea typeface="Helvetica Neue"/>
                <a:cs typeface="Helvetica Neue"/>
              </a:defRPr>
            </a:lvl3pPr>
            <a:lvl4pPr algn="l">
              <a:defRPr sz="6600" b="1">
                <a:solidFill>
                  <a:srgbClr val="16234B"/>
                </a:solidFill>
                <a:latin typeface="Helvetica Neue"/>
                <a:ea typeface="Helvetica Neue"/>
                <a:cs typeface="Helvetica Neue"/>
              </a:defRPr>
            </a:lvl4pPr>
            <a:lvl5pPr algn="l">
              <a:defRPr sz="6600" b="1">
                <a:solidFill>
                  <a:srgbClr val="16234B"/>
                </a:solidFill>
                <a:latin typeface="Helvetica Neue"/>
                <a:ea typeface="Helvetica Neue"/>
                <a:cs typeface="Helvetica Neue"/>
              </a:defRPr>
            </a:lvl5pPr>
            <a:lvl6pPr algn="l">
              <a:defRPr sz="6600" b="1">
                <a:solidFill>
                  <a:srgbClr val="16234B"/>
                </a:solidFill>
                <a:latin typeface="Helvetica Neue"/>
                <a:ea typeface="Helvetica Neue"/>
                <a:cs typeface="Helvetica Neue"/>
              </a:defRPr>
            </a:lvl6pPr>
            <a:lvl7pPr algn="l">
              <a:defRPr sz="6600" b="1">
                <a:solidFill>
                  <a:srgbClr val="16234B"/>
                </a:solidFill>
                <a:latin typeface="Helvetica Neue"/>
                <a:ea typeface="Helvetica Neue"/>
                <a:cs typeface="Helvetica Neue"/>
              </a:defRPr>
            </a:lvl7pPr>
            <a:lvl8pPr algn="l">
              <a:defRPr sz="6600" b="1">
                <a:solidFill>
                  <a:srgbClr val="16234B"/>
                </a:solidFill>
                <a:latin typeface="Helvetica Neue"/>
                <a:ea typeface="Helvetica Neue"/>
                <a:cs typeface="Helvetica Neue"/>
              </a:defRPr>
            </a:lvl8pPr>
            <a:lvl9pPr algn="l">
              <a:defRPr sz="6600" b="1">
                <a:solidFill>
                  <a:srgbClr val="16234B"/>
                </a:solidFill>
                <a:latin typeface="Helvetica Neue"/>
                <a:ea typeface="Helvetica Neue"/>
                <a:cs typeface="Helvetica Neue"/>
              </a:defRPr>
            </a:lvl9pPr>
          </a:lstStyle>
          <a:p xmlns:a="http://schemas.openxmlformats.org/drawingml/2006/main">
            <a:pPr algn="l">
              <a:defRPr sz="6600" b="1">
                <a:solidFill>
                  <a:srgbClr val="16234B"/>
                </a:solidFill>
                <a:latin typeface="Helvetica Neue"/>
                <a:ea typeface="Helvetica Neue"/>
                <a:cs typeface="Helvetica Neue"/>
              </a:defRPr>
            </a:pPr>
            <a:r>
              <a:rPr sz="6600" b="1">
                <a:solidFill>
                  <a:srgbClr val="16234B"/>
                </a:solidFill>
                <a:latin typeface="Helvetica Neue"/>
                <a:ea typeface="Helvetica Neue"/>
                <a:cs typeface="Helvetica Neue"/>
              </a:rPr>
              <a:t>Focal Prototype</a:t>
            </a:r>
          </a:p>
          <a:p xmlns:a="http://schemas.openxmlformats.org/drawingml/2006/main">
            <a:pPr algn="l">
              <a:defRPr sz="6600" b="1">
                <a:solidFill>
                  <a:srgbClr val="16234B"/>
                </a:solidFill>
                <a:latin typeface="Helvetica Neue"/>
                <a:ea typeface="Helvetica Neue"/>
                <a:cs typeface="Helvetica Neue"/>
              </a:defRPr>
            </a:pPr>
            <a:r>
              <a:rPr sz="6600" b="1">
                <a:solidFill>
                  <a:srgbClr val="16234B"/>
                </a:solidFill>
                <a:latin typeface="Helvetica Neue"/>
                <a:ea typeface="Helvetica Neue"/>
                <a:cs typeface="Helvetica Neue"/>
              </a:rPr>
              <a:t>Presentation</a:t>
            </a:r>
          </a:p>
        </p:txBody>
      </p:sp>
      <p:sp>
        <p:nvSpPr>
          <p:cNvPr id="4" name="Three approaches to the next vision-care decision">
            <a:extLst xmlns:a="http://schemas.openxmlformats.org/drawingml/2006/main">
              <a:ext uri="{FF2B5EF4-FFF2-40B4-BE49-F238E27FC236}">
                <a16:creationId xmlns:a16="http://schemas.microsoft.com/office/drawing/2014/main" id="{924D621E-C510-430D-8036-FCE7F2539A57}"/>
              </a:ext>
            </a:extLst>
          </p:cNvPr>
          <p:cNvSpPr>
            <a:spLocks xmlns:a="http://schemas.openxmlformats.org/drawingml/2006/main" noGrp="1"/>
          </p:cNvSpPr>
          <p:nvPr/>
        </p:nvSpPr>
        <p:spPr>
          <a:xfrm xmlns:a="http://schemas.openxmlformats.org/drawingml/2006/main">
            <a:off x="809625" y="5219700"/>
            <a:ext cx="1228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53627A"/>
                </a:solidFill>
                <a:latin typeface="Helvetica Neue"/>
                <a:ea typeface="Helvetica Neue"/>
                <a:cs typeface="Helvetica Neue"/>
              </a:defRPr>
            </a:defPPr>
            <a:lvl1pPr algn="l">
              <a:defRPr sz="2700" b="0">
                <a:solidFill>
                  <a:srgbClr val="53627A"/>
                </a:solidFill>
                <a:latin typeface="Helvetica Neue"/>
                <a:ea typeface="Helvetica Neue"/>
                <a:cs typeface="Helvetica Neue"/>
              </a:defRPr>
            </a:lvl1pPr>
            <a:lvl2pPr algn="l">
              <a:defRPr sz="2700" b="0">
                <a:solidFill>
                  <a:srgbClr val="53627A"/>
                </a:solidFill>
                <a:latin typeface="Helvetica Neue"/>
                <a:ea typeface="Helvetica Neue"/>
                <a:cs typeface="Helvetica Neue"/>
              </a:defRPr>
            </a:lvl2pPr>
            <a:lvl3pPr algn="l">
              <a:defRPr sz="2700" b="0">
                <a:solidFill>
                  <a:srgbClr val="53627A"/>
                </a:solidFill>
                <a:latin typeface="Helvetica Neue"/>
                <a:ea typeface="Helvetica Neue"/>
                <a:cs typeface="Helvetica Neue"/>
              </a:defRPr>
            </a:lvl3pPr>
            <a:lvl4pPr algn="l">
              <a:defRPr sz="2700" b="0">
                <a:solidFill>
                  <a:srgbClr val="53627A"/>
                </a:solidFill>
                <a:latin typeface="Helvetica Neue"/>
                <a:ea typeface="Helvetica Neue"/>
                <a:cs typeface="Helvetica Neue"/>
              </a:defRPr>
            </a:lvl4pPr>
            <a:lvl5pPr algn="l">
              <a:defRPr sz="2700" b="0">
                <a:solidFill>
                  <a:srgbClr val="53627A"/>
                </a:solidFill>
                <a:latin typeface="Helvetica Neue"/>
                <a:ea typeface="Helvetica Neue"/>
                <a:cs typeface="Helvetica Neue"/>
              </a:defRPr>
            </a:lvl5pPr>
            <a:lvl6pPr algn="l">
              <a:defRPr sz="2700" b="0">
                <a:solidFill>
                  <a:srgbClr val="53627A"/>
                </a:solidFill>
                <a:latin typeface="Helvetica Neue"/>
                <a:ea typeface="Helvetica Neue"/>
                <a:cs typeface="Helvetica Neue"/>
              </a:defRPr>
            </a:lvl6pPr>
            <a:lvl7pPr algn="l">
              <a:defRPr sz="2700" b="0">
                <a:solidFill>
                  <a:srgbClr val="53627A"/>
                </a:solidFill>
                <a:latin typeface="Helvetica Neue"/>
                <a:ea typeface="Helvetica Neue"/>
                <a:cs typeface="Helvetica Neue"/>
              </a:defRPr>
            </a:lvl7pPr>
            <a:lvl8pPr algn="l">
              <a:defRPr sz="2700" b="0">
                <a:solidFill>
                  <a:srgbClr val="53627A"/>
                </a:solidFill>
                <a:latin typeface="Helvetica Neue"/>
                <a:ea typeface="Helvetica Neue"/>
                <a:cs typeface="Helvetica Neue"/>
              </a:defRPr>
            </a:lvl8pPr>
            <a:lvl9pPr algn="l">
              <a:defRPr sz="2700" b="0">
                <a:solidFill>
                  <a:srgbClr val="53627A"/>
                </a:solidFill>
                <a:latin typeface="Helvetica Neue"/>
                <a:ea typeface="Helvetica Neue"/>
                <a:cs typeface="Helvetica Neue"/>
              </a:defRPr>
            </a:lvl9pPr>
          </a:lstStyle>
          <a:p xmlns:a="http://schemas.openxmlformats.org/drawingml/2006/main">
            <a:pPr algn="l">
              <a:defRPr sz="2700" b="0">
                <a:solidFill>
                  <a:srgbClr val="53627A"/>
                </a:solidFill>
                <a:latin typeface="Helvetica Neue"/>
                <a:ea typeface="Helvetica Neue"/>
                <a:cs typeface="Helvetica Neue"/>
              </a:defRPr>
            </a:pPr>
            <a:r>
              <a:rPr sz="2700" b="0">
                <a:solidFill>
                  <a:srgbClr val="53627A"/>
                </a:solidFill>
                <a:latin typeface="Helvetica Neue"/>
                <a:ea typeface="Helvetica Neue"/>
                <a:cs typeface="Helvetica Neue"/>
              </a:rPr>
              <a:t>Three approaches to the next vision-care decision</a:t>
            </a:r>
          </a:p>
        </p:txBody>
      </p:sp>
      <p:sp>
        <p:nvSpPr>
          <p:cNvPr id="5" name="MENG 570   Team 5">
            <a:extLst xmlns:a="http://schemas.openxmlformats.org/drawingml/2006/main">
              <a:ext uri="{FF2B5EF4-FFF2-40B4-BE49-F238E27FC236}">
                <a16:creationId xmlns:a16="http://schemas.microsoft.com/office/drawing/2014/main" id="{58CEB55C-D833-4B42-B89F-3DC94B0B341C}"/>
              </a:ext>
            </a:extLst>
          </p:cNvPr>
          <p:cNvSpPr>
            <a:spLocks xmlns:a="http://schemas.openxmlformats.org/drawingml/2006/main" noGrp="1"/>
          </p:cNvSpPr>
          <p:nvPr/>
        </p:nvSpPr>
        <p:spPr>
          <a:xfrm xmlns:a="http://schemas.openxmlformats.org/drawingml/2006/main">
            <a:off x="809625" y="702945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234B"/>
                </a:solidFill>
                <a:latin typeface="Helvetica Neue"/>
                <a:ea typeface="Helvetica Neue"/>
                <a:cs typeface="Helvetica Neue"/>
              </a:defRPr>
            </a:defPPr>
            <a:lvl1pPr algn="l">
              <a:defRPr sz="2025" b="1">
                <a:solidFill>
                  <a:srgbClr val="16234B"/>
                </a:solidFill>
                <a:latin typeface="Helvetica Neue"/>
                <a:ea typeface="Helvetica Neue"/>
                <a:cs typeface="Helvetica Neue"/>
              </a:defRPr>
            </a:lvl1pPr>
            <a:lvl2pPr algn="l">
              <a:defRPr sz="2025" b="1">
                <a:solidFill>
                  <a:srgbClr val="16234B"/>
                </a:solidFill>
                <a:latin typeface="Helvetica Neue"/>
                <a:ea typeface="Helvetica Neue"/>
                <a:cs typeface="Helvetica Neue"/>
              </a:defRPr>
            </a:lvl2pPr>
            <a:lvl3pPr algn="l">
              <a:defRPr sz="2025" b="1">
                <a:solidFill>
                  <a:srgbClr val="16234B"/>
                </a:solidFill>
                <a:latin typeface="Helvetica Neue"/>
                <a:ea typeface="Helvetica Neue"/>
                <a:cs typeface="Helvetica Neue"/>
              </a:defRPr>
            </a:lvl3pPr>
            <a:lvl4pPr algn="l">
              <a:defRPr sz="2025" b="1">
                <a:solidFill>
                  <a:srgbClr val="16234B"/>
                </a:solidFill>
                <a:latin typeface="Helvetica Neue"/>
                <a:ea typeface="Helvetica Neue"/>
                <a:cs typeface="Helvetica Neue"/>
              </a:defRPr>
            </a:lvl4pPr>
            <a:lvl5pPr algn="l">
              <a:defRPr sz="2025" b="1">
                <a:solidFill>
                  <a:srgbClr val="16234B"/>
                </a:solidFill>
                <a:latin typeface="Helvetica Neue"/>
                <a:ea typeface="Helvetica Neue"/>
                <a:cs typeface="Helvetica Neue"/>
              </a:defRPr>
            </a:lvl5pPr>
            <a:lvl6pPr algn="l">
              <a:defRPr sz="2025" b="1">
                <a:solidFill>
                  <a:srgbClr val="16234B"/>
                </a:solidFill>
                <a:latin typeface="Helvetica Neue"/>
                <a:ea typeface="Helvetica Neue"/>
                <a:cs typeface="Helvetica Neue"/>
              </a:defRPr>
            </a:lvl6pPr>
            <a:lvl7pPr algn="l">
              <a:defRPr sz="2025" b="1">
                <a:solidFill>
                  <a:srgbClr val="16234B"/>
                </a:solidFill>
                <a:latin typeface="Helvetica Neue"/>
                <a:ea typeface="Helvetica Neue"/>
                <a:cs typeface="Helvetica Neue"/>
              </a:defRPr>
            </a:lvl7pPr>
            <a:lvl8pPr algn="l">
              <a:defRPr sz="2025" b="1">
                <a:solidFill>
                  <a:srgbClr val="16234B"/>
                </a:solidFill>
                <a:latin typeface="Helvetica Neue"/>
                <a:ea typeface="Helvetica Neue"/>
                <a:cs typeface="Helvetica Neue"/>
              </a:defRPr>
            </a:lvl8pPr>
            <a:lvl9pPr algn="l">
              <a:defRPr sz="2025" b="1">
                <a:solidFill>
                  <a:srgbClr val="16234B"/>
                </a:solidFill>
                <a:latin typeface="Helvetica Neue"/>
                <a:ea typeface="Helvetica Neue"/>
                <a:cs typeface="Helvetica Neue"/>
              </a:defRPr>
            </a:lvl9pPr>
          </a:lstStyle>
          <a:p xmlns:a="http://schemas.openxmlformats.org/drawingml/2006/main">
            <a:pPr algn="l">
              <a:defRPr sz="2025" b="1">
                <a:solidFill>
                  <a:srgbClr val="16234B"/>
                </a:solidFill>
                <a:latin typeface="Helvetica Neue"/>
                <a:ea typeface="Helvetica Neue"/>
                <a:cs typeface="Helvetica Neue"/>
              </a:defRPr>
            </a:pPr>
            <a:r>
              <a:rPr sz="2025" b="1">
                <a:solidFill>
                  <a:srgbClr val="16234B"/>
                </a:solidFill>
                <a:latin typeface="Helvetica Neue"/>
                <a:ea typeface="Helvetica Neue"/>
                <a:cs typeface="Helvetica Neue"/>
              </a:rPr>
              <a:t>MENG 570   Team 5</a:t>
            </a:r>
          </a:p>
        </p:txBody>
      </p:sp>
      <p:sp>
        <p:nvSpPr>
          <p:cNvPr id="6" name="Fan, Hadley, Haydn, Burak and Qingyi">
            <a:extLst xmlns:a="http://schemas.openxmlformats.org/drawingml/2006/main">
              <a:ext uri="{FF2B5EF4-FFF2-40B4-BE49-F238E27FC236}">
                <a16:creationId xmlns:a16="http://schemas.microsoft.com/office/drawing/2014/main" id="{3D1E7400-C088-42EB-901C-F5751F98CEE8}"/>
              </a:ext>
            </a:extLst>
          </p:cNvPr>
          <p:cNvSpPr>
            <a:spLocks xmlns:a="http://schemas.openxmlformats.org/drawingml/2006/main" noGrp="1"/>
          </p:cNvSpPr>
          <p:nvPr/>
        </p:nvSpPr>
        <p:spPr>
          <a:xfrm xmlns:a="http://schemas.openxmlformats.org/drawingml/2006/main">
            <a:off x="809625" y="7524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27A"/>
                </a:solidFill>
                <a:latin typeface="Helvetica Neue"/>
                <a:ea typeface="Helvetica Neue"/>
                <a:cs typeface="Helvetica Neue"/>
              </a:defRPr>
            </a:defPPr>
            <a:lvl1pPr algn="l">
              <a:defRPr sz="1875" b="0">
                <a:solidFill>
                  <a:srgbClr val="53627A"/>
                </a:solidFill>
                <a:latin typeface="Helvetica Neue"/>
                <a:ea typeface="Helvetica Neue"/>
                <a:cs typeface="Helvetica Neue"/>
              </a:defRPr>
            </a:lvl1pPr>
            <a:lvl2pPr algn="l">
              <a:defRPr sz="1875" b="0">
                <a:solidFill>
                  <a:srgbClr val="53627A"/>
                </a:solidFill>
                <a:latin typeface="Helvetica Neue"/>
                <a:ea typeface="Helvetica Neue"/>
                <a:cs typeface="Helvetica Neue"/>
              </a:defRPr>
            </a:lvl2pPr>
            <a:lvl3pPr algn="l">
              <a:defRPr sz="1875" b="0">
                <a:solidFill>
                  <a:srgbClr val="53627A"/>
                </a:solidFill>
                <a:latin typeface="Helvetica Neue"/>
                <a:ea typeface="Helvetica Neue"/>
                <a:cs typeface="Helvetica Neue"/>
              </a:defRPr>
            </a:lvl3pPr>
            <a:lvl4pPr algn="l">
              <a:defRPr sz="1875" b="0">
                <a:solidFill>
                  <a:srgbClr val="53627A"/>
                </a:solidFill>
                <a:latin typeface="Helvetica Neue"/>
                <a:ea typeface="Helvetica Neue"/>
                <a:cs typeface="Helvetica Neue"/>
              </a:defRPr>
            </a:lvl4pPr>
            <a:lvl5pPr algn="l">
              <a:defRPr sz="1875" b="0">
                <a:solidFill>
                  <a:srgbClr val="53627A"/>
                </a:solidFill>
                <a:latin typeface="Helvetica Neue"/>
                <a:ea typeface="Helvetica Neue"/>
                <a:cs typeface="Helvetica Neue"/>
              </a:defRPr>
            </a:lvl5pPr>
            <a:lvl6pPr algn="l">
              <a:defRPr sz="1875" b="0">
                <a:solidFill>
                  <a:srgbClr val="53627A"/>
                </a:solidFill>
                <a:latin typeface="Helvetica Neue"/>
                <a:ea typeface="Helvetica Neue"/>
                <a:cs typeface="Helvetica Neue"/>
              </a:defRPr>
            </a:lvl6pPr>
            <a:lvl7pPr algn="l">
              <a:defRPr sz="1875" b="0">
                <a:solidFill>
                  <a:srgbClr val="53627A"/>
                </a:solidFill>
                <a:latin typeface="Helvetica Neue"/>
                <a:ea typeface="Helvetica Neue"/>
                <a:cs typeface="Helvetica Neue"/>
              </a:defRPr>
            </a:lvl7pPr>
            <a:lvl8pPr algn="l">
              <a:defRPr sz="1875" b="0">
                <a:solidFill>
                  <a:srgbClr val="53627A"/>
                </a:solidFill>
                <a:latin typeface="Helvetica Neue"/>
                <a:ea typeface="Helvetica Neue"/>
                <a:cs typeface="Helvetica Neue"/>
              </a:defRPr>
            </a:lvl8pPr>
            <a:lvl9pPr algn="l">
              <a:defRPr sz="1875" b="0">
                <a:solidFill>
                  <a:srgbClr val="53627A"/>
                </a:solidFill>
                <a:latin typeface="Helvetica Neue"/>
                <a:ea typeface="Helvetica Neue"/>
                <a:cs typeface="Helvetica Neue"/>
              </a:defRPr>
            </a:lvl9pPr>
          </a:lstStyle>
          <a:p xmlns:a="http://schemas.openxmlformats.org/drawingml/2006/main">
            <a:pPr algn="l">
              <a:defRPr sz="1875" b="0">
                <a:solidFill>
                  <a:srgbClr val="53627A"/>
                </a:solidFill>
                <a:latin typeface="Helvetica Neue"/>
                <a:ea typeface="Helvetica Neue"/>
                <a:cs typeface="Helvetica Neue"/>
              </a:defRPr>
            </a:pPr>
            <a:r>
              <a:rPr sz="1875" b="0">
                <a:solidFill>
                  <a:srgbClr val="53627A"/>
                </a:solidFill>
                <a:latin typeface="Helvetica Neue"/>
                <a:ea typeface="Helvetica Neue"/>
                <a:cs typeface="Helvetica Neue"/>
              </a:rPr>
              <a:t>Fan, Hadley, Haydn, Burak and Qingyi</a:t>
            </a:r>
          </a:p>
        </p:txBody>
      </p:sp>
    </p:spTree>
    <p:extLst>
      <p:ext uri="{BB962C8B-B14F-4D97-AF65-F5344CB8AC3E}">
        <p14:creationId xmlns:p14="http://schemas.microsoft.com/office/powerpoint/2010/main" val="1560379994"/>
      </p:ext>
    </p:extLst>
  </p:cSld>
</p:sld>
</file>

<file path=ppt/slides/slide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8" name="The vision-care decision between visits">
            <a:extLst xmlns:a="http://schemas.openxmlformats.org/drawingml/2006/main">
              <a:ext uri="{FF2B5EF4-FFF2-40B4-BE49-F238E27FC236}">
                <a16:creationId xmlns:a16="http://schemas.microsoft.com/office/drawing/2014/main" id="{1ED2DE20-AA54-4388-BEC0-8259899FA100}"/>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The vision-care decision between visits</a:t>
            </a:r>
          </a:p>
        </p:txBody>
      </p:sp>
      <p:sp>
        <p:nvSpPr>
          <p:cNvPr id="2" name="02">
            <a:extLst xmlns:a="http://schemas.openxmlformats.org/drawingml/2006/main">
              <a:ext uri="{FF2B5EF4-FFF2-40B4-BE49-F238E27FC236}">
                <a16:creationId xmlns:a16="http://schemas.microsoft.com/office/drawing/2014/main" id="{800F496E-D29C-4ECE-A2ED-9C03CC2A82D0}"/>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02</a:t>
            </a:r>
          </a:p>
        </p:txBody>
      </p:sp>
      <p:sp>
        <p:nvSpPr>
          <p:cNvPr id="3" name="Original problem">
            <a:extLst xmlns:a="http://schemas.openxmlformats.org/drawingml/2006/main">
              <a:ext uri="{FF2B5EF4-FFF2-40B4-BE49-F238E27FC236}">
                <a16:creationId xmlns:a16="http://schemas.microsoft.com/office/drawing/2014/main" id="{E977CF80-DF55-43E7-B0D3-EEBA6621D0B3}"/>
              </a:ext>
            </a:extLst>
          </p:cNvPr>
          <p:cNvSpPr>
            <a:spLocks xmlns:a="http://schemas.openxmlformats.org/drawingml/2006/main" noGrp="1"/>
          </p:cNvSpPr>
          <p:nvPr/>
        </p:nvSpPr>
        <p:spPr>
          <a:xfrm xmlns:a="http://schemas.openxmlformats.org/drawingml/2006/main">
            <a:off x="762000" y="20193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75AA"/>
                </a:solidFill>
                <a:latin typeface="Helvetica Neue"/>
                <a:ea typeface="Helvetica Neue"/>
                <a:cs typeface="Helvetica Neue"/>
              </a:defRPr>
            </a:defPPr>
            <a:lvl1pPr algn="l">
              <a:defRPr sz="2025" b="1">
                <a:solidFill>
                  <a:srgbClr val="1475AA"/>
                </a:solidFill>
                <a:latin typeface="Helvetica Neue"/>
                <a:ea typeface="Helvetica Neue"/>
                <a:cs typeface="Helvetica Neue"/>
              </a:defRPr>
            </a:lvl1pPr>
            <a:lvl2pPr algn="l">
              <a:defRPr sz="2025" b="1">
                <a:solidFill>
                  <a:srgbClr val="1475AA"/>
                </a:solidFill>
                <a:latin typeface="Helvetica Neue"/>
                <a:ea typeface="Helvetica Neue"/>
                <a:cs typeface="Helvetica Neue"/>
              </a:defRPr>
            </a:lvl2pPr>
            <a:lvl3pPr algn="l">
              <a:defRPr sz="2025" b="1">
                <a:solidFill>
                  <a:srgbClr val="1475AA"/>
                </a:solidFill>
                <a:latin typeface="Helvetica Neue"/>
                <a:ea typeface="Helvetica Neue"/>
                <a:cs typeface="Helvetica Neue"/>
              </a:defRPr>
            </a:lvl3pPr>
            <a:lvl4pPr algn="l">
              <a:defRPr sz="2025" b="1">
                <a:solidFill>
                  <a:srgbClr val="1475AA"/>
                </a:solidFill>
                <a:latin typeface="Helvetica Neue"/>
                <a:ea typeface="Helvetica Neue"/>
                <a:cs typeface="Helvetica Neue"/>
              </a:defRPr>
            </a:lvl4pPr>
            <a:lvl5pPr algn="l">
              <a:defRPr sz="2025" b="1">
                <a:solidFill>
                  <a:srgbClr val="1475AA"/>
                </a:solidFill>
                <a:latin typeface="Helvetica Neue"/>
                <a:ea typeface="Helvetica Neue"/>
                <a:cs typeface="Helvetica Neue"/>
              </a:defRPr>
            </a:lvl5pPr>
            <a:lvl6pPr algn="l">
              <a:defRPr sz="2025" b="1">
                <a:solidFill>
                  <a:srgbClr val="1475AA"/>
                </a:solidFill>
                <a:latin typeface="Helvetica Neue"/>
                <a:ea typeface="Helvetica Neue"/>
                <a:cs typeface="Helvetica Neue"/>
              </a:defRPr>
            </a:lvl6pPr>
            <a:lvl7pPr algn="l">
              <a:defRPr sz="2025" b="1">
                <a:solidFill>
                  <a:srgbClr val="1475AA"/>
                </a:solidFill>
                <a:latin typeface="Helvetica Neue"/>
                <a:ea typeface="Helvetica Neue"/>
                <a:cs typeface="Helvetica Neue"/>
              </a:defRPr>
            </a:lvl7pPr>
            <a:lvl8pPr algn="l">
              <a:defRPr sz="2025" b="1">
                <a:solidFill>
                  <a:srgbClr val="1475AA"/>
                </a:solidFill>
                <a:latin typeface="Helvetica Neue"/>
                <a:ea typeface="Helvetica Neue"/>
                <a:cs typeface="Helvetica Neue"/>
              </a:defRPr>
            </a:lvl8pPr>
            <a:lvl9pPr algn="l">
              <a:defRPr sz="2025" b="1">
                <a:solidFill>
                  <a:srgbClr val="1475AA"/>
                </a:solidFill>
                <a:latin typeface="Helvetica Neue"/>
                <a:ea typeface="Helvetica Neue"/>
                <a:cs typeface="Helvetica Neue"/>
              </a:defRPr>
            </a:lvl9pPr>
          </a:lstStyle>
          <a:p xmlns:a="http://schemas.openxmlformats.org/drawingml/2006/main">
            <a:pPr algn="l">
              <a:defRPr sz="2025" b="1">
                <a:solidFill>
                  <a:srgbClr val="1475AA"/>
                </a:solidFill>
                <a:latin typeface="Helvetica Neue"/>
                <a:ea typeface="Helvetica Neue"/>
                <a:cs typeface="Helvetica Neue"/>
              </a:defRPr>
            </a:pPr>
            <a:r>
              <a:rPr sz="2025" b="1">
                <a:solidFill>
                  <a:srgbClr val="1475AA"/>
                </a:solidFill>
                <a:latin typeface="Helvetica Neue"/>
                <a:ea typeface="Helvetica Neue"/>
                <a:cs typeface="Helvetica Neue"/>
              </a:rPr>
              <a:t>Original problem</a:t>
            </a:r>
          </a:p>
        </p:txBody>
      </p:sp>
      <p:sp>
        <p:nvSpPr>
          <p:cNvPr id="4" name="Routine vision checks can feel difficult to access.">
            <a:extLst xmlns:a="http://schemas.openxmlformats.org/drawingml/2006/main">
              <a:ext uri="{FF2B5EF4-FFF2-40B4-BE49-F238E27FC236}">
                <a16:creationId xmlns:a16="http://schemas.microsoft.com/office/drawing/2014/main" id="{0E13384F-4AD4-4E4C-A89E-BDF273ECDCE2}"/>
              </a:ext>
            </a:extLst>
          </p:cNvPr>
          <p:cNvSpPr>
            <a:spLocks xmlns:a="http://schemas.openxmlformats.org/drawingml/2006/main" noGrp="1"/>
          </p:cNvSpPr>
          <p:nvPr/>
        </p:nvSpPr>
        <p:spPr>
          <a:xfrm xmlns:a="http://schemas.openxmlformats.org/drawingml/2006/main">
            <a:off x="762000" y="2695575"/>
            <a:ext cx="6191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6234B"/>
                </a:solidFill>
                <a:latin typeface="Helvetica Neue"/>
                <a:ea typeface="Helvetica Neue"/>
                <a:cs typeface="Helvetica Neue"/>
              </a:defRPr>
            </a:defPPr>
            <a:lvl1pPr algn="l">
              <a:defRPr sz="4275" b="1">
                <a:solidFill>
                  <a:srgbClr val="16234B"/>
                </a:solidFill>
                <a:latin typeface="Helvetica Neue"/>
                <a:ea typeface="Helvetica Neue"/>
                <a:cs typeface="Helvetica Neue"/>
              </a:defRPr>
            </a:lvl1pPr>
            <a:lvl2pPr algn="l">
              <a:defRPr sz="4275" b="1">
                <a:solidFill>
                  <a:srgbClr val="16234B"/>
                </a:solidFill>
                <a:latin typeface="Helvetica Neue"/>
                <a:ea typeface="Helvetica Neue"/>
                <a:cs typeface="Helvetica Neue"/>
              </a:defRPr>
            </a:lvl2pPr>
            <a:lvl3pPr algn="l">
              <a:defRPr sz="4275" b="1">
                <a:solidFill>
                  <a:srgbClr val="16234B"/>
                </a:solidFill>
                <a:latin typeface="Helvetica Neue"/>
                <a:ea typeface="Helvetica Neue"/>
                <a:cs typeface="Helvetica Neue"/>
              </a:defRPr>
            </a:lvl3pPr>
            <a:lvl4pPr algn="l">
              <a:defRPr sz="4275" b="1">
                <a:solidFill>
                  <a:srgbClr val="16234B"/>
                </a:solidFill>
                <a:latin typeface="Helvetica Neue"/>
                <a:ea typeface="Helvetica Neue"/>
                <a:cs typeface="Helvetica Neue"/>
              </a:defRPr>
            </a:lvl4pPr>
            <a:lvl5pPr algn="l">
              <a:defRPr sz="4275" b="1">
                <a:solidFill>
                  <a:srgbClr val="16234B"/>
                </a:solidFill>
                <a:latin typeface="Helvetica Neue"/>
                <a:ea typeface="Helvetica Neue"/>
                <a:cs typeface="Helvetica Neue"/>
              </a:defRPr>
            </a:lvl5pPr>
            <a:lvl6pPr algn="l">
              <a:defRPr sz="4275" b="1">
                <a:solidFill>
                  <a:srgbClr val="16234B"/>
                </a:solidFill>
                <a:latin typeface="Helvetica Neue"/>
                <a:ea typeface="Helvetica Neue"/>
                <a:cs typeface="Helvetica Neue"/>
              </a:defRPr>
            </a:lvl6pPr>
            <a:lvl7pPr algn="l">
              <a:defRPr sz="4275" b="1">
                <a:solidFill>
                  <a:srgbClr val="16234B"/>
                </a:solidFill>
                <a:latin typeface="Helvetica Neue"/>
                <a:ea typeface="Helvetica Neue"/>
                <a:cs typeface="Helvetica Neue"/>
              </a:defRPr>
            </a:lvl7pPr>
            <a:lvl8pPr algn="l">
              <a:defRPr sz="4275" b="1">
                <a:solidFill>
                  <a:srgbClr val="16234B"/>
                </a:solidFill>
                <a:latin typeface="Helvetica Neue"/>
                <a:ea typeface="Helvetica Neue"/>
                <a:cs typeface="Helvetica Neue"/>
              </a:defRPr>
            </a:lvl8pPr>
            <a:lvl9pPr algn="l">
              <a:defRPr sz="4275" b="1">
                <a:solidFill>
                  <a:srgbClr val="16234B"/>
                </a:solidFill>
                <a:latin typeface="Helvetica Neue"/>
                <a:ea typeface="Helvetica Neue"/>
                <a:cs typeface="Helvetica Neue"/>
              </a:defRPr>
            </a:lvl9pPr>
          </a:lstStyle>
          <a:p xmlns:a="http://schemas.openxmlformats.org/drawingml/2006/main">
            <a:pPr algn="l">
              <a:defRPr sz="4275" b="1">
                <a:solidFill>
                  <a:srgbClr val="16234B"/>
                </a:solidFill>
                <a:latin typeface="Helvetica Neue"/>
                <a:ea typeface="Helvetica Neue"/>
                <a:cs typeface="Helvetica Neue"/>
              </a:defRPr>
            </a:pPr>
            <a:r>
              <a:rPr sz="4275" b="1">
                <a:solidFill>
                  <a:srgbClr val="16234B"/>
                </a:solidFill>
                <a:latin typeface="Helvetica Neue"/>
                <a:ea typeface="Helvetica Neue"/>
                <a:cs typeface="Helvetica Neue"/>
              </a:rPr>
              <a:t>Routine vision checks can feel difficult to access.</a:t>
            </a:r>
          </a:p>
        </p:txBody>
      </p:sp>
      <p:sp>
        <p:nvSpPr>
          <p:cNvPr id="5" name="Current framing">
            <a:extLst xmlns:a="http://schemas.openxmlformats.org/drawingml/2006/main">
              <a:ext uri="{FF2B5EF4-FFF2-40B4-BE49-F238E27FC236}">
                <a16:creationId xmlns:a16="http://schemas.microsoft.com/office/drawing/2014/main" id="{15D992A9-AE80-49C4-8650-3E8306EB7143}"/>
              </a:ext>
            </a:extLst>
          </p:cNvPr>
          <p:cNvSpPr>
            <a:spLocks xmlns:a="http://schemas.openxmlformats.org/drawingml/2006/main" noGrp="1"/>
          </p:cNvSpPr>
          <p:nvPr/>
        </p:nvSpPr>
        <p:spPr>
          <a:xfrm xmlns:a="http://schemas.openxmlformats.org/drawingml/2006/main">
            <a:off x="8334375" y="2019300"/>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75AA"/>
                </a:solidFill>
                <a:latin typeface="Helvetica Neue"/>
                <a:ea typeface="Helvetica Neue"/>
                <a:cs typeface="Helvetica Neue"/>
              </a:defRPr>
            </a:defPPr>
            <a:lvl1pPr algn="l">
              <a:defRPr sz="2025" b="1">
                <a:solidFill>
                  <a:srgbClr val="1475AA"/>
                </a:solidFill>
                <a:latin typeface="Helvetica Neue"/>
                <a:ea typeface="Helvetica Neue"/>
                <a:cs typeface="Helvetica Neue"/>
              </a:defRPr>
            </a:lvl1pPr>
            <a:lvl2pPr algn="l">
              <a:defRPr sz="2025" b="1">
                <a:solidFill>
                  <a:srgbClr val="1475AA"/>
                </a:solidFill>
                <a:latin typeface="Helvetica Neue"/>
                <a:ea typeface="Helvetica Neue"/>
                <a:cs typeface="Helvetica Neue"/>
              </a:defRPr>
            </a:lvl2pPr>
            <a:lvl3pPr algn="l">
              <a:defRPr sz="2025" b="1">
                <a:solidFill>
                  <a:srgbClr val="1475AA"/>
                </a:solidFill>
                <a:latin typeface="Helvetica Neue"/>
                <a:ea typeface="Helvetica Neue"/>
                <a:cs typeface="Helvetica Neue"/>
              </a:defRPr>
            </a:lvl3pPr>
            <a:lvl4pPr algn="l">
              <a:defRPr sz="2025" b="1">
                <a:solidFill>
                  <a:srgbClr val="1475AA"/>
                </a:solidFill>
                <a:latin typeface="Helvetica Neue"/>
                <a:ea typeface="Helvetica Neue"/>
                <a:cs typeface="Helvetica Neue"/>
              </a:defRPr>
            </a:lvl4pPr>
            <a:lvl5pPr algn="l">
              <a:defRPr sz="2025" b="1">
                <a:solidFill>
                  <a:srgbClr val="1475AA"/>
                </a:solidFill>
                <a:latin typeface="Helvetica Neue"/>
                <a:ea typeface="Helvetica Neue"/>
                <a:cs typeface="Helvetica Neue"/>
              </a:defRPr>
            </a:lvl5pPr>
            <a:lvl6pPr algn="l">
              <a:defRPr sz="2025" b="1">
                <a:solidFill>
                  <a:srgbClr val="1475AA"/>
                </a:solidFill>
                <a:latin typeface="Helvetica Neue"/>
                <a:ea typeface="Helvetica Neue"/>
                <a:cs typeface="Helvetica Neue"/>
              </a:defRPr>
            </a:lvl6pPr>
            <a:lvl7pPr algn="l">
              <a:defRPr sz="2025" b="1">
                <a:solidFill>
                  <a:srgbClr val="1475AA"/>
                </a:solidFill>
                <a:latin typeface="Helvetica Neue"/>
                <a:ea typeface="Helvetica Neue"/>
                <a:cs typeface="Helvetica Neue"/>
              </a:defRPr>
            </a:lvl7pPr>
            <a:lvl8pPr algn="l">
              <a:defRPr sz="2025" b="1">
                <a:solidFill>
                  <a:srgbClr val="1475AA"/>
                </a:solidFill>
                <a:latin typeface="Helvetica Neue"/>
                <a:ea typeface="Helvetica Neue"/>
                <a:cs typeface="Helvetica Neue"/>
              </a:defRPr>
            </a:lvl8pPr>
            <a:lvl9pPr algn="l">
              <a:defRPr sz="2025" b="1">
                <a:solidFill>
                  <a:srgbClr val="1475AA"/>
                </a:solidFill>
                <a:latin typeface="Helvetica Neue"/>
                <a:ea typeface="Helvetica Neue"/>
                <a:cs typeface="Helvetica Neue"/>
              </a:defRPr>
            </a:lvl9pPr>
          </a:lstStyle>
          <a:p xmlns:a="http://schemas.openxmlformats.org/drawingml/2006/main">
            <a:pPr algn="l">
              <a:defRPr sz="2025" b="1">
                <a:solidFill>
                  <a:srgbClr val="1475AA"/>
                </a:solidFill>
                <a:latin typeface="Helvetica Neue"/>
                <a:ea typeface="Helvetica Neue"/>
                <a:cs typeface="Helvetica Neue"/>
              </a:defRPr>
            </a:pPr>
            <a:r>
              <a:rPr sz="2025" b="1">
                <a:solidFill>
                  <a:srgbClr val="1475AA"/>
                </a:solidFill>
                <a:latin typeface="Helvetica Neue"/>
                <a:ea typeface="Helvetica Neue"/>
                <a:cs typeface="Helvetica Neue"/>
              </a:rPr>
              <a:t>Current framing</a:t>
            </a:r>
          </a:p>
        </p:txBody>
      </p:sp>
      <p:sp>
        <p:nvSpPr>
          <p:cNvPr id="6" name="People need a reason to check and a next step they understand.">
            <a:extLst xmlns:a="http://schemas.openxmlformats.org/drawingml/2006/main">
              <a:ext uri="{FF2B5EF4-FFF2-40B4-BE49-F238E27FC236}">
                <a16:creationId xmlns:a16="http://schemas.microsoft.com/office/drawing/2014/main" id="{9456991C-86A3-46F5-98ED-6A2F77849A2D}"/>
              </a:ext>
            </a:extLst>
          </p:cNvPr>
          <p:cNvSpPr>
            <a:spLocks xmlns:a="http://schemas.openxmlformats.org/drawingml/2006/main" noGrp="1"/>
          </p:cNvSpPr>
          <p:nvPr/>
        </p:nvSpPr>
        <p:spPr>
          <a:xfrm xmlns:a="http://schemas.openxmlformats.org/drawingml/2006/main">
            <a:off x="8334375" y="2695575"/>
            <a:ext cx="6143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6234B"/>
                </a:solidFill>
                <a:latin typeface="Helvetica Neue"/>
                <a:ea typeface="Helvetica Neue"/>
                <a:cs typeface="Helvetica Neue"/>
              </a:defRPr>
            </a:defPPr>
            <a:lvl1pPr algn="l">
              <a:defRPr sz="3525" b="1">
                <a:solidFill>
                  <a:srgbClr val="16234B"/>
                </a:solidFill>
                <a:latin typeface="Helvetica Neue"/>
                <a:ea typeface="Helvetica Neue"/>
                <a:cs typeface="Helvetica Neue"/>
              </a:defRPr>
            </a:lvl1pPr>
            <a:lvl2pPr algn="l">
              <a:defRPr sz="3525" b="1">
                <a:solidFill>
                  <a:srgbClr val="16234B"/>
                </a:solidFill>
                <a:latin typeface="Helvetica Neue"/>
                <a:ea typeface="Helvetica Neue"/>
                <a:cs typeface="Helvetica Neue"/>
              </a:defRPr>
            </a:lvl2pPr>
            <a:lvl3pPr algn="l">
              <a:defRPr sz="3525" b="1">
                <a:solidFill>
                  <a:srgbClr val="16234B"/>
                </a:solidFill>
                <a:latin typeface="Helvetica Neue"/>
                <a:ea typeface="Helvetica Neue"/>
                <a:cs typeface="Helvetica Neue"/>
              </a:defRPr>
            </a:lvl3pPr>
            <a:lvl4pPr algn="l">
              <a:defRPr sz="3525" b="1">
                <a:solidFill>
                  <a:srgbClr val="16234B"/>
                </a:solidFill>
                <a:latin typeface="Helvetica Neue"/>
                <a:ea typeface="Helvetica Neue"/>
                <a:cs typeface="Helvetica Neue"/>
              </a:defRPr>
            </a:lvl4pPr>
            <a:lvl5pPr algn="l">
              <a:defRPr sz="3525" b="1">
                <a:solidFill>
                  <a:srgbClr val="16234B"/>
                </a:solidFill>
                <a:latin typeface="Helvetica Neue"/>
                <a:ea typeface="Helvetica Neue"/>
                <a:cs typeface="Helvetica Neue"/>
              </a:defRPr>
            </a:lvl5pPr>
            <a:lvl6pPr algn="l">
              <a:defRPr sz="3525" b="1">
                <a:solidFill>
                  <a:srgbClr val="16234B"/>
                </a:solidFill>
                <a:latin typeface="Helvetica Neue"/>
                <a:ea typeface="Helvetica Neue"/>
                <a:cs typeface="Helvetica Neue"/>
              </a:defRPr>
            </a:lvl6pPr>
            <a:lvl7pPr algn="l">
              <a:defRPr sz="3525" b="1">
                <a:solidFill>
                  <a:srgbClr val="16234B"/>
                </a:solidFill>
                <a:latin typeface="Helvetica Neue"/>
                <a:ea typeface="Helvetica Neue"/>
                <a:cs typeface="Helvetica Neue"/>
              </a:defRPr>
            </a:lvl7pPr>
            <a:lvl8pPr algn="l">
              <a:defRPr sz="3525" b="1">
                <a:solidFill>
                  <a:srgbClr val="16234B"/>
                </a:solidFill>
                <a:latin typeface="Helvetica Neue"/>
                <a:ea typeface="Helvetica Neue"/>
                <a:cs typeface="Helvetica Neue"/>
              </a:defRPr>
            </a:lvl8pPr>
            <a:lvl9pPr algn="l">
              <a:defRPr sz="3525" b="1">
                <a:solidFill>
                  <a:srgbClr val="16234B"/>
                </a:solidFill>
                <a:latin typeface="Helvetica Neue"/>
                <a:ea typeface="Helvetica Neue"/>
                <a:cs typeface="Helvetica Neue"/>
              </a:defRPr>
            </a:lvl9pPr>
          </a:lstStyle>
          <a:p xmlns:a="http://schemas.openxmlformats.org/drawingml/2006/main">
            <a:pPr algn="l">
              <a:defRPr sz="3525" b="1">
                <a:solidFill>
                  <a:srgbClr val="16234B"/>
                </a:solidFill>
                <a:latin typeface="Helvetica Neue"/>
                <a:ea typeface="Helvetica Neue"/>
                <a:cs typeface="Helvetica Neue"/>
              </a:defRPr>
            </a:pPr>
            <a:r>
              <a:rPr sz="3525" b="1">
                <a:solidFill>
                  <a:srgbClr val="16234B"/>
                </a:solidFill>
                <a:latin typeface="Helvetica Neue"/>
                <a:ea typeface="Helvetica Neue"/>
                <a:cs typeface="Helvetica Neue"/>
              </a:rPr>
              <a:t>People need a reason to check and a next step they understand.</a:t>
            </a:r>
          </a:p>
        </p:txBody>
      </p:sp>
      <p:sp>
        <p:nvSpPr>
          <p:cNvPr id="7" name="A quick result has limited value if the person cannot interpret i">
            <a:extLst xmlns:a="http://schemas.openxmlformats.org/drawingml/2006/main">
              <a:ext uri="{FF2B5EF4-FFF2-40B4-BE49-F238E27FC236}">
                <a16:creationId xmlns:a16="http://schemas.microsoft.com/office/drawing/2014/main" id="{E7692774-5E54-4DCD-885F-4E0C5A5B43CC}"/>
              </a:ext>
            </a:extLst>
          </p:cNvPr>
          <p:cNvSpPr>
            <a:spLocks xmlns:a="http://schemas.openxmlformats.org/drawingml/2006/main" noGrp="1"/>
          </p:cNvSpPr>
          <p:nvPr/>
        </p:nvSpPr>
        <p:spPr>
          <a:xfrm xmlns:a="http://schemas.openxmlformats.org/drawingml/2006/main">
            <a:off x="8334375" y="5619750"/>
            <a:ext cx="6000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3627A"/>
                </a:solidFill>
                <a:latin typeface="Helvetica Neue"/>
                <a:ea typeface="Helvetica Neue"/>
                <a:cs typeface="Helvetica Neue"/>
              </a:defRPr>
            </a:defPPr>
            <a:lvl1pPr algn="l">
              <a:defRPr sz="2400" b="0">
                <a:solidFill>
                  <a:srgbClr val="53627A"/>
                </a:solidFill>
                <a:latin typeface="Helvetica Neue"/>
                <a:ea typeface="Helvetica Neue"/>
                <a:cs typeface="Helvetica Neue"/>
              </a:defRPr>
            </a:lvl1pPr>
            <a:lvl2pPr algn="l">
              <a:defRPr sz="2400" b="0">
                <a:solidFill>
                  <a:srgbClr val="53627A"/>
                </a:solidFill>
                <a:latin typeface="Helvetica Neue"/>
                <a:ea typeface="Helvetica Neue"/>
                <a:cs typeface="Helvetica Neue"/>
              </a:defRPr>
            </a:lvl2pPr>
            <a:lvl3pPr algn="l">
              <a:defRPr sz="2400" b="0">
                <a:solidFill>
                  <a:srgbClr val="53627A"/>
                </a:solidFill>
                <a:latin typeface="Helvetica Neue"/>
                <a:ea typeface="Helvetica Neue"/>
                <a:cs typeface="Helvetica Neue"/>
              </a:defRPr>
            </a:lvl3pPr>
            <a:lvl4pPr algn="l">
              <a:defRPr sz="2400" b="0">
                <a:solidFill>
                  <a:srgbClr val="53627A"/>
                </a:solidFill>
                <a:latin typeface="Helvetica Neue"/>
                <a:ea typeface="Helvetica Neue"/>
                <a:cs typeface="Helvetica Neue"/>
              </a:defRPr>
            </a:lvl4pPr>
            <a:lvl5pPr algn="l">
              <a:defRPr sz="2400" b="0">
                <a:solidFill>
                  <a:srgbClr val="53627A"/>
                </a:solidFill>
                <a:latin typeface="Helvetica Neue"/>
                <a:ea typeface="Helvetica Neue"/>
                <a:cs typeface="Helvetica Neue"/>
              </a:defRPr>
            </a:lvl5pPr>
            <a:lvl6pPr algn="l">
              <a:defRPr sz="2400" b="0">
                <a:solidFill>
                  <a:srgbClr val="53627A"/>
                </a:solidFill>
                <a:latin typeface="Helvetica Neue"/>
                <a:ea typeface="Helvetica Neue"/>
                <a:cs typeface="Helvetica Neue"/>
              </a:defRPr>
            </a:lvl6pPr>
            <a:lvl7pPr algn="l">
              <a:defRPr sz="2400" b="0">
                <a:solidFill>
                  <a:srgbClr val="53627A"/>
                </a:solidFill>
                <a:latin typeface="Helvetica Neue"/>
                <a:ea typeface="Helvetica Neue"/>
                <a:cs typeface="Helvetica Neue"/>
              </a:defRPr>
            </a:lvl7pPr>
            <a:lvl8pPr algn="l">
              <a:defRPr sz="2400" b="0">
                <a:solidFill>
                  <a:srgbClr val="53627A"/>
                </a:solidFill>
                <a:latin typeface="Helvetica Neue"/>
                <a:ea typeface="Helvetica Neue"/>
                <a:cs typeface="Helvetica Neue"/>
              </a:defRPr>
            </a:lvl8pPr>
            <a:lvl9pPr algn="l">
              <a:defRPr sz="2400" b="0">
                <a:solidFill>
                  <a:srgbClr val="53627A"/>
                </a:solidFill>
                <a:latin typeface="Helvetica Neue"/>
                <a:ea typeface="Helvetica Neue"/>
                <a:cs typeface="Helvetica Neue"/>
              </a:defRPr>
            </a:lvl9pPr>
          </a:lstStyle>
          <a:p xmlns:a="http://schemas.openxmlformats.org/drawingml/2006/main">
            <a:pPr algn="l">
              <a:defRPr sz="2400" b="0">
                <a:solidFill>
                  <a:srgbClr val="53627A"/>
                </a:solidFill>
                <a:latin typeface="Helvetica Neue"/>
                <a:ea typeface="Helvetica Neue"/>
                <a:cs typeface="Helvetica Neue"/>
              </a:defRPr>
            </a:pPr>
            <a:r>
              <a:rPr sz="2400" b="0">
                <a:solidFill>
                  <a:srgbClr val="53627A"/>
                </a:solidFill>
                <a:latin typeface="Helvetica Neue"/>
                <a:ea typeface="Helvetica Neue"/>
                <a:cs typeface="Helvetica Neue"/>
              </a:rPr>
              <a:t>A quick result has limited value if the person cannot interpret it or act on it.</a:t>
            </a:r>
          </a:p>
        </p:txBody>
      </p:sp>
    </p:spTree>
    <p:extLst>
      <p:ext uri="{BB962C8B-B14F-4D97-AF65-F5344CB8AC3E}">
        <p14:creationId xmlns:p14="http://schemas.microsoft.com/office/powerpoint/2010/main" val="1523601377"/>
      </p:ext>
    </p:extLst>
  </p:cSld>
</p:sld>
</file>

<file path=ppt/slides/slide3.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5" name="What discovery changed">
            <a:extLst xmlns:a="http://schemas.openxmlformats.org/drawingml/2006/main">
              <a:ext uri="{FF2B5EF4-FFF2-40B4-BE49-F238E27FC236}">
                <a16:creationId xmlns:a16="http://schemas.microsoft.com/office/drawing/2014/main" id="{C4A1707D-AB2E-4958-A8D1-34BFB00F452E}"/>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What discovery changed</a:t>
            </a:r>
          </a:p>
        </p:txBody>
      </p:sp>
      <p:sp>
        <p:nvSpPr>
          <p:cNvPr id="2" name="03">
            <a:extLst xmlns:a="http://schemas.openxmlformats.org/drawingml/2006/main">
              <a:ext uri="{FF2B5EF4-FFF2-40B4-BE49-F238E27FC236}">
                <a16:creationId xmlns:a16="http://schemas.microsoft.com/office/drawing/2014/main" id="{5CE13EB2-AA1B-4E4D-AD18-CCF765E8D6B3}"/>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03</a:t>
            </a:r>
          </a:p>
        </p:txBody>
      </p:sp>
      <p:graphicFrame>
        <p:nvGraphicFramePr>
          <p:cNvPr id="3" name="">
            <a:extLst xmlns:a="http://schemas.openxmlformats.org/drawingml/2006/main">
              <a:ext uri="{FF2B5EF4-FFF2-40B4-BE49-F238E27FC236}">
                <a16:creationId xmlns:a16="http://schemas.microsoft.com/office/drawing/2014/main" id="{A99BBEF3-F8C3-458A-982C-F6B86FF791AE}"/>
              </a:ext>
            </a:extLst>
          </p:cNvPr>
          <p:cNvGraphicFramePr/>
          <p:nvPr/>
        </p:nvGraphicFramePr>
        <p:xfrm>
          <a:off xmlns:a="http://schemas.openxmlformats.org/drawingml/2006/main" x="762000" y="2000250"/>
          <a:ext xmlns:a="http://schemas.openxmlformats.org/drawingml/2006/main" cx="13716000" cy="5353050"/>
        </p:xfrm>
        <a:graphic xmlns:a="http://schemas.openxmlformats.org/drawingml/2006/main">
          <a:graphicData uri="http://schemas.openxmlformats.org/drawingml/2006/table">
            <a:tbl>
              <a:tblPr/>
              <a:tblGrid>
                <a:gridCol w="6858000"/>
                <a:gridCol w="6858000"/>
              </a:tblGrid>
              <a:tr h="590550">
                <a:tc>
                  <a:txBody>
                    <a:bodyPr wrap="square" lIns="0" tIns="0" rIns="0" bIns="0">
                      <a:noAutofit/>
                    </a:bodyPr>
                    <a:lstStyle/>
                    <a:p>
                      <a:r>
                        <a:rPr sz="2100" b="1">
                          <a:solidFill>
                            <a:srgbClr val="FFFFFF"/>
                          </a:solidFill>
                          <a:latin typeface="Helvetica Neue"/>
                          <a:ea typeface="Helvetica Neue"/>
                          <a:cs typeface="Helvetica Neue"/>
                        </a:rPr>
                        <a:t>Evidence in our discovery work</a:t>
                      </a:r>
                    </a:p>
                  </a:txBody>
                  <a:tcPr marL="190500" marR="190500" marT="171450" marB="171450" anchor="t">
                    <a:lnL w="9525">
                      <a:solidFill>
                        <a:srgbClr val="D7E2EB"/>
                      </a:solidFill>
                      <a:prstDash val="solid"/>
                    </a:lnL>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2100" b="1">
                          <a:solidFill>
                            <a:srgbClr val="FFFFFF"/>
                          </a:solidFill>
                          <a:latin typeface="Helvetica Neue"/>
                          <a:ea typeface="Helvetica Neue"/>
                          <a:cs typeface="Helvetica Neue"/>
                        </a:rPr>
                        <a:t>Response in the prototypes</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r>
              <a:tr h="1190625">
                <a:tc>
                  <a:txBody>
                    <a:bodyPr wrap="square" lIns="0" tIns="0" rIns="0" bIns="0">
                      <a:noAutofit/>
                    </a:bodyPr>
                    <a:lstStyle/>
                    <a:p>
                      <a:r>
                        <a:rPr sz="2100" b="0">
                          <a:solidFill>
                            <a:srgbClr val="16234B"/>
                          </a:solidFill>
                          <a:latin typeface="Helvetica Neue"/>
                          <a:ea typeface="Helvetica Neue"/>
                          <a:cs typeface="Helvetica Neue"/>
                        </a:rPr>
                        <a:t>One real parent already kept detailed exam records.</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100" b="0">
                          <a:solidFill>
                            <a:srgbClr val="16234B"/>
                          </a:solidFill>
                          <a:latin typeface="Helvetica Neue"/>
                          <a:ea typeface="Helvetica Neue"/>
                          <a:cs typeface="Helvetica Neue"/>
                        </a:rPr>
                        <a:t>B focuses on observations and preparation for a conversation.</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r h="1190625">
                <a:tc>
                  <a:txBody>
                    <a:bodyPr wrap="square" lIns="0" tIns="0" rIns="0" bIns="0">
                      <a:noAutofit/>
                    </a:bodyPr>
                    <a:lstStyle/>
                    <a:p>
                      <a:r>
                        <a:rPr sz="2100" b="0">
                          <a:solidFill>
                            <a:srgbClr val="16234B"/>
                          </a:solidFill>
                          <a:latin typeface="Helvetica Neue"/>
                          <a:ea typeface="Helvetica Neue"/>
                          <a:cs typeface="Helvetica Neue"/>
                        </a:rPr>
                        <a:t>Real interviewees described different levels of urgency and trust.</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2100" b="0">
                          <a:solidFill>
                            <a:srgbClr val="16234B"/>
                          </a:solidFill>
                          <a:latin typeface="Helvetica Neue"/>
                          <a:ea typeface="Helvetica Neue"/>
                          <a:cs typeface="Helvetica Neue"/>
                        </a:rPr>
                        <a:t>A tests historical context. C tests a concrete deadline.</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r>
              <a:tr h="1190625">
                <a:tc>
                  <a:txBody>
                    <a:bodyPr wrap="square" lIns="0" tIns="0" rIns="0" bIns="0">
                      <a:noAutofit/>
                    </a:bodyPr>
                    <a:lstStyle/>
                    <a:p>
                      <a:r>
                        <a:rPr sz="2100" b="0">
                          <a:solidFill>
                            <a:srgbClr val="16234B"/>
                          </a:solidFill>
                          <a:latin typeface="Helvetica Neue"/>
                          <a:ea typeface="Helvetica Neue"/>
                          <a:cs typeface="Helvetica Neue"/>
                        </a:rPr>
                        <a:t>Some real participants questioned the accuracy of informal tests.</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100" b="0">
                          <a:solidFill>
                            <a:srgbClr val="16234B"/>
                          </a:solidFill>
                          <a:latin typeface="Helvetica Neue"/>
                          <a:ea typeface="Helvetica Neue"/>
                          <a:cs typeface="Helvetica Neue"/>
                        </a:rPr>
                        <a:t>We label the limits and test usefulness separately from accuracy.</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r h="1190625">
                <a:tc>
                  <a:txBody>
                    <a:bodyPr wrap="square" lIns="0" tIns="0" rIns="0" bIns="0">
                      <a:noAutofit/>
                    </a:bodyPr>
                    <a:lstStyle/>
                    <a:p>
                      <a:r>
                        <a:rPr sz="2100" b="0">
                          <a:solidFill>
                            <a:srgbClr val="16234B"/>
                          </a:solidFill>
                          <a:latin typeface="Helvetica Neue"/>
                          <a:ea typeface="Helvetica Neue"/>
                          <a:cs typeface="Helvetica Neue"/>
                        </a:rPr>
                        <a:t>Our licensing-supervisor evidence came from virtual interviews.</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2100" b="0">
                          <a:solidFill>
                            <a:srgbClr val="16234B"/>
                          </a:solidFill>
                          <a:latin typeface="Helvetica Neue"/>
                          <a:ea typeface="Helvetica Neue"/>
                          <a:cs typeface="Helvetica Neue"/>
                        </a:rPr>
                        <a:t>C serves an applicant. Agency acceptance remains unvalidated.</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r>
            </a:tbl>
          </a:graphicData>
        </a:graphic>
      </p:graphicFrame>
      <p:sp>
        <p:nvSpPr>
          <p:cNvPr id="4" name="Small discovery sample. Virtual interviews generated hypotheses r">
            <a:extLst xmlns:a="http://schemas.openxmlformats.org/drawingml/2006/main">
              <a:ext uri="{FF2B5EF4-FFF2-40B4-BE49-F238E27FC236}">
                <a16:creationId xmlns:a16="http://schemas.microsoft.com/office/drawing/2014/main" id="{B90A8FC8-7D27-4520-AFCF-09FABD3BAC17}"/>
              </a:ext>
            </a:extLst>
          </p:cNvPr>
          <p:cNvSpPr>
            <a:spLocks xmlns:a="http://schemas.openxmlformats.org/drawingml/2006/main" noGrp="1"/>
          </p:cNvSpPr>
          <p:nvPr/>
        </p:nvSpPr>
        <p:spPr>
          <a:xfrm xmlns:a="http://schemas.openxmlformats.org/drawingml/2006/main">
            <a:off x="762000" y="7658100"/>
            <a:ext cx="1285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27A"/>
                </a:solidFill>
                <a:latin typeface="Helvetica Neue"/>
                <a:ea typeface="Helvetica Neue"/>
                <a:cs typeface="Helvetica Neue"/>
              </a:defRPr>
            </a:defPPr>
            <a:lvl1pPr algn="l">
              <a:defRPr sz="1725" b="0">
                <a:solidFill>
                  <a:srgbClr val="53627A"/>
                </a:solidFill>
                <a:latin typeface="Helvetica Neue"/>
                <a:ea typeface="Helvetica Neue"/>
                <a:cs typeface="Helvetica Neue"/>
              </a:defRPr>
            </a:lvl1pPr>
            <a:lvl2pPr algn="l">
              <a:defRPr sz="1725" b="0">
                <a:solidFill>
                  <a:srgbClr val="53627A"/>
                </a:solidFill>
                <a:latin typeface="Helvetica Neue"/>
                <a:ea typeface="Helvetica Neue"/>
                <a:cs typeface="Helvetica Neue"/>
              </a:defRPr>
            </a:lvl2pPr>
            <a:lvl3pPr algn="l">
              <a:defRPr sz="1725" b="0">
                <a:solidFill>
                  <a:srgbClr val="53627A"/>
                </a:solidFill>
                <a:latin typeface="Helvetica Neue"/>
                <a:ea typeface="Helvetica Neue"/>
                <a:cs typeface="Helvetica Neue"/>
              </a:defRPr>
            </a:lvl3pPr>
            <a:lvl4pPr algn="l">
              <a:defRPr sz="1725" b="0">
                <a:solidFill>
                  <a:srgbClr val="53627A"/>
                </a:solidFill>
                <a:latin typeface="Helvetica Neue"/>
                <a:ea typeface="Helvetica Neue"/>
                <a:cs typeface="Helvetica Neue"/>
              </a:defRPr>
            </a:lvl4pPr>
            <a:lvl5pPr algn="l">
              <a:defRPr sz="1725" b="0">
                <a:solidFill>
                  <a:srgbClr val="53627A"/>
                </a:solidFill>
                <a:latin typeface="Helvetica Neue"/>
                <a:ea typeface="Helvetica Neue"/>
                <a:cs typeface="Helvetica Neue"/>
              </a:defRPr>
            </a:lvl5pPr>
            <a:lvl6pPr algn="l">
              <a:defRPr sz="1725" b="0">
                <a:solidFill>
                  <a:srgbClr val="53627A"/>
                </a:solidFill>
                <a:latin typeface="Helvetica Neue"/>
                <a:ea typeface="Helvetica Neue"/>
                <a:cs typeface="Helvetica Neue"/>
              </a:defRPr>
            </a:lvl6pPr>
            <a:lvl7pPr algn="l">
              <a:defRPr sz="1725" b="0">
                <a:solidFill>
                  <a:srgbClr val="53627A"/>
                </a:solidFill>
                <a:latin typeface="Helvetica Neue"/>
                <a:ea typeface="Helvetica Neue"/>
                <a:cs typeface="Helvetica Neue"/>
              </a:defRPr>
            </a:lvl7pPr>
            <a:lvl8pPr algn="l">
              <a:defRPr sz="1725" b="0">
                <a:solidFill>
                  <a:srgbClr val="53627A"/>
                </a:solidFill>
                <a:latin typeface="Helvetica Neue"/>
                <a:ea typeface="Helvetica Neue"/>
                <a:cs typeface="Helvetica Neue"/>
              </a:defRPr>
            </a:lvl8pPr>
            <a:lvl9pPr algn="l">
              <a:defRPr sz="1725" b="0">
                <a:solidFill>
                  <a:srgbClr val="53627A"/>
                </a:solidFill>
                <a:latin typeface="Helvetica Neue"/>
                <a:ea typeface="Helvetica Neue"/>
                <a:cs typeface="Helvetica Neue"/>
              </a:defRPr>
            </a:lvl9pPr>
          </a:lstStyle>
          <a:p xmlns:a="http://schemas.openxmlformats.org/drawingml/2006/main">
            <a:pPr algn="l">
              <a:defRPr sz="1725" b="0">
                <a:solidFill>
                  <a:srgbClr val="53627A"/>
                </a:solidFill>
                <a:latin typeface="Helvetica Neue"/>
                <a:ea typeface="Helvetica Neue"/>
                <a:cs typeface="Helvetica Neue"/>
              </a:defRPr>
            </a:pPr>
            <a:r>
              <a:rPr sz="1725" b="0">
                <a:solidFill>
                  <a:srgbClr val="53627A"/>
                </a:solidFill>
                <a:latin typeface="Helvetica Neue"/>
                <a:ea typeface="Helvetica Neue"/>
                <a:cs typeface="Helvetica Neue"/>
              </a:rPr>
              <a:t>Small discovery sample. Virtual interviews generated hypotheses rather than validating demand.</a:t>
            </a:r>
          </a:p>
        </p:txBody>
      </p:sp>
    </p:spTree>
    <p:extLst>
      <p:ext uri="{BB962C8B-B14F-4D97-AF65-F5344CB8AC3E}">
        <p14:creationId xmlns:p14="http://schemas.microsoft.com/office/powerpoint/2010/main" val="415592765"/>
      </p:ext>
    </p:extLst>
  </p:cSld>
</p:sld>
</file>

<file path=ppt/slides/slide4.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0" name="A   Focal Monitor">
            <a:extLst xmlns:a="http://schemas.openxmlformats.org/drawingml/2006/main">
              <a:ext uri="{FF2B5EF4-FFF2-40B4-BE49-F238E27FC236}">
                <a16:creationId xmlns:a16="http://schemas.microsoft.com/office/drawing/2014/main" id="{6476166C-BA5F-4E59-907F-D577E3E4B064}"/>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A   Focal Monitor</a:t>
            </a:r>
          </a:p>
        </p:txBody>
      </p:sp>
      <p:sp>
        <p:nvSpPr>
          <p:cNvPr id="2" name="04">
            <a:extLst xmlns:a="http://schemas.openxmlformats.org/drawingml/2006/main">
              <a:ext uri="{FF2B5EF4-FFF2-40B4-BE49-F238E27FC236}">
                <a16:creationId xmlns:a16="http://schemas.microsoft.com/office/drawing/2014/main" id="{E24D11B4-B3CD-4D7A-ABAE-208F37E054B7}"/>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04</a:t>
            </a:r>
          </a:p>
        </p:txBody>
      </p:sp>
      <p:sp>
        <p:nvSpPr>
          <p:cNvPr id="3" name="Routine-Check Riley">
            <a:extLst xmlns:a="http://schemas.openxmlformats.org/drawingml/2006/main">
              <a:ext uri="{FF2B5EF4-FFF2-40B4-BE49-F238E27FC236}">
                <a16:creationId xmlns:a16="http://schemas.microsoft.com/office/drawing/2014/main" id="{C463ACA8-A170-4E45-91C4-98E79D9C0174}"/>
              </a:ext>
            </a:extLst>
          </p:cNvPr>
          <p:cNvSpPr>
            <a:spLocks xmlns:a="http://schemas.openxmlformats.org/drawingml/2006/main" noGrp="1"/>
          </p:cNvSpPr>
          <p:nvPr/>
        </p:nvSpPr>
        <p:spPr>
          <a:xfrm xmlns:a="http://schemas.openxmlformats.org/drawingml/2006/main">
            <a:off x="762000" y="167640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75AA"/>
                </a:solidFill>
                <a:latin typeface="Helvetica Neue"/>
                <a:ea typeface="Helvetica Neue"/>
                <a:cs typeface="Helvetica Neue"/>
              </a:defRPr>
            </a:defPPr>
            <a:lvl1pPr algn="l">
              <a:defRPr sz="2175" b="1">
                <a:solidFill>
                  <a:srgbClr val="1475AA"/>
                </a:solidFill>
                <a:latin typeface="Helvetica Neue"/>
                <a:ea typeface="Helvetica Neue"/>
                <a:cs typeface="Helvetica Neue"/>
              </a:defRPr>
            </a:lvl1pPr>
            <a:lvl2pPr algn="l">
              <a:defRPr sz="2175" b="1">
                <a:solidFill>
                  <a:srgbClr val="1475AA"/>
                </a:solidFill>
                <a:latin typeface="Helvetica Neue"/>
                <a:ea typeface="Helvetica Neue"/>
                <a:cs typeface="Helvetica Neue"/>
              </a:defRPr>
            </a:lvl2pPr>
            <a:lvl3pPr algn="l">
              <a:defRPr sz="2175" b="1">
                <a:solidFill>
                  <a:srgbClr val="1475AA"/>
                </a:solidFill>
                <a:latin typeface="Helvetica Neue"/>
                <a:ea typeface="Helvetica Neue"/>
                <a:cs typeface="Helvetica Neue"/>
              </a:defRPr>
            </a:lvl3pPr>
            <a:lvl4pPr algn="l">
              <a:defRPr sz="2175" b="1">
                <a:solidFill>
                  <a:srgbClr val="1475AA"/>
                </a:solidFill>
                <a:latin typeface="Helvetica Neue"/>
                <a:ea typeface="Helvetica Neue"/>
                <a:cs typeface="Helvetica Neue"/>
              </a:defRPr>
            </a:lvl4pPr>
            <a:lvl5pPr algn="l">
              <a:defRPr sz="2175" b="1">
                <a:solidFill>
                  <a:srgbClr val="1475AA"/>
                </a:solidFill>
                <a:latin typeface="Helvetica Neue"/>
                <a:ea typeface="Helvetica Neue"/>
                <a:cs typeface="Helvetica Neue"/>
              </a:defRPr>
            </a:lvl5pPr>
            <a:lvl6pPr algn="l">
              <a:defRPr sz="2175" b="1">
                <a:solidFill>
                  <a:srgbClr val="1475AA"/>
                </a:solidFill>
                <a:latin typeface="Helvetica Neue"/>
                <a:ea typeface="Helvetica Neue"/>
                <a:cs typeface="Helvetica Neue"/>
              </a:defRPr>
            </a:lvl6pPr>
            <a:lvl7pPr algn="l">
              <a:defRPr sz="2175" b="1">
                <a:solidFill>
                  <a:srgbClr val="1475AA"/>
                </a:solidFill>
                <a:latin typeface="Helvetica Neue"/>
                <a:ea typeface="Helvetica Neue"/>
                <a:cs typeface="Helvetica Neue"/>
              </a:defRPr>
            </a:lvl7pPr>
            <a:lvl8pPr algn="l">
              <a:defRPr sz="2175" b="1">
                <a:solidFill>
                  <a:srgbClr val="1475AA"/>
                </a:solidFill>
                <a:latin typeface="Helvetica Neue"/>
                <a:ea typeface="Helvetica Neue"/>
                <a:cs typeface="Helvetica Neue"/>
              </a:defRPr>
            </a:lvl8pPr>
            <a:lvl9pPr algn="l">
              <a:defRPr sz="2175" b="1">
                <a:solidFill>
                  <a:srgbClr val="1475AA"/>
                </a:solidFill>
                <a:latin typeface="Helvetica Neue"/>
                <a:ea typeface="Helvetica Neue"/>
                <a:cs typeface="Helvetica Neue"/>
              </a:defRPr>
            </a:lvl9pPr>
          </a:lstStyle>
          <a:p xmlns:a="http://schemas.openxmlformats.org/drawingml/2006/main">
            <a:pPr algn="l">
              <a:defRPr sz="2175" b="1">
                <a:solidFill>
                  <a:srgbClr val="1475AA"/>
                </a:solidFill>
                <a:latin typeface="Helvetica Neue"/>
                <a:ea typeface="Helvetica Neue"/>
                <a:cs typeface="Helvetica Neue"/>
              </a:defRPr>
            </a:pPr>
            <a:r>
              <a:rPr sz="2175" b="1">
                <a:solidFill>
                  <a:srgbClr val="1475AA"/>
                </a:solidFill>
                <a:latin typeface="Helvetica Neue"/>
                <a:ea typeface="Helvetica Neue"/>
                <a:cs typeface="Helvetica Neue"/>
              </a:rPr>
              <a:t>Routine-Check Riley</a:t>
            </a:r>
          </a:p>
        </p:txBody>
      </p:sp>
      <p:sp>
        <p:nvSpPr>
          <p:cNvPr id="4" name="Does history make the same result more useful?">
            <a:extLst xmlns:a="http://schemas.openxmlformats.org/drawingml/2006/main">
              <a:ext uri="{FF2B5EF4-FFF2-40B4-BE49-F238E27FC236}">
                <a16:creationId xmlns:a16="http://schemas.microsoft.com/office/drawing/2014/main" id="{09F24D83-A27F-4CC0-B4EF-B1F6829C3EDC}"/>
              </a:ext>
            </a:extLst>
          </p:cNvPr>
          <p:cNvSpPr>
            <a:spLocks xmlns:a="http://schemas.openxmlformats.org/drawingml/2006/main" noGrp="1"/>
          </p:cNvSpPr>
          <p:nvPr/>
        </p:nvSpPr>
        <p:spPr>
          <a:xfrm xmlns:a="http://schemas.openxmlformats.org/drawingml/2006/main">
            <a:off x="762000" y="26574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234B"/>
                </a:solidFill>
                <a:latin typeface="Helvetica Neue"/>
                <a:ea typeface="Helvetica Neue"/>
                <a:cs typeface="Helvetica Neue"/>
              </a:defRPr>
            </a:defPPr>
            <a:lvl1pPr algn="l">
              <a:defRPr sz="3450" b="1">
                <a:solidFill>
                  <a:srgbClr val="16234B"/>
                </a:solidFill>
                <a:latin typeface="Helvetica Neue"/>
                <a:ea typeface="Helvetica Neue"/>
                <a:cs typeface="Helvetica Neue"/>
              </a:defRPr>
            </a:lvl1pPr>
            <a:lvl2pPr algn="l">
              <a:defRPr sz="3450" b="1">
                <a:solidFill>
                  <a:srgbClr val="16234B"/>
                </a:solidFill>
                <a:latin typeface="Helvetica Neue"/>
                <a:ea typeface="Helvetica Neue"/>
                <a:cs typeface="Helvetica Neue"/>
              </a:defRPr>
            </a:lvl2pPr>
            <a:lvl3pPr algn="l">
              <a:defRPr sz="3450" b="1">
                <a:solidFill>
                  <a:srgbClr val="16234B"/>
                </a:solidFill>
                <a:latin typeface="Helvetica Neue"/>
                <a:ea typeface="Helvetica Neue"/>
                <a:cs typeface="Helvetica Neue"/>
              </a:defRPr>
            </a:lvl3pPr>
            <a:lvl4pPr algn="l">
              <a:defRPr sz="3450" b="1">
                <a:solidFill>
                  <a:srgbClr val="16234B"/>
                </a:solidFill>
                <a:latin typeface="Helvetica Neue"/>
                <a:ea typeface="Helvetica Neue"/>
                <a:cs typeface="Helvetica Neue"/>
              </a:defRPr>
            </a:lvl4pPr>
            <a:lvl5pPr algn="l">
              <a:defRPr sz="3450" b="1">
                <a:solidFill>
                  <a:srgbClr val="16234B"/>
                </a:solidFill>
                <a:latin typeface="Helvetica Neue"/>
                <a:ea typeface="Helvetica Neue"/>
                <a:cs typeface="Helvetica Neue"/>
              </a:defRPr>
            </a:lvl5pPr>
            <a:lvl6pPr algn="l">
              <a:defRPr sz="3450" b="1">
                <a:solidFill>
                  <a:srgbClr val="16234B"/>
                </a:solidFill>
                <a:latin typeface="Helvetica Neue"/>
                <a:ea typeface="Helvetica Neue"/>
                <a:cs typeface="Helvetica Neue"/>
              </a:defRPr>
            </a:lvl6pPr>
            <a:lvl7pPr algn="l">
              <a:defRPr sz="3450" b="1">
                <a:solidFill>
                  <a:srgbClr val="16234B"/>
                </a:solidFill>
                <a:latin typeface="Helvetica Neue"/>
                <a:ea typeface="Helvetica Neue"/>
                <a:cs typeface="Helvetica Neue"/>
              </a:defRPr>
            </a:lvl7pPr>
            <a:lvl8pPr algn="l">
              <a:defRPr sz="3450" b="1">
                <a:solidFill>
                  <a:srgbClr val="16234B"/>
                </a:solidFill>
                <a:latin typeface="Helvetica Neue"/>
                <a:ea typeface="Helvetica Neue"/>
                <a:cs typeface="Helvetica Neue"/>
              </a:defRPr>
            </a:lvl8pPr>
            <a:lvl9pPr algn="l">
              <a:defRPr sz="3450" b="1">
                <a:solidFill>
                  <a:srgbClr val="16234B"/>
                </a:solidFill>
                <a:latin typeface="Helvetica Neue"/>
                <a:ea typeface="Helvetica Neue"/>
                <a:cs typeface="Helvetica Neue"/>
              </a:defRPr>
            </a:lvl9pPr>
          </a:lstStyle>
          <a:p xmlns:a="http://schemas.openxmlformats.org/drawingml/2006/main">
            <a:pPr algn="l">
              <a:defRPr sz="3450" b="1">
                <a:solidFill>
                  <a:srgbClr val="16234B"/>
                </a:solidFill>
                <a:latin typeface="Helvetica Neue"/>
                <a:ea typeface="Helvetica Neue"/>
                <a:cs typeface="Helvetica Neue"/>
              </a:defRPr>
            </a:pPr>
            <a:r>
              <a:rPr sz="3450" b="1">
                <a:solidFill>
                  <a:srgbClr val="16234B"/>
                </a:solidFill>
                <a:latin typeface="Helvetica Neue"/>
                <a:ea typeface="Helvetica Neue"/>
                <a:cs typeface="Helvetica Neue"/>
              </a:rPr>
              <a:t>Does history make the same result more useful?</a:t>
            </a:r>
          </a:p>
        </p:txBody>
      </p:sp>
      <p:sp>
        <p:nvSpPr>
          <p:cNvPr id="5" name="The test">
            <a:extLst xmlns:a="http://schemas.openxmlformats.org/drawingml/2006/main">
              <a:ext uri="{FF2B5EF4-FFF2-40B4-BE49-F238E27FC236}">
                <a16:creationId xmlns:a16="http://schemas.microsoft.com/office/drawing/2014/main" id="{A07EAFC5-1466-418C-9D5A-95332A11FAE4}"/>
              </a:ext>
            </a:extLst>
          </p:cNvPr>
          <p:cNvSpPr>
            <a:spLocks xmlns:a="http://schemas.openxmlformats.org/drawingml/2006/main" noGrp="1"/>
          </p:cNvSpPr>
          <p:nvPr/>
        </p:nvSpPr>
        <p:spPr>
          <a:xfrm xmlns:a="http://schemas.openxmlformats.org/drawingml/2006/main">
            <a:off x="762000" y="50101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75AA"/>
                </a:solidFill>
                <a:latin typeface="Helvetica Neue"/>
                <a:ea typeface="Helvetica Neue"/>
                <a:cs typeface="Helvetica Neue"/>
              </a:defRPr>
            </a:defPPr>
            <a:lvl1pPr algn="l">
              <a:defRPr sz="1875" b="1">
                <a:solidFill>
                  <a:srgbClr val="1475AA"/>
                </a:solidFill>
                <a:latin typeface="Helvetica Neue"/>
                <a:ea typeface="Helvetica Neue"/>
                <a:cs typeface="Helvetica Neue"/>
              </a:defRPr>
            </a:lvl1pPr>
            <a:lvl2pPr algn="l">
              <a:defRPr sz="1875" b="1">
                <a:solidFill>
                  <a:srgbClr val="1475AA"/>
                </a:solidFill>
                <a:latin typeface="Helvetica Neue"/>
                <a:ea typeface="Helvetica Neue"/>
                <a:cs typeface="Helvetica Neue"/>
              </a:defRPr>
            </a:lvl2pPr>
            <a:lvl3pPr algn="l">
              <a:defRPr sz="1875" b="1">
                <a:solidFill>
                  <a:srgbClr val="1475AA"/>
                </a:solidFill>
                <a:latin typeface="Helvetica Neue"/>
                <a:ea typeface="Helvetica Neue"/>
                <a:cs typeface="Helvetica Neue"/>
              </a:defRPr>
            </a:lvl3pPr>
            <a:lvl4pPr algn="l">
              <a:defRPr sz="1875" b="1">
                <a:solidFill>
                  <a:srgbClr val="1475AA"/>
                </a:solidFill>
                <a:latin typeface="Helvetica Neue"/>
                <a:ea typeface="Helvetica Neue"/>
                <a:cs typeface="Helvetica Neue"/>
              </a:defRPr>
            </a:lvl4pPr>
            <a:lvl5pPr algn="l">
              <a:defRPr sz="1875" b="1">
                <a:solidFill>
                  <a:srgbClr val="1475AA"/>
                </a:solidFill>
                <a:latin typeface="Helvetica Neue"/>
                <a:ea typeface="Helvetica Neue"/>
                <a:cs typeface="Helvetica Neue"/>
              </a:defRPr>
            </a:lvl5pPr>
            <a:lvl6pPr algn="l">
              <a:defRPr sz="1875" b="1">
                <a:solidFill>
                  <a:srgbClr val="1475AA"/>
                </a:solidFill>
                <a:latin typeface="Helvetica Neue"/>
                <a:ea typeface="Helvetica Neue"/>
                <a:cs typeface="Helvetica Neue"/>
              </a:defRPr>
            </a:lvl6pPr>
            <a:lvl7pPr algn="l">
              <a:defRPr sz="1875" b="1">
                <a:solidFill>
                  <a:srgbClr val="1475AA"/>
                </a:solidFill>
                <a:latin typeface="Helvetica Neue"/>
                <a:ea typeface="Helvetica Neue"/>
                <a:cs typeface="Helvetica Neue"/>
              </a:defRPr>
            </a:lvl7pPr>
            <a:lvl8pPr algn="l">
              <a:defRPr sz="1875" b="1">
                <a:solidFill>
                  <a:srgbClr val="1475AA"/>
                </a:solidFill>
                <a:latin typeface="Helvetica Neue"/>
                <a:ea typeface="Helvetica Neue"/>
                <a:cs typeface="Helvetica Neue"/>
              </a:defRPr>
            </a:lvl8pPr>
            <a:lvl9pPr algn="l">
              <a:defRPr sz="1875" b="1">
                <a:solidFill>
                  <a:srgbClr val="1475AA"/>
                </a:solidFill>
                <a:latin typeface="Helvetica Neue"/>
                <a:ea typeface="Helvetica Neue"/>
                <a:cs typeface="Helvetica Neue"/>
              </a:defRPr>
            </a:lvl9pPr>
          </a:lstStyle>
          <a:p xmlns:a="http://schemas.openxmlformats.org/drawingml/2006/main">
            <a:pPr algn="l">
              <a:defRPr sz="1875" b="1">
                <a:solidFill>
                  <a:srgbClr val="1475AA"/>
                </a:solidFill>
                <a:latin typeface="Helvetica Neue"/>
                <a:ea typeface="Helvetica Neue"/>
                <a:cs typeface="Helvetica Neue"/>
              </a:defRPr>
            </a:pPr>
            <a:r>
              <a:rPr sz="1875" b="1">
                <a:solidFill>
                  <a:srgbClr val="1475AA"/>
                </a:solidFill>
                <a:latin typeface="Helvetica Neue"/>
                <a:ea typeface="Helvetica Neue"/>
                <a:cs typeface="Helvetica Neue"/>
              </a:rPr>
              <a:t>The test</a:t>
            </a:r>
          </a:p>
        </p:txBody>
      </p:sp>
      <p:sp>
        <p:nvSpPr>
          <p:cNvPr id="6" name="Compare Single Result and Trend Tracking after one completed chec">
            <a:extLst xmlns:a="http://schemas.openxmlformats.org/drawingml/2006/main">
              <a:ext uri="{FF2B5EF4-FFF2-40B4-BE49-F238E27FC236}">
                <a16:creationId xmlns:a16="http://schemas.microsoft.com/office/drawing/2014/main" id="{4DA20360-7776-4F6E-B3EF-76E96BFE86BB}"/>
              </a:ext>
            </a:extLst>
          </p:cNvPr>
          <p:cNvSpPr>
            <a:spLocks xmlns:a="http://schemas.openxmlformats.org/drawingml/2006/main" noGrp="1"/>
          </p:cNvSpPr>
          <p:nvPr/>
        </p:nvSpPr>
        <p:spPr>
          <a:xfrm xmlns:a="http://schemas.openxmlformats.org/drawingml/2006/main">
            <a:off x="762000" y="5476875"/>
            <a:ext cx="5238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234B"/>
                </a:solidFill>
                <a:latin typeface="Helvetica Neue"/>
                <a:ea typeface="Helvetica Neue"/>
                <a:cs typeface="Helvetica Neue"/>
              </a:defRPr>
            </a:defPPr>
            <a:lvl1pPr algn="l">
              <a:defRPr sz="2250" b="0">
                <a:solidFill>
                  <a:srgbClr val="16234B"/>
                </a:solidFill>
                <a:latin typeface="Helvetica Neue"/>
                <a:ea typeface="Helvetica Neue"/>
                <a:cs typeface="Helvetica Neue"/>
              </a:defRPr>
            </a:lvl1pPr>
            <a:lvl2pPr algn="l">
              <a:defRPr sz="2250" b="0">
                <a:solidFill>
                  <a:srgbClr val="16234B"/>
                </a:solidFill>
                <a:latin typeface="Helvetica Neue"/>
                <a:ea typeface="Helvetica Neue"/>
                <a:cs typeface="Helvetica Neue"/>
              </a:defRPr>
            </a:lvl2pPr>
            <a:lvl3pPr algn="l">
              <a:defRPr sz="2250" b="0">
                <a:solidFill>
                  <a:srgbClr val="16234B"/>
                </a:solidFill>
                <a:latin typeface="Helvetica Neue"/>
                <a:ea typeface="Helvetica Neue"/>
                <a:cs typeface="Helvetica Neue"/>
              </a:defRPr>
            </a:lvl3pPr>
            <a:lvl4pPr algn="l">
              <a:defRPr sz="2250" b="0">
                <a:solidFill>
                  <a:srgbClr val="16234B"/>
                </a:solidFill>
                <a:latin typeface="Helvetica Neue"/>
                <a:ea typeface="Helvetica Neue"/>
                <a:cs typeface="Helvetica Neue"/>
              </a:defRPr>
            </a:lvl4pPr>
            <a:lvl5pPr algn="l">
              <a:defRPr sz="2250" b="0">
                <a:solidFill>
                  <a:srgbClr val="16234B"/>
                </a:solidFill>
                <a:latin typeface="Helvetica Neue"/>
                <a:ea typeface="Helvetica Neue"/>
                <a:cs typeface="Helvetica Neue"/>
              </a:defRPr>
            </a:lvl5pPr>
            <a:lvl6pPr algn="l">
              <a:defRPr sz="2250" b="0">
                <a:solidFill>
                  <a:srgbClr val="16234B"/>
                </a:solidFill>
                <a:latin typeface="Helvetica Neue"/>
                <a:ea typeface="Helvetica Neue"/>
                <a:cs typeface="Helvetica Neue"/>
              </a:defRPr>
            </a:lvl6pPr>
            <a:lvl7pPr algn="l">
              <a:defRPr sz="2250" b="0">
                <a:solidFill>
                  <a:srgbClr val="16234B"/>
                </a:solidFill>
                <a:latin typeface="Helvetica Neue"/>
                <a:ea typeface="Helvetica Neue"/>
                <a:cs typeface="Helvetica Neue"/>
              </a:defRPr>
            </a:lvl7pPr>
            <a:lvl8pPr algn="l">
              <a:defRPr sz="2250" b="0">
                <a:solidFill>
                  <a:srgbClr val="16234B"/>
                </a:solidFill>
                <a:latin typeface="Helvetica Neue"/>
                <a:ea typeface="Helvetica Neue"/>
                <a:cs typeface="Helvetica Neue"/>
              </a:defRPr>
            </a:lvl8pPr>
            <a:lvl9pPr algn="l">
              <a:defRPr sz="2250" b="0">
                <a:solidFill>
                  <a:srgbClr val="16234B"/>
                </a:solidFill>
                <a:latin typeface="Helvetica Neue"/>
                <a:ea typeface="Helvetica Neue"/>
                <a:cs typeface="Helvetica Neue"/>
              </a:defRPr>
            </a:lvl9pPr>
          </a:lstStyle>
          <a:p xmlns:a="http://schemas.openxmlformats.org/drawingml/2006/main">
            <a:pPr algn="l">
              <a:defRPr sz="2250" b="0">
                <a:solidFill>
                  <a:srgbClr val="16234B"/>
                </a:solidFill>
                <a:latin typeface="Helvetica Neue"/>
                <a:ea typeface="Helvetica Neue"/>
                <a:cs typeface="Helvetica Neue"/>
              </a:defRPr>
            </a:pPr>
            <a:r>
              <a:rPr sz="2250" b="0">
                <a:solidFill>
                  <a:srgbClr val="16234B"/>
                </a:solidFill>
                <a:latin typeface="Helvetica Neue"/>
                <a:ea typeface="Helvetica Neue"/>
                <a:cs typeface="Helvetica Neue"/>
              </a:rPr>
              <a:t>Compare Single Result and Trend Tracking after one completed check.</a:t>
            </a:r>
          </a:p>
        </p:txBody>
      </p:sp>
      <p:pic>
        <p:nvPicPr>
          <p:cNvPr id="7" name="">
            <a:extLst xmlns:a="http://schemas.openxmlformats.org/drawingml/2006/main">
              <a:ext uri="{FF2B5EF4-FFF2-40B4-BE49-F238E27FC236}">
                <a16:creationId xmlns:a16="http://schemas.microsoft.com/office/drawing/2014/main" id="{4C622C41-16B2-492C-92CC-612761EDE172}"/>
              </a:ext>
            </a:extLst>
          </p:cNvPr>
          <p:cNvPicPr>
            <a:picLocks xmlns:a="http://schemas.openxmlformats.org/drawingml/2006/main" noChangeAspect="1"/>
          </p:cNvPicPr>
          <p:nvPr/>
        </p:nvPicPr>
        <p:blipFill>
          <a:blip xmlns:r="http://schemas.openxmlformats.org/officeDocument/2006/relationships" xmlns:a="http://schemas.openxmlformats.org/drawingml/2006/main" r:embed="Rb7c56b3c5811408b"/>
          <a:stretch xmlns:a="http://schemas.openxmlformats.org/drawingml/2006/main"/>
        </p:blipFill>
        <p:spPr>
          <a:xfrm xmlns:a="http://schemas.openxmlformats.org/drawingml/2006/main">
            <a:off x="6572250" y="2505670"/>
            <a:ext cx="7905750" cy="4446984"/>
          </a:xfrm>
          <a:prstGeom xmlns:a="http://schemas.openxmlformats.org/drawingml/2006/main" prst="rect">
            <a:avLst/>
          </a:prstGeom>
        </p:spPr>
      </p:pic>
      <p:sp>
        <p:nvSpPr>
          <p:cNvPr id="8" name="Proposed signal: at least 3 of 5 Riley-like participants explain ">
            <a:extLst xmlns:a="http://schemas.openxmlformats.org/drawingml/2006/main">
              <a:ext uri="{FF2B5EF4-FFF2-40B4-BE49-F238E27FC236}">
                <a16:creationId xmlns:a16="http://schemas.microsoft.com/office/drawing/2014/main" id="{B6EB53AB-B29B-4839-85B5-F7ACD816F0A5}"/>
              </a:ext>
            </a:extLst>
          </p:cNvPr>
          <p:cNvSpPr>
            <a:spLocks xmlns:a="http://schemas.openxmlformats.org/drawingml/2006/main" noGrp="1"/>
          </p:cNvSpPr>
          <p:nvPr/>
        </p:nvSpPr>
        <p:spPr>
          <a:xfrm xmlns:a="http://schemas.openxmlformats.org/drawingml/2006/main">
            <a:off x="762000" y="7286625"/>
            <a:ext cx="1323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34B"/>
                </a:solidFill>
                <a:latin typeface="Helvetica Neue"/>
                <a:ea typeface="Helvetica Neue"/>
                <a:cs typeface="Helvetica Neue"/>
              </a:defRPr>
            </a:defPPr>
            <a:lvl1pPr algn="l">
              <a:defRPr sz="1950" b="0">
                <a:solidFill>
                  <a:srgbClr val="16234B"/>
                </a:solidFill>
                <a:latin typeface="Helvetica Neue"/>
                <a:ea typeface="Helvetica Neue"/>
                <a:cs typeface="Helvetica Neue"/>
              </a:defRPr>
            </a:lvl1pPr>
            <a:lvl2pPr algn="l">
              <a:defRPr sz="1950" b="0">
                <a:solidFill>
                  <a:srgbClr val="16234B"/>
                </a:solidFill>
                <a:latin typeface="Helvetica Neue"/>
                <a:ea typeface="Helvetica Neue"/>
                <a:cs typeface="Helvetica Neue"/>
              </a:defRPr>
            </a:lvl2pPr>
            <a:lvl3pPr algn="l">
              <a:defRPr sz="1950" b="0">
                <a:solidFill>
                  <a:srgbClr val="16234B"/>
                </a:solidFill>
                <a:latin typeface="Helvetica Neue"/>
                <a:ea typeface="Helvetica Neue"/>
                <a:cs typeface="Helvetica Neue"/>
              </a:defRPr>
            </a:lvl3pPr>
            <a:lvl4pPr algn="l">
              <a:defRPr sz="1950" b="0">
                <a:solidFill>
                  <a:srgbClr val="16234B"/>
                </a:solidFill>
                <a:latin typeface="Helvetica Neue"/>
                <a:ea typeface="Helvetica Neue"/>
                <a:cs typeface="Helvetica Neue"/>
              </a:defRPr>
            </a:lvl4pPr>
            <a:lvl5pPr algn="l">
              <a:defRPr sz="1950" b="0">
                <a:solidFill>
                  <a:srgbClr val="16234B"/>
                </a:solidFill>
                <a:latin typeface="Helvetica Neue"/>
                <a:ea typeface="Helvetica Neue"/>
                <a:cs typeface="Helvetica Neue"/>
              </a:defRPr>
            </a:lvl5pPr>
            <a:lvl6pPr algn="l">
              <a:defRPr sz="1950" b="0">
                <a:solidFill>
                  <a:srgbClr val="16234B"/>
                </a:solidFill>
                <a:latin typeface="Helvetica Neue"/>
                <a:ea typeface="Helvetica Neue"/>
                <a:cs typeface="Helvetica Neue"/>
              </a:defRPr>
            </a:lvl6pPr>
            <a:lvl7pPr algn="l">
              <a:defRPr sz="1950" b="0">
                <a:solidFill>
                  <a:srgbClr val="16234B"/>
                </a:solidFill>
                <a:latin typeface="Helvetica Neue"/>
                <a:ea typeface="Helvetica Neue"/>
                <a:cs typeface="Helvetica Neue"/>
              </a:defRPr>
            </a:lvl7pPr>
            <a:lvl8pPr algn="l">
              <a:defRPr sz="1950" b="0">
                <a:solidFill>
                  <a:srgbClr val="16234B"/>
                </a:solidFill>
                <a:latin typeface="Helvetica Neue"/>
                <a:ea typeface="Helvetica Neue"/>
                <a:cs typeface="Helvetica Neue"/>
              </a:defRPr>
            </a:lvl8pPr>
            <a:lvl9pPr algn="l">
              <a:defRPr sz="1950" b="0">
                <a:solidFill>
                  <a:srgbClr val="16234B"/>
                </a:solidFill>
                <a:latin typeface="Helvetica Neue"/>
                <a:ea typeface="Helvetica Neue"/>
                <a:cs typeface="Helvetica Neue"/>
              </a:defRPr>
            </a:lvl9pPr>
          </a:lstStyle>
          <a:p xmlns:a="http://schemas.openxmlformats.org/drawingml/2006/main">
            <a:pPr algn="l">
              <a:defRPr sz="1950" b="0">
                <a:solidFill>
                  <a:srgbClr val="16234B"/>
                </a:solidFill>
                <a:latin typeface="Helvetica Neue"/>
                <a:ea typeface="Helvetica Neue"/>
                <a:cs typeface="Helvetica Neue"/>
              </a:defRPr>
            </a:pPr>
            <a:r>
              <a:rPr sz="1950" b="0">
                <a:solidFill>
                  <a:srgbClr val="16234B"/>
                </a:solidFill>
                <a:latin typeface="Helvetica Neue"/>
                <a:ea typeface="Helvetica Neue"/>
                <a:cs typeface="Helvetica Neue"/>
              </a:rPr>
              <a:t>Proposed signal: at least 3 of 5 Riley-like participants explain a format preference.</a:t>
            </a:r>
          </a:p>
        </p:txBody>
      </p:sp>
      <p:sp>
        <p:nvSpPr>
          <p:cNvPr id="9" name="Illustrative acuity labels. Fictional history. Clinical accuracy ">
            <a:extLst xmlns:a="http://schemas.openxmlformats.org/drawingml/2006/main">
              <a:ext uri="{FF2B5EF4-FFF2-40B4-BE49-F238E27FC236}">
                <a16:creationId xmlns:a16="http://schemas.microsoft.com/office/drawing/2014/main" id="{D67A9374-EC83-4E8D-8FFD-D0D4D99C87CB}"/>
              </a:ext>
            </a:extLst>
          </p:cNvPr>
          <p:cNvSpPr>
            <a:spLocks xmlns:a="http://schemas.openxmlformats.org/drawingml/2006/main" noGrp="1"/>
          </p:cNvSpPr>
          <p:nvPr/>
        </p:nvSpPr>
        <p:spPr>
          <a:xfrm xmlns:a="http://schemas.openxmlformats.org/drawingml/2006/main">
            <a:off x="762000" y="7820025"/>
            <a:ext cx="1266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27A"/>
                </a:solidFill>
                <a:latin typeface="Helvetica Neue"/>
                <a:ea typeface="Helvetica Neue"/>
                <a:cs typeface="Helvetica Neue"/>
              </a:defRPr>
            </a:defPPr>
            <a:lvl1pPr algn="l">
              <a:defRPr sz="1650" b="0">
                <a:solidFill>
                  <a:srgbClr val="53627A"/>
                </a:solidFill>
                <a:latin typeface="Helvetica Neue"/>
                <a:ea typeface="Helvetica Neue"/>
                <a:cs typeface="Helvetica Neue"/>
              </a:defRPr>
            </a:lvl1pPr>
            <a:lvl2pPr algn="l">
              <a:defRPr sz="1650" b="0">
                <a:solidFill>
                  <a:srgbClr val="53627A"/>
                </a:solidFill>
                <a:latin typeface="Helvetica Neue"/>
                <a:ea typeface="Helvetica Neue"/>
                <a:cs typeface="Helvetica Neue"/>
              </a:defRPr>
            </a:lvl2pPr>
            <a:lvl3pPr algn="l">
              <a:defRPr sz="1650" b="0">
                <a:solidFill>
                  <a:srgbClr val="53627A"/>
                </a:solidFill>
                <a:latin typeface="Helvetica Neue"/>
                <a:ea typeface="Helvetica Neue"/>
                <a:cs typeface="Helvetica Neue"/>
              </a:defRPr>
            </a:lvl3pPr>
            <a:lvl4pPr algn="l">
              <a:defRPr sz="1650" b="0">
                <a:solidFill>
                  <a:srgbClr val="53627A"/>
                </a:solidFill>
                <a:latin typeface="Helvetica Neue"/>
                <a:ea typeface="Helvetica Neue"/>
                <a:cs typeface="Helvetica Neue"/>
              </a:defRPr>
            </a:lvl4pPr>
            <a:lvl5pPr algn="l">
              <a:defRPr sz="1650" b="0">
                <a:solidFill>
                  <a:srgbClr val="53627A"/>
                </a:solidFill>
                <a:latin typeface="Helvetica Neue"/>
                <a:ea typeface="Helvetica Neue"/>
                <a:cs typeface="Helvetica Neue"/>
              </a:defRPr>
            </a:lvl5pPr>
            <a:lvl6pPr algn="l">
              <a:defRPr sz="1650" b="0">
                <a:solidFill>
                  <a:srgbClr val="53627A"/>
                </a:solidFill>
                <a:latin typeface="Helvetica Neue"/>
                <a:ea typeface="Helvetica Neue"/>
                <a:cs typeface="Helvetica Neue"/>
              </a:defRPr>
            </a:lvl6pPr>
            <a:lvl7pPr algn="l">
              <a:defRPr sz="1650" b="0">
                <a:solidFill>
                  <a:srgbClr val="53627A"/>
                </a:solidFill>
                <a:latin typeface="Helvetica Neue"/>
                <a:ea typeface="Helvetica Neue"/>
                <a:cs typeface="Helvetica Neue"/>
              </a:defRPr>
            </a:lvl7pPr>
            <a:lvl8pPr algn="l">
              <a:defRPr sz="1650" b="0">
                <a:solidFill>
                  <a:srgbClr val="53627A"/>
                </a:solidFill>
                <a:latin typeface="Helvetica Neue"/>
                <a:ea typeface="Helvetica Neue"/>
                <a:cs typeface="Helvetica Neue"/>
              </a:defRPr>
            </a:lvl8pPr>
            <a:lvl9pPr algn="l">
              <a:defRPr sz="1650" b="0">
                <a:solidFill>
                  <a:srgbClr val="53627A"/>
                </a:solidFill>
                <a:latin typeface="Helvetica Neue"/>
                <a:ea typeface="Helvetica Neue"/>
                <a:cs typeface="Helvetica Neue"/>
              </a:defRPr>
            </a:lvl9pPr>
          </a:lstStyle>
          <a:p xmlns:a="http://schemas.openxmlformats.org/drawingml/2006/main">
            <a:pPr algn="l">
              <a:defRPr sz="1650" b="0">
                <a:solidFill>
                  <a:srgbClr val="53627A"/>
                </a:solidFill>
                <a:latin typeface="Helvetica Neue"/>
                <a:ea typeface="Helvetica Neue"/>
                <a:cs typeface="Helvetica Neue"/>
              </a:defRPr>
            </a:pPr>
            <a:r>
              <a:rPr sz="1650" b="0">
                <a:solidFill>
                  <a:srgbClr val="53627A"/>
                </a:solidFill>
                <a:latin typeface="Helvetica Neue"/>
                <a:ea typeface="Helvetica Neue"/>
                <a:cs typeface="Helvetica Neue"/>
              </a:rPr>
              <a:t>Illustrative acuity labels. Fictional history. Clinical accuracy and repeat use remain untested.</a:t>
            </a:r>
          </a:p>
        </p:txBody>
      </p:sp>
    </p:spTree>
    <p:extLst>
      <p:ext uri="{BB962C8B-B14F-4D97-AF65-F5344CB8AC3E}">
        <p14:creationId xmlns:p14="http://schemas.microsoft.com/office/powerpoint/2010/main" val="1640809286"/>
      </p:ext>
    </p:extLst>
  </p:cSld>
</p:sld>
</file>

<file path=ppt/slides/slide5.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0" name="B   Focal Family">
            <a:extLst xmlns:a="http://schemas.openxmlformats.org/drawingml/2006/main">
              <a:ext uri="{FF2B5EF4-FFF2-40B4-BE49-F238E27FC236}">
                <a16:creationId xmlns:a16="http://schemas.microsoft.com/office/drawing/2014/main" id="{145C4AAD-AC5E-498A-A883-3B2C3693ADF8}"/>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B   Focal Family</a:t>
            </a:r>
          </a:p>
        </p:txBody>
      </p:sp>
      <p:sp>
        <p:nvSpPr>
          <p:cNvPr id="2" name="05">
            <a:extLst xmlns:a="http://schemas.openxmlformats.org/drawingml/2006/main">
              <a:ext uri="{FF2B5EF4-FFF2-40B4-BE49-F238E27FC236}">
                <a16:creationId xmlns:a16="http://schemas.microsoft.com/office/drawing/2014/main" id="{93A36AE5-39E0-4BE4-8B38-CFEA274CB74F}"/>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05</a:t>
            </a:r>
          </a:p>
        </p:txBody>
      </p:sp>
      <p:sp>
        <p:nvSpPr>
          <p:cNvPr id="3" name="Parent Pat">
            <a:extLst xmlns:a="http://schemas.openxmlformats.org/drawingml/2006/main">
              <a:ext uri="{FF2B5EF4-FFF2-40B4-BE49-F238E27FC236}">
                <a16:creationId xmlns:a16="http://schemas.microsoft.com/office/drawing/2014/main" id="{9A9816DD-2F83-4A12-8CD1-CE2E36716F81}"/>
              </a:ext>
            </a:extLst>
          </p:cNvPr>
          <p:cNvSpPr>
            <a:spLocks xmlns:a="http://schemas.openxmlformats.org/drawingml/2006/main" noGrp="1"/>
          </p:cNvSpPr>
          <p:nvPr/>
        </p:nvSpPr>
        <p:spPr>
          <a:xfrm xmlns:a="http://schemas.openxmlformats.org/drawingml/2006/main">
            <a:off x="762000" y="167640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B70"/>
                </a:solidFill>
                <a:latin typeface="Helvetica Neue"/>
                <a:ea typeface="Helvetica Neue"/>
                <a:cs typeface="Helvetica Neue"/>
              </a:defRPr>
            </a:defPPr>
            <a:lvl1pPr algn="l">
              <a:defRPr sz="2175" b="1">
                <a:solidFill>
                  <a:srgbClr val="286B70"/>
                </a:solidFill>
                <a:latin typeface="Helvetica Neue"/>
                <a:ea typeface="Helvetica Neue"/>
                <a:cs typeface="Helvetica Neue"/>
              </a:defRPr>
            </a:lvl1pPr>
            <a:lvl2pPr algn="l">
              <a:defRPr sz="2175" b="1">
                <a:solidFill>
                  <a:srgbClr val="286B70"/>
                </a:solidFill>
                <a:latin typeface="Helvetica Neue"/>
                <a:ea typeface="Helvetica Neue"/>
                <a:cs typeface="Helvetica Neue"/>
              </a:defRPr>
            </a:lvl2pPr>
            <a:lvl3pPr algn="l">
              <a:defRPr sz="2175" b="1">
                <a:solidFill>
                  <a:srgbClr val="286B70"/>
                </a:solidFill>
                <a:latin typeface="Helvetica Neue"/>
                <a:ea typeface="Helvetica Neue"/>
                <a:cs typeface="Helvetica Neue"/>
              </a:defRPr>
            </a:lvl3pPr>
            <a:lvl4pPr algn="l">
              <a:defRPr sz="2175" b="1">
                <a:solidFill>
                  <a:srgbClr val="286B70"/>
                </a:solidFill>
                <a:latin typeface="Helvetica Neue"/>
                <a:ea typeface="Helvetica Neue"/>
                <a:cs typeface="Helvetica Neue"/>
              </a:defRPr>
            </a:lvl4pPr>
            <a:lvl5pPr algn="l">
              <a:defRPr sz="2175" b="1">
                <a:solidFill>
                  <a:srgbClr val="286B70"/>
                </a:solidFill>
                <a:latin typeface="Helvetica Neue"/>
                <a:ea typeface="Helvetica Neue"/>
                <a:cs typeface="Helvetica Neue"/>
              </a:defRPr>
            </a:lvl5pPr>
            <a:lvl6pPr algn="l">
              <a:defRPr sz="2175" b="1">
                <a:solidFill>
                  <a:srgbClr val="286B70"/>
                </a:solidFill>
                <a:latin typeface="Helvetica Neue"/>
                <a:ea typeface="Helvetica Neue"/>
                <a:cs typeface="Helvetica Neue"/>
              </a:defRPr>
            </a:lvl6pPr>
            <a:lvl7pPr algn="l">
              <a:defRPr sz="2175" b="1">
                <a:solidFill>
                  <a:srgbClr val="286B70"/>
                </a:solidFill>
                <a:latin typeface="Helvetica Neue"/>
                <a:ea typeface="Helvetica Neue"/>
                <a:cs typeface="Helvetica Neue"/>
              </a:defRPr>
            </a:lvl7pPr>
            <a:lvl8pPr algn="l">
              <a:defRPr sz="2175" b="1">
                <a:solidFill>
                  <a:srgbClr val="286B70"/>
                </a:solidFill>
                <a:latin typeface="Helvetica Neue"/>
                <a:ea typeface="Helvetica Neue"/>
                <a:cs typeface="Helvetica Neue"/>
              </a:defRPr>
            </a:lvl8pPr>
            <a:lvl9pPr algn="l">
              <a:defRPr sz="2175" b="1">
                <a:solidFill>
                  <a:srgbClr val="286B70"/>
                </a:solidFill>
                <a:latin typeface="Helvetica Neue"/>
                <a:ea typeface="Helvetica Neue"/>
                <a:cs typeface="Helvetica Neue"/>
              </a:defRPr>
            </a:lvl9pPr>
          </a:lstStyle>
          <a:p xmlns:a="http://schemas.openxmlformats.org/drawingml/2006/main">
            <a:pPr algn="l">
              <a:defRPr sz="2175" b="1">
                <a:solidFill>
                  <a:srgbClr val="286B70"/>
                </a:solidFill>
                <a:latin typeface="Helvetica Neue"/>
                <a:ea typeface="Helvetica Neue"/>
                <a:cs typeface="Helvetica Neue"/>
              </a:defRPr>
            </a:pPr>
            <a:r>
              <a:rPr sz="2175" b="1">
                <a:solidFill>
                  <a:srgbClr val="286B70"/>
                </a:solidFill>
                <a:latin typeface="Helvetica Neue"/>
                <a:ea typeface="Helvetica Neue"/>
                <a:cs typeface="Helvetica Neue"/>
              </a:rPr>
              <a:t>Parent Pat</a:t>
            </a:r>
          </a:p>
        </p:txBody>
      </p:sp>
      <p:sp>
        <p:nvSpPr>
          <p:cNvPr id="4" name="Can a shared activity help Pat prepare a next step?">
            <a:extLst xmlns:a="http://schemas.openxmlformats.org/drawingml/2006/main">
              <a:ext uri="{FF2B5EF4-FFF2-40B4-BE49-F238E27FC236}">
                <a16:creationId xmlns:a16="http://schemas.microsoft.com/office/drawing/2014/main" id="{8170092C-E58D-43B5-B382-ED0C809E808E}"/>
              </a:ext>
            </a:extLst>
          </p:cNvPr>
          <p:cNvSpPr>
            <a:spLocks xmlns:a="http://schemas.openxmlformats.org/drawingml/2006/main" noGrp="1"/>
          </p:cNvSpPr>
          <p:nvPr/>
        </p:nvSpPr>
        <p:spPr>
          <a:xfrm xmlns:a="http://schemas.openxmlformats.org/drawingml/2006/main">
            <a:off x="762000" y="26574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234B"/>
                </a:solidFill>
                <a:latin typeface="Helvetica Neue"/>
                <a:ea typeface="Helvetica Neue"/>
                <a:cs typeface="Helvetica Neue"/>
              </a:defRPr>
            </a:defPPr>
            <a:lvl1pPr algn="l">
              <a:defRPr sz="3450" b="1">
                <a:solidFill>
                  <a:srgbClr val="16234B"/>
                </a:solidFill>
                <a:latin typeface="Helvetica Neue"/>
                <a:ea typeface="Helvetica Neue"/>
                <a:cs typeface="Helvetica Neue"/>
              </a:defRPr>
            </a:lvl1pPr>
            <a:lvl2pPr algn="l">
              <a:defRPr sz="3450" b="1">
                <a:solidFill>
                  <a:srgbClr val="16234B"/>
                </a:solidFill>
                <a:latin typeface="Helvetica Neue"/>
                <a:ea typeface="Helvetica Neue"/>
                <a:cs typeface="Helvetica Neue"/>
              </a:defRPr>
            </a:lvl2pPr>
            <a:lvl3pPr algn="l">
              <a:defRPr sz="3450" b="1">
                <a:solidFill>
                  <a:srgbClr val="16234B"/>
                </a:solidFill>
                <a:latin typeface="Helvetica Neue"/>
                <a:ea typeface="Helvetica Neue"/>
                <a:cs typeface="Helvetica Neue"/>
              </a:defRPr>
            </a:lvl3pPr>
            <a:lvl4pPr algn="l">
              <a:defRPr sz="3450" b="1">
                <a:solidFill>
                  <a:srgbClr val="16234B"/>
                </a:solidFill>
                <a:latin typeface="Helvetica Neue"/>
                <a:ea typeface="Helvetica Neue"/>
                <a:cs typeface="Helvetica Neue"/>
              </a:defRPr>
            </a:lvl4pPr>
            <a:lvl5pPr algn="l">
              <a:defRPr sz="3450" b="1">
                <a:solidFill>
                  <a:srgbClr val="16234B"/>
                </a:solidFill>
                <a:latin typeface="Helvetica Neue"/>
                <a:ea typeface="Helvetica Neue"/>
                <a:cs typeface="Helvetica Neue"/>
              </a:defRPr>
            </a:lvl5pPr>
            <a:lvl6pPr algn="l">
              <a:defRPr sz="3450" b="1">
                <a:solidFill>
                  <a:srgbClr val="16234B"/>
                </a:solidFill>
                <a:latin typeface="Helvetica Neue"/>
                <a:ea typeface="Helvetica Neue"/>
                <a:cs typeface="Helvetica Neue"/>
              </a:defRPr>
            </a:lvl6pPr>
            <a:lvl7pPr algn="l">
              <a:defRPr sz="3450" b="1">
                <a:solidFill>
                  <a:srgbClr val="16234B"/>
                </a:solidFill>
                <a:latin typeface="Helvetica Neue"/>
                <a:ea typeface="Helvetica Neue"/>
                <a:cs typeface="Helvetica Neue"/>
              </a:defRPr>
            </a:lvl7pPr>
            <a:lvl8pPr algn="l">
              <a:defRPr sz="3450" b="1">
                <a:solidFill>
                  <a:srgbClr val="16234B"/>
                </a:solidFill>
                <a:latin typeface="Helvetica Neue"/>
                <a:ea typeface="Helvetica Neue"/>
                <a:cs typeface="Helvetica Neue"/>
              </a:defRPr>
            </a:lvl8pPr>
            <a:lvl9pPr algn="l">
              <a:defRPr sz="3450" b="1">
                <a:solidFill>
                  <a:srgbClr val="16234B"/>
                </a:solidFill>
                <a:latin typeface="Helvetica Neue"/>
                <a:ea typeface="Helvetica Neue"/>
                <a:cs typeface="Helvetica Neue"/>
              </a:defRPr>
            </a:lvl9pPr>
          </a:lstStyle>
          <a:p xmlns:a="http://schemas.openxmlformats.org/drawingml/2006/main">
            <a:pPr algn="l">
              <a:defRPr sz="3450" b="1">
                <a:solidFill>
                  <a:srgbClr val="16234B"/>
                </a:solidFill>
                <a:latin typeface="Helvetica Neue"/>
                <a:ea typeface="Helvetica Neue"/>
                <a:cs typeface="Helvetica Neue"/>
              </a:defRPr>
            </a:pPr>
            <a:r>
              <a:rPr sz="3450" b="1">
                <a:solidFill>
                  <a:srgbClr val="16234B"/>
                </a:solidFill>
                <a:latin typeface="Helvetica Neue"/>
                <a:ea typeface="Helvetica Neue"/>
                <a:cs typeface="Helvetica Neue"/>
              </a:rPr>
              <a:t>Can a shared activity help Pat prepare a next step?</a:t>
            </a:r>
          </a:p>
        </p:txBody>
      </p:sp>
      <p:sp>
        <p:nvSpPr>
          <p:cNvPr id="5" name="The test">
            <a:extLst xmlns:a="http://schemas.openxmlformats.org/drawingml/2006/main">
              <a:ext uri="{FF2B5EF4-FFF2-40B4-BE49-F238E27FC236}">
                <a16:creationId xmlns:a16="http://schemas.microsoft.com/office/drawing/2014/main" id="{FB69B54D-ECCD-4649-BA22-981DD2DF992F}"/>
              </a:ext>
            </a:extLst>
          </p:cNvPr>
          <p:cNvSpPr>
            <a:spLocks xmlns:a="http://schemas.openxmlformats.org/drawingml/2006/main" noGrp="1"/>
          </p:cNvSpPr>
          <p:nvPr/>
        </p:nvSpPr>
        <p:spPr>
          <a:xfrm xmlns:a="http://schemas.openxmlformats.org/drawingml/2006/main">
            <a:off x="762000" y="50101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B70"/>
                </a:solidFill>
                <a:latin typeface="Helvetica Neue"/>
                <a:ea typeface="Helvetica Neue"/>
                <a:cs typeface="Helvetica Neue"/>
              </a:defRPr>
            </a:defPPr>
            <a:lvl1pPr algn="l">
              <a:defRPr sz="1875" b="1">
                <a:solidFill>
                  <a:srgbClr val="286B70"/>
                </a:solidFill>
                <a:latin typeface="Helvetica Neue"/>
                <a:ea typeface="Helvetica Neue"/>
                <a:cs typeface="Helvetica Neue"/>
              </a:defRPr>
            </a:lvl1pPr>
            <a:lvl2pPr algn="l">
              <a:defRPr sz="1875" b="1">
                <a:solidFill>
                  <a:srgbClr val="286B70"/>
                </a:solidFill>
                <a:latin typeface="Helvetica Neue"/>
                <a:ea typeface="Helvetica Neue"/>
                <a:cs typeface="Helvetica Neue"/>
              </a:defRPr>
            </a:lvl2pPr>
            <a:lvl3pPr algn="l">
              <a:defRPr sz="1875" b="1">
                <a:solidFill>
                  <a:srgbClr val="286B70"/>
                </a:solidFill>
                <a:latin typeface="Helvetica Neue"/>
                <a:ea typeface="Helvetica Neue"/>
                <a:cs typeface="Helvetica Neue"/>
              </a:defRPr>
            </a:lvl3pPr>
            <a:lvl4pPr algn="l">
              <a:defRPr sz="1875" b="1">
                <a:solidFill>
                  <a:srgbClr val="286B70"/>
                </a:solidFill>
                <a:latin typeface="Helvetica Neue"/>
                <a:ea typeface="Helvetica Neue"/>
                <a:cs typeface="Helvetica Neue"/>
              </a:defRPr>
            </a:lvl4pPr>
            <a:lvl5pPr algn="l">
              <a:defRPr sz="1875" b="1">
                <a:solidFill>
                  <a:srgbClr val="286B70"/>
                </a:solidFill>
                <a:latin typeface="Helvetica Neue"/>
                <a:ea typeface="Helvetica Neue"/>
                <a:cs typeface="Helvetica Neue"/>
              </a:defRPr>
            </a:lvl5pPr>
            <a:lvl6pPr algn="l">
              <a:defRPr sz="1875" b="1">
                <a:solidFill>
                  <a:srgbClr val="286B70"/>
                </a:solidFill>
                <a:latin typeface="Helvetica Neue"/>
                <a:ea typeface="Helvetica Neue"/>
                <a:cs typeface="Helvetica Neue"/>
              </a:defRPr>
            </a:lvl6pPr>
            <a:lvl7pPr algn="l">
              <a:defRPr sz="1875" b="1">
                <a:solidFill>
                  <a:srgbClr val="286B70"/>
                </a:solidFill>
                <a:latin typeface="Helvetica Neue"/>
                <a:ea typeface="Helvetica Neue"/>
                <a:cs typeface="Helvetica Neue"/>
              </a:defRPr>
            </a:lvl7pPr>
            <a:lvl8pPr algn="l">
              <a:defRPr sz="1875" b="1">
                <a:solidFill>
                  <a:srgbClr val="286B70"/>
                </a:solidFill>
                <a:latin typeface="Helvetica Neue"/>
                <a:ea typeface="Helvetica Neue"/>
                <a:cs typeface="Helvetica Neue"/>
              </a:defRPr>
            </a:lvl8pPr>
            <a:lvl9pPr algn="l">
              <a:defRPr sz="1875" b="1">
                <a:solidFill>
                  <a:srgbClr val="286B70"/>
                </a:solidFill>
                <a:latin typeface="Helvetica Neue"/>
                <a:ea typeface="Helvetica Neue"/>
                <a:cs typeface="Helvetica Neue"/>
              </a:defRPr>
            </a:lvl9pPr>
          </a:lstStyle>
          <a:p xmlns:a="http://schemas.openxmlformats.org/drawingml/2006/main">
            <a:pPr algn="l">
              <a:defRPr sz="1875" b="1">
                <a:solidFill>
                  <a:srgbClr val="286B70"/>
                </a:solidFill>
                <a:latin typeface="Helvetica Neue"/>
                <a:ea typeface="Helvetica Neue"/>
                <a:cs typeface="Helvetica Neue"/>
              </a:defRPr>
            </a:pPr>
            <a:r>
              <a:rPr sz="1875" b="1">
                <a:solidFill>
                  <a:srgbClr val="286B70"/>
                </a:solidFill>
                <a:latin typeface="Helvetica Neue"/>
                <a:ea typeface="Helvetica Neue"/>
                <a:cs typeface="Helvetica Neue"/>
              </a:rPr>
              <a:t>The test</a:t>
            </a:r>
          </a:p>
        </p:txBody>
      </p:sp>
      <p:sp>
        <p:nvSpPr>
          <p:cNvPr id="6" name="Practice, play six pictures, capture observations and prepare a n">
            <a:extLst xmlns:a="http://schemas.openxmlformats.org/drawingml/2006/main">
              <a:ext uri="{FF2B5EF4-FFF2-40B4-BE49-F238E27FC236}">
                <a16:creationId xmlns:a16="http://schemas.microsoft.com/office/drawing/2014/main" id="{1C093309-BF29-402F-B457-D997F3416B31}"/>
              </a:ext>
            </a:extLst>
          </p:cNvPr>
          <p:cNvSpPr>
            <a:spLocks xmlns:a="http://schemas.openxmlformats.org/drawingml/2006/main" noGrp="1"/>
          </p:cNvSpPr>
          <p:nvPr/>
        </p:nvSpPr>
        <p:spPr>
          <a:xfrm xmlns:a="http://schemas.openxmlformats.org/drawingml/2006/main">
            <a:off x="762000" y="5476875"/>
            <a:ext cx="5238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234B"/>
                </a:solidFill>
                <a:latin typeface="Helvetica Neue"/>
                <a:ea typeface="Helvetica Neue"/>
                <a:cs typeface="Helvetica Neue"/>
              </a:defRPr>
            </a:defPPr>
            <a:lvl1pPr algn="l">
              <a:defRPr sz="2250" b="0">
                <a:solidFill>
                  <a:srgbClr val="16234B"/>
                </a:solidFill>
                <a:latin typeface="Helvetica Neue"/>
                <a:ea typeface="Helvetica Neue"/>
                <a:cs typeface="Helvetica Neue"/>
              </a:defRPr>
            </a:lvl1pPr>
            <a:lvl2pPr algn="l">
              <a:defRPr sz="2250" b="0">
                <a:solidFill>
                  <a:srgbClr val="16234B"/>
                </a:solidFill>
                <a:latin typeface="Helvetica Neue"/>
                <a:ea typeface="Helvetica Neue"/>
                <a:cs typeface="Helvetica Neue"/>
              </a:defRPr>
            </a:lvl2pPr>
            <a:lvl3pPr algn="l">
              <a:defRPr sz="2250" b="0">
                <a:solidFill>
                  <a:srgbClr val="16234B"/>
                </a:solidFill>
                <a:latin typeface="Helvetica Neue"/>
                <a:ea typeface="Helvetica Neue"/>
                <a:cs typeface="Helvetica Neue"/>
              </a:defRPr>
            </a:lvl3pPr>
            <a:lvl4pPr algn="l">
              <a:defRPr sz="2250" b="0">
                <a:solidFill>
                  <a:srgbClr val="16234B"/>
                </a:solidFill>
                <a:latin typeface="Helvetica Neue"/>
                <a:ea typeface="Helvetica Neue"/>
                <a:cs typeface="Helvetica Neue"/>
              </a:defRPr>
            </a:lvl4pPr>
            <a:lvl5pPr algn="l">
              <a:defRPr sz="2250" b="0">
                <a:solidFill>
                  <a:srgbClr val="16234B"/>
                </a:solidFill>
                <a:latin typeface="Helvetica Neue"/>
                <a:ea typeface="Helvetica Neue"/>
                <a:cs typeface="Helvetica Neue"/>
              </a:defRPr>
            </a:lvl5pPr>
            <a:lvl6pPr algn="l">
              <a:defRPr sz="2250" b="0">
                <a:solidFill>
                  <a:srgbClr val="16234B"/>
                </a:solidFill>
                <a:latin typeface="Helvetica Neue"/>
                <a:ea typeface="Helvetica Neue"/>
                <a:cs typeface="Helvetica Neue"/>
              </a:defRPr>
            </a:lvl6pPr>
            <a:lvl7pPr algn="l">
              <a:defRPr sz="2250" b="0">
                <a:solidFill>
                  <a:srgbClr val="16234B"/>
                </a:solidFill>
                <a:latin typeface="Helvetica Neue"/>
                <a:ea typeface="Helvetica Neue"/>
                <a:cs typeface="Helvetica Neue"/>
              </a:defRPr>
            </a:lvl7pPr>
            <a:lvl8pPr algn="l">
              <a:defRPr sz="2250" b="0">
                <a:solidFill>
                  <a:srgbClr val="16234B"/>
                </a:solidFill>
                <a:latin typeface="Helvetica Neue"/>
                <a:ea typeface="Helvetica Neue"/>
                <a:cs typeface="Helvetica Neue"/>
              </a:defRPr>
            </a:lvl8pPr>
            <a:lvl9pPr algn="l">
              <a:defRPr sz="2250" b="0">
                <a:solidFill>
                  <a:srgbClr val="16234B"/>
                </a:solidFill>
                <a:latin typeface="Helvetica Neue"/>
                <a:ea typeface="Helvetica Neue"/>
                <a:cs typeface="Helvetica Neue"/>
              </a:defRPr>
            </a:lvl9pPr>
          </a:lstStyle>
          <a:p xmlns:a="http://schemas.openxmlformats.org/drawingml/2006/main">
            <a:pPr algn="l">
              <a:defRPr sz="2250" b="0">
                <a:solidFill>
                  <a:srgbClr val="16234B"/>
                </a:solidFill>
                <a:latin typeface="Helvetica Neue"/>
                <a:ea typeface="Helvetica Neue"/>
                <a:cs typeface="Helvetica Neue"/>
              </a:defRPr>
            </a:pPr>
            <a:r>
              <a:rPr sz="2250" b="0">
                <a:solidFill>
                  <a:srgbClr val="16234B"/>
                </a:solidFill>
                <a:latin typeface="Helvetica Neue"/>
                <a:ea typeface="Helvetica Neue"/>
                <a:cs typeface="Helvetica Neue"/>
              </a:rPr>
              <a:t>Practice, play six pictures, capture observations and prepare a note.</a:t>
            </a:r>
          </a:p>
        </p:txBody>
      </p:sp>
      <p:pic>
        <p:nvPicPr>
          <p:cNvPr id="7" name="">
            <a:extLst xmlns:a="http://schemas.openxmlformats.org/drawingml/2006/main">
              <a:ext uri="{FF2B5EF4-FFF2-40B4-BE49-F238E27FC236}">
                <a16:creationId xmlns:a16="http://schemas.microsoft.com/office/drawing/2014/main" id="{794D3A20-EA63-405F-AC69-FF4B3CB2F2D1}"/>
              </a:ext>
            </a:extLst>
          </p:cNvPr>
          <p:cNvPicPr>
            <a:picLocks xmlns:a="http://schemas.openxmlformats.org/drawingml/2006/main" noChangeAspect="1"/>
          </p:cNvPicPr>
          <p:nvPr/>
        </p:nvPicPr>
        <p:blipFill>
          <a:blip xmlns:r="http://schemas.openxmlformats.org/officeDocument/2006/relationships" xmlns:a="http://schemas.openxmlformats.org/drawingml/2006/main" r:embed="R6b8fd971e7054d3c"/>
          <a:stretch xmlns:a="http://schemas.openxmlformats.org/drawingml/2006/main"/>
        </p:blipFill>
        <p:spPr>
          <a:xfrm xmlns:a="http://schemas.openxmlformats.org/drawingml/2006/main">
            <a:off x="6572250" y="2505670"/>
            <a:ext cx="7905750" cy="4446984"/>
          </a:xfrm>
          <a:prstGeom xmlns:a="http://schemas.openxmlformats.org/drawingml/2006/main" prst="rect">
            <a:avLst/>
          </a:prstGeom>
        </p:spPr>
      </p:pic>
      <p:sp>
        <p:nvSpPr>
          <p:cNvPr id="8" name="Proposed signal: 4 of 5 finish unaided and 3 of 5 choose appointm">
            <a:extLst xmlns:a="http://schemas.openxmlformats.org/drawingml/2006/main">
              <a:ext uri="{FF2B5EF4-FFF2-40B4-BE49-F238E27FC236}">
                <a16:creationId xmlns:a16="http://schemas.microsoft.com/office/drawing/2014/main" id="{87C8D6E7-9B09-45ED-B70D-9D9952F739A4}"/>
              </a:ext>
            </a:extLst>
          </p:cNvPr>
          <p:cNvSpPr>
            <a:spLocks xmlns:a="http://schemas.openxmlformats.org/drawingml/2006/main" noGrp="1"/>
          </p:cNvSpPr>
          <p:nvPr/>
        </p:nvSpPr>
        <p:spPr>
          <a:xfrm xmlns:a="http://schemas.openxmlformats.org/drawingml/2006/main">
            <a:off x="762000" y="728662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34B"/>
                </a:solidFill>
                <a:latin typeface="Helvetica Neue"/>
                <a:ea typeface="Helvetica Neue"/>
                <a:cs typeface="Helvetica Neue"/>
              </a:defRPr>
            </a:defPPr>
            <a:lvl1pPr algn="l">
              <a:defRPr sz="1950" b="0">
                <a:solidFill>
                  <a:srgbClr val="16234B"/>
                </a:solidFill>
                <a:latin typeface="Helvetica Neue"/>
                <a:ea typeface="Helvetica Neue"/>
                <a:cs typeface="Helvetica Neue"/>
              </a:defRPr>
            </a:lvl1pPr>
            <a:lvl2pPr algn="l">
              <a:defRPr sz="1950" b="0">
                <a:solidFill>
                  <a:srgbClr val="16234B"/>
                </a:solidFill>
                <a:latin typeface="Helvetica Neue"/>
                <a:ea typeface="Helvetica Neue"/>
                <a:cs typeface="Helvetica Neue"/>
              </a:defRPr>
            </a:lvl2pPr>
            <a:lvl3pPr algn="l">
              <a:defRPr sz="1950" b="0">
                <a:solidFill>
                  <a:srgbClr val="16234B"/>
                </a:solidFill>
                <a:latin typeface="Helvetica Neue"/>
                <a:ea typeface="Helvetica Neue"/>
                <a:cs typeface="Helvetica Neue"/>
              </a:defRPr>
            </a:lvl3pPr>
            <a:lvl4pPr algn="l">
              <a:defRPr sz="1950" b="0">
                <a:solidFill>
                  <a:srgbClr val="16234B"/>
                </a:solidFill>
                <a:latin typeface="Helvetica Neue"/>
                <a:ea typeface="Helvetica Neue"/>
                <a:cs typeface="Helvetica Neue"/>
              </a:defRPr>
            </a:lvl4pPr>
            <a:lvl5pPr algn="l">
              <a:defRPr sz="1950" b="0">
                <a:solidFill>
                  <a:srgbClr val="16234B"/>
                </a:solidFill>
                <a:latin typeface="Helvetica Neue"/>
                <a:ea typeface="Helvetica Neue"/>
                <a:cs typeface="Helvetica Neue"/>
              </a:defRPr>
            </a:lvl5pPr>
            <a:lvl6pPr algn="l">
              <a:defRPr sz="1950" b="0">
                <a:solidFill>
                  <a:srgbClr val="16234B"/>
                </a:solidFill>
                <a:latin typeface="Helvetica Neue"/>
                <a:ea typeface="Helvetica Neue"/>
                <a:cs typeface="Helvetica Neue"/>
              </a:defRPr>
            </a:lvl6pPr>
            <a:lvl7pPr algn="l">
              <a:defRPr sz="1950" b="0">
                <a:solidFill>
                  <a:srgbClr val="16234B"/>
                </a:solidFill>
                <a:latin typeface="Helvetica Neue"/>
                <a:ea typeface="Helvetica Neue"/>
                <a:cs typeface="Helvetica Neue"/>
              </a:defRPr>
            </a:lvl7pPr>
            <a:lvl8pPr algn="l">
              <a:defRPr sz="1950" b="0">
                <a:solidFill>
                  <a:srgbClr val="16234B"/>
                </a:solidFill>
                <a:latin typeface="Helvetica Neue"/>
                <a:ea typeface="Helvetica Neue"/>
                <a:cs typeface="Helvetica Neue"/>
              </a:defRPr>
            </a:lvl8pPr>
            <a:lvl9pPr algn="l">
              <a:defRPr sz="1950" b="0">
                <a:solidFill>
                  <a:srgbClr val="16234B"/>
                </a:solidFill>
                <a:latin typeface="Helvetica Neue"/>
                <a:ea typeface="Helvetica Neue"/>
                <a:cs typeface="Helvetica Neue"/>
              </a:defRPr>
            </a:lvl9pPr>
          </a:lstStyle>
          <a:p xmlns:a="http://schemas.openxmlformats.org/drawingml/2006/main">
            <a:pPr algn="l">
              <a:defRPr sz="1950" b="0">
                <a:solidFill>
                  <a:srgbClr val="16234B"/>
                </a:solidFill>
                <a:latin typeface="Helvetica Neue"/>
                <a:ea typeface="Helvetica Neue"/>
                <a:cs typeface="Helvetica Neue"/>
              </a:defRPr>
            </a:pPr>
            <a:r>
              <a:rPr sz="1950" b="0">
                <a:solidFill>
                  <a:srgbClr val="16234B"/>
                </a:solidFill>
                <a:latin typeface="Helvetica Neue"/>
                <a:ea typeface="Helvetica Neue"/>
                <a:cs typeface="Helvetica Neue"/>
              </a:rPr>
              <a:t>Proposed signal: 4 of 5 finish unaided and 3 of 5 choose appointment or school preparation.</a:t>
            </a:r>
          </a:p>
        </p:txBody>
      </p:sp>
      <p:sp>
        <p:nvSpPr>
          <p:cNvPr id="9" name="Picture matching supports interaction only. The parent chooses th">
            <a:extLst xmlns:a="http://schemas.openxmlformats.org/drawingml/2006/main">
              <a:ext uri="{FF2B5EF4-FFF2-40B4-BE49-F238E27FC236}">
                <a16:creationId xmlns:a16="http://schemas.microsoft.com/office/drawing/2014/main" id="{7773417C-55D4-4C9A-82A9-B4CEBE24E3BB}"/>
              </a:ext>
            </a:extLst>
          </p:cNvPr>
          <p:cNvSpPr>
            <a:spLocks xmlns:a="http://schemas.openxmlformats.org/drawingml/2006/main" noGrp="1"/>
          </p:cNvSpPr>
          <p:nvPr/>
        </p:nvSpPr>
        <p:spPr>
          <a:xfrm xmlns:a="http://schemas.openxmlformats.org/drawingml/2006/main">
            <a:off x="762000" y="7820025"/>
            <a:ext cx="1266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27A"/>
                </a:solidFill>
                <a:latin typeface="Helvetica Neue"/>
                <a:ea typeface="Helvetica Neue"/>
                <a:cs typeface="Helvetica Neue"/>
              </a:defRPr>
            </a:defPPr>
            <a:lvl1pPr algn="l">
              <a:defRPr sz="1650" b="0">
                <a:solidFill>
                  <a:srgbClr val="53627A"/>
                </a:solidFill>
                <a:latin typeface="Helvetica Neue"/>
                <a:ea typeface="Helvetica Neue"/>
                <a:cs typeface="Helvetica Neue"/>
              </a:defRPr>
            </a:lvl1pPr>
            <a:lvl2pPr algn="l">
              <a:defRPr sz="1650" b="0">
                <a:solidFill>
                  <a:srgbClr val="53627A"/>
                </a:solidFill>
                <a:latin typeface="Helvetica Neue"/>
                <a:ea typeface="Helvetica Neue"/>
                <a:cs typeface="Helvetica Neue"/>
              </a:defRPr>
            </a:lvl2pPr>
            <a:lvl3pPr algn="l">
              <a:defRPr sz="1650" b="0">
                <a:solidFill>
                  <a:srgbClr val="53627A"/>
                </a:solidFill>
                <a:latin typeface="Helvetica Neue"/>
                <a:ea typeface="Helvetica Neue"/>
                <a:cs typeface="Helvetica Neue"/>
              </a:defRPr>
            </a:lvl3pPr>
            <a:lvl4pPr algn="l">
              <a:defRPr sz="1650" b="0">
                <a:solidFill>
                  <a:srgbClr val="53627A"/>
                </a:solidFill>
                <a:latin typeface="Helvetica Neue"/>
                <a:ea typeface="Helvetica Neue"/>
                <a:cs typeface="Helvetica Neue"/>
              </a:defRPr>
            </a:lvl4pPr>
            <a:lvl5pPr algn="l">
              <a:defRPr sz="1650" b="0">
                <a:solidFill>
                  <a:srgbClr val="53627A"/>
                </a:solidFill>
                <a:latin typeface="Helvetica Neue"/>
                <a:ea typeface="Helvetica Neue"/>
                <a:cs typeface="Helvetica Neue"/>
              </a:defRPr>
            </a:lvl5pPr>
            <a:lvl6pPr algn="l">
              <a:defRPr sz="1650" b="0">
                <a:solidFill>
                  <a:srgbClr val="53627A"/>
                </a:solidFill>
                <a:latin typeface="Helvetica Neue"/>
                <a:ea typeface="Helvetica Neue"/>
                <a:cs typeface="Helvetica Neue"/>
              </a:defRPr>
            </a:lvl6pPr>
            <a:lvl7pPr algn="l">
              <a:defRPr sz="1650" b="0">
                <a:solidFill>
                  <a:srgbClr val="53627A"/>
                </a:solidFill>
                <a:latin typeface="Helvetica Neue"/>
                <a:ea typeface="Helvetica Neue"/>
                <a:cs typeface="Helvetica Neue"/>
              </a:defRPr>
            </a:lvl7pPr>
            <a:lvl8pPr algn="l">
              <a:defRPr sz="1650" b="0">
                <a:solidFill>
                  <a:srgbClr val="53627A"/>
                </a:solidFill>
                <a:latin typeface="Helvetica Neue"/>
                <a:ea typeface="Helvetica Neue"/>
                <a:cs typeface="Helvetica Neue"/>
              </a:defRPr>
            </a:lvl8pPr>
            <a:lvl9pPr algn="l">
              <a:defRPr sz="1650" b="0">
                <a:solidFill>
                  <a:srgbClr val="53627A"/>
                </a:solidFill>
                <a:latin typeface="Helvetica Neue"/>
                <a:ea typeface="Helvetica Neue"/>
                <a:cs typeface="Helvetica Neue"/>
              </a:defRPr>
            </a:lvl9pPr>
          </a:lstStyle>
          <a:p xmlns:a="http://schemas.openxmlformats.org/drawingml/2006/main">
            <a:pPr algn="l">
              <a:defRPr sz="1650" b="0">
                <a:solidFill>
                  <a:srgbClr val="53627A"/>
                </a:solidFill>
                <a:latin typeface="Helvetica Neue"/>
                <a:ea typeface="Helvetica Neue"/>
                <a:cs typeface="Helvetica Neue"/>
              </a:defRPr>
            </a:pPr>
            <a:r>
              <a:rPr sz="1650" b="0">
                <a:solidFill>
                  <a:srgbClr val="53627A"/>
                </a:solidFill>
                <a:latin typeface="Helvetica Neue"/>
                <a:ea typeface="Helvetica Neue"/>
                <a:cs typeface="Helvetica Neue"/>
              </a:rPr>
              <a:t>Picture matching supports interaction only. The parent chooses the next step.</a:t>
            </a:r>
          </a:p>
        </p:txBody>
      </p:sp>
    </p:spTree>
    <p:extLst>
      <p:ext uri="{BB962C8B-B14F-4D97-AF65-F5344CB8AC3E}">
        <p14:creationId xmlns:p14="http://schemas.microsoft.com/office/powerpoint/2010/main" val="1830652967"/>
      </p:ext>
    </p:extLst>
  </p:cSld>
</p:sld>
</file>

<file path=ppt/slides/slide6.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0" name="C   Focal DMV Pre-Check">
            <a:extLst xmlns:a="http://schemas.openxmlformats.org/drawingml/2006/main">
              <a:ext uri="{FF2B5EF4-FFF2-40B4-BE49-F238E27FC236}">
                <a16:creationId xmlns:a16="http://schemas.microsoft.com/office/drawing/2014/main" id="{B6F57BE9-3DB1-4D14-8CA2-23B327CAFF5C}"/>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C   Focal DMV Pre-Check</a:t>
            </a:r>
          </a:p>
        </p:txBody>
      </p:sp>
      <p:sp>
        <p:nvSpPr>
          <p:cNvPr id="2" name="06">
            <a:extLst xmlns:a="http://schemas.openxmlformats.org/drawingml/2006/main">
              <a:ext uri="{FF2B5EF4-FFF2-40B4-BE49-F238E27FC236}">
                <a16:creationId xmlns:a16="http://schemas.microsoft.com/office/drawing/2014/main" id="{50A75247-0F27-441E-A0CD-9060952EE81E}"/>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06</a:t>
            </a:r>
          </a:p>
        </p:txBody>
      </p:sp>
      <p:sp>
        <p:nvSpPr>
          <p:cNvPr id="3" name="Anxious Applicant Alex">
            <a:extLst xmlns:a="http://schemas.openxmlformats.org/drawingml/2006/main">
              <a:ext uri="{FF2B5EF4-FFF2-40B4-BE49-F238E27FC236}">
                <a16:creationId xmlns:a16="http://schemas.microsoft.com/office/drawing/2014/main" id="{F6BC0A70-BF86-4AB2-A71D-BCA77FDCAAF5}"/>
              </a:ext>
            </a:extLst>
          </p:cNvPr>
          <p:cNvSpPr>
            <a:spLocks xmlns:a="http://schemas.openxmlformats.org/drawingml/2006/main" noGrp="1"/>
          </p:cNvSpPr>
          <p:nvPr/>
        </p:nvSpPr>
        <p:spPr>
          <a:xfrm xmlns:a="http://schemas.openxmlformats.org/drawingml/2006/main">
            <a:off x="762000" y="167640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85742"/>
                </a:solidFill>
                <a:latin typeface="Helvetica Neue"/>
                <a:ea typeface="Helvetica Neue"/>
                <a:cs typeface="Helvetica Neue"/>
              </a:defRPr>
            </a:defPPr>
            <a:lvl1pPr algn="l">
              <a:defRPr sz="2175" b="1">
                <a:solidFill>
                  <a:srgbClr val="B85742"/>
                </a:solidFill>
                <a:latin typeface="Helvetica Neue"/>
                <a:ea typeface="Helvetica Neue"/>
                <a:cs typeface="Helvetica Neue"/>
              </a:defRPr>
            </a:lvl1pPr>
            <a:lvl2pPr algn="l">
              <a:defRPr sz="2175" b="1">
                <a:solidFill>
                  <a:srgbClr val="B85742"/>
                </a:solidFill>
                <a:latin typeface="Helvetica Neue"/>
                <a:ea typeface="Helvetica Neue"/>
                <a:cs typeface="Helvetica Neue"/>
              </a:defRPr>
            </a:lvl2pPr>
            <a:lvl3pPr algn="l">
              <a:defRPr sz="2175" b="1">
                <a:solidFill>
                  <a:srgbClr val="B85742"/>
                </a:solidFill>
                <a:latin typeface="Helvetica Neue"/>
                <a:ea typeface="Helvetica Neue"/>
                <a:cs typeface="Helvetica Neue"/>
              </a:defRPr>
            </a:lvl3pPr>
            <a:lvl4pPr algn="l">
              <a:defRPr sz="2175" b="1">
                <a:solidFill>
                  <a:srgbClr val="B85742"/>
                </a:solidFill>
                <a:latin typeface="Helvetica Neue"/>
                <a:ea typeface="Helvetica Neue"/>
                <a:cs typeface="Helvetica Neue"/>
              </a:defRPr>
            </a:lvl4pPr>
            <a:lvl5pPr algn="l">
              <a:defRPr sz="2175" b="1">
                <a:solidFill>
                  <a:srgbClr val="B85742"/>
                </a:solidFill>
                <a:latin typeface="Helvetica Neue"/>
                <a:ea typeface="Helvetica Neue"/>
                <a:cs typeface="Helvetica Neue"/>
              </a:defRPr>
            </a:lvl5pPr>
            <a:lvl6pPr algn="l">
              <a:defRPr sz="2175" b="1">
                <a:solidFill>
                  <a:srgbClr val="B85742"/>
                </a:solidFill>
                <a:latin typeface="Helvetica Neue"/>
                <a:ea typeface="Helvetica Neue"/>
                <a:cs typeface="Helvetica Neue"/>
              </a:defRPr>
            </a:lvl6pPr>
            <a:lvl7pPr algn="l">
              <a:defRPr sz="2175" b="1">
                <a:solidFill>
                  <a:srgbClr val="B85742"/>
                </a:solidFill>
                <a:latin typeface="Helvetica Neue"/>
                <a:ea typeface="Helvetica Neue"/>
                <a:cs typeface="Helvetica Neue"/>
              </a:defRPr>
            </a:lvl7pPr>
            <a:lvl8pPr algn="l">
              <a:defRPr sz="2175" b="1">
                <a:solidFill>
                  <a:srgbClr val="B85742"/>
                </a:solidFill>
                <a:latin typeface="Helvetica Neue"/>
                <a:ea typeface="Helvetica Neue"/>
                <a:cs typeface="Helvetica Neue"/>
              </a:defRPr>
            </a:lvl8pPr>
            <a:lvl9pPr algn="l">
              <a:defRPr sz="2175" b="1">
                <a:solidFill>
                  <a:srgbClr val="B85742"/>
                </a:solidFill>
                <a:latin typeface="Helvetica Neue"/>
                <a:ea typeface="Helvetica Neue"/>
                <a:cs typeface="Helvetica Neue"/>
              </a:defRPr>
            </a:lvl9pPr>
          </a:lstStyle>
          <a:p xmlns:a="http://schemas.openxmlformats.org/drawingml/2006/main">
            <a:pPr algn="l">
              <a:defRPr sz="2175" b="1">
                <a:solidFill>
                  <a:srgbClr val="B85742"/>
                </a:solidFill>
                <a:latin typeface="Helvetica Neue"/>
                <a:ea typeface="Helvetica Neue"/>
                <a:cs typeface="Helvetica Neue"/>
              </a:defRPr>
            </a:pPr>
            <a:r>
              <a:rPr sz="2175" b="1">
                <a:solidFill>
                  <a:srgbClr val="B85742"/>
                </a:solidFill>
                <a:latin typeface="Helvetica Neue"/>
                <a:ea typeface="Helvetica Neue"/>
                <a:cs typeface="Helvetica Neue"/>
              </a:rPr>
              <a:t>Anxious Applicant Alex</a:t>
            </a:r>
          </a:p>
        </p:txBody>
      </p:sp>
      <p:sp>
        <p:nvSpPr>
          <p:cNvPr id="4" name="Does a DMV deadline make Alex more likely to act?">
            <a:extLst xmlns:a="http://schemas.openxmlformats.org/drawingml/2006/main">
              <a:ext uri="{FF2B5EF4-FFF2-40B4-BE49-F238E27FC236}">
                <a16:creationId xmlns:a16="http://schemas.microsoft.com/office/drawing/2014/main" id="{A9A088AB-8FF4-4C10-B00A-2793A7C5127A}"/>
              </a:ext>
            </a:extLst>
          </p:cNvPr>
          <p:cNvSpPr>
            <a:spLocks xmlns:a="http://schemas.openxmlformats.org/drawingml/2006/main" noGrp="1"/>
          </p:cNvSpPr>
          <p:nvPr/>
        </p:nvSpPr>
        <p:spPr>
          <a:xfrm xmlns:a="http://schemas.openxmlformats.org/drawingml/2006/main">
            <a:off x="762000" y="2657475"/>
            <a:ext cx="5238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234B"/>
                </a:solidFill>
                <a:latin typeface="Helvetica Neue"/>
                <a:ea typeface="Helvetica Neue"/>
                <a:cs typeface="Helvetica Neue"/>
              </a:defRPr>
            </a:defPPr>
            <a:lvl1pPr algn="l">
              <a:defRPr sz="3450" b="1">
                <a:solidFill>
                  <a:srgbClr val="16234B"/>
                </a:solidFill>
                <a:latin typeface="Helvetica Neue"/>
                <a:ea typeface="Helvetica Neue"/>
                <a:cs typeface="Helvetica Neue"/>
              </a:defRPr>
            </a:lvl1pPr>
            <a:lvl2pPr algn="l">
              <a:defRPr sz="3450" b="1">
                <a:solidFill>
                  <a:srgbClr val="16234B"/>
                </a:solidFill>
                <a:latin typeface="Helvetica Neue"/>
                <a:ea typeface="Helvetica Neue"/>
                <a:cs typeface="Helvetica Neue"/>
              </a:defRPr>
            </a:lvl2pPr>
            <a:lvl3pPr algn="l">
              <a:defRPr sz="3450" b="1">
                <a:solidFill>
                  <a:srgbClr val="16234B"/>
                </a:solidFill>
                <a:latin typeface="Helvetica Neue"/>
                <a:ea typeface="Helvetica Neue"/>
                <a:cs typeface="Helvetica Neue"/>
              </a:defRPr>
            </a:lvl3pPr>
            <a:lvl4pPr algn="l">
              <a:defRPr sz="3450" b="1">
                <a:solidFill>
                  <a:srgbClr val="16234B"/>
                </a:solidFill>
                <a:latin typeface="Helvetica Neue"/>
                <a:ea typeface="Helvetica Neue"/>
                <a:cs typeface="Helvetica Neue"/>
              </a:defRPr>
            </a:lvl4pPr>
            <a:lvl5pPr algn="l">
              <a:defRPr sz="3450" b="1">
                <a:solidFill>
                  <a:srgbClr val="16234B"/>
                </a:solidFill>
                <a:latin typeface="Helvetica Neue"/>
                <a:ea typeface="Helvetica Neue"/>
                <a:cs typeface="Helvetica Neue"/>
              </a:defRPr>
            </a:lvl5pPr>
            <a:lvl6pPr algn="l">
              <a:defRPr sz="3450" b="1">
                <a:solidFill>
                  <a:srgbClr val="16234B"/>
                </a:solidFill>
                <a:latin typeface="Helvetica Neue"/>
                <a:ea typeface="Helvetica Neue"/>
                <a:cs typeface="Helvetica Neue"/>
              </a:defRPr>
            </a:lvl6pPr>
            <a:lvl7pPr algn="l">
              <a:defRPr sz="3450" b="1">
                <a:solidFill>
                  <a:srgbClr val="16234B"/>
                </a:solidFill>
                <a:latin typeface="Helvetica Neue"/>
                <a:ea typeface="Helvetica Neue"/>
                <a:cs typeface="Helvetica Neue"/>
              </a:defRPr>
            </a:lvl7pPr>
            <a:lvl8pPr algn="l">
              <a:defRPr sz="3450" b="1">
                <a:solidFill>
                  <a:srgbClr val="16234B"/>
                </a:solidFill>
                <a:latin typeface="Helvetica Neue"/>
                <a:ea typeface="Helvetica Neue"/>
                <a:cs typeface="Helvetica Neue"/>
              </a:defRPr>
            </a:lvl8pPr>
            <a:lvl9pPr algn="l">
              <a:defRPr sz="3450" b="1">
                <a:solidFill>
                  <a:srgbClr val="16234B"/>
                </a:solidFill>
                <a:latin typeface="Helvetica Neue"/>
                <a:ea typeface="Helvetica Neue"/>
                <a:cs typeface="Helvetica Neue"/>
              </a:defRPr>
            </a:lvl9pPr>
          </a:lstStyle>
          <a:p xmlns:a="http://schemas.openxmlformats.org/drawingml/2006/main">
            <a:pPr algn="l">
              <a:defRPr sz="3450" b="1">
                <a:solidFill>
                  <a:srgbClr val="16234B"/>
                </a:solidFill>
                <a:latin typeface="Helvetica Neue"/>
                <a:ea typeface="Helvetica Neue"/>
                <a:cs typeface="Helvetica Neue"/>
              </a:defRPr>
            </a:pPr>
            <a:r>
              <a:rPr sz="3450" b="1">
                <a:solidFill>
                  <a:srgbClr val="16234B"/>
                </a:solidFill>
                <a:latin typeface="Helvetica Neue"/>
                <a:ea typeface="Helvetica Neue"/>
                <a:cs typeface="Helvetica Neue"/>
              </a:rPr>
              <a:t>Does a DMV deadline make Alex more likely to act?</a:t>
            </a:r>
          </a:p>
        </p:txBody>
      </p:sp>
      <p:sp>
        <p:nvSpPr>
          <p:cNvPr id="5" name="The test">
            <a:extLst xmlns:a="http://schemas.openxmlformats.org/drawingml/2006/main">
              <a:ext uri="{FF2B5EF4-FFF2-40B4-BE49-F238E27FC236}">
                <a16:creationId xmlns:a16="http://schemas.microsoft.com/office/drawing/2014/main" id="{6B3EB68A-8A0A-4523-82DC-4AABBABD5427}"/>
              </a:ext>
            </a:extLst>
          </p:cNvPr>
          <p:cNvSpPr>
            <a:spLocks xmlns:a="http://schemas.openxmlformats.org/drawingml/2006/main" noGrp="1"/>
          </p:cNvSpPr>
          <p:nvPr/>
        </p:nvSpPr>
        <p:spPr>
          <a:xfrm xmlns:a="http://schemas.openxmlformats.org/drawingml/2006/main">
            <a:off x="762000" y="50101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85742"/>
                </a:solidFill>
                <a:latin typeface="Helvetica Neue"/>
                <a:ea typeface="Helvetica Neue"/>
                <a:cs typeface="Helvetica Neue"/>
              </a:defRPr>
            </a:defPPr>
            <a:lvl1pPr algn="l">
              <a:defRPr sz="1875" b="1">
                <a:solidFill>
                  <a:srgbClr val="B85742"/>
                </a:solidFill>
                <a:latin typeface="Helvetica Neue"/>
                <a:ea typeface="Helvetica Neue"/>
                <a:cs typeface="Helvetica Neue"/>
              </a:defRPr>
            </a:lvl1pPr>
            <a:lvl2pPr algn="l">
              <a:defRPr sz="1875" b="1">
                <a:solidFill>
                  <a:srgbClr val="B85742"/>
                </a:solidFill>
                <a:latin typeface="Helvetica Neue"/>
                <a:ea typeface="Helvetica Neue"/>
                <a:cs typeface="Helvetica Neue"/>
              </a:defRPr>
            </a:lvl2pPr>
            <a:lvl3pPr algn="l">
              <a:defRPr sz="1875" b="1">
                <a:solidFill>
                  <a:srgbClr val="B85742"/>
                </a:solidFill>
                <a:latin typeface="Helvetica Neue"/>
                <a:ea typeface="Helvetica Neue"/>
                <a:cs typeface="Helvetica Neue"/>
              </a:defRPr>
            </a:lvl3pPr>
            <a:lvl4pPr algn="l">
              <a:defRPr sz="1875" b="1">
                <a:solidFill>
                  <a:srgbClr val="B85742"/>
                </a:solidFill>
                <a:latin typeface="Helvetica Neue"/>
                <a:ea typeface="Helvetica Neue"/>
                <a:cs typeface="Helvetica Neue"/>
              </a:defRPr>
            </a:lvl4pPr>
            <a:lvl5pPr algn="l">
              <a:defRPr sz="1875" b="1">
                <a:solidFill>
                  <a:srgbClr val="B85742"/>
                </a:solidFill>
                <a:latin typeface="Helvetica Neue"/>
                <a:ea typeface="Helvetica Neue"/>
                <a:cs typeface="Helvetica Neue"/>
              </a:defRPr>
            </a:lvl5pPr>
            <a:lvl6pPr algn="l">
              <a:defRPr sz="1875" b="1">
                <a:solidFill>
                  <a:srgbClr val="B85742"/>
                </a:solidFill>
                <a:latin typeface="Helvetica Neue"/>
                <a:ea typeface="Helvetica Neue"/>
                <a:cs typeface="Helvetica Neue"/>
              </a:defRPr>
            </a:lvl6pPr>
            <a:lvl7pPr algn="l">
              <a:defRPr sz="1875" b="1">
                <a:solidFill>
                  <a:srgbClr val="B85742"/>
                </a:solidFill>
                <a:latin typeface="Helvetica Neue"/>
                <a:ea typeface="Helvetica Neue"/>
                <a:cs typeface="Helvetica Neue"/>
              </a:defRPr>
            </a:lvl7pPr>
            <a:lvl8pPr algn="l">
              <a:defRPr sz="1875" b="1">
                <a:solidFill>
                  <a:srgbClr val="B85742"/>
                </a:solidFill>
                <a:latin typeface="Helvetica Neue"/>
                <a:ea typeface="Helvetica Neue"/>
                <a:cs typeface="Helvetica Neue"/>
              </a:defRPr>
            </a:lvl8pPr>
            <a:lvl9pPr algn="l">
              <a:defRPr sz="1875" b="1">
                <a:solidFill>
                  <a:srgbClr val="B85742"/>
                </a:solidFill>
                <a:latin typeface="Helvetica Neue"/>
                <a:ea typeface="Helvetica Neue"/>
                <a:cs typeface="Helvetica Neue"/>
              </a:defRPr>
            </a:lvl9pPr>
          </a:lstStyle>
          <a:p xmlns:a="http://schemas.openxmlformats.org/drawingml/2006/main">
            <a:pPr algn="l">
              <a:defRPr sz="1875" b="1">
                <a:solidFill>
                  <a:srgbClr val="B85742"/>
                </a:solidFill>
                <a:latin typeface="Helvetica Neue"/>
                <a:ea typeface="Helvetica Neue"/>
                <a:cs typeface="Helvetica Neue"/>
              </a:defRPr>
            </a:pPr>
            <a:r>
              <a:rPr sz="1875" b="1">
                <a:solidFill>
                  <a:srgbClr val="B85742"/>
                </a:solidFill>
                <a:latin typeface="Helvetica Neue"/>
                <a:ea typeface="Helvetica Neue"/>
                <a:cs typeface="Helvetica Neue"/>
              </a:rPr>
              <a:t>The test</a:t>
            </a:r>
          </a:p>
        </p:txBody>
      </p:sp>
      <p:sp>
        <p:nvSpPr>
          <p:cNvPr id="6" name="Use a state-specific practice result to prepare for the next step">
            <a:extLst xmlns:a="http://schemas.openxmlformats.org/drawingml/2006/main">
              <a:ext uri="{FF2B5EF4-FFF2-40B4-BE49-F238E27FC236}">
                <a16:creationId xmlns:a16="http://schemas.microsoft.com/office/drawing/2014/main" id="{C636501D-661D-4485-9D71-69CE48037A18}"/>
              </a:ext>
            </a:extLst>
          </p:cNvPr>
          <p:cNvSpPr>
            <a:spLocks xmlns:a="http://schemas.openxmlformats.org/drawingml/2006/main" noGrp="1"/>
          </p:cNvSpPr>
          <p:nvPr/>
        </p:nvSpPr>
        <p:spPr>
          <a:xfrm xmlns:a="http://schemas.openxmlformats.org/drawingml/2006/main">
            <a:off x="762000" y="5476875"/>
            <a:ext cx="5238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6234B"/>
                </a:solidFill>
                <a:latin typeface="Helvetica Neue"/>
                <a:ea typeface="Helvetica Neue"/>
                <a:cs typeface="Helvetica Neue"/>
              </a:defRPr>
            </a:defPPr>
            <a:lvl1pPr algn="l">
              <a:defRPr sz="2250" b="0">
                <a:solidFill>
                  <a:srgbClr val="16234B"/>
                </a:solidFill>
                <a:latin typeface="Helvetica Neue"/>
                <a:ea typeface="Helvetica Neue"/>
                <a:cs typeface="Helvetica Neue"/>
              </a:defRPr>
            </a:lvl1pPr>
            <a:lvl2pPr algn="l">
              <a:defRPr sz="2250" b="0">
                <a:solidFill>
                  <a:srgbClr val="16234B"/>
                </a:solidFill>
                <a:latin typeface="Helvetica Neue"/>
                <a:ea typeface="Helvetica Neue"/>
                <a:cs typeface="Helvetica Neue"/>
              </a:defRPr>
            </a:lvl2pPr>
            <a:lvl3pPr algn="l">
              <a:defRPr sz="2250" b="0">
                <a:solidFill>
                  <a:srgbClr val="16234B"/>
                </a:solidFill>
                <a:latin typeface="Helvetica Neue"/>
                <a:ea typeface="Helvetica Neue"/>
                <a:cs typeface="Helvetica Neue"/>
              </a:defRPr>
            </a:lvl3pPr>
            <a:lvl4pPr algn="l">
              <a:defRPr sz="2250" b="0">
                <a:solidFill>
                  <a:srgbClr val="16234B"/>
                </a:solidFill>
                <a:latin typeface="Helvetica Neue"/>
                <a:ea typeface="Helvetica Neue"/>
                <a:cs typeface="Helvetica Neue"/>
              </a:defRPr>
            </a:lvl4pPr>
            <a:lvl5pPr algn="l">
              <a:defRPr sz="2250" b="0">
                <a:solidFill>
                  <a:srgbClr val="16234B"/>
                </a:solidFill>
                <a:latin typeface="Helvetica Neue"/>
                <a:ea typeface="Helvetica Neue"/>
                <a:cs typeface="Helvetica Neue"/>
              </a:defRPr>
            </a:lvl5pPr>
            <a:lvl6pPr algn="l">
              <a:defRPr sz="2250" b="0">
                <a:solidFill>
                  <a:srgbClr val="16234B"/>
                </a:solidFill>
                <a:latin typeface="Helvetica Neue"/>
                <a:ea typeface="Helvetica Neue"/>
                <a:cs typeface="Helvetica Neue"/>
              </a:defRPr>
            </a:lvl6pPr>
            <a:lvl7pPr algn="l">
              <a:defRPr sz="2250" b="0">
                <a:solidFill>
                  <a:srgbClr val="16234B"/>
                </a:solidFill>
                <a:latin typeface="Helvetica Neue"/>
                <a:ea typeface="Helvetica Neue"/>
                <a:cs typeface="Helvetica Neue"/>
              </a:defRPr>
            </a:lvl7pPr>
            <a:lvl8pPr algn="l">
              <a:defRPr sz="2250" b="0">
                <a:solidFill>
                  <a:srgbClr val="16234B"/>
                </a:solidFill>
                <a:latin typeface="Helvetica Neue"/>
                <a:ea typeface="Helvetica Neue"/>
                <a:cs typeface="Helvetica Neue"/>
              </a:defRPr>
            </a:lvl8pPr>
            <a:lvl9pPr algn="l">
              <a:defRPr sz="2250" b="0">
                <a:solidFill>
                  <a:srgbClr val="16234B"/>
                </a:solidFill>
                <a:latin typeface="Helvetica Neue"/>
                <a:ea typeface="Helvetica Neue"/>
                <a:cs typeface="Helvetica Neue"/>
              </a:defRPr>
            </a:lvl9pPr>
          </a:lstStyle>
          <a:p xmlns:a="http://schemas.openxmlformats.org/drawingml/2006/main">
            <a:pPr algn="l">
              <a:defRPr sz="2250" b="0">
                <a:solidFill>
                  <a:srgbClr val="16234B"/>
                </a:solidFill>
                <a:latin typeface="Helvetica Neue"/>
                <a:ea typeface="Helvetica Neue"/>
                <a:cs typeface="Helvetica Neue"/>
              </a:defRPr>
            </a:pPr>
            <a:r>
              <a:rPr sz="2250" b="0">
                <a:solidFill>
                  <a:srgbClr val="16234B"/>
                </a:solidFill>
                <a:latin typeface="Helvetica Neue"/>
                <a:ea typeface="Helvetica Neue"/>
                <a:cs typeface="Helvetica Neue"/>
              </a:rPr>
              <a:t>Use a state-specific practice result to prepare for the next step.</a:t>
            </a:r>
          </a:p>
        </p:txBody>
      </p:sp>
      <p:pic>
        <p:nvPicPr>
          <p:cNvPr id="7" name="">
            <a:extLst xmlns:a="http://schemas.openxmlformats.org/drawingml/2006/main">
              <a:ext uri="{FF2B5EF4-FFF2-40B4-BE49-F238E27FC236}">
                <a16:creationId xmlns:a16="http://schemas.microsoft.com/office/drawing/2014/main" id="{B1D03DDE-A3A8-4C85-A0C0-49D20D2090C9}"/>
              </a:ext>
            </a:extLst>
          </p:cNvPr>
          <p:cNvPicPr>
            <a:picLocks xmlns:a="http://schemas.openxmlformats.org/drawingml/2006/main" noChangeAspect="1"/>
          </p:cNvPicPr>
          <p:nvPr/>
        </p:nvPicPr>
        <p:blipFill>
          <a:blip xmlns:r="http://schemas.openxmlformats.org/officeDocument/2006/relationships" xmlns:a="http://schemas.openxmlformats.org/drawingml/2006/main" r:embed="Re185f14ceb8a468b"/>
          <a:stretch xmlns:a="http://schemas.openxmlformats.org/drawingml/2006/main"/>
        </p:blipFill>
        <p:spPr>
          <a:xfrm xmlns:a="http://schemas.openxmlformats.org/drawingml/2006/main">
            <a:off x="6572250" y="2505670"/>
            <a:ext cx="7905750" cy="4446984"/>
          </a:xfrm>
          <a:prstGeom xmlns:a="http://schemas.openxmlformats.org/drawingml/2006/main" prst="rect">
            <a:avLst/>
          </a:prstGeom>
        </p:spPr>
      </p:pic>
      <p:sp>
        <p:nvSpPr>
          <p:cNvPr id="8" name="Proposed signals: 70% understand the result and 60% would likely ">
            <a:extLst xmlns:a="http://schemas.openxmlformats.org/drawingml/2006/main">
              <a:ext uri="{FF2B5EF4-FFF2-40B4-BE49-F238E27FC236}">
                <a16:creationId xmlns:a16="http://schemas.microsoft.com/office/drawing/2014/main" id="{8E064247-6991-4E35-AB83-DCF74F1A2323}"/>
              </a:ext>
            </a:extLst>
          </p:cNvPr>
          <p:cNvSpPr>
            <a:spLocks xmlns:a="http://schemas.openxmlformats.org/drawingml/2006/main" noGrp="1"/>
          </p:cNvSpPr>
          <p:nvPr/>
        </p:nvSpPr>
        <p:spPr>
          <a:xfrm xmlns:a="http://schemas.openxmlformats.org/drawingml/2006/main">
            <a:off x="762000" y="728662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6234B"/>
                </a:solidFill>
                <a:latin typeface="Helvetica Neue"/>
                <a:ea typeface="Helvetica Neue"/>
                <a:cs typeface="Helvetica Neue"/>
              </a:defRPr>
            </a:defPPr>
            <a:lvl1pPr algn="l">
              <a:defRPr sz="1950" b="0">
                <a:solidFill>
                  <a:srgbClr val="16234B"/>
                </a:solidFill>
                <a:latin typeface="Helvetica Neue"/>
                <a:ea typeface="Helvetica Neue"/>
                <a:cs typeface="Helvetica Neue"/>
              </a:defRPr>
            </a:lvl1pPr>
            <a:lvl2pPr algn="l">
              <a:defRPr sz="1950" b="0">
                <a:solidFill>
                  <a:srgbClr val="16234B"/>
                </a:solidFill>
                <a:latin typeface="Helvetica Neue"/>
                <a:ea typeface="Helvetica Neue"/>
                <a:cs typeface="Helvetica Neue"/>
              </a:defRPr>
            </a:lvl2pPr>
            <a:lvl3pPr algn="l">
              <a:defRPr sz="1950" b="0">
                <a:solidFill>
                  <a:srgbClr val="16234B"/>
                </a:solidFill>
                <a:latin typeface="Helvetica Neue"/>
                <a:ea typeface="Helvetica Neue"/>
                <a:cs typeface="Helvetica Neue"/>
              </a:defRPr>
            </a:lvl3pPr>
            <a:lvl4pPr algn="l">
              <a:defRPr sz="1950" b="0">
                <a:solidFill>
                  <a:srgbClr val="16234B"/>
                </a:solidFill>
                <a:latin typeface="Helvetica Neue"/>
                <a:ea typeface="Helvetica Neue"/>
                <a:cs typeface="Helvetica Neue"/>
              </a:defRPr>
            </a:lvl4pPr>
            <a:lvl5pPr algn="l">
              <a:defRPr sz="1950" b="0">
                <a:solidFill>
                  <a:srgbClr val="16234B"/>
                </a:solidFill>
                <a:latin typeface="Helvetica Neue"/>
                <a:ea typeface="Helvetica Neue"/>
                <a:cs typeface="Helvetica Neue"/>
              </a:defRPr>
            </a:lvl5pPr>
            <a:lvl6pPr algn="l">
              <a:defRPr sz="1950" b="0">
                <a:solidFill>
                  <a:srgbClr val="16234B"/>
                </a:solidFill>
                <a:latin typeface="Helvetica Neue"/>
                <a:ea typeface="Helvetica Neue"/>
                <a:cs typeface="Helvetica Neue"/>
              </a:defRPr>
            </a:lvl6pPr>
            <a:lvl7pPr algn="l">
              <a:defRPr sz="1950" b="0">
                <a:solidFill>
                  <a:srgbClr val="16234B"/>
                </a:solidFill>
                <a:latin typeface="Helvetica Neue"/>
                <a:ea typeface="Helvetica Neue"/>
                <a:cs typeface="Helvetica Neue"/>
              </a:defRPr>
            </a:lvl7pPr>
            <a:lvl8pPr algn="l">
              <a:defRPr sz="1950" b="0">
                <a:solidFill>
                  <a:srgbClr val="16234B"/>
                </a:solidFill>
                <a:latin typeface="Helvetica Neue"/>
                <a:ea typeface="Helvetica Neue"/>
                <a:cs typeface="Helvetica Neue"/>
              </a:defRPr>
            </a:lvl8pPr>
            <a:lvl9pPr algn="l">
              <a:defRPr sz="1950" b="0">
                <a:solidFill>
                  <a:srgbClr val="16234B"/>
                </a:solidFill>
                <a:latin typeface="Helvetica Neue"/>
                <a:ea typeface="Helvetica Neue"/>
                <a:cs typeface="Helvetica Neue"/>
              </a:defRPr>
            </a:lvl9pPr>
          </a:lstStyle>
          <a:p xmlns:a="http://schemas.openxmlformats.org/drawingml/2006/main">
            <a:pPr algn="l">
              <a:defRPr sz="1950" b="0">
                <a:solidFill>
                  <a:srgbClr val="16234B"/>
                </a:solidFill>
                <a:latin typeface="Helvetica Neue"/>
                <a:ea typeface="Helvetica Neue"/>
                <a:cs typeface="Helvetica Neue"/>
              </a:defRPr>
            </a:pPr>
            <a:r>
              <a:rPr sz="1950" b="0">
                <a:solidFill>
                  <a:srgbClr val="16234B"/>
                </a:solidFill>
                <a:latin typeface="Helvetica Neue"/>
                <a:ea typeface="Helvetica Neue"/>
                <a:cs typeface="Helvetica Neue"/>
              </a:rPr>
              <a:t>Proposed signals: 70% understand the result and 60% would likely use it before a DMV visit.</a:t>
            </a:r>
          </a:p>
        </p:txBody>
      </p:sp>
      <p:sp>
        <p:nvSpPr>
          <p:cNvPr id="9" name="Student practice prototype. Official DMV outcomes and clinical ac">
            <a:extLst xmlns:a="http://schemas.openxmlformats.org/drawingml/2006/main">
              <a:ext uri="{FF2B5EF4-FFF2-40B4-BE49-F238E27FC236}">
                <a16:creationId xmlns:a16="http://schemas.microsoft.com/office/drawing/2014/main" id="{DCE4570D-0E21-4FC6-90A0-51A917EC4918}"/>
              </a:ext>
            </a:extLst>
          </p:cNvPr>
          <p:cNvSpPr>
            <a:spLocks xmlns:a="http://schemas.openxmlformats.org/drawingml/2006/main" noGrp="1"/>
          </p:cNvSpPr>
          <p:nvPr/>
        </p:nvSpPr>
        <p:spPr>
          <a:xfrm xmlns:a="http://schemas.openxmlformats.org/drawingml/2006/main">
            <a:off x="762000" y="7820025"/>
            <a:ext cx="1266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27A"/>
                </a:solidFill>
                <a:latin typeface="Helvetica Neue"/>
                <a:ea typeface="Helvetica Neue"/>
                <a:cs typeface="Helvetica Neue"/>
              </a:defRPr>
            </a:defPPr>
            <a:lvl1pPr algn="l">
              <a:defRPr sz="1650" b="0">
                <a:solidFill>
                  <a:srgbClr val="53627A"/>
                </a:solidFill>
                <a:latin typeface="Helvetica Neue"/>
                <a:ea typeface="Helvetica Neue"/>
                <a:cs typeface="Helvetica Neue"/>
              </a:defRPr>
            </a:lvl1pPr>
            <a:lvl2pPr algn="l">
              <a:defRPr sz="1650" b="0">
                <a:solidFill>
                  <a:srgbClr val="53627A"/>
                </a:solidFill>
                <a:latin typeface="Helvetica Neue"/>
                <a:ea typeface="Helvetica Neue"/>
                <a:cs typeface="Helvetica Neue"/>
              </a:defRPr>
            </a:lvl2pPr>
            <a:lvl3pPr algn="l">
              <a:defRPr sz="1650" b="0">
                <a:solidFill>
                  <a:srgbClr val="53627A"/>
                </a:solidFill>
                <a:latin typeface="Helvetica Neue"/>
                <a:ea typeface="Helvetica Neue"/>
                <a:cs typeface="Helvetica Neue"/>
              </a:defRPr>
            </a:lvl3pPr>
            <a:lvl4pPr algn="l">
              <a:defRPr sz="1650" b="0">
                <a:solidFill>
                  <a:srgbClr val="53627A"/>
                </a:solidFill>
                <a:latin typeface="Helvetica Neue"/>
                <a:ea typeface="Helvetica Neue"/>
                <a:cs typeface="Helvetica Neue"/>
              </a:defRPr>
            </a:lvl4pPr>
            <a:lvl5pPr algn="l">
              <a:defRPr sz="1650" b="0">
                <a:solidFill>
                  <a:srgbClr val="53627A"/>
                </a:solidFill>
                <a:latin typeface="Helvetica Neue"/>
                <a:ea typeface="Helvetica Neue"/>
                <a:cs typeface="Helvetica Neue"/>
              </a:defRPr>
            </a:lvl5pPr>
            <a:lvl6pPr algn="l">
              <a:defRPr sz="1650" b="0">
                <a:solidFill>
                  <a:srgbClr val="53627A"/>
                </a:solidFill>
                <a:latin typeface="Helvetica Neue"/>
                <a:ea typeface="Helvetica Neue"/>
                <a:cs typeface="Helvetica Neue"/>
              </a:defRPr>
            </a:lvl6pPr>
            <a:lvl7pPr algn="l">
              <a:defRPr sz="1650" b="0">
                <a:solidFill>
                  <a:srgbClr val="53627A"/>
                </a:solidFill>
                <a:latin typeface="Helvetica Neue"/>
                <a:ea typeface="Helvetica Neue"/>
                <a:cs typeface="Helvetica Neue"/>
              </a:defRPr>
            </a:lvl7pPr>
            <a:lvl8pPr algn="l">
              <a:defRPr sz="1650" b="0">
                <a:solidFill>
                  <a:srgbClr val="53627A"/>
                </a:solidFill>
                <a:latin typeface="Helvetica Neue"/>
                <a:ea typeface="Helvetica Neue"/>
                <a:cs typeface="Helvetica Neue"/>
              </a:defRPr>
            </a:lvl8pPr>
            <a:lvl9pPr algn="l">
              <a:defRPr sz="1650" b="0">
                <a:solidFill>
                  <a:srgbClr val="53627A"/>
                </a:solidFill>
                <a:latin typeface="Helvetica Neue"/>
                <a:ea typeface="Helvetica Neue"/>
                <a:cs typeface="Helvetica Neue"/>
              </a:defRPr>
            </a:lvl9pPr>
          </a:lstStyle>
          <a:p xmlns:a="http://schemas.openxmlformats.org/drawingml/2006/main">
            <a:pPr algn="l">
              <a:defRPr sz="1650" b="0">
                <a:solidFill>
                  <a:srgbClr val="53627A"/>
                </a:solidFill>
                <a:latin typeface="Helvetica Neue"/>
                <a:ea typeface="Helvetica Neue"/>
                <a:cs typeface="Helvetica Neue"/>
              </a:defRPr>
            </a:pPr>
            <a:r>
              <a:rPr sz="1650" b="0">
                <a:solidFill>
                  <a:srgbClr val="53627A"/>
                </a:solidFill>
                <a:latin typeface="Helvetica Neue"/>
                <a:ea typeface="Helvetica Neue"/>
                <a:cs typeface="Helvetica Neue"/>
              </a:rPr>
              <a:t>Student practice prototype. Official DMV outcomes and clinical accuracy remain unvalidated.</a:t>
            </a:r>
          </a:p>
        </p:txBody>
      </p:sp>
    </p:spTree>
    <p:extLst>
      <p:ext uri="{BB962C8B-B14F-4D97-AF65-F5344CB8AC3E}">
        <p14:creationId xmlns:p14="http://schemas.microsoft.com/office/powerpoint/2010/main" val="1648173533"/>
      </p:ext>
    </p:extLst>
  </p:cSld>
</p:sld>
</file>

<file path=ppt/slides/slide7.xml><?xml version="1.0" encoding="utf-8"?>
<p:sld xmlns:p="http://schemas.openxmlformats.org/presentationml/2006/main">
  <p:cSld>
    <p:bg>
      <p:bgPr>
        <a:solidFill xmlns:a="http://schemas.openxmlformats.org/drawingml/2006/main">
          <a:srgbClr val="16234B"/>
        </a:solidFill>
      </p:bgPr>
    </p:bg>
    <p:spTree>
      <p:nvGrpSpPr>
        <p:cNvPr id="1" name=""/>
        <p:cNvGrpSpPr/>
        <p:nvPr/>
      </p:nvGrpSpPr>
      <p:grpSpPr>
        <a:xfrm xmlns:a="http://schemas.openxmlformats.org/drawingml/2006/main"/>
      </p:grpSpPr>
      <p:sp>
        <p:nvSpPr>
          <p:cNvPr id="8" name="Live demo A">
            <a:extLst xmlns:a="http://schemas.openxmlformats.org/drawingml/2006/main">
              <a:ext uri="{FF2B5EF4-FFF2-40B4-BE49-F238E27FC236}">
                <a16:creationId xmlns:a16="http://schemas.microsoft.com/office/drawing/2014/main" id="{71924E1C-A8B3-41CC-A451-5929455FFBDB}"/>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vl1pPr algn="l">
              <a:defRPr sz="4200" b="1">
                <a:solidFill>
                  <a:srgbClr val="FFFFFF"/>
                </a:solidFill>
                <a:latin typeface="Helvetica Neue"/>
                <a:ea typeface="Helvetica Neue"/>
                <a:cs typeface="Helvetica Neue"/>
              </a:defRPr>
            </a:lvl1pPr>
            <a:lvl2pPr algn="l">
              <a:defRPr sz="4200" b="1">
                <a:solidFill>
                  <a:srgbClr val="FFFFFF"/>
                </a:solidFill>
                <a:latin typeface="Helvetica Neue"/>
                <a:ea typeface="Helvetica Neue"/>
                <a:cs typeface="Helvetica Neue"/>
              </a:defRPr>
            </a:lvl2pPr>
            <a:lvl3pPr algn="l">
              <a:defRPr sz="4200" b="1">
                <a:solidFill>
                  <a:srgbClr val="FFFFFF"/>
                </a:solidFill>
                <a:latin typeface="Helvetica Neue"/>
                <a:ea typeface="Helvetica Neue"/>
                <a:cs typeface="Helvetica Neue"/>
              </a:defRPr>
            </a:lvl3pPr>
            <a:lvl4pPr algn="l">
              <a:defRPr sz="4200" b="1">
                <a:solidFill>
                  <a:srgbClr val="FFFFFF"/>
                </a:solidFill>
                <a:latin typeface="Helvetica Neue"/>
                <a:ea typeface="Helvetica Neue"/>
                <a:cs typeface="Helvetica Neue"/>
              </a:defRPr>
            </a:lvl4pPr>
            <a:lvl5pPr algn="l">
              <a:defRPr sz="4200" b="1">
                <a:solidFill>
                  <a:srgbClr val="FFFFFF"/>
                </a:solidFill>
                <a:latin typeface="Helvetica Neue"/>
                <a:ea typeface="Helvetica Neue"/>
                <a:cs typeface="Helvetica Neue"/>
              </a:defRPr>
            </a:lvl5pPr>
            <a:lvl6pPr algn="l">
              <a:defRPr sz="4200" b="1">
                <a:solidFill>
                  <a:srgbClr val="FFFFFF"/>
                </a:solidFill>
                <a:latin typeface="Helvetica Neue"/>
                <a:ea typeface="Helvetica Neue"/>
                <a:cs typeface="Helvetica Neue"/>
              </a:defRPr>
            </a:lvl6pPr>
            <a:lvl7pPr algn="l">
              <a:defRPr sz="4200" b="1">
                <a:solidFill>
                  <a:srgbClr val="FFFFFF"/>
                </a:solidFill>
                <a:latin typeface="Helvetica Neue"/>
                <a:ea typeface="Helvetica Neue"/>
                <a:cs typeface="Helvetica Neue"/>
              </a:defRPr>
            </a:lvl7pPr>
            <a:lvl8pPr algn="l">
              <a:defRPr sz="4200" b="1">
                <a:solidFill>
                  <a:srgbClr val="FFFFFF"/>
                </a:solidFill>
                <a:latin typeface="Helvetica Neue"/>
                <a:ea typeface="Helvetica Neue"/>
                <a:cs typeface="Helvetica Neue"/>
              </a:defRPr>
            </a:lvl8pPr>
            <a:lvl9pPr algn="l">
              <a:defRPr sz="4200" b="1">
                <a:solidFill>
                  <a:srgbClr val="FFFFFF"/>
                </a:solidFill>
                <a:latin typeface="Helvetica Neue"/>
                <a:ea typeface="Helvetica Neue"/>
                <a:cs typeface="Helvetica Neue"/>
              </a:defRPr>
            </a:lvl9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Live demo A</a:t>
            </a:r>
          </a:p>
        </p:txBody>
      </p:sp>
      <p:sp>
        <p:nvSpPr>
          <p:cNvPr id="2" name="07">
            <a:extLst xmlns:a="http://schemas.openxmlformats.org/drawingml/2006/main">
              <a:ext uri="{FF2B5EF4-FFF2-40B4-BE49-F238E27FC236}">
                <a16:creationId xmlns:a16="http://schemas.microsoft.com/office/drawing/2014/main" id="{E16F893B-970A-49EF-A21F-B7AB0F09FD2F}"/>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C0D0E3"/>
                </a:solidFill>
                <a:latin typeface="Helvetica Neue"/>
                <a:ea typeface="Helvetica Neue"/>
                <a:cs typeface="Helvetica Neue"/>
              </a:defRPr>
            </a:defPPr>
            <a:lvl1pPr algn="r">
              <a:defRPr sz="1350" b="0">
                <a:solidFill>
                  <a:srgbClr val="C0D0E3"/>
                </a:solidFill>
                <a:latin typeface="Helvetica Neue"/>
                <a:ea typeface="Helvetica Neue"/>
                <a:cs typeface="Helvetica Neue"/>
              </a:defRPr>
            </a:lvl1pPr>
            <a:lvl2pPr algn="r">
              <a:defRPr sz="1350" b="0">
                <a:solidFill>
                  <a:srgbClr val="C0D0E3"/>
                </a:solidFill>
                <a:latin typeface="Helvetica Neue"/>
                <a:ea typeface="Helvetica Neue"/>
                <a:cs typeface="Helvetica Neue"/>
              </a:defRPr>
            </a:lvl2pPr>
            <a:lvl3pPr algn="r">
              <a:defRPr sz="1350" b="0">
                <a:solidFill>
                  <a:srgbClr val="C0D0E3"/>
                </a:solidFill>
                <a:latin typeface="Helvetica Neue"/>
                <a:ea typeface="Helvetica Neue"/>
                <a:cs typeface="Helvetica Neue"/>
              </a:defRPr>
            </a:lvl3pPr>
            <a:lvl4pPr algn="r">
              <a:defRPr sz="1350" b="0">
                <a:solidFill>
                  <a:srgbClr val="C0D0E3"/>
                </a:solidFill>
                <a:latin typeface="Helvetica Neue"/>
                <a:ea typeface="Helvetica Neue"/>
                <a:cs typeface="Helvetica Neue"/>
              </a:defRPr>
            </a:lvl4pPr>
            <a:lvl5pPr algn="r">
              <a:defRPr sz="1350" b="0">
                <a:solidFill>
                  <a:srgbClr val="C0D0E3"/>
                </a:solidFill>
                <a:latin typeface="Helvetica Neue"/>
                <a:ea typeface="Helvetica Neue"/>
                <a:cs typeface="Helvetica Neue"/>
              </a:defRPr>
            </a:lvl5pPr>
            <a:lvl6pPr algn="r">
              <a:defRPr sz="1350" b="0">
                <a:solidFill>
                  <a:srgbClr val="C0D0E3"/>
                </a:solidFill>
                <a:latin typeface="Helvetica Neue"/>
                <a:ea typeface="Helvetica Neue"/>
                <a:cs typeface="Helvetica Neue"/>
              </a:defRPr>
            </a:lvl6pPr>
            <a:lvl7pPr algn="r">
              <a:defRPr sz="1350" b="0">
                <a:solidFill>
                  <a:srgbClr val="C0D0E3"/>
                </a:solidFill>
                <a:latin typeface="Helvetica Neue"/>
                <a:ea typeface="Helvetica Neue"/>
                <a:cs typeface="Helvetica Neue"/>
              </a:defRPr>
            </a:lvl7pPr>
            <a:lvl8pPr algn="r">
              <a:defRPr sz="1350" b="0">
                <a:solidFill>
                  <a:srgbClr val="C0D0E3"/>
                </a:solidFill>
                <a:latin typeface="Helvetica Neue"/>
                <a:ea typeface="Helvetica Neue"/>
                <a:cs typeface="Helvetica Neue"/>
              </a:defRPr>
            </a:lvl8pPr>
            <a:lvl9pPr algn="r">
              <a:defRPr sz="1350" b="0">
                <a:solidFill>
                  <a:srgbClr val="C0D0E3"/>
                </a:solidFill>
                <a:latin typeface="Helvetica Neue"/>
                <a:ea typeface="Helvetica Neue"/>
                <a:cs typeface="Helvetica Neue"/>
              </a:defRPr>
            </a:lvl9pPr>
          </a:lstStyle>
          <a:p xmlns:a="http://schemas.openxmlformats.org/drawingml/2006/main">
            <a:pPr algn="r">
              <a:defRPr sz="1350" b="0">
                <a:solidFill>
                  <a:srgbClr val="C0D0E3"/>
                </a:solidFill>
                <a:latin typeface="Helvetica Neue"/>
                <a:ea typeface="Helvetica Neue"/>
                <a:cs typeface="Helvetica Neue"/>
              </a:defRPr>
            </a:pPr>
            <a:r>
              <a:rPr sz="1350" b="0">
                <a:solidFill>
                  <a:srgbClr val="C0D0E3"/>
                </a:solidFill>
                <a:latin typeface="Helvetica Neue"/>
                <a:ea typeface="Helvetica Neue"/>
                <a:cs typeface="Helvetica Neue"/>
              </a:rPr>
              <a:t>07</a:t>
            </a:r>
          </a:p>
        </p:txBody>
      </p:sp>
      <p:sp>
        <p:nvSpPr>
          <p:cNvPr id="3" name="Focal Monitor">
            <a:extLst xmlns:a="http://schemas.openxmlformats.org/drawingml/2006/main">
              <a:ext uri="{FF2B5EF4-FFF2-40B4-BE49-F238E27FC236}">
                <a16:creationId xmlns:a16="http://schemas.microsoft.com/office/drawing/2014/main" id="{1CAF4FDB-9342-4D20-B697-44FFDA6A1F0C}"/>
              </a:ext>
            </a:extLst>
          </p:cNvPr>
          <p:cNvSpPr>
            <a:spLocks xmlns:a="http://schemas.openxmlformats.org/drawingml/2006/main" noGrp="1"/>
          </p:cNvSpPr>
          <p:nvPr/>
        </p:nvSpPr>
        <p:spPr>
          <a:xfrm xmlns:a="http://schemas.openxmlformats.org/drawingml/2006/main">
            <a:off x="762000" y="176212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Helvetica Neue"/>
                <a:ea typeface="Helvetica Neue"/>
                <a:cs typeface="Helvetica Neue"/>
              </a:defRPr>
            </a:defPPr>
            <a:lvl1pPr algn="l">
              <a:defRPr sz="3225" b="1">
                <a:solidFill>
                  <a:srgbClr val="FFFFFF"/>
                </a:solidFill>
                <a:latin typeface="Helvetica Neue"/>
                <a:ea typeface="Helvetica Neue"/>
                <a:cs typeface="Helvetica Neue"/>
              </a:defRPr>
            </a:lvl1pPr>
            <a:lvl2pPr algn="l">
              <a:defRPr sz="3225" b="1">
                <a:solidFill>
                  <a:srgbClr val="FFFFFF"/>
                </a:solidFill>
                <a:latin typeface="Helvetica Neue"/>
                <a:ea typeface="Helvetica Neue"/>
                <a:cs typeface="Helvetica Neue"/>
              </a:defRPr>
            </a:lvl2pPr>
            <a:lvl3pPr algn="l">
              <a:defRPr sz="3225" b="1">
                <a:solidFill>
                  <a:srgbClr val="FFFFFF"/>
                </a:solidFill>
                <a:latin typeface="Helvetica Neue"/>
                <a:ea typeface="Helvetica Neue"/>
                <a:cs typeface="Helvetica Neue"/>
              </a:defRPr>
            </a:lvl3pPr>
            <a:lvl4pPr algn="l">
              <a:defRPr sz="3225" b="1">
                <a:solidFill>
                  <a:srgbClr val="FFFFFF"/>
                </a:solidFill>
                <a:latin typeface="Helvetica Neue"/>
                <a:ea typeface="Helvetica Neue"/>
                <a:cs typeface="Helvetica Neue"/>
              </a:defRPr>
            </a:lvl4pPr>
            <a:lvl5pPr algn="l">
              <a:defRPr sz="3225" b="1">
                <a:solidFill>
                  <a:srgbClr val="FFFFFF"/>
                </a:solidFill>
                <a:latin typeface="Helvetica Neue"/>
                <a:ea typeface="Helvetica Neue"/>
                <a:cs typeface="Helvetica Neue"/>
              </a:defRPr>
            </a:lvl5pPr>
            <a:lvl6pPr algn="l">
              <a:defRPr sz="3225" b="1">
                <a:solidFill>
                  <a:srgbClr val="FFFFFF"/>
                </a:solidFill>
                <a:latin typeface="Helvetica Neue"/>
                <a:ea typeface="Helvetica Neue"/>
                <a:cs typeface="Helvetica Neue"/>
              </a:defRPr>
            </a:lvl6pPr>
            <a:lvl7pPr algn="l">
              <a:defRPr sz="3225" b="1">
                <a:solidFill>
                  <a:srgbClr val="FFFFFF"/>
                </a:solidFill>
                <a:latin typeface="Helvetica Neue"/>
                <a:ea typeface="Helvetica Neue"/>
                <a:cs typeface="Helvetica Neue"/>
              </a:defRPr>
            </a:lvl7pPr>
            <a:lvl8pPr algn="l">
              <a:defRPr sz="3225" b="1">
                <a:solidFill>
                  <a:srgbClr val="FFFFFF"/>
                </a:solidFill>
                <a:latin typeface="Helvetica Neue"/>
                <a:ea typeface="Helvetica Neue"/>
                <a:cs typeface="Helvetica Neue"/>
              </a:defRPr>
            </a:lvl8pPr>
            <a:lvl9pPr algn="l">
              <a:defRPr sz="3225" b="1">
                <a:solidFill>
                  <a:srgbClr val="FFFFFF"/>
                </a:solidFill>
                <a:latin typeface="Helvetica Neue"/>
                <a:ea typeface="Helvetica Neue"/>
                <a:cs typeface="Helvetica Neue"/>
              </a:defRPr>
            </a:lvl9pPr>
          </a:lstStyle>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Focal Monitor</a:t>
            </a:r>
          </a:p>
        </p:txBody>
      </p:sp>
      <p:sp>
        <p:nvSpPr>
          <p:cNvPr id="4" name="focal-demo-a.streamlit.app">
            <a:extLst xmlns:a="http://schemas.openxmlformats.org/drawingml/2006/main">
              <a:ext uri="{FF2B5EF4-FFF2-40B4-BE49-F238E27FC236}">
                <a16:creationId xmlns:a16="http://schemas.microsoft.com/office/drawing/2014/main" id="{3ADBD4B3-A96D-46D4-B6D9-A18034A1FAF3}"/>
              </a:ext>
            </a:extLst>
          </p:cNvPr>
          <p:cNvSpPr>
            <a:spLocks xmlns:a="http://schemas.openxmlformats.org/drawingml/2006/main" noGrp="1"/>
          </p:cNvSpPr>
          <p:nvPr/>
        </p:nvSpPr>
        <p:spPr>
          <a:xfrm xmlns:a="http://schemas.openxmlformats.org/drawingml/2006/main">
            <a:off x="762000" y="2714625"/>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65B7DF"/>
                </a:solidFill>
                <a:latin typeface="Helvetica Neue"/>
                <a:ea typeface="Helvetica Neue"/>
                <a:cs typeface="Helvetica Neue"/>
              </a:defRPr>
            </a:defPPr>
            <a:lvl1pPr algn="l">
              <a:defRPr sz="2475" b="1">
                <a:solidFill>
                  <a:srgbClr val="65B7DF"/>
                </a:solidFill>
                <a:latin typeface="Helvetica Neue"/>
                <a:ea typeface="Helvetica Neue"/>
                <a:cs typeface="Helvetica Neue"/>
              </a:defRPr>
            </a:lvl1pPr>
            <a:lvl2pPr algn="l">
              <a:defRPr sz="2475" b="1">
                <a:solidFill>
                  <a:srgbClr val="65B7DF"/>
                </a:solidFill>
                <a:latin typeface="Helvetica Neue"/>
                <a:ea typeface="Helvetica Neue"/>
                <a:cs typeface="Helvetica Neue"/>
              </a:defRPr>
            </a:lvl2pPr>
            <a:lvl3pPr algn="l">
              <a:defRPr sz="2475" b="1">
                <a:solidFill>
                  <a:srgbClr val="65B7DF"/>
                </a:solidFill>
                <a:latin typeface="Helvetica Neue"/>
                <a:ea typeface="Helvetica Neue"/>
                <a:cs typeface="Helvetica Neue"/>
              </a:defRPr>
            </a:lvl3pPr>
            <a:lvl4pPr algn="l">
              <a:defRPr sz="2475" b="1">
                <a:solidFill>
                  <a:srgbClr val="65B7DF"/>
                </a:solidFill>
                <a:latin typeface="Helvetica Neue"/>
                <a:ea typeface="Helvetica Neue"/>
                <a:cs typeface="Helvetica Neue"/>
              </a:defRPr>
            </a:lvl4pPr>
            <a:lvl5pPr algn="l">
              <a:defRPr sz="2475" b="1">
                <a:solidFill>
                  <a:srgbClr val="65B7DF"/>
                </a:solidFill>
                <a:latin typeface="Helvetica Neue"/>
                <a:ea typeface="Helvetica Neue"/>
                <a:cs typeface="Helvetica Neue"/>
              </a:defRPr>
            </a:lvl5pPr>
            <a:lvl6pPr algn="l">
              <a:defRPr sz="2475" b="1">
                <a:solidFill>
                  <a:srgbClr val="65B7DF"/>
                </a:solidFill>
                <a:latin typeface="Helvetica Neue"/>
                <a:ea typeface="Helvetica Neue"/>
                <a:cs typeface="Helvetica Neue"/>
              </a:defRPr>
            </a:lvl6pPr>
            <a:lvl7pPr algn="l">
              <a:defRPr sz="2475" b="1">
                <a:solidFill>
                  <a:srgbClr val="65B7DF"/>
                </a:solidFill>
                <a:latin typeface="Helvetica Neue"/>
                <a:ea typeface="Helvetica Neue"/>
                <a:cs typeface="Helvetica Neue"/>
              </a:defRPr>
            </a:lvl7pPr>
            <a:lvl8pPr algn="l">
              <a:defRPr sz="2475" b="1">
                <a:solidFill>
                  <a:srgbClr val="65B7DF"/>
                </a:solidFill>
                <a:latin typeface="Helvetica Neue"/>
                <a:ea typeface="Helvetica Neue"/>
                <a:cs typeface="Helvetica Neue"/>
              </a:defRPr>
            </a:lvl8pPr>
            <a:lvl9pPr algn="l">
              <a:defRPr sz="2475" b="1">
                <a:solidFill>
                  <a:srgbClr val="65B7DF"/>
                </a:solidFill>
                <a:latin typeface="Helvetica Neue"/>
                <a:ea typeface="Helvetica Neue"/>
                <a:cs typeface="Helvetica Neue"/>
              </a:defRPr>
            </a:lvl9pPr>
          </a:lstStyle>
          <a:p xmlns:a="http://schemas.openxmlformats.org/drawingml/2006/main">
            <a:pPr algn="l">
              <a:defRPr sz="2475" b="1">
                <a:solidFill>
                  <a:srgbClr val="65B7DF"/>
                </a:solidFill>
                <a:latin typeface="Helvetica Neue"/>
                <a:ea typeface="Helvetica Neue"/>
                <a:cs typeface="Helvetica Neue"/>
              </a:defRPr>
            </a:pPr>
            <a:r>
              <a:rPr sz="2475" b="1">
                <a:solidFill>
                  <a:srgbClr val="65B7DF"/>
                </a:solidFill>
                <a:latin typeface="Helvetica Neue"/>
                <a:ea typeface="Helvetica Neue"/>
                <a:cs typeface="Helvetica Neue"/>
                <a:hlinkClick xmlns:r="http://schemas.openxmlformats.org/officeDocument/2006/relationships" r:id="Re1ede68adb9a48ee"/>
              </a:rPr>
              <a:t>focal-demo-a.streamlit.app</a:t>
            </a:r>
          </a:p>
        </p:txBody>
      </p:sp>
      <p:sp>
        <p:nvSpPr>
          <p:cNvPr id="5" name="Eight responses&#10;One result in two views&#10;Preference and reason">
            <a:extLst xmlns:a="http://schemas.openxmlformats.org/drawingml/2006/main">
              <a:ext uri="{FF2B5EF4-FFF2-40B4-BE49-F238E27FC236}">
                <a16:creationId xmlns:a16="http://schemas.microsoft.com/office/drawing/2014/main" id="{73396715-41B2-4D86-A1A7-747E5BC1CCF1}"/>
              </a:ext>
            </a:extLst>
          </p:cNvPr>
          <p:cNvSpPr>
            <a:spLocks xmlns:a="http://schemas.openxmlformats.org/drawingml/2006/main" noGrp="1"/>
          </p:cNvSpPr>
          <p:nvPr/>
        </p:nvSpPr>
        <p:spPr>
          <a:xfrm xmlns:a="http://schemas.openxmlformats.org/drawingml/2006/main">
            <a:off x="762000" y="40005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FFFFF"/>
                </a:solidFill>
                <a:latin typeface="Helvetica Neue"/>
                <a:ea typeface="Helvetica Neue"/>
                <a:cs typeface="Helvetica Neue"/>
              </a:defRPr>
            </a:defPPr>
            <a:lvl1pPr algn="l">
              <a:defRPr sz="2550" b="0">
                <a:solidFill>
                  <a:srgbClr val="FFFFFF"/>
                </a:solidFill>
                <a:latin typeface="Helvetica Neue"/>
                <a:ea typeface="Helvetica Neue"/>
                <a:cs typeface="Helvetica Neue"/>
              </a:defRPr>
            </a:lvl1pPr>
            <a:lvl2pPr algn="l">
              <a:defRPr sz="2550" b="0">
                <a:solidFill>
                  <a:srgbClr val="FFFFFF"/>
                </a:solidFill>
                <a:latin typeface="Helvetica Neue"/>
                <a:ea typeface="Helvetica Neue"/>
                <a:cs typeface="Helvetica Neue"/>
              </a:defRPr>
            </a:lvl2pPr>
            <a:lvl3pPr algn="l">
              <a:defRPr sz="2550" b="0">
                <a:solidFill>
                  <a:srgbClr val="FFFFFF"/>
                </a:solidFill>
                <a:latin typeface="Helvetica Neue"/>
                <a:ea typeface="Helvetica Neue"/>
                <a:cs typeface="Helvetica Neue"/>
              </a:defRPr>
            </a:lvl3pPr>
            <a:lvl4pPr algn="l">
              <a:defRPr sz="2550" b="0">
                <a:solidFill>
                  <a:srgbClr val="FFFFFF"/>
                </a:solidFill>
                <a:latin typeface="Helvetica Neue"/>
                <a:ea typeface="Helvetica Neue"/>
                <a:cs typeface="Helvetica Neue"/>
              </a:defRPr>
            </a:lvl4pPr>
            <a:lvl5pPr algn="l">
              <a:defRPr sz="2550" b="0">
                <a:solidFill>
                  <a:srgbClr val="FFFFFF"/>
                </a:solidFill>
                <a:latin typeface="Helvetica Neue"/>
                <a:ea typeface="Helvetica Neue"/>
                <a:cs typeface="Helvetica Neue"/>
              </a:defRPr>
            </a:lvl5pPr>
            <a:lvl6pPr algn="l">
              <a:defRPr sz="2550" b="0">
                <a:solidFill>
                  <a:srgbClr val="FFFFFF"/>
                </a:solidFill>
                <a:latin typeface="Helvetica Neue"/>
                <a:ea typeface="Helvetica Neue"/>
                <a:cs typeface="Helvetica Neue"/>
              </a:defRPr>
            </a:lvl6pPr>
            <a:lvl7pPr algn="l">
              <a:defRPr sz="2550" b="0">
                <a:solidFill>
                  <a:srgbClr val="FFFFFF"/>
                </a:solidFill>
                <a:latin typeface="Helvetica Neue"/>
                <a:ea typeface="Helvetica Neue"/>
                <a:cs typeface="Helvetica Neue"/>
              </a:defRPr>
            </a:lvl7pPr>
            <a:lvl8pPr algn="l">
              <a:defRPr sz="2550" b="0">
                <a:solidFill>
                  <a:srgbClr val="FFFFFF"/>
                </a:solidFill>
                <a:latin typeface="Helvetica Neue"/>
                <a:ea typeface="Helvetica Neue"/>
                <a:cs typeface="Helvetica Neue"/>
              </a:defRPr>
            </a:lvl8pPr>
            <a:lvl9pPr algn="l">
              <a:defRPr sz="2550" b="0">
                <a:solidFill>
                  <a:srgbClr val="FFFFFF"/>
                </a:solidFill>
                <a:latin typeface="Helvetica Neue"/>
                <a:ea typeface="Helvetica Neue"/>
                <a:cs typeface="Helvetica Neue"/>
              </a:defRPr>
            </a:lvl9pPr>
          </a:lstStyle>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Eight responses</a:t>
            </a:r>
          </a:p>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One result in two views</a:t>
            </a:r>
          </a:p>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Preference and reason</a:t>
            </a:r>
          </a:p>
        </p:txBody>
      </p:sp>
      <p:sp>
        <p:nvSpPr>
          <p:cNvPr id="6" name="What does history add to the decision?">
            <a:extLst xmlns:a="http://schemas.openxmlformats.org/drawingml/2006/main">
              <a:ext uri="{FF2B5EF4-FFF2-40B4-BE49-F238E27FC236}">
                <a16:creationId xmlns:a16="http://schemas.microsoft.com/office/drawing/2014/main" id="{411E33C5-1EA7-4FDB-84C6-49666A4B7081}"/>
              </a:ext>
            </a:extLst>
          </p:cNvPr>
          <p:cNvSpPr>
            <a:spLocks xmlns:a="http://schemas.openxmlformats.org/drawingml/2006/main" noGrp="1"/>
          </p:cNvSpPr>
          <p:nvPr/>
        </p:nvSpPr>
        <p:spPr>
          <a:xfrm xmlns:a="http://schemas.openxmlformats.org/drawingml/2006/main">
            <a:off x="762000" y="641032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65B7DF"/>
                </a:solidFill>
                <a:latin typeface="Helvetica Neue"/>
                <a:ea typeface="Helvetica Neue"/>
                <a:cs typeface="Helvetica Neue"/>
              </a:defRPr>
            </a:defPPr>
            <a:lvl1pPr algn="l">
              <a:defRPr sz="2400" b="1">
                <a:solidFill>
                  <a:srgbClr val="65B7DF"/>
                </a:solidFill>
                <a:latin typeface="Helvetica Neue"/>
                <a:ea typeface="Helvetica Neue"/>
                <a:cs typeface="Helvetica Neue"/>
              </a:defRPr>
            </a:lvl1pPr>
            <a:lvl2pPr algn="l">
              <a:defRPr sz="2400" b="1">
                <a:solidFill>
                  <a:srgbClr val="65B7DF"/>
                </a:solidFill>
                <a:latin typeface="Helvetica Neue"/>
                <a:ea typeface="Helvetica Neue"/>
                <a:cs typeface="Helvetica Neue"/>
              </a:defRPr>
            </a:lvl2pPr>
            <a:lvl3pPr algn="l">
              <a:defRPr sz="2400" b="1">
                <a:solidFill>
                  <a:srgbClr val="65B7DF"/>
                </a:solidFill>
                <a:latin typeface="Helvetica Neue"/>
                <a:ea typeface="Helvetica Neue"/>
                <a:cs typeface="Helvetica Neue"/>
              </a:defRPr>
            </a:lvl3pPr>
            <a:lvl4pPr algn="l">
              <a:defRPr sz="2400" b="1">
                <a:solidFill>
                  <a:srgbClr val="65B7DF"/>
                </a:solidFill>
                <a:latin typeface="Helvetica Neue"/>
                <a:ea typeface="Helvetica Neue"/>
                <a:cs typeface="Helvetica Neue"/>
              </a:defRPr>
            </a:lvl4pPr>
            <a:lvl5pPr algn="l">
              <a:defRPr sz="2400" b="1">
                <a:solidFill>
                  <a:srgbClr val="65B7DF"/>
                </a:solidFill>
                <a:latin typeface="Helvetica Neue"/>
                <a:ea typeface="Helvetica Neue"/>
                <a:cs typeface="Helvetica Neue"/>
              </a:defRPr>
            </a:lvl5pPr>
            <a:lvl6pPr algn="l">
              <a:defRPr sz="2400" b="1">
                <a:solidFill>
                  <a:srgbClr val="65B7DF"/>
                </a:solidFill>
                <a:latin typeface="Helvetica Neue"/>
                <a:ea typeface="Helvetica Neue"/>
                <a:cs typeface="Helvetica Neue"/>
              </a:defRPr>
            </a:lvl6pPr>
            <a:lvl7pPr algn="l">
              <a:defRPr sz="2400" b="1">
                <a:solidFill>
                  <a:srgbClr val="65B7DF"/>
                </a:solidFill>
                <a:latin typeface="Helvetica Neue"/>
                <a:ea typeface="Helvetica Neue"/>
                <a:cs typeface="Helvetica Neue"/>
              </a:defRPr>
            </a:lvl7pPr>
            <a:lvl8pPr algn="l">
              <a:defRPr sz="2400" b="1">
                <a:solidFill>
                  <a:srgbClr val="65B7DF"/>
                </a:solidFill>
                <a:latin typeface="Helvetica Neue"/>
                <a:ea typeface="Helvetica Neue"/>
                <a:cs typeface="Helvetica Neue"/>
              </a:defRPr>
            </a:lvl8pPr>
            <a:lvl9pPr algn="l">
              <a:defRPr sz="2400" b="1">
                <a:solidFill>
                  <a:srgbClr val="65B7DF"/>
                </a:solidFill>
                <a:latin typeface="Helvetica Neue"/>
                <a:ea typeface="Helvetica Neue"/>
                <a:cs typeface="Helvetica Neue"/>
              </a:defRPr>
            </a:lvl9pPr>
          </a:lstStyle>
          <a:p xmlns:a="http://schemas.openxmlformats.org/drawingml/2006/main">
            <a:pPr algn="l">
              <a:defRPr sz="2400" b="1">
                <a:solidFill>
                  <a:srgbClr val="65B7DF"/>
                </a:solidFill>
                <a:latin typeface="Helvetica Neue"/>
                <a:ea typeface="Helvetica Neue"/>
                <a:cs typeface="Helvetica Neue"/>
              </a:defRPr>
            </a:pPr>
            <a:r>
              <a:rPr sz="2400" b="1">
                <a:solidFill>
                  <a:srgbClr val="65B7DF"/>
                </a:solidFill>
                <a:latin typeface="Helvetica Neue"/>
                <a:ea typeface="Helvetica Neue"/>
                <a:cs typeface="Helvetica Neue"/>
              </a:rPr>
              <a:t>What does history add to the decision?</a:t>
            </a:r>
          </a:p>
        </p:txBody>
      </p:sp>
      <p:pic>
        <p:nvPicPr>
          <p:cNvPr id="7" name="">
            <a:extLst xmlns:a="http://schemas.openxmlformats.org/drawingml/2006/main">
              <a:ext uri="{FF2B5EF4-FFF2-40B4-BE49-F238E27FC236}">
                <a16:creationId xmlns:a16="http://schemas.microsoft.com/office/drawing/2014/main" id="{A68505E4-2262-4913-A877-CD9DE63F9BBE}"/>
              </a:ext>
            </a:extLst>
          </p:cNvPr>
          <p:cNvPicPr>
            <a:picLocks xmlns:a="http://schemas.openxmlformats.org/drawingml/2006/main" noChangeAspect="1"/>
          </p:cNvPicPr>
          <p:nvPr/>
        </p:nvPicPr>
        <p:blipFill>
          <a:blip xmlns:r="http://schemas.openxmlformats.org/officeDocument/2006/relationships" xmlns:a="http://schemas.openxmlformats.org/drawingml/2006/main" r:embed="R373d4fd6595f4ca9"/>
          <a:stretch xmlns:a="http://schemas.openxmlformats.org/drawingml/2006/main"/>
        </p:blipFill>
        <p:spPr>
          <a:xfrm xmlns:a="http://schemas.openxmlformats.org/drawingml/2006/main">
            <a:off x="6481233" y="3381375"/>
            <a:ext cx="7992533" cy="4495800"/>
          </a:xfrm>
          <a:prstGeom xmlns:a="http://schemas.openxmlformats.org/drawingml/2006/main" prst="rect">
            <a:avLst/>
          </a:prstGeom>
        </p:spPr>
      </p:pic>
    </p:spTree>
    <p:extLst>
      <p:ext uri="{BB962C8B-B14F-4D97-AF65-F5344CB8AC3E}">
        <p14:creationId xmlns:p14="http://schemas.microsoft.com/office/powerpoint/2010/main" val="258947840"/>
      </p:ext>
    </p:extLst>
  </p:cSld>
</p:sld>
</file>

<file path=ppt/slides/slide8.xml><?xml version="1.0" encoding="utf-8"?>
<p:sld xmlns:p="http://schemas.openxmlformats.org/presentationml/2006/main">
  <p:cSld>
    <p:bg>
      <p:bgPr>
        <a:solidFill xmlns:a="http://schemas.openxmlformats.org/drawingml/2006/main">
          <a:srgbClr val="16234B"/>
        </a:solidFill>
      </p:bgPr>
    </p:bg>
    <p:spTree>
      <p:nvGrpSpPr>
        <p:cNvPr id="1" name=""/>
        <p:cNvGrpSpPr/>
        <p:nvPr/>
      </p:nvGrpSpPr>
      <p:grpSpPr>
        <a:xfrm xmlns:a="http://schemas.openxmlformats.org/drawingml/2006/main"/>
      </p:grpSpPr>
      <p:sp>
        <p:nvSpPr>
          <p:cNvPr id="8" name="Live demo B">
            <a:extLst xmlns:a="http://schemas.openxmlformats.org/drawingml/2006/main">
              <a:ext uri="{FF2B5EF4-FFF2-40B4-BE49-F238E27FC236}">
                <a16:creationId xmlns:a16="http://schemas.microsoft.com/office/drawing/2014/main" id="{1B5FA335-45CE-45CD-BAE1-8F529824BDE6}"/>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vl1pPr algn="l">
              <a:defRPr sz="4200" b="1">
                <a:solidFill>
                  <a:srgbClr val="FFFFFF"/>
                </a:solidFill>
                <a:latin typeface="Helvetica Neue"/>
                <a:ea typeface="Helvetica Neue"/>
                <a:cs typeface="Helvetica Neue"/>
              </a:defRPr>
            </a:lvl1pPr>
            <a:lvl2pPr algn="l">
              <a:defRPr sz="4200" b="1">
                <a:solidFill>
                  <a:srgbClr val="FFFFFF"/>
                </a:solidFill>
                <a:latin typeface="Helvetica Neue"/>
                <a:ea typeface="Helvetica Neue"/>
                <a:cs typeface="Helvetica Neue"/>
              </a:defRPr>
            </a:lvl2pPr>
            <a:lvl3pPr algn="l">
              <a:defRPr sz="4200" b="1">
                <a:solidFill>
                  <a:srgbClr val="FFFFFF"/>
                </a:solidFill>
                <a:latin typeface="Helvetica Neue"/>
                <a:ea typeface="Helvetica Neue"/>
                <a:cs typeface="Helvetica Neue"/>
              </a:defRPr>
            </a:lvl3pPr>
            <a:lvl4pPr algn="l">
              <a:defRPr sz="4200" b="1">
                <a:solidFill>
                  <a:srgbClr val="FFFFFF"/>
                </a:solidFill>
                <a:latin typeface="Helvetica Neue"/>
                <a:ea typeface="Helvetica Neue"/>
                <a:cs typeface="Helvetica Neue"/>
              </a:defRPr>
            </a:lvl4pPr>
            <a:lvl5pPr algn="l">
              <a:defRPr sz="4200" b="1">
                <a:solidFill>
                  <a:srgbClr val="FFFFFF"/>
                </a:solidFill>
                <a:latin typeface="Helvetica Neue"/>
                <a:ea typeface="Helvetica Neue"/>
                <a:cs typeface="Helvetica Neue"/>
              </a:defRPr>
            </a:lvl5pPr>
            <a:lvl6pPr algn="l">
              <a:defRPr sz="4200" b="1">
                <a:solidFill>
                  <a:srgbClr val="FFFFFF"/>
                </a:solidFill>
                <a:latin typeface="Helvetica Neue"/>
                <a:ea typeface="Helvetica Neue"/>
                <a:cs typeface="Helvetica Neue"/>
              </a:defRPr>
            </a:lvl6pPr>
            <a:lvl7pPr algn="l">
              <a:defRPr sz="4200" b="1">
                <a:solidFill>
                  <a:srgbClr val="FFFFFF"/>
                </a:solidFill>
                <a:latin typeface="Helvetica Neue"/>
                <a:ea typeface="Helvetica Neue"/>
                <a:cs typeface="Helvetica Neue"/>
              </a:defRPr>
            </a:lvl7pPr>
            <a:lvl8pPr algn="l">
              <a:defRPr sz="4200" b="1">
                <a:solidFill>
                  <a:srgbClr val="FFFFFF"/>
                </a:solidFill>
                <a:latin typeface="Helvetica Neue"/>
                <a:ea typeface="Helvetica Neue"/>
                <a:cs typeface="Helvetica Neue"/>
              </a:defRPr>
            </a:lvl8pPr>
            <a:lvl9pPr algn="l">
              <a:defRPr sz="4200" b="1">
                <a:solidFill>
                  <a:srgbClr val="FFFFFF"/>
                </a:solidFill>
                <a:latin typeface="Helvetica Neue"/>
                <a:ea typeface="Helvetica Neue"/>
                <a:cs typeface="Helvetica Neue"/>
              </a:defRPr>
            </a:lvl9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Live demo B</a:t>
            </a:r>
          </a:p>
        </p:txBody>
      </p:sp>
      <p:sp>
        <p:nvSpPr>
          <p:cNvPr id="2" name="08">
            <a:extLst xmlns:a="http://schemas.openxmlformats.org/drawingml/2006/main">
              <a:ext uri="{FF2B5EF4-FFF2-40B4-BE49-F238E27FC236}">
                <a16:creationId xmlns:a16="http://schemas.microsoft.com/office/drawing/2014/main" id="{587CE70C-74D7-4D2A-B678-4A9FD118E251}"/>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C0D0E3"/>
                </a:solidFill>
                <a:latin typeface="Helvetica Neue"/>
                <a:ea typeface="Helvetica Neue"/>
                <a:cs typeface="Helvetica Neue"/>
              </a:defRPr>
            </a:defPPr>
            <a:lvl1pPr algn="r">
              <a:defRPr sz="1350" b="0">
                <a:solidFill>
                  <a:srgbClr val="C0D0E3"/>
                </a:solidFill>
                <a:latin typeface="Helvetica Neue"/>
                <a:ea typeface="Helvetica Neue"/>
                <a:cs typeface="Helvetica Neue"/>
              </a:defRPr>
            </a:lvl1pPr>
            <a:lvl2pPr algn="r">
              <a:defRPr sz="1350" b="0">
                <a:solidFill>
                  <a:srgbClr val="C0D0E3"/>
                </a:solidFill>
                <a:latin typeface="Helvetica Neue"/>
                <a:ea typeface="Helvetica Neue"/>
                <a:cs typeface="Helvetica Neue"/>
              </a:defRPr>
            </a:lvl2pPr>
            <a:lvl3pPr algn="r">
              <a:defRPr sz="1350" b="0">
                <a:solidFill>
                  <a:srgbClr val="C0D0E3"/>
                </a:solidFill>
                <a:latin typeface="Helvetica Neue"/>
                <a:ea typeface="Helvetica Neue"/>
                <a:cs typeface="Helvetica Neue"/>
              </a:defRPr>
            </a:lvl3pPr>
            <a:lvl4pPr algn="r">
              <a:defRPr sz="1350" b="0">
                <a:solidFill>
                  <a:srgbClr val="C0D0E3"/>
                </a:solidFill>
                <a:latin typeface="Helvetica Neue"/>
                <a:ea typeface="Helvetica Neue"/>
                <a:cs typeface="Helvetica Neue"/>
              </a:defRPr>
            </a:lvl4pPr>
            <a:lvl5pPr algn="r">
              <a:defRPr sz="1350" b="0">
                <a:solidFill>
                  <a:srgbClr val="C0D0E3"/>
                </a:solidFill>
                <a:latin typeface="Helvetica Neue"/>
                <a:ea typeface="Helvetica Neue"/>
                <a:cs typeface="Helvetica Neue"/>
              </a:defRPr>
            </a:lvl5pPr>
            <a:lvl6pPr algn="r">
              <a:defRPr sz="1350" b="0">
                <a:solidFill>
                  <a:srgbClr val="C0D0E3"/>
                </a:solidFill>
                <a:latin typeface="Helvetica Neue"/>
                <a:ea typeface="Helvetica Neue"/>
                <a:cs typeface="Helvetica Neue"/>
              </a:defRPr>
            </a:lvl6pPr>
            <a:lvl7pPr algn="r">
              <a:defRPr sz="1350" b="0">
                <a:solidFill>
                  <a:srgbClr val="C0D0E3"/>
                </a:solidFill>
                <a:latin typeface="Helvetica Neue"/>
                <a:ea typeface="Helvetica Neue"/>
                <a:cs typeface="Helvetica Neue"/>
              </a:defRPr>
            </a:lvl7pPr>
            <a:lvl8pPr algn="r">
              <a:defRPr sz="1350" b="0">
                <a:solidFill>
                  <a:srgbClr val="C0D0E3"/>
                </a:solidFill>
                <a:latin typeface="Helvetica Neue"/>
                <a:ea typeface="Helvetica Neue"/>
                <a:cs typeface="Helvetica Neue"/>
              </a:defRPr>
            </a:lvl8pPr>
            <a:lvl9pPr algn="r">
              <a:defRPr sz="1350" b="0">
                <a:solidFill>
                  <a:srgbClr val="C0D0E3"/>
                </a:solidFill>
                <a:latin typeface="Helvetica Neue"/>
                <a:ea typeface="Helvetica Neue"/>
                <a:cs typeface="Helvetica Neue"/>
              </a:defRPr>
            </a:lvl9pPr>
          </a:lstStyle>
          <a:p xmlns:a="http://schemas.openxmlformats.org/drawingml/2006/main">
            <a:pPr algn="r">
              <a:defRPr sz="1350" b="0">
                <a:solidFill>
                  <a:srgbClr val="C0D0E3"/>
                </a:solidFill>
                <a:latin typeface="Helvetica Neue"/>
                <a:ea typeface="Helvetica Neue"/>
                <a:cs typeface="Helvetica Neue"/>
              </a:defRPr>
            </a:pPr>
            <a:r>
              <a:rPr sz="1350" b="0">
                <a:solidFill>
                  <a:srgbClr val="C0D0E3"/>
                </a:solidFill>
                <a:latin typeface="Helvetica Neue"/>
                <a:ea typeface="Helvetica Neue"/>
                <a:cs typeface="Helvetica Neue"/>
              </a:rPr>
              <a:t>08</a:t>
            </a:r>
          </a:p>
        </p:txBody>
      </p:sp>
      <p:sp>
        <p:nvSpPr>
          <p:cNvPr id="3" name="Focal Family">
            <a:extLst xmlns:a="http://schemas.openxmlformats.org/drawingml/2006/main">
              <a:ext uri="{FF2B5EF4-FFF2-40B4-BE49-F238E27FC236}">
                <a16:creationId xmlns:a16="http://schemas.microsoft.com/office/drawing/2014/main" id="{897E4A7A-4ADE-4BBA-B61B-177CD80DA373}"/>
              </a:ext>
            </a:extLst>
          </p:cNvPr>
          <p:cNvSpPr>
            <a:spLocks xmlns:a="http://schemas.openxmlformats.org/drawingml/2006/main" noGrp="1"/>
          </p:cNvSpPr>
          <p:nvPr/>
        </p:nvSpPr>
        <p:spPr>
          <a:xfrm xmlns:a="http://schemas.openxmlformats.org/drawingml/2006/main">
            <a:off x="762000" y="176212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Helvetica Neue"/>
                <a:ea typeface="Helvetica Neue"/>
                <a:cs typeface="Helvetica Neue"/>
              </a:defRPr>
            </a:defPPr>
            <a:lvl1pPr algn="l">
              <a:defRPr sz="3225" b="1">
                <a:solidFill>
                  <a:srgbClr val="FFFFFF"/>
                </a:solidFill>
                <a:latin typeface="Helvetica Neue"/>
                <a:ea typeface="Helvetica Neue"/>
                <a:cs typeface="Helvetica Neue"/>
              </a:defRPr>
            </a:lvl1pPr>
            <a:lvl2pPr algn="l">
              <a:defRPr sz="3225" b="1">
                <a:solidFill>
                  <a:srgbClr val="FFFFFF"/>
                </a:solidFill>
                <a:latin typeface="Helvetica Neue"/>
                <a:ea typeface="Helvetica Neue"/>
                <a:cs typeface="Helvetica Neue"/>
              </a:defRPr>
            </a:lvl2pPr>
            <a:lvl3pPr algn="l">
              <a:defRPr sz="3225" b="1">
                <a:solidFill>
                  <a:srgbClr val="FFFFFF"/>
                </a:solidFill>
                <a:latin typeface="Helvetica Neue"/>
                <a:ea typeface="Helvetica Neue"/>
                <a:cs typeface="Helvetica Neue"/>
              </a:defRPr>
            </a:lvl3pPr>
            <a:lvl4pPr algn="l">
              <a:defRPr sz="3225" b="1">
                <a:solidFill>
                  <a:srgbClr val="FFFFFF"/>
                </a:solidFill>
                <a:latin typeface="Helvetica Neue"/>
                <a:ea typeface="Helvetica Neue"/>
                <a:cs typeface="Helvetica Neue"/>
              </a:defRPr>
            </a:lvl4pPr>
            <a:lvl5pPr algn="l">
              <a:defRPr sz="3225" b="1">
                <a:solidFill>
                  <a:srgbClr val="FFFFFF"/>
                </a:solidFill>
                <a:latin typeface="Helvetica Neue"/>
                <a:ea typeface="Helvetica Neue"/>
                <a:cs typeface="Helvetica Neue"/>
              </a:defRPr>
            </a:lvl5pPr>
            <a:lvl6pPr algn="l">
              <a:defRPr sz="3225" b="1">
                <a:solidFill>
                  <a:srgbClr val="FFFFFF"/>
                </a:solidFill>
                <a:latin typeface="Helvetica Neue"/>
                <a:ea typeface="Helvetica Neue"/>
                <a:cs typeface="Helvetica Neue"/>
              </a:defRPr>
            </a:lvl6pPr>
            <a:lvl7pPr algn="l">
              <a:defRPr sz="3225" b="1">
                <a:solidFill>
                  <a:srgbClr val="FFFFFF"/>
                </a:solidFill>
                <a:latin typeface="Helvetica Neue"/>
                <a:ea typeface="Helvetica Neue"/>
                <a:cs typeface="Helvetica Neue"/>
              </a:defRPr>
            </a:lvl7pPr>
            <a:lvl8pPr algn="l">
              <a:defRPr sz="3225" b="1">
                <a:solidFill>
                  <a:srgbClr val="FFFFFF"/>
                </a:solidFill>
                <a:latin typeface="Helvetica Neue"/>
                <a:ea typeface="Helvetica Neue"/>
                <a:cs typeface="Helvetica Neue"/>
              </a:defRPr>
            </a:lvl8pPr>
            <a:lvl9pPr algn="l">
              <a:defRPr sz="3225" b="1">
                <a:solidFill>
                  <a:srgbClr val="FFFFFF"/>
                </a:solidFill>
                <a:latin typeface="Helvetica Neue"/>
                <a:ea typeface="Helvetica Neue"/>
                <a:cs typeface="Helvetica Neue"/>
              </a:defRPr>
            </a:lvl9pPr>
          </a:lstStyle>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Focal Family</a:t>
            </a:r>
          </a:p>
        </p:txBody>
      </p:sp>
      <p:sp>
        <p:nvSpPr>
          <p:cNvPr id="4" name="focal-demo-b.streamlit.app">
            <a:extLst xmlns:a="http://schemas.openxmlformats.org/drawingml/2006/main">
              <a:ext uri="{FF2B5EF4-FFF2-40B4-BE49-F238E27FC236}">
                <a16:creationId xmlns:a16="http://schemas.microsoft.com/office/drawing/2014/main" id="{69CDFF8A-1BF5-43BC-A27A-0879BA8B38C1}"/>
              </a:ext>
            </a:extLst>
          </p:cNvPr>
          <p:cNvSpPr>
            <a:spLocks xmlns:a="http://schemas.openxmlformats.org/drawingml/2006/main" noGrp="1"/>
          </p:cNvSpPr>
          <p:nvPr/>
        </p:nvSpPr>
        <p:spPr>
          <a:xfrm xmlns:a="http://schemas.openxmlformats.org/drawingml/2006/main">
            <a:off x="762000" y="2714625"/>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79B5B4"/>
                </a:solidFill>
                <a:latin typeface="Helvetica Neue"/>
                <a:ea typeface="Helvetica Neue"/>
                <a:cs typeface="Helvetica Neue"/>
              </a:defRPr>
            </a:defPPr>
            <a:lvl1pPr algn="l">
              <a:defRPr sz="2475" b="1">
                <a:solidFill>
                  <a:srgbClr val="79B5B4"/>
                </a:solidFill>
                <a:latin typeface="Helvetica Neue"/>
                <a:ea typeface="Helvetica Neue"/>
                <a:cs typeface="Helvetica Neue"/>
              </a:defRPr>
            </a:lvl1pPr>
            <a:lvl2pPr algn="l">
              <a:defRPr sz="2475" b="1">
                <a:solidFill>
                  <a:srgbClr val="79B5B4"/>
                </a:solidFill>
                <a:latin typeface="Helvetica Neue"/>
                <a:ea typeface="Helvetica Neue"/>
                <a:cs typeface="Helvetica Neue"/>
              </a:defRPr>
            </a:lvl2pPr>
            <a:lvl3pPr algn="l">
              <a:defRPr sz="2475" b="1">
                <a:solidFill>
                  <a:srgbClr val="79B5B4"/>
                </a:solidFill>
                <a:latin typeface="Helvetica Neue"/>
                <a:ea typeface="Helvetica Neue"/>
                <a:cs typeface="Helvetica Neue"/>
              </a:defRPr>
            </a:lvl3pPr>
            <a:lvl4pPr algn="l">
              <a:defRPr sz="2475" b="1">
                <a:solidFill>
                  <a:srgbClr val="79B5B4"/>
                </a:solidFill>
                <a:latin typeface="Helvetica Neue"/>
                <a:ea typeface="Helvetica Neue"/>
                <a:cs typeface="Helvetica Neue"/>
              </a:defRPr>
            </a:lvl4pPr>
            <a:lvl5pPr algn="l">
              <a:defRPr sz="2475" b="1">
                <a:solidFill>
                  <a:srgbClr val="79B5B4"/>
                </a:solidFill>
                <a:latin typeface="Helvetica Neue"/>
                <a:ea typeface="Helvetica Neue"/>
                <a:cs typeface="Helvetica Neue"/>
              </a:defRPr>
            </a:lvl5pPr>
            <a:lvl6pPr algn="l">
              <a:defRPr sz="2475" b="1">
                <a:solidFill>
                  <a:srgbClr val="79B5B4"/>
                </a:solidFill>
                <a:latin typeface="Helvetica Neue"/>
                <a:ea typeface="Helvetica Neue"/>
                <a:cs typeface="Helvetica Neue"/>
              </a:defRPr>
            </a:lvl6pPr>
            <a:lvl7pPr algn="l">
              <a:defRPr sz="2475" b="1">
                <a:solidFill>
                  <a:srgbClr val="79B5B4"/>
                </a:solidFill>
                <a:latin typeface="Helvetica Neue"/>
                <a:ea typeface="Helvetica Neue"/>
                <a:cs typeface="Helvetica Neue"/>
              </a:defRPr>
            </a:lvl7pPr>
            <a:lvl8pPr algn="l">
              <a:defRPr sz="2475" b="1">
                <a:solidFill>
                  <a:srgbClr val="79B5B4"/>
                </a:solidFill>
                <a:latin typeface="Helvetica Neue"/>
                <a:ea typeface="Helvetica Neue"/>
                <a:cs typeface="Helvetica Neue"/>
              </a:defRPr>
            </a:lvl8pPr>
            <a:lvl9pPr algn="l">
              <a:defRPr sz="2475" b="1">
                <a:solidFill>
                  <a:srgbClr val="79B5B4"/>
                </a:solidFill>
                <a:latin typeface="Helvetica Neue"/>
                <a:ea typeface="Helvetica Neue"/>
                <a:cs typeface="Helvetica Neue"/>
              </a:defRPr>
            </a:lvl9pPr>
          </a:lstStyle>
          <a:p xmlns:a="http://schemas.openxmlformats.org/drawingml/2006/main">
            <a:pPr algn="l">
              <a:defRPr sz="2475" b="1">
                <a:solidFill>
                  <a:srgbClr val="79B5B4"/>
                </a:solidFill>
                <a:latin typeface="Helvetica Neue"/>
                <a:ea typeface="Helvetica Neue"/>
                <a:cs typeface="Helvetica Neue"/>
              </a:defRPr>
            </a:pPr>
            <a:r>
              <a:rPr sz="2475" b="1">
                <a:solidFill>
                  <a:srgbClr val="79B5B4"/>
                </a:solidFill>
                <a:latin typeface="Helvetica Neue"/>
                <a:ea typeface="Helvetica Neue"/>
                <a:cs typeface="Helvetica Neue"/>
                <a:hlinkClick xmlns:r="http://schemas.openxmlformats.org/officeDocument/2006/relationships" r:id="R9caef55958404f91"/>
              </a:rPr>
              <a:t>focal-demo-b.streamlit.app</a:t>
            </a:r>
          </a:p>
        </p:txBody>
      </p:sp>
      <p:sp>
        <p:nvSpPr>
          <p:cNvPr id="5" name="Practice and picture activity&#10;Parent observations&#10;Editable note a">
            <a:extLst xmlns:a="http://schemas.openxmlformats.org/drawingml/2006/main">
              <a:ext uri="{FF2B5EF4-FFF2-40B4-BE49-F238E27FC236}">
                <a16:creationId xmlns:a16="http://schemas.microsoft.com/office/drawing/2014/main" id="{E08BA6A2-0D04-4946-8D4B-D34A320B62EB}"/>
              </a:ext>
            </a:extLst>
          </p:cNvPr>
          <p:cNvSpPr>
            <a:spLocks xmlns:a="http://schemas.openxmlformats.org/drawingml/2006/main" noGrp="1"/>
          </p:cNvSpPr>
          <p:nvPr/>
        </p:nvSpPr>
        <p:spPr>
          <a:xfrm xmlns:a="http://schemas.openxmlformats.org/drawingml/2006/main">
            <a:off x="762000" y="40005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FFFFF"/>
                </a:solidFill>
                <a:latin typeface="Helvetica Neue"/>
                <a:ea typeface="Helvetica Neue"/>
                <a:cs typeface="Helvetica Neue"/>
              </a:defRPr>
            </a:defPPr>
            <a:lvl1pPr algn="l">
              <a:defRPr sz="2550" b="0">
                <a:solidFill>
                  <a:srgbClr val="FFFFFF"/>
                </a:solidFill>
                <a:latin typeface="Helvetica Neue"/>
                <a:ea typeface="Helvetica Neue"/>
                <a:cs typeface="Helvetica Neue"/>
              </a:defRPr>
            </a:lvl1pPr>
            <a:lvl2pPr algn="l">
              <a:defRPr sz="2550" b="0">
                <a:solidFill>
                  <a:srgbClr val="FFFFFF"/>
                </a:solidFill>
                <a:latin typeface="Helvetica Neue"/>
                <a:ea typeface="Helvetica Neue"/>
                <a:cs typeface="Helvetica Neue"/>
              </a:defRPr>
            </a:lvl2pPr>
            <a:lvl3pPr algn="l">
              <a:defRPr sz="2550" b="0">
                <a:solidFill>
                  <a:srgbClr val="FFFFFF"/>
                </a:solidFill>
                <a:latin typeface="Helvetica Neue"/>
                <a:ea typeface="Helvetica Neue"/>
                <a:cs typeface="Helvetica Neue"/>
              </a:defRPr>
            </a:lvl3pPr>
            <a:lvl4pPr algn="l">
              <a:defRPr sz="2550" b="0">
                <a:solidFill>
                  <a:srgbClr val="FFFFFF"/>
                </a:solidFill>
                <a:latin typeface="Helvetica Neue"/>
                <a:ea typeface="Helvetica Neue"/>
                <a:cs typeface="Helvetica Neue"/>
              </a:defRPr>
            </a:lvl4pPr>
            <a:lvl5pPr algn="l">
              <a:defRPr sz="2550" b="0">
                <a:solidFill>
                  <a:srgbClr val="FFFFFF"/>
                </a:solidFill>
                <a:latin typeface="Helvetica Neue"/>
                <a:ea typeface="Helvetica Neue"/>
                <a:cs typeface="Helvetica Neue"/>
              </a:defRPr>
            </a:lvl5pPr>
            <a:lvl6pPr algn="l">
              <a:defRPr sz="2550" b="0">
                <a:solidFill>
                  <a:srgbClr val="FFFFFF"/>
                </a:solidFill>
                <a:latin typeface="Helvetica Neue"/>
                <a:ea typeface="Helvetica Neue"/>
                <a:cs typeface="Helvetica Neue"/>
              </a:defRPr>
            </a:lvl6pPr>
            <a:lvl7pPr algn="l">
              <a:defRPr sz="2550" b="0">
                <a:solidFill>
                  <a:srgbClr val="FFFFFF"/>
                </a:solidFill>
                <a:latin typeface="Helvetica Neue"/>
                <a:ea typeface="Helvetica Neue"/>
                <a:cs typeface="Helvetica Neue"/>
              </a:defRPr>
            </a:lvl7pPr>
            <a:lvl8pPr algn="l">
              <a:defRPr sz="2550" b="0">
                <a:solidFill>
                  <a:srgbClr val="FFFFFF"/>
                </a:solidFill>
                <a:latin typeface="Helvetica Neue"/>
                <a:ea typeface="Helvetica Neue"/>
                <a:cs typeface="Helvetica Neue"/>
              </a:defRPr>
            </a:lvl8pPr>
            <a:lvl9pPr algn="l">
              <a:defRPr sz="2550" b="0">
                <a:solidFill>
                  <a:srgbClr val="FFFFFF"/>
                </a:solidFill>
                <a:latin typeface="Helvetica Neue"/>
                <a:ea typeface="Helvetica Neue"/>
                <a:cs typeface="Helvetica Neue"/>
              </a:defRPr>
            </a:lvl9pPr>
          </a:lstStyle>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Practice and picture activity</a:t>
            </a:r>
          </a:p>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Parent observations</a:t>
            </a:r>
          </a:p>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Editable note and next step</a:t>
            </a:r>
          </a:p>
        </p:txBody>
      </p:sp>
      <p:sp>
        <p:nvSpPr>
          <p:cNvPr id="6" name="Can Pat explain what to do after the activity?">
            <a:extLst xmlns:a="http://schemas.openxmlformats.org/drawingml/2006/main">
              <a:ext uri="{FF2B5EF4-FFF2-40B4-BE49-F238E27FC236}">
                <a16:creationId xmlns:a16="http://schemas.microsoft.com/office/drawing/2014/main" id="{21B357B6-EB76-4773-91CC-944359586431}"/>
              </a:ext>
            </a:extLst>
          </p:cNvPr>
          <p:cNvSpPr>
            <a:spLocks xmlns:a="http://schemas.openxmlformats.org/drawingml/2006/main" noGrp="1"/>
          </p:cNvSpPr>
          <p:nvPr/>
        </p:nvSpPr>
        <p:spPr>
          <a:xfrm xmlns:a="http://schemas.openxmlformats.org/drawingml/2006/main">
            <a:off x="762000" y="641032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9B5B4"/>
                </a:solidFill>
                <a:latin typeface="Helvetica Neue"/>
                <a:ea typeface="Helvetica Neue"/>
                <a:cs typeface="Helvetica Neue"/>
              </a:defRPr>
            </a:defPPr>
            <a:lvl1pPr algn="l">
              <a:defRPr sz="2400" b="1">
                <a:solidFill>
                  <a:srgbClr val="79B5B4"/>
                </a:solidFill>
                <a:latin typeface="Helvetica Neue"/>
                <a:ea typeface="Helvetica Neue"/>
                <a:cs typeface="Helvetica Neue"/>
              </a:defRPr>
            </a:lvl1pPr>
            <a:lvl2pPr algn="l">
              <a:defRPr sz="2400" b="1">
                <a:solidFill>
                  <a:srgbClr val="79B5B4"/>
                </a:solidFill>
                <a:latin typeface="Helvetica Neue"/>
                <a:ea typeface="Helvetica Neue"/>
                <a:cs typeface="Helvetica Neue"/>
              </a:defRPr>
            </a:lvl2pPr>
            <a:lvl3pPr algn="l">
              <a:defRPr sz="2400" b="1">
                <a:solidFill>
                  <a:srgbClr val="79B5B4"/>
                </a:solidFill>
                <a:latin typeface="Helvetica Neue"/>
                <a:ea typeface="Helvetica Neue"/>
                <a:cs typeface="Helvetica Neue"/>
              </a:defRPr>
            </a:lvl3pPr>
            <a:lvl4pPr algn="l">
              <a:defRPr sz="2400" b="1">
                <a:solidFill>
                  <a:srgbClr val="79B5B4"/>
                </a:solidFill>
                <a:latin typeface="Helvetica Neue"/>
                <a:ea typeface="Helvetica Neue"/>
                <a:cs typeface="Helvetica Neue"/>
              </a:defRPr>
            </a:lvl4pPr>
            <a:lvl5pPr algn="l">
              <a:defRPr sz="2400" b="1">
                <a:solidFill>
                  <a:srgbClr val="79B5B4"/>
                </a:solidFill>
                <a:latin typeface="Helvetica Neue"/>
                <a:ea typeface="Helvetica Neue"/>
                <a:cs typeface="Helvetica Neue"/>
              </a:defRPr>
            </a:lvl5pPr>
            <a:lvl6pPr algn="l">
              <a:defRPr sz="2400" b="1">
                <a:solidFill>
                  <a:srgbClr val="79B5B4"/>
                </a:solidFill>
                <a:latin typeface="Helvetica Neue"/>
                <a:ea typeface="Helvetica Neue"/>
                <a:cs typeface="Helvetica Neue"/>
              </a:defRPr>
            </a:lvl6pPr>
            <a:lvl7pPr algn="l">
              <a:defRPr sz="2400" b="1">
                <a:solidFill>
                  <a:srgbClr val="79B5B4"/>
                </a:solidFill>
                <a:latin typeface="Helvetica Neue"/>
                <a:ea typeface="Helvetica Neue"/>
                <a:cs typeface="Helvetica Neue"/>
              </a:defRPr>
            </a:lvl7pPr>
            <a:lvl8pPr algn="l">
              <a:defRPr sz="2400" b="1">
                <a:solidFill>
                  <a:srgbClr val="79B5B4"/>
                </a:solidFill>
                <a:latin typeface="Helvetica Neue"/>
                <a:ea typeface="Helvetica Neue"/>
                <a:cs typeface="Helvetica Neue"/>
              </a:defRPr>
            </a:lvl8pPr>
            <a:lvl9pPr algn="l">
              <a:defRPr sz="2400" b="1">
                <a:solidFill>
                  <a:srgbClr val="79B5B4"/>
                </a:solidFill>
                <a:latin typeface="Helvetica Neue"/>
                <a:ea typeface="Helvetica Neue"/>
                <a:cs typeface="Helvetica Neue"/>
              </a:defRPr>
            </a:lvl9pPr>
          </a:lstStyle>
          <a:p xmlns:a="http://schemas.openxmlformats.org/drawingml/2006/main">
            <a:pPr algn="l">
              <a:defRPr sz="2400" b="1">
                <a:solidFill>
                  <a:srgbClr val="79B5B4"/>
                </a:solidFill>
                <a:latin typeface="Helvetica Neue"/>
                <a:ea typeface="Helvetica Neue"/>
                <a:cs typeface="Helvetica Neue"/>
              </a:defRPr>
            </a:pPr>
            <a:r>
              <a:rPr sz="2400" b="1">
                <a:solidFill>
                  <a:srgbClr val="79B5B4"/>
                </a:solidFill>
                <a:latin typeface="Helvetica Neue"/>
                <a:ea typeface="Helvetica Neue"/>
                <a:cs typeface="Helvetica Neue"/>
              </a:rPr>
              <a:t>Can Pat explain what to do after the activity?</a:t>
            </a:r>
          </a:p>
        </p:txBody>
      </p:sp>
      <p:pic>
        <p:nvPicPr>
          <p:cNvPr id="7" name="">
            <a:extLst xmlns:a="http://schemas.openxmlformats.org/drawingml/2006/main">
              <a:ext uri="{FF2B5EF4-FFF2-40B4-BE49-F238E27FC236}">
                <a16:creationId xmlns:a16="http://schemas.microsoft.com/office/drawing/2014/main" id="{B00D6E62-242C-4869-BF64-3542E79C0DAE}"/>
              </a:ext>
            </a:extLst>
          </p:cNvPr>
          <p:cNvPicPr>
            <a:picLocks xmlns:a="http://schemas.openxmlformats.org/drawingml/2006/main" noChangeAspect="1"/>
          </p:cNvPicPr>
          <p:nvPr/>
        </p:nvPicPr>
        <p:blipFill>
          <a:blip xmlns:r="http://schemas.openxmlformats.org/officeDocument/2006/relationships" xmlns:a="http://schemas.openxmlformats.org/drawingml/2006/main" r:embed="R696d1dc2593f4e2b"/>
          <a:stretch xmlns:a="http://schemas.openxmlformats.org/drawingml/2006/main"/>
        </p:blipFill>
        <p:spPr>
          <a:xfrm xmlns:a="http://schemas.openxmlformats.org/drawingml/2006/main">
            <a:off x="6481233" y="3381375"/>
            <a:ext cx="7992533" cy="4495800"/>
          </a:xfrm>
          <a:prstGeom xmlns:a="http://schemas.openxmlformats.org/drawingml/2006/main" prst="rect">
            <a:avLst/>
          </a:prstGeom>
        </p:spPr>
      </p:pic>
    </p:spTree>
    <p:extLst>
      <p:ext uri="{BB962C8B-B14F-4D97-AF65-F5344CB8AC3E}">
        <p14:creationId xmlns:p14="http://schemas.microsoft.com/office/powerpoint/2010/main" val="1238667080"/>
      </p:ext>
    </p:extLst>
  </p:cSld>
</p:sld>
</file>

<file path=ppt/slides/slide9.xml><?xml version="1.0" encoding="utf-8"?>
<p:sld xmlns:p="http://schemas.openxmlformats.org/presentationml/2006/main">
  <p:cSld>
    <p:bg>
      <p:bgPr>
        <a:solidFill xmlns:a="http://schemas.openxmlformats.org/drawingml/2006/main">
          <a:srgbClr val="16234B"/>
        </a:solidFill>
      </p:bgPr>
    </p:bg>
    <p:spTree>
      <p:nvGrpSpPr>
        <p:cNvPr id="1" name=""/>
        <p:cNvGrpSpPr/>
        <p:nvPr/>
      </p:nvGrpSpPr>
      <p:grpSpPr>
        <a:xfrm xmlns:a="http://schemas.openxmlformats.org/drawingml/2006/main"/>
      </p:grpSpPr>
      <p:sp>
        <p:nvSpPr>
          <p:cNvPr id="8" name="Live demo C">
            <a:extLst xmlns:a="http://schemas.openxmlformats.org/drawingml/2006/main">
              <a:ext uri="{FF2B5EF4-FFF2-40B4-BE49-F238E27FC236}">
                <a16:creationId xmlns:a16="http://schemas.microsoft.com/office/drawing/2014/main" id="{850C5A2A-A636-405E-9BCF-B505C9AA41C5}"/>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vl1pPr algn="l">
              <a:defRPr sz="4200" b="1">
                <a:solidFill>
                  <a:srgbClr val="FFFFFF"/>
                </a:solidFill>
                <a:latin typeface="Helvetica Neue"/>
                <a:ea typeface="Helvetica Neue"/>
                <a:cs typeface="Helvetica Neue"/>
              </a:defRPr>
            </a:lvl1pPr>
            <a:lvl2pPr algn="l">
              <a:defRPr sz="4200" b="1">
                <a:solidFill>
                  <a:srgbClr val="FFFFFF"/>
                </a:solidFill>
                <a:latin typeface="Helvetica Neue"/>
                <a:ea typeface="Helvetica Neue"/>
                <a:cs typeface="Helvetica Neue"/>
              </a:defRPr>
            </a:lvl2pPr>
            <a:lvl3pPr algn="l">
              <a:defRPr sz="4200" b="1">
                <a:solidFill>
                  <a:srgbClr val="FFFFFF"/>
                </a:solidFill>
                <a:latin typeface="Helvetica Neue"/>
                <a:ea typeface="Helvetica Neue"/>
                <a:cs typeface="Helvetica Neue"/>
              </a:defRPr>
            </a:lvl3pPr>
            <a:lvl4pPr algn="l">
              <a:defRPr sz="4200" b="1">
                <a:solidFill>
                  <a:srgbClr val="FFFFFF"/>
                </a:solidFill>
                <a:latin typeface="Helvetica Neue"/>
                <a:ea typeface="Helvetica Neue"/>
                <a:cs typeface="Helvetica Neue"/>
              </a:defRPr>
            </a:lvl4pPr>
            <a:lvl5pPr algn="l">
              <a:defRPr sz="4200" b="1">
                <a:solidFill>
                  <a:srgbClr val="FFFFFF"/>
                </a:solidFill>
                <a:latin typeface="Helvetica Neue"/>
                <a:ea typeface="Helvetica Neue"/>
                <a:cs typeface="Helvetica Neue"/>
              </a:defRPr>
            </a:lvl5pPr>
            <a:lvl6pPr algn="l">
              <a:defRPr sz="4200" b="1">
                <a:solidFill>
                  <a:srgbClr val="FFFFFF"/>
                </a:solidFill>
                <a:latin typeface="Helvetica Neue"/>
                <a:ea typeface="Helvetica Neue"/>
                <a:cs typeface="Helvetica Neue"/>
              </a:defRPr>
            </a:lvl6pPr>
            <a:lvl7pPr algn="l">
              <a:defRPr sz="4200" b="1">
                <a:solidFill>
                  <a:srgbClr val="FFFFFF"/>
                </a:solidFill>
                <a:latin typeface="Helvetica Neue"/>
                <a:ea typeface="Helvetica Neue"/>
                <a:cs typeface="Helvetica Neue"/>
              </a:defRPr>
            </a:lvl7pPr>
            <a:lvl8pPr algn="l">
              <a:defRPr sz="4200" b="1">
                <a:solidFill>
                  <a:srgbClr val="FFFFFF"/>
                </a:solidFill>
                <a:latin typeface="Helvetica Neue"/>
                <a:ea typeface="Helvetica Neue"/>
                <a:cs typeface="Helvetica Neue"/>
              </a:defRPr>
            </a:lvl8pPr>
            <a:lvl9pPr algn="l">
              <a:defRPr sz="4200" b="1">
                <a:solidFill>
                  <a:srgbClr val="FFFFFF"/>
                </a:solidFill>
                <a:latin typeface="Helvetica Neue"/>
                <a:ea typeface="Helvetica Neue"/>
                <a:cs typeface="Helvetica Neue"/>
              </a:defRPr>
            </a:lvl9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Live demo C</a:t>
            </a:r>
          </a:p>
        </p:txBody>
      </p:sp>
      <p:sp>
        <p:nvSpPr>
          <p:cNvPr id="2" name="09">
            <a:extLst xmlns:a="http://schemas.openxmlformats.org/drawingml/2006/main">
              <a:ext uri="{FF2B5EF4-FFF2-40B4-BE49-F238E27FC236}">
                <a16:creationId xmlns:a16="http://schemas.microsoft.com/office/drawing/2014/main" id="{C3722880-6573-4C82-A7EA-B8061BF29E67}"/>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C0D0E3"/>
                </a:solidFill>
                <a:latin typeface="Helvetica Neue"/>
                <a:ea typeface="Helvetica Neue"/>
                <a:cs typeface="Helvetica Neue"/>
              </a:defRPr>
            </a:defPPr>
            <a:lvl1pPr algn="r">
              <a:defRPr sz="1350" b="0">
                <a:solidFill>
                  <a:srgbClr val="C0D0E3"/>
                </a:solidFill>
                <a:latin typeface="Helvetica Neue"/>
                <a:ea typeface="Helvetica Neue"/>
                <a:cs typeface="Helvetica Neue"/>
              </a:defRPr>
            </a:lvl1pPr>
            <a:lvl2pPr algn="r">
              <a:defRPr sz="1350" b="0">
                <a:solidFill>
                  <a:srgbClr val="C0D0E3"/>
                </a:solidFill>
                <a:latin typeface="Helvetica Neue"/>
                <a:ea typeface="Helvetica Neue"/>
                <a:cs typeface="Helvetica Neue"/>
              </a:defRPr>
            </a:lvl2pPr>
            <a:lvl3pPr algn="r">
              <a:defRPr sz="1350" b="0">
                <a:solidFill>
                  <a:srgbClr val="C0D0E3"/>
                </a:solidFill>
                <a:latin typeface="Helvetica Neue"/>
                <a:ea typeface="Helvetica Neue"/>
                <a:cs typeface="Helvetica Neue"/>
              </a:defRPr>
            </a:lvl3pPr>
            <a:lvl4pPr algn="r">
              <a:defRPr sz="1350" b="0">
                <a:solidFill>
                  <a:srgbClr val="C0D0E3"/>
                </a:solidFill>
                <a:latin typeface="Helvetica Neue"/>
                <a:ea typeface="Helvetica Neue"/>
                <a:cs typeface="Helvetica Neue"/>
              </a:defRPr>
            </a:lvl4pPr>
            <a:lvl5pPr algn="r">
              <a:defRPr sz="1350" b="0">
                <a:solidFill>
                  <a:srgbClr val="C0D0E3"/>
                </a:solidFill>
                <a:latin typeface="Helvetica Neue"/>
                <a:ea typeface="Helvetica Neue"/>
                <a:cs typeface="Helvetica Neue"/>
              </a:defRPr>
            </a:lvl5pPr>
            <a:lvl6pPr algn="r">
              <a:defRPr sz="1350" b="0">
                <a:solidFill>
                  <a:srgbClr val="C0D0E3"/>
                </a:solidFill>
                <a:latin typeface="Helvetica Neue"/>
                <a:ea typeface="Helvetica Neue"/>
                <a:cs typeface="Helvetica Neue"/>
              </a:defRPr>
            </a:lvl6pPr>
            <a:lvl7pPr algn="r">
              <a:defRPr sz="1350" b="0">
                <a:solidFill>
                  <a:srgbClr val="C0D0E3"/>
                </a:solidFill>
                <a:latin typeface="Helvetica Neue"/>
                <a:ea typeface="Helvetica Neue"/>
                <a:cs typeface="Helvetica Neue"/>
              </a:defRPr>
            </a:lvl7pPr>
            <a:lvl8pPr algn="r">
              <a:defRPr sz="1350" b="0">
                <a:solidFill>
                  <a:srgbClr val="C0D0E3"/>
                </a:solidFill>
                <a:latin typeface="Helvetica Neue"/>
                <a:ea typeface="Helvetica Neue"/>
                <a:cs typeface="Helvetica Neue"/>
              </a:defRPr>
            </a:lvl8pPr>
            <a:lvl9pPr algn="r">
              <a:defRPr sz="1350" b="0">
                <a:solidFill>
                  <a:srgbClr val="C0D0E3"/>
                </a:solidFill>
                <a:latin typeface="Helvetica Neue"/>
                <a:ea typeface="Helvetica Neue"/>
                <a:cs typeface="Helvetica Neue"/>
              </a:defRPr>
            </a:lvl9pPr>
          </a:lstStyle>
          <a:p xmlns:a="http://schemas.openxmlformats.org/drawingml/2006/main">
            <a:pPr algn="r">
              <a:defRPr sz="1350" b="0">
                <a:solidFill>
                  <a:srgbClr val="C0D0E3"/>
                </a:solidFill>
                <a:latin typeface="Helvetica Neue"/>
                <a:ea typeface="Helvetica Neue"/>
                <a:cs typeface="Helvetica Neue"/>
              </a:defRPr>
            </a:pPr>
            <a:r>
              <a:rPr sz="1350" b="0">
                <a:solidFill>
                  <a:srgbClr val="C0D0E3"/>
                </a:solidFill>
                <a:latin typeface="Helvetica Neue"/>
                <a:ea typeface="Helvetica Neue"/>
                <a:cs typeface="Helvetica Neue"/>
              </a:rPr>
              <a:t>09</a:t>
            </a:r>
          </a:p>
        </p:txBody>
      </p:sp>
      <p:sp>
        <p:nvSpPr>
          <p:cNvPr id="3" name="Focal DMV Pre-Check">
            <a:extLst xmlns:a="http://schemas.openxmlformats.org/drawingml/2006/main">
              <a:ext uri="{FF2B5EF4-FFF2-40B4-BE49-F238E27FC236}">
                <a16:creationId xmlns:a16="http://schemas.microsoft.com/office/drawing/2014/main" id="{378A56EA-48D9-44E5-ABAC-FFD071981783}"/>
              </a:ext>
            </a:extLst>
          </p:cNvPr>
          <p:cNvSpPr>
            <a:spLocks xmlns:a="http://schemas.openxmlformats.org/drawingml/2006/main" noGrp="1"/>
          </p:cNvSpPr>
          <p:nvPr/>
        </p:nvSpPr>
        <p:spPr>
          <a:xfrm xmlns:a="http://schemas.openxmlformats.org/drawingml/2006/main">
            <a:off x="762000" y="176212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Helvetica Neue"/>
                <a:ea typeface="Helvetica Neue"/>
                <a:cs typeface="Helvetica Neue"/>
              </a:defRPr>
            </a:defPPr>
            <a:lvl1pPr algn="l">
              <a:defRPr sz="3225" b="1">
                <a:solidFill>
                  <a:srgbClr val="FFFFFF"/>
                </a:solidFill>
                <a:latin typeface="Helvetica Neue"/>
                <a:ea typeface="Helvetica Neue"/>
                <a:cs typeface="Helvetica Neue"/>
              </a:defRPr>
            </a:lvl1pPr>
            <a:lvl2pPr algn="l">
              <a:defRPr sz="3225" b="1">
                <a:solidFill>
                  <a:srgbClr val="FFFFFF"/>
                </a:solidFill>
                <a:latin typeface="Helvetica Neue"/>
                <a:ea typeface="Helvetica Neue"/>
                <a:cs typeface="Helvetica Neue"/>
              </a:defRPr>
            </a:lvl2pPr>
            <a:lvl3pPr algn="l">
              <a:defRPr sz="3225" b="1">
                <a:solidFill>
                  <a:srgbClr val="FFFFFF"/>
                </a:solidFill>
                <a:latin typeface="Helvetica Neue"/>
                <a:ea typeface="Helvetica Neue"/>
                <a:cs typeface="Helvetica Neue"/>
              </a:defRPr>
            </a:lvl3pPr>
            <a:lvl4pPr algn="l">
              <a:defRPr sz="3225" b="1">
                <a:solidFill>
                  <a:srgbClr val="FFFFFF"/>
                </a:solidFill>
                <a:latin typeface="Helvetica Neue"/>
                <a:ea typeface="Helvetica Neue"/>
                <a:cs typeface="Helvetica Neue"/>
              </a:defRPr>
            </a:lvl4pPr>
            <a:lvl5pPr algn="l">
              <a:defRPr sz="3225" b="1">
                <a:solidFill>
                  <a:srgbClr val="FFFFFF"/>
                </a:solidFill>
                <a:latin typeface="Helvetica Neue"/>
                <a:ea typeface="Helvetica Neue"/>
                <a:cs typeface="Helvetica Neue"/>
              </a:defRPr>
            </a:lvl5pPr>
            <a:lvl6pPr algn="l">
              <a:defRPr sz="3225" b="1">
                <a:solidFill>
                  <a:srgbClr val="FFFFFF"/>
                </a:solidFill>
                <a:latin typeface="Helvetica Neue"/>
                <a:ea typeface="Helvetica Neue"/>
                <a:cs typeface="Helvetica Neue"/>
              </a:defRPr>
            </a:lvl6pPr>
            <a:lvl7pPr algn="l">
              <a:defRPr sz="3225" b="1">
                <a:solidFill>
                  <a:srgbClr val="FFFFFF"/>
                </a:solidFill>
                <a:latin typeface="Helvetica Neue"/>
                <a:ea typeface="Helvetica Neue"/>
                <a:cs typeface="Helvetica Neue"/>
              </a:defRPr>
            </a:lvl7pPr>
            <a:lvl8pPr algn="l">
              <a:defRPr sz="3225" b="1">
                <a:solidFill>
                  <a:srgbClr val="FFFFFF"/>
                </a:solidFill>
                <a:latin typeface="Helvetica Neue"/>
                <a:ea typeface="Helvetica Neue"/>
                <a:cs typeface="Helvetica Neue"/>
              </a:defRPr>
            </a:lvl8pPr>
            <a:lvl9pPr algn="l">
              <a:defRPr sz="3225" b="1">
                <a:solidFill>
                  <a:srgbClr val="FFFFFF"/>
                </a:solidFill>
                <a:latin typeface="Helvetica Neue"/>
                <a:ea typeface="Helvetica Neue"/>
                <a:cs typeface="Helvetica Neue"/>
              </a:defRPr>
            </a:lvl9pPr>
          </a:lstStyle>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Focal DMV Pre-Check</a:t>
            </a:r>
          </a:p>
        </p:txBody>
      </p:sp>
      <p:sp>
        <p:nvSpPr>
          <p:cNvPr id="4" name="focal-demo-c.streamlit.app">
            <a:extLst xmlns:a="http://schemas.openxmlformats.org/drawingml/2006/main">
              <a:ext uri="{FF2B5EF4-FFF2-40B4-BE49-F238E27FC236}">
                <a16:creationId xmlns:a16="http://schemas.microsoft.com/office/drawing/2014/main" id="{3219319C-763E-4AEC-9434-139F97EEA3CC}"/>
              </a:ext>
            </a:extLst>
          </p:cNvPr>
          <p:cNvSpPr>
            <a:spLocks xmlns:a="http://schemas.openxmlformats.org/drawingml/2006/main" noGrp="1"/>
          </p:cNvSpPr>
          <p:nvPr/>
        </p:nvSpPr>
        <p:spPr>
          <a:xfrm xmlns:a="http://schemas.openxmlformats.org/drawingml/2006/main">
            <a:off x="762000" y="2714625"/>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E6A18E"/>
                </a:solidFill>
                <a:latin typeface="Helvetica Neue"/>
                <a:ea typeface="Helvetica Neue"/>
                <a:cs typeface="Helvetica Neue"/>
              </a:defRPr>
            </a:defPPr>
            <a:lvl1pPr algn="l">
              <a:defRPr sz="2475" b="1">
                <a:solidFill>
                  <a:srgbClr val="E6A18E"/>
                </a:solidFill>
                <a:latin typeface="Helvetica Neue"/>
                <a:ea typeface="Helvetica Neue"/>
                <a:cs typeface="Helvetica Neue"/>
              </a:defRPr>
            </a:lvl1pPr>
            <a:lvl2pPr algn="l">
              <a:defRPr sz="2475" b="1">
                <a:solidFill>
                  <a:srgbClr val="E6A18E"/>
                </a:solidFill>
                <a:latin typeface="Helvetica Neue"/>
                <a:ea typeface="Helvetica Neue"/>
                <a:cs typeface="Helvetica Neue"/>
              </a:defRPr>
            </a:lvl2pPr>
            <a:lvl3pPr algn="l">
              <a:defRPr sz="2475" b="1">
                <a:solidFill>
                  <a:srgbClr val="E6A18E"/>
                </a:solidFill>
                <a:latin typeface="Helvetica Neue"/>
                <a:ea typeface="Helvetica Neue"/>
                <a:cs typeface="Helvetica Neue"/>
              </a:defRPr>
            </a:lvl3pPr>
            <a:lvl4pPr algn="l">
              <a:defRPr sz="2475" b="1">
                <a:solidFill>
                  <a:srgbClr val="E6A18E"/>
                </a:solidFill>
                <a:latin typeface="Helvetica Neue"/>
                <a:ea typeface="Helvetica Neue"/>
                <a:cs typeface="Helvetica Neue"/>
              </a:defRPr>
            </a:lvl4pPr>
            <a:lvl5pPr algn="l">
              <a:defRPr sz="2475" b="1">
                <a:solidFill>
                  <a:srgbClr val="E6A18E"/>
                </a:solidFill>
                <a:latin typeface="Helvetica Neue"/>
                <a:ea typeface="Helvetica Neue"/>
                <a:cs typeface="Helvetica Neue"/>
              </a:defRPr>
            </a:lvl5pPr>
            <a:lvl6pPr algn="l">
              <a:defRPr sz="2475" b="1">
                <a:solidFill>
                  <a:srgbClr val="E6A18E"/>
                </a:solidFill>
                <a:latin typeface="Helvetica Neue"/>
                <a:ea typeface="Helvetica Neue"/>
                <a:cs typeface="Helvetica Neue"/>
              </a:defRPr>
            </a:lvl6pPr>
            <a:lvl7pPr algn="l">
              <a:defRPr sz="2475" b="1">
                <a:solidFill>
                  <a:srgbClr val="E6A18E"/>
                </a:solidFill>
                <a:latin typeface="Helvetica Neue"/>
                <a:ea typeface="Helvetica Neue"/>
                <a:cs typeface="Helvetica Neue"/>
              </a:defRPr>
            </a:lvl7pPr>
            <a:lvl8pPr algn="l">
              <a:defRPr sz="2475" b="1">
                <a:solidFill>
                  <a:srgbClr val="E6A18E"/>
                </a:solidFill>
                <a:latin typeface="Helvetica Neue"/>
                <a:ea typeface="Helvetica Neue"/>
                <a:cs typeface="Helvetica Neue"/>
              </a:defRPr>
            </a:lvl8pPr>
            <a:lvl9pPr algn="l">
              <a:defRPr sz="2475" b="1">
                <a:solidFill>
                  <a:srgbClr val="E6A18E"/>
                </a:solidFill>
                <a:latin typeface="Helvetica Neue"/>
                <a:ea typeface="Helvetica Neue"/>
                <a:cs typeface="Helvetica Neue"/>
              </a:defRPr>
            </a:lvl9pPr>
          </a:lstStyle>
          <a:p xmlns:a="http://schemas.openxmlformats.org/drawingml/2006/main">
            <a:pPr algn="l">
              <a:defRPr sz="2475" b="1">
                <a:solidFill>
                  <a:srgbClr val="E6A18E"/>
                </a:solidFill>
                <a:latin typeface="Helvetica Neue"/>
                <a:ea typeface="Helvetica Neue"/>
                <a:cs typeface="Helvetica Neue"/>
              </a:defRPr>
            </a:pPr>
            <a:r>
              <a:rPr sz="2475" b="1">
                <a:solidFill>
                  <a:srgbClr val="E6A18E"/>
                </a:solidFill>
                <a:latin typeface="Helvetica Neue"/>
                <a:ea typeface="Helvetica Neue"/>
                <a:cs typeface="Helvetica Neue"/>
                <a:hlinkClick xmlns:r="http://schemas.openxmlformats.org/officeDocument/2006/relationships" r:id="R64c485e8edee43f0"/>
              </a:rPr>
              <a:t>focal-demo-c.streamlit.app</a:t>
            </a:r>
          </a:p>
        </p:txBody>
      </p:sp>
      <p:sp>
        <p:nvSpPr>
          <p:cNvPr id="5" name="State and screen setup&#10;Practice check&#10;Result and action plan">
            <a:extLst xmlns:a="http://schemas.openxmlformats.org/drawingml/2006/main">
              <a:ext uri="{FF2B5EF4-FFF2-40B4-BE49-F238E27FC236}">
                <a16:creationId xmlns:a16="http://schemas.microsoft.com/office/drawing/2014/main" id="{F98BCB09-8714-48EB-9BD1-B944115BA270}"/>
              </a:ext>
            </a:extLst>
          </p:cNvPr>
          <p:cNvSpPr>
            <a:spLocks xmlns:a="http://schemas.openxmlformats.org/drawingml/2006/main" noGrp="1"/>
          </p:cNvSpPr>
          <p:nvPr/>
        </p:nvSpPr>
        <p:spPr>
          <a:xfrm xmlns:a="http://schemas.openxmlformats.org/drawingml/2006/main">
            <a:off x="762000" y="40005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FFFFF"/>
                </a:solidFill>
                <a:latin typeface="Helvetica Neue"/>
                <a:ea typeface="Helvetica Neue"/>
                <a:cs typeface="Helvetica Neue"/>
              </a:defRPr>
            </a:defPPr>
            <a:lvl1pPr algn="l">
              <a:defRPr sz="2550" b="0">
                <a:solidFill>
                  <a:srgbClr val="FFFFFF"/>
                </a:solidFill>
                <a:latin typeface="Helvetica Neue"/>
                <a:ea typeface="Helvetica Neue"/>
                <a:cs typeface="Helvetica Neue"/>
              </a:defRPr>
            </a:lvl1pPr>
            <a:lvl2pPr algn="l">
              <a:defRPr sz="2550" b="0">
                <a:solidFill>
                  <a:srgbClr val="FFFFFF"/>
                </a:solidFill>
                <a:latin typeface="Helvetica Neue"/>
                <a:ea typeface="Helvetica Neue"/>
                <a:cs typeface="Helvetica Neue"/>
              </a:defRPr>
            </a:lvl2pPr>
            <a:lvl3pPr algn="l">
              <a:defRPr sz="2550" b="0">
                <a:solidFill>
                  <a:srgbClr val="FFFFFF"/>
                </a:solidFill>
                <a:latin typeface="Helvetica Neue"/>
                <a:ea typeface="Helvetica Neue"/>
                <a:cs typeface="Helvetica Neue"/>
              </a:defRPr>
            </a:lvl3pPr>
            <a:lvl4pPr algn="l">
              <a:defRPr sz="2550" b="0">
                <a:solidFill>
                  <a:srgbClr val="FFFFFF"/>
                </a:solidFill>
                <a:latin typeface="Helvetica Neue"/>
                <a:ea typeface="Helvetica Neue"/>
                <a:cs typeface="Helvetica Neue"/>
              </a:defRPr>
            </a:lvl4pPr>
            <a:lvl5pPr algn="l">
              <a:defRPr sz="2550" b="0">
                <a:solidFill>
                  <a:srgbClr val="FFFFFF"/>
                </a:solidFill>
                <a:latin typeface="Helvetica Neue"/>
                <a:ea typeface="Helvetica Neue"/>
                <a:cs typeface="Helvetica Neue"/>
              </a:defRPr>
            </a:lvl5pPr>
            <a:lvl6pPr algn="l">
              <a:defRPr sz="2550" b="0">
                <a:solidFill>
                  <a:srgbClr val="FFFFFF"/>
                </a:solidFill>
                <a:latin typeface="Helvetica Neue"/>
                <a:ea typeface="Helvetica Neue"/>
                <a:cs typeface="Helvetica Neue"/>
              </a:defRPr>
            </a:lvl6pPr>
            <a:lvl7pPr algn="l">
              <a:defRPr sz="2550" b="0">
                <a:solidFill>
                  <a:srgbClr val="FFFFFF"/>
                </a:solidFill>
                <a:latin typeface="Helvetica Neue"/>
                <a:ea typeface="Helvetica Neue"/>
                <a:cs typeface="Helvetica Neue"/>
              </a:defRPr>
            </a:lvl7pPr>
            <a:lvl8pPr algn="l">
              <a:defRPr sz="2550" b="0">
                <a:solidFill>
                  <a:srgbClr val="FFFFFF"/>
                </a:solidFill>
                <a:latin typeface="Helvetica Neue"/>
                <a:ea typeface="Helvetica Neue"/>
                <a:cs typeface="Helvetica Neue"/>
              </a:defRPr>
            </a:lvl8pPr>
            <a:lvl9pPr algn="l">
              <a:defRPr sz="2550" b="0">
                <a:solidFill>
                  <a:srgbClr val="FFFFFF"/>
                </a:solidFill>
                <a:latin typeface="Helvetica Neue"/>
                <a:ea typeface="Helvetica Neue"/>
                <a:cs typeface="Helvetica Neue"/>
              </a:defRPr>
            </a:lvl9pPr>
          </a:lstStyle>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State and screen setup</a:t>
            </a:r>
          </a:p>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Practice check</a:t>
            </a:r>
          </a:p>
          <a:p xmlns:a="http://schemas.openxmlformats.org/drawingml/2006/main">
            <a:pPr algn="l">
              <a:defRPr sz="2550" b="0">
                <a:solidFill>
                  <a:srgbClr val="FFFFFF"/>
                </a:solidFill>
                <a:latin typeface="Helvetica Neue"/>
                <a:ea typeface="Helvetica Neue"/>
                <a:cs typeface="Helvetica Neue"/>
              </a:defRPr>
            </a:pPr>
            <a:r>
              <a:rPr sz="2550" b="0">
                <a:solidFill>
                  <a:srgbClr val="FFFFFF"/>
                </a:solidFill>
                <a:latin typeface="Helvetica Neue"/>
                <a:ea typeface="Helvetica Neue"/>
                <a:cs typeface="Helvetica Neue"/>
              </a:rPr>
              <a:t>Result and action plan</a:t>
            </a:r>
          </a:p>
        </p:txBody>
      </p:sp>
      <p:sp>
        <p:nvSpPr>
          <p:cNvPr id="6" name="Does the deadline make the next step feel relevant?">
            <a:extLst xmlns:a="http://schemas.openxmlformats.org/drawingml/2006/main">
              <a:ext uri="{FF2B5EF4-FFF2-40B4-BE49-F238E27FC236}">
                <a16:creationId xmlns:a16="http://schemas.microsoft.com/office/drawing/2014/main" id="{512C707C-B3C2-49D6-B736-A4609B5EE2EA}"/>
              </a:ext>
            </a:extLst>
          </p:cNvPr>
          <p:cNvSpPr>
            <a:spLocks xmlns:a="http://schemas.openxmlformats.org/drawingml/2006/main" noGrp="1"/>
          </p:cNvSpPr>
          <p:nvPr/>
        </p:nvSpPr>
        <p:spPr>
          <a:xfrm xmlns:a="http://schemas.openxmlformats.org/drawingml/2006/main">
            <a:off x="762000" y="641032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6A18E"/>
                </a:solidFill>
                <a:latin typeface="Helvetica Neue"/>
                <a:ea typeface="Helvetica Neue"/>
                <a:cs typeface="Helvetica Neue"/>
              </a:defRPr>
            </a:defPPr>
            <a:lvl1pPr algn="l">
              <a:defRPr sz="2400" b="1">
                <a:solidFill>
                  <a:srgbClr val="E6A18E"/>
                </a:solidFill>
                <a:latin typeface="Helvetica Neue"/>
                <a:ea typeface="Helvetica Neue"/>
                <a:cs typeface="Helvetica Neue"/>
              </a:defRPr>
            </a:lvl1pPr>
            <a:lvl2pPr algn="l">
              <a:defRPr sz="2400" b="1">
                <a:solidFill>
                  <a:srgbClr val="E6A18E"/>
                </a:solidFill>
                <a:latin typeface="Helvetica Neue"/>
                <a:ea typeface="Helvetica Neue"/>
                <a:cs typeface="Helvetica Neue"/>
              </a:defRPr>
            </a:lvl2pPr>
            <a:lvl3pPr algn="l">
              <a:defRPr sz="2400" b="1">
                <a:solidFill>
                  <a:srgbClr val="E6A18E"/>
                </a:solidFill>
                <a:latin typeface="Helvetica Neue"/>
                <a:ea typeface="Helvetica Neue"/>
                <a:cs typeface="Helvetica Neue"/>
              </a:defRPr>
            </a:lvl3pPr>
            <a:lvl4pPr algn="l">
              <a:defRPr sz="2400" b="1">
                <a:solidFill>
                  <a:srgbClr val="E6A18E"/>
                </a:solidFill>
                <a:latin typeface="Helvetica Neue"/>
                <a:ea typeface="Helvetica Neue"/>
                <a:cs typeface="Helvetica Neue"/>
              </a:defRPr>
            </a:lvl4pPr>
            <a:lvl5pPr algn="l">
              <a:defRPr sz="2400" b="1">
                <a:solidFill>
                  <a:srgbClr val="E6A18E"/>
                </a:solidFill>
                <a:latin typeface="Helvetica Neue"/>
                <a:ea typeface="Helvetica Neue"/>
                <a:cs typeface="Helvetica Neue"/>
              </a:defRPr>
            </a:lvl5pPr>
            <a:lvl6pPr algn="l">
              <a:defRPr sz="2400" b="1">
                <a:solidFill>
                  <a:srgbClr val="E6A18E"/>
                </a:solidFill>
                <a:latin typeface="Helvetica Neue"/>
                <a:ea typeface="Helvetica Neue"/>
                <a:cs typeface="Helvetica Neue"/>
              </a:defRPr>
            </a:lvl6pPr>
            <a:lvl7pPr algn="l">
              <a:defRPr sz="2400" b="1">
                <a:solidFill>
                  <a:srgbClr val="E6A18E"/>
                </a:solidFill>
                <a:latin typeface="Helvetica Neue"/>
                <a:ea typeface="Helvetica Neue"/>
                <a:cs typeface="Helvetica Neue"/>
              </a:defRPr>
            </a:lvl7pPr>
            <a:lvl8pPr algn="l">
              <a:defRPr sz="2400" b="1">
                <a:solidFill>
                  <a:srgbClr val="E6A18E"/>
                </a:solidFill>
                <a:latin typeface="Helvetica Neue"/>
                <a:ea typeface="Helvetica Neue"/>
                <a:cs typeface="Helvetica Neue"/>
              </a:defRPr>
            </a:lvl8pPr>
            <a:lvl9pPr algn="l">
              <a:defRPr sz="2400" b="1">
                <a:solidFill>
                  <a:srgbClr val="E6A18E"/>
                </a:solidFill>
                <a:latin typeface="Helvetica Neue"/>
                <a:ea typeface="Helvetica Neue"/>
                <a:cs typeface="Helvetica Neue"/>
              </a:defRPr>
            </a:lvl9pPr>
          </a:lstStyle>
          <a:p xmlns:a="http://schemas.openxmlformats.org/drawingml/2006/main">
            <a:pPr algn="l">
              <a:defRPr sz="2400" b="1">
                <a:solidFill>
                  <a:srgbClr val="E6A18E"/>
                </a:solidFill>
                <a:latin typeface="Helvetica Neue"/>
                <a:ea typeface="Helvetica Neue"/>
                <a:cs typeface="Helvetica Neue"/>
              </a:defRPr>
            </a:pPr>
            <a:r>
              <a:rPr sz="2400" b="1">
                <a:solidFill>
                  <a:srgbClr val="E6A18E"/>
                </a:solidFill>
                <a:latin typeface="Helvetica Neue"/>
                <a:ea typeface="Helvetica Neue"/>
                <a:cs typeface="Helvetica Neue"/>
              </a:rPr>
              <a:t>Does the deadline make the next step feel relevant?</a:t>
            </a:r>
          </a:p>
        </p:txBody>
      </p:sp>
      <p:pic>
        <p:nvPicPr>
          <p:cNvPr id="7" name="">
            <a:extLst xmlns:a="http://schemas.openxmlformats.org/drawingml/2006/main">
              <a:ext uri="{FF2B5EF4-FFF2-40B4-BE49-F238E27FC236}">
                <a16:creationId xmlns:a16="http://schemas.microsoft.com/office/drawing/2014/main" id="{B0BEEC83-323A-4C3F-A929-846755640EA8}"/>
              </a:ext>
            </a:extLst>
          </p:cNvPr>
          <p:cNvPicPr>
            <a:picLocks xmlns:a="http://schemas.openxmlformats.org/drawingml/2006/main" noChangeAspect="1"/>
          </p:cNvPicPr>
          <p:nvPr/>
        </p:nvPicPr>
        <p:blipFill>
          <a:blip xmlns:r="http://schemas.openxmlformats.org/officeDocument/2006/relationships" xmlns:a="http://schemas.openxmlformats.org/drawingml/2006/main" r:embed="R7a40565ee06f41b3"/>
          <a:stretch xmlns:a="http://schemas.openxmlformats.org/drawingml/2006/main"/>
        </p:blipFill>
        <p:spPr>
          <a:xfrm xmlns:a="http://schemas.openxmlformats.org/drawingml/2006/main">
            <a:off x="6481233" y="3381375"/>
            <a:ext cx="7992533" cy="4495800"/>
          </a:xfrm>
          <a:prstGeom xmlns:a="http://schemas.openxmlformats.org/drawingml/2006/main" prst="rect">
            <a:avLst/>
          </a:prstGeom>
        </p:spPr>
      </p:pic>
    </p:spTree>
    <p:extLst>
      <p:ext uri="{BB962C8B-B14F-4D97-AF65-F5344CB8AC3E}">
        <p14:creationId xmlns:p14="http://schemas.microsoft.com/office/powerpoint/2010/main" val="1430050086"/>
      </p:ext>
    </p:extLst>
  </p:cSld>
</p:sld>
</file>

<file path=ppt/slides/slide10.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5" name="The core scope we prioritized">
            <a:extLst xmlns:a="http://schemas.openxmlformats.org/drawingml/2006/main">
              <a:ext uri="{FF2B5EF4-FFF2-40B4-BE49-F238E27FC236}">
                <a16:creationId xmlns:a16="http://schemas.microsoft.com/office/drawing/2014/main" id="{4BB6802D-CD8F-4254-8175-46B7F553DD64}"/>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The core scope we prioritized</a:t>
            </a:r>
          </a:p>
        </p:txBody>
      </p:sp>
      <p:sp>
        <p:nvSpPr>
          <p:cNvPr id="2" name="10">
            <a:extLst xmlns:a="http://schemas.openxmlformats.org/drawingml/2006/main">
              <a:ext uri="{FF2B5EF4-FFF2-40B4-BE49-F238E27FC236}">
                <a16:creationId xmlns:a16="http://schemas.microsoft.com/office/drawing/2014/main" id="{67C072C2-B5F9-43E8-84AD-B4787C814B52}"/>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604FBFCA-FAAA-4C98-9A49-2EE41BD75594}"/>
              </a:ext>
            </a:extLst>
          </p:cNvPr>
          <p:cNvGraphicFramePr/>
          <p:nvPr/>
        </p:nvGraphicFramePr>
        <p:xfrm>
          <a:off xmlns:a="http://schemas.openxmlformats.org/drawingml/2006/main" x="762000" y="2190750"/>
          <a:ext xmlns:a="http://schemas.openxmlformats.org/drawingml/2006/main" cx="13716000" cy="4876800"/>
        </p:xfrm>
        <a:graphic xmlns:a="http://schemas.openxmlformats.org/drawingml/2006/main">
          <a:graphicData uri="http://schemas.openxmlformats.org/drawingml/2006/table">
            <a:tbl>
              <a:tblPr/>
              <a:tblGrid>
                <a:gridCol w="1333500"/>
                <a:gridCol w="3143250"/>
                <a:gridCol w="1047750"/>
                <a:gridCol w="1619250"/>
                <a:gridCol w="1809750"/>
                <a:gridCol w="4762500"/>
              </a:tblGrid>
              <a:tr h="762000">
                <a:tc>
                  <a:txBody>
                    <a:bodyPr wrap="square" lIns="0" tIns="0" rIns="0" bIns="0">
                      <a:noAutofit/>
                    </a:bodyPr>
                    <a:lstStyle/>
                    <a:p>
                      <a:r>
                        <a:rPr sz="1950" b="1">
                          <a:solidFill>
                            <a:srgbClr val="FFFFFF"/>
                          </a:solidFill>
                          <a:latin typeface="Helvetica Neue"/>
                          <a:ea typeface="Helvetica Neue"/>
                          <a:cs typeface="Helvetica Neue"/>
                        </a:rPr>
                        <a:t>Demo</a:t>
                      </a:r>
                    </a:p>
                  </a:txBody>
                  <a:tcPr marL="190500" marR="190500" marT="171450" marB="171450" anchor="t">
                    <a:lnL w="9525">
                      <a:solidFill>
                        <a:srgbClr val="D7E2EB"/>
                      </a:solidFill>
                      <a:prstDash val="solid"/>
                    </a:lnL>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1950" b="1">
                          <a:solidFill>
                            <a:srgbClr val="FFFFFF"/>
                          </a:solidFill>
                          <a:latin typeface="Helvetica Neue"/>
                          <a:ea typeface="Helvetica Neue"/>
                          <a:cs typeface="Helvetica Neue"/>
                        </a:rPr>
                        <a:t>Core feature</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1950" b="1">
                          <a:solidFill>
                            <a:srgbClr val="FFFFFF"/>
                          </a:solidFill>
                          <a:latin typeface="Helvetica Neue"/>
                          <a:ea typeface="Helvetica Neue"/>
                          <a:cs typeface="Helvetica Neue"/>
                        </a:rPr>
                        <a:t>Value</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1950" b="1">
                          <a:solidFill>
                            <a:srgbClr val="FFFFFF"/>
                          </a:solidFill>
                          <a:latin typeface="Helvetica Neue"/>
                          <a:ea typeface="Helvetica Neue"/>
                          <a:cs typeface="Helvetica Neue"/>
                        </a:rPr>
                        <a:t>Effort</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1950" b="1">
                          <a:solidFill>
                            <a:srgbClr val="FFFFFF"/>
                          </a:solidFill>
                          <a:latin typeface="Helvetica Neue"/>
                          <a:ea typeface="Helvetica Neue"/>
                          <a:cs typeface="Helvetica Neue"/>
                        </a:rPr>
                        <a:t>Complexity</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1950" b="1">
                          <a:solidFill>
                            <a:srgbClr val="FFFFFF"/>
                          </a:solidFill>
                          <a:latin typeface="Helvetica Neue"/>
                          <a:ea typeface="Helvetica Neue"/>
                          <a:cs typeface="Helvetica Neue"/>
                        </a:rPr>
                        <a:t>Proposed success signal</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r>
              <a:tr h="1371600">
                <a:tc>
                  <a:txBody>
                    <a:bodyPr wrap="square" lIns="0" tIns="0" rIns="0" bIns="0">
                      <a:noAutofit/>
                    </a:bodyPr>
                    <a:lstStyle/>
                    <a:p>
                      <a:r>
                        <a:rPr sz="1950" b="0">
                          <a:solidFill>
                            <a:srgbClr val="16234B"/>
                          </a:solidFill>
                          <a:latin typeface="Helvetica Neue"/>
                          <a:ea typeface="Helvetica Neue"/>
                          <a:cs typeface="Helvetica Neue"/>
                        </a:rPr>
                        <a:t>A</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One result in two formats</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High</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Medium</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Medium</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3 of 5 explain a format preference after viewing both.</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r h="1371600">
                <a:tc>
                  <a:txBody>
                    <a:bodyPr wrap="square" lIns="0" tIns="0" rIns="0" bIns="0">
                      <a:noAutofit/>
                    </a:bodyPr>
                    <a:lstStyle/>
                    <a:p>
                      <a:r>
                        <a:rPr sz="1950" b="0">
                          <a:solidFill>
                            <a:srgbClr val="16234B"/>
                          </a:solidFill>
                          <a:latin typeface="Helvetica Neue"/>
                          <a:ea typeface="Helvetica Neue"/>
                          <a:cs typeface="Helvetica Neue"/>
                        </a:rPr>
                        <a:t>B</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1950" b="0">
                          <a:solidFill>
                            <a:srgbClr val="16234B"/>
                          </a:solidFill>
                          <a:latin typeface="Helvetica Neue"/>
                          <a:ea typeface="Helvetica Neue"/>
                          <a:cs typeface="Helvetica Neue"/>
                        </a:rPr>
                        <a:t>Parent observations and preparation</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1950" b="0">
                          <a:solidFill>
                            <a:srgbClr val="16234B"/>
                          </a:solidFill>
                          <a:latin typeface="Helvetica Neue"/>
                          <a:ea typeface="Helvetica Neue"/>
                          <a:cs typeface="Helvetica Neue"/>
                        </a:rPr>
                        <a:t>High</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1950" b="0">
                          <a:solidFill>
                            <a:srgbClr val="16234B"/>
                          </a:solidFill>
                          <a:latin typeface="Helvetica Neue"/>
                          <a:ea typeface="Helvetica Neue"/>
                          <a:cs typeface="Helvetica Neue"/>
                        </a:rPr>
                        <a:t>Low to</a:t>
                      </a:r>
                    </a:p>
                    <a:p>
                      <a:r>
                        <a:rPr sz="1950" b="0">
                          <a:solidFill>
                            <a:srgbClr val="16234B"/>
                          </a:solidFill>
                          <a:latin typeface="Helvetica Neue"/>
                          <a:ea typeface="Helvetica Neue"/>
                          <a:cs typeface="Helvetica Neue"/>
                        </a:rPr>
                        <a:t>medium</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1950" b="0">
                          <a:solidFill>
                            <a:srgbClr val="16234B"/>
                          </a:solidFill>
                          <a:latin typeface="Helvetica Neue"/>
                          <a:ea typeface="Helvetica Neue"/>
                          <a:cs typeface="Helvetica Neue"/>
                        </a:rPr>
                        <a:t>Low to</a:t>
                      </a:r>
                    </a:p>
                    <a:p>
                      <a:r>
                        <a:rPr sz="1950" b="0">
                          <a:solidFill>
                            <a:srgbClr val="16234B"/>
                          </a:solidFill>
                          <a:latin typeface="Helvetica Neue"/>
                          <a:ea typeface="Helvetica Neue"/>
                          <a:cs typeface="Helvetica Neue"/>
                        </a:rPr>
                        <a:t>medium</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1950" b="0">
                          <a:solidFill>
                            <a:srgbClr val="16234B"/>
                          </a:solidFill>
                          <a:latin typeface="Helvetica Neue"/>
                          <a:ea typeface="Helvetica Neue"/>
                          <a:cs typeface="Helvetica Neue"/>
                        </a:rPr>
                        <a:t>4 of 5 finish unaided. 3 of 5 select appointment or school preparation.</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r>
              <a:tr h="1371600">
                <a:tc>
                  <a:txBody>
                    <a:bodyPr wrap="square" lIns="0" tIns="0" rIns="0" bIns="0">
                      <a:noAutofit/>
                    </a:bodyPr>
                    <a:lstStyle/>
                    <a:p>
                      <a:r>
                        <a:rPr sz="1950" b="0">
                          <a:solidFill>
                            <a:srgbClr val="16234B"/>
                          </a:solidFill>
                          <a:latin typeface="Helvetica Neue"/>
                          <a:ea typeface="Helvetica Neue"/>
                          <a:cs typeface="Helvetica Neue"/>
                        </a:rPr>
                        <a:t>C</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Deadline-specific practice and plan</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High</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Medium</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Medium</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1950" b="0">
                          <a:solidFill>
                            <a:srgbClr val="16234B"/>
                          </a:solidFill>
                          <a:latin typeface="Helvetica Neue"/>
                          <a:ea typeface="Helvetica Neue"/>
                          <a:cs typeface="Helvetica Neue"/>
                        </a:rPr>
                        <a:t>70% understand the result. 60% state likely use before a DMV visit.</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bl>
          </a:graphicData>
        </a:graphic>
      </p:graphicFrame>
      <p:sp>
        <p:nvSpPr>
          <p:cNvPr id="4" name="Estimates apply to the scoped core flows. Pilot thresholds are pr">
            <a:extLst xmlns:a="http://schemas.openxmlformats.org/drawingml/2006/main">
              <a:ext uri="{FF2B5EF4-FFF2-40B4-BE49-F238E27FC236}">
                <a16:creationId xmlns:a16="http://schemas.microsoft.com/office/drawing/2014/main" id="{63FFEA79-E908-4390-8BCD-7465D3CDDD6D}"/>
              </a:ext>
            </a:extLst>
          </p:cNvPr>
          <p:cNvSpPr>
            <a:spLocks xmlns:a="http://schemas.openxmlformats.org/drawingml/2006/main" noGrp="1"/>
          </p:cNvSpPr>
          <p:nvPr/>
        </p:nvSpPr>
        <p:spPr>
          <a:xfrm xmlns:a="http://schemas.openxmlformats.org/drawingml/2006/main">
            <a:off x="762000" y="7543800"/>
            <a:ext cx="1295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27A"/>
                </a:solidFill>
                <a:latin typeface="Helvetica Neue"/>
                <a:ea typeface="Helvetica Neue"/>
                <a:cs typeface="Helvetica Neue"/>
              </a:defRPr>
            </a:defPPr>
            <a:lvl1pPr algn="l">
              <a:defRPr sz="1875" b="0">
                <a:solidFill>
                  <a:srgbClr val="53627A"/>
                </a:solidFill>
                <a:latin typeface="Helvetica Neue"/>
                <a:ea typeface="Helvetica Neue"/>
                <a:cs typeface="Helvetica Neue"/>
              </a:defRPr>
            </a:lvl1pPr>
            <a:lvl2pPr algn="l">
              <a:defRPr sz="1875" b="0">
                <a:solidFill>
                  <a:srgbClr val="53627A"/>
                </a:solidFill>
                <a:latin typeface="Helvetica Neue"/>
                <a:ea typeface="Helvetica Neue"/>
                <a:cs typeface="Helvetica Neue"/>
              </a:defRPr>
            </a:lvl2pPr>
            <a:lvl3pPr algn="l">
              <a:defRPr sz="1875" b="0">
                <a:solidFill>
                  <a:srgbClr val="53627A"/>
                </a:solidFill>
                <a:latin typeface="Helvetica Neue"/>
                <a:ea typeface="Helvetica Neue"/>
                <a:cs typeface="Helvetica Neue"/>
              </a:defRPr>
            </a:lvl3pPr>
            <a:lvl4pPr algn="l">
              <a:defRPr sz="1875" b="0">
                <a:solidFill>
                  <a:srgbClr val="53627A"/>
                </a:solidFill>
                <a:latin typeface="Helvetica Neue"/>
                <a:ea typeface="Helvetica Neue"/>
                <a:cs typeface="Helvetica Neue"/>
              </a:defRPr>
            </a:lvl4pPr>
            <a:lvl5pPr algn="l">
              <a:defRPr sz="1875" b="0">
                <a:solidFill>
                  <a:srgbClr val="53627A"/>
                </a:solidFill>
                <a:latin typeface="Helvetica Neue"/>
                <a:ea typeface="Helvetica Neue"/>
                <a:cs typeface="Helvetica Neue"/>
              </a:defRPr>
            </a:lvl5pPr>
            <a:lvl6pPr algn="l">
              <a:defRPr sz="1875" b="0">
                <a:solidFill>
                  <a:srgbClr val="53627A"/>
                </a:solidFill>
                <a:latin typeface="Helvetica Neue"/>
                <a:ea typeface="Helvetica Neue"/>
                <a:cs typeface="Helvetica Neue"/>
              </a:defRPr>
            </a:lvl6pPr>
            <a:lvl7pPr algn="l">
              <a:defRPr sz="1875" b="0">
                <a:solidFill>
                  <a:srgbClr val="53627A"/>
                </a:solidFill>
                <a:latin typeface="Helvetica Neue"/>
                <a:ea typeface="Helvetica Neue"/>
                <a:cs typeface="Helvetica Neue"/>
              </a:defRPr>
            </a:lvl7pPr>
            <a:lvl8pPr algn="l">
              <a:defRPr sz="1875" b="0">
                <a:solidFill>
                  <a:srgbClr val="53627A"/>
                </a:solidFill>
                <a:latin typeface="Helvetica Neue"/>
                <a:ea typeface="Helvetica Neue"/>
                <a:cs typeface="Helvetica Neue"/>
              </a:defRPr>
            </a:lvl8pPr>
            <a:lvl9pPr algn="l">
              <a:defRPr sz="1875" b="0">
                <a:solidFill>
                  <a:srgbClr val="53627A"/>
                </a:solidFill>
                <a:latin typeface="Helvetica Neue"/>
                <a:ea typeface="Helvetica Neue"/>
                <a:cs typeface="Helvetica Neue"/>
              </a:defRPr>
            </a:lvl9pPr>
          </a:lstStyle>
          <a:p xmlns:a="http://schemas.openxmlformats.org/drawingml/2006/main">
            <a:pPr algn="l">
              <a:defRPr sz="1875" b="0">
                <a:solidFill>
                  <a:srgbClr val="53627A"/>
                </a:solidFill>
                <a:latin typeface="Helvetica Neue"/>
                <a:ea typeface="Helvetica Neue"/>
                <a:cs typeface="Helvetica Neue"/>
              </a:defRPr>
            </a:pPr>
            <a:r>
              <a:rPr sz="1875" b="0">
                <a:solidFill>
                  <a:srgbClr val="53627A"/>
                </a:solidFill>
                <a:latin typeface="Helvetica Neue"/>
                <a:ea typeface="Helvetica Neue"/>
                <a:cs typeface="Helvetica Neue"/>
              </a:rPr>
              <a:t>Estimates apply to the scoped core flows. Pilot thresholds are proposed targets, with small samples.</a:t>
            </a:r>
          </a:p>
        </p:txBody>
      </p:sp>
    </p:spTree>
    <p:extLst>
      <p:ext uri="{BB962C8B-B14F-4D97-AF65-F5344CB8AC3E}">
        <p14:creationId xmlns:p14="http://schemas.microsoft.com/office/powerpoint/2010/main" val="707218541"/>
      </p:ext>
    </p:extLst>
  </p:cSld>
</p:sld>
</file>

<file path=ppt/slides/slide11.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5" name="Deliberate cuts and their tradeoffs">
            <a:extLst xmlns:a="http://schemas.openxmlformats.org/drawingml/2006/main">
              <a:ext uri="{FF2B5EF4-FFF2-40B4-BE49-F238E27FC236}">
                <a16:creationId xmlns:a16="http://schemas.microsoft.com/office/drawing/2014/main" id="{C5303441-966E-48C0-8155-B6D599C2E784}"/>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Deliberate cuts and their tradeoffs</a:t>
            </a:r>
          </a:p>
        </p:txBody>
      </p:sp>
      <p:sp>
        <p:nvSpPr>
          <p:cNvPr id="2" name="11">
            <a:extLst xmlns:a="http://schemas.openxmlformats.org/drawingml/2006/main">
              <a:ext uri="{FF2B5EF4-FFF2-40B4-BE49-F238E27FC236}">
                <a16:creationId xmlns:a16="http://schemas.microsoft.com/office/drawing/2014/main" id="{7DA89597-BEDA-4683-9212-CD84F6C3112D}"/>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11</a:t>
            </a:r>
          </a:p>
        </p:txBody>
      </p:sp>
      <p:graphicFrame>
        <p:nvGraphicFramePr>
          <p:cNvPr id="3" name="">
            <a:extLst xmlns:a="http://schemas.openxmlformats.org/drawingml/2006/main">
              <a:ext uri="{FF2B5EF4-FFF2-40B4-BE49-F238E27FC236}">
                <a16:creationId xmlns:a16="http://schemas.microsoft.com/office/drawing/2014/main" id="{04FB28FB-F8E1-4FB8-A9FF-957DA7C52569}"/>
              </a:ext>
            </a:extLst>
          </p:cNvPr>
          <p:cNvGraphicFramePr/>
          <p:nvPr/>
        </p:nvGraphicFramePr>
        <p:xfrm>
          <a:off xmlns:a="http://schemas.openxmlformats.org/drawingml/2006/main" x="762000" y="2190750"/>
          <a:ext xmlns:a="http://schemas.openxmlformats.org/drawingml/2006/main" cx="13716000" cy="4895850"/>
        </p:xfrm>
        <a:graphic xmlns:a="http://schemas.openxmlformats.org/drawingml/2006/main">
          <a:graphicData uri="http://schemas.openxmlformats.org/drawingml/2006/table">
            <a:tbl>
              <a:tblPr/>
              <a:tblGrid>
                <a:gridCol w="5953125"/>
                <a:gridCol w="7762875"/>
              </a:tblGrid>
              <a:tr h="666750">
                <a:tc>
                  <a:txBody>
                    <a:bodyPr wrap="square" lIns="0" tIns="0" rIns="0" bIns="0">
                      <a:noAutofit/>
                    </a:bodyPr>
                    <a:lstStyle/>
                    <a:p>
                      <a:r>
                        <a:rPr sz="2250" b="1">
                          <a:solidFill>
                            <a:srgbClr val="FFFFFF"/>
                          </a:solidFill>
                          <a:latin typeface="Helvetica Neue"/>
                          <a:ea typeface="Helvetica Neue"/>
                          <a:cs typeface="Helvetica Neue"/>
                        </a:rPr>
                        <a:t>Kept for this experiment</a:t>
                      </a:r>
                    </a:p>
                  </a:txBody>
                  <a:tcPr marL="190500" marR="190500" marT="171450" marB="171450" anchor="t">
                    <a:lnL w="9525">
                      <a:solidFill>
                        <a:srgbClr val="D7E2EB"/>
                      </a:solidFill>
                      <a:prstDash val="solid"/>
                    </a:lnL>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2250" b="1">
                          <a:solidFill>
                            <a:srgbClr val="FFFFFF"/>
                          </a:solidFill>
                          <a:latin typeface="Helvetica Neue"/>
                          <a:ea typeface="Helvetica Neue"/>
                          <a:cs typeface="Helvetica Neue"/>
                        </a:rPr>
                        <a:t>Deferred and the implication</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r>
              <a:tr h="1409700">
                <a:tc>
                  <a:txBody>
                    <a:bodyPr wrap="square" lIns="0" tIns="0" rIns="0" bIns="0">
                      <a:noAutofit/>
                    </a:bodyPr>
                    <a:lstStyle/>
                    <a:p>
                      <a:r>
                        <a:rPr sz="2250" b="0">
                          <a:solidFill>
                            <a:srgbClr val="16234B"/>
                          </a:solidFill>
                          <a:latin typeface="Helvetica Neue"/>
                          <a:ea typeface="Helvetica Neue"/>
                          <a:cs typeface="Helvetica Neue"/>
                        </a:rPr>
                        <a:t>A: a repeatable result-format comparison</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250" b="0">
                          <a:solidFill>
                            <a:srgbClr val="16234B"/>
                          </a:solidFill>
                          <a:latin typeface="Helvetica Neue"/>
                          <a:ea typeface="Helvetica Neue"/>
                          <a:cs typeface="Helvetica Neue"/>
                        </a:rPr>
                        <a:t>Accounts and persistent history. We cannot establish long-term use yet.</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r h="1409700">
                <a:tc>
                  <a:txBody>
                    <a:bodyPr wrap="square" lIns="0" tIns="0" rIns="0" bIns="0">
                      <a:noAutofit/>
                    </a:bodyPr>
                    <a:lstStyle/>
                    <a:p>
                      <a:r>
                        <a:rPr sz="2250" b="0">
                          <a:solidFill>
                            <a:srgbClr val="16234B"/>
                          </a:solidFill>
                          <a:latin typeface="Helvetica Neue"/>
                          <a:ea typeface="Helvetica Neue"/>
                          <a:cs typeface="Helvetica Neue"/>
                        </a:rPr>
                        <a:t>B: a parent-controlled observation summary</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2250" b="0">
                          <a:solidFill>
                            <a:srgbClr val="16234B"/>
                          </a:solidFill>
                          <a:latin typeface="Helvetica Neue"/>
                          <a:ea typeface="Helvetica Neue"/>
                          <a:cs typeface="Helvetica Neue"/>
                        </a:rPr>
                        <a:t>Vision measurement and real booking. We test preparation rather than completed care.</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r>
              <a:tr h="1409700">
                <a:tc>
                  <a:txBody>
                    <a:bodyPr wrap="square" lIns="0" tIns="0" rIns="0" bIns="0">
                      <a:noAutofit/>
                    </a:bodyPr>
                    <a:lstStyle/>
                    <a:p>
                      <a:r>
                        <a:rPr sz="2250" b="0">
                          <a:solidFill>
                            <a:srgbClr val="16234B"/>
                          </a:solidFill>
                          <a:latin typeface="Helvetica Neue"/>
                          <a:ea typeface="Helvetica Neue"/>
                          <a:cs typeface="Helvetica Neue"/>
                        </a:rPr>
                        <a:t>C: a practice check and contextual plan</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250" b="0">
                          <a:solidFill>
                            <a:srgbClr val="16234B"/>
                          </a:solidFill>
                          <a:latin typeface="Helvetica Neue"/>
                          <a:ea typeface="Helvetica Neue"/>
                          <a:cs typeface="Helvetica Neue"/>
                        </a:rPr>
                        <a:t>Official acceptance and real reminders. We test relevance and stated intent.</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bl>
          </a:graphicData>
        </a:graphic>
      </p:graphicFrame>
      <p:sp>
        <p:nvSpPr>
          <p:cNvPr id="4" name="Clinical validation remains separate work for all three approache">
            <a:extLst xmlns:a="http://schemas.openxmlformats.org/drawingml/2006/main">
              <a:ext uri="{FF2B5EF4-FFF2-40B4-BE49-F238E27FC236}">
                <a16:creationId xmlns:a16="http://schemas.microsoft.com/office/drawing/2014/main" id="{5BBF0E88-0E73-48C3-8C3E-E8982D09CF82}"/>
              </a:ext>
            </a:extLst>
          </p:cNvPr>
          <p:cNvSpPr>
            <a:spLocks xmlns:a="http://schemas.openxmlformats.org/drawingml/2006/main" noGrp="1"/>
          </p:cNvSpPr>
          <p:nvPr/>
        </p:nvSpPr>
        <p:spPr>
          <a:xfrm xmlns:a="http://schemas.openxmlformats.org/drawingml/2006/main">
            <a:off x="762000" y="752475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27A"/>
                </a:solidFill>
                <a:latin typeface="Helvetica Neue"/>
                <a:ea typeface="Helvetica Neue"/>
                <a:cs typeface="Helvetica Neue"/>
              </a:defRPr>
            </a:defPPr>
            <a:lvl1pPr algn="l">
              <a:defRPr sz="2175" b="0">
                <a:solidFill>
                  <a:srgbClr val="53627A"/>
                </a:solidFill>
                <a:latin typeface="Helvetica Neue"/>
                <a:ea typeface="Helvetica Neue"/>
                <a:cs typeface="Helvetica Neue"/>
              </a:defRPr>
            </a:lvl1pPr>
            <a:lvl2pPr algn="l">
              <a:defRPr sz="2175" b="0">
                <a:solidFill>
                  <a:srgbClr val="53627A"/>
                </a:solidFill>
                <a:latin typeface="Helvetica Neue"/>
                <a:ea typeface="Helvetica Neue"/>
                <a:cs typeface="Helvetica Neue"/>
              </a:defRPr>
            </a:lvl2pPr>
            <a:lvl3pPr algn="l">
              <a:defRPr sz="2175" b="0">
                <a:solidFill>
                  <a:srgbClr val="53627A"/>
                </a:solidFill>
                <a:latin typeface="Helvetica Neue"/>
                <a:ea typeface="Helvetica Neue"/>
                <a:cs typeface="Helvetica Neue"/>
              </a:defRPr>
            </a:lvl3pPr>
            <a:lvl4pPr algn="l">
              <a:defRPr sz="2175" b="0">
                <a:solidFill>
                  <a:srgbClr val="53627A"/>
                </a:solidFill>
                <a:latin typeface="Helvetica Neue"/>
                <a:ea typeface="Helvetica Neue"/>
                <a:cs typeface="Helvetica Neue"/>
              </a:defRPr>
            </a:lvl4pPr>
            <a:lvl5pPr algn="l">
              <a:defRPr sz="2175" b="0">
                <a:solidFill>
                  <a:srgbClr val="53627A"/>
                </a:solidFill>
                <a:latin typeface="Helvetica Neue"/>
                <a:ea typeface="Helvetica Neue"/>
                <a:cs typeface="Helvetica Neue"/>
              </a:defRPr>
            </a:lvl5pPr>
            <a:lvl6pPr algn="l">
              <a:defRPr sz="2175" b="0">
                <a:solidFill>
                  <a:srgbClr val="53627A"/>
                </a:solidFill>
                <a:latin typeface="Helvetica Neue"/>
                <a:ea typeface="Helvetica Neue"/>
                <a:cs typeface="Helvetica Neue"/>
              </a:defRPr>
            </a:lvl6pPr>
            <a:lvl7pPr algn="l">
              <a:defRPr sz="2175" b="0">
                <a:solidFill>
                  <a:srgbClr val="53627A"/>
                </a:solidFill>
                <a:latin typeface="Helvetica Neue"/>
                <a:ea typeface="Helvetica Neue"/>
                <a:cs typeface="Helvetica Neue"/>
              </a:defRPr>
            </a:lvl7pPr>
            <a:lvl8pPr algn="l">
              <a:defRPr sz="2175" b="0">
                <a:solidFill>
                  <a:srgbClr val="53627A"/>
                </a:solidFill>
                <a:latin typeface="Helvetica Neue"/>
                <a:ea typeface="Helvetica Neue"/>
                <a:cs typeface="Helvetica Neue"/>
              </a:defRPr>
            </a:lvl8pPr>
            <a:lvl9pPr algn="l">
              <a:defRPr sz="2175" b="0">
                <a:solidFill>
                  <a:srgbClr val="53627A"/>
                </a:solidFill>
                <a:latin typeface="Helvetica Neue"/>
                <a:ea typeface="Helvetica Neue"/>
                <a:cs typeface="Helvetica Neue"/>
              </a:defRPr>
            </a:lvl9pPr>
          </a:lstStyle>
          <a:p xmlns:a="http://schemas.openxmlformats.org/drawingml/2006/main">
            <a:pPr algn="l">
              <a:defRPr sz="2175" b="0">
                <a:solidFill>
                  <a:srgbClr val="53627A"/>
                </a:solidFill>
                <a:latin typeface="Helvetica Neue"/>
                <a:ea typeface="Helvetica Neue"/>
                <a:cs typeface="Helvetica Neue"/>
              </a:defRPr>
            </a:pPr>
            <a:r>
              <a:rPr sz="2175" b="0">
                <a:solidFill>
                  <a:srgbClr val="53627A"/>
                </a:solidFill>
                <a:latin typeface="Helvetica Neue"/>
                <a:ea typeface="Helvetica Neue"/>
                <a:cs typeface="Helvetica Neue"/>
              </a:rPr>
              <a:t>Clinical validation remains separate work for all three approaches.</a:t>
            </a:r>
          </a:p>
        </p:txBody>
      </p:sp>
    </p:spTree>
    <p:extLst>
      <p:ext uri="{BB962C8B-B14F-4D97-AF65-F5344CB8AC3E}">
        <p14:creationId xmlns:p14="http://schemas.microsoft.com/office/powerpoint/2010/main" val="1200236144"/>
      </p:ext>
    </p:extLst>
  </p:cSld>
</p:sld>
</file>

<file path=ppt/slides/slide1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5" name="What the comparison can change">
            <a:extLst xmlns:a="http://schemas.openxmlformats.org/drawingml/2006/main">
              <a:ext uri="{FF2B5EF4-FFF2-40B4-BE49-F238E27FC236}">
                <a16:creationId xmlns:a16="http://schemas.microsoft.com/office/drawing/2014/main" id="{36076643-8112-4474-8F38-7D4D421B1672}"/>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What the comparison can change</a:t>
            </a:r>
          </a:p>
        </p:txBody>
      </p:sp>
      <p:sp>
        <p:nvSpPr>
          <p:cNvPr id="2" name="12">
            <a:extLst xmlns:a="http://schemas.openxmlformats.org/drawingml/2006/main">
              <a:ext uri="{FF2B5EF4-FFF2-40B4-BE49-F238E27FC236}">
                <a16:creationId xmlns:a16="http://schemas.microsoft.com/office/drawing/2014/main" id="{948111A7-27BA-4E1F-A726-1648AA678C7D}"/>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12</a:t>
            </a:r>
          </a:p>
        </p:txBody>
      </p:sp>
      <p:graphicFrame>
        <p:nvGraphicFramePr>
          <p:cNvPr id="3" name="">
            <a:extLst xmlns:a="http://schemas.openxmlformats.org/drawingml/2006/main">
              <a:ext uri="{FF2B5EF4-FFF2-40B4-BE49-F238E27FC236}">
                <a16:creationId xmlns:a16="http://schemas.microsoft.com/office/drawing/2014/main" id="{D3FF949A-6408-4B0A-8220-1191CF4B205A}"/>
              </a:ext>
            </a:extLst>
          </p:cNvPr>
          <p:cNvGraphicFramePr/>
          <p:nvPr/>
        </p:nvGraphicFramePr>
        <p:xfrm>
          <a:off xmlns:a="http://schemas.openxmlformats.org/drawingml/2006/main" x="762000" y="2190750"/>
          <a:ext xmlns:a="http://schemas.openxmlformats.org/drawingml/2006/main" cx="13716000" cy="4857750"/>
        </p:xfrm>
        <a:graphic xmlns:a="http://schemas.openxmlformats.org/drawingml/2006/main">
          <a:graphicData uri="http://schemas.openxmlformats.org/drawingml/2006/table">
            <a:tbl>
              <a:tblPr/>
              <a:tblGrid>
                <a:gridCol w="3857625"/>
                <a:gridCol w="4048125"/>
                <a:gridCol w="5810250"/>
              </a:tblGrid>
              <a:tr h="714375">
                <a:tc>
                  <a:txBody>
                    <a:bodyPr wrap="square" lIns="0" tIns="0" rIns="0" bIns="0">
                      <a:noAutofit/>
                    </a:bodyPr>
                    <a:lstStyle/>
                    <a:p>
                      <a:r>
                        <a:rPr sz="2175" b="1">
                          <a:solidFill>
                            <a:srgbClr val="FFFFFF"/>
                          </a:solidFill>
                          <a:latin typeface="Helvetica Neue"/>
                          <a:ea typeface="Helvetica Neue"/>
                          <a:cs typeface="Helvetica Neue"/>
                        </a:rPr>
                        <a:t>If feedback favors</a:t>
                      </a:r>
                    </a:p>
                  </a:txBody>
                  <a:tcPr marL="190500" marR="190500" marT="171450" marB="171450" anchor="t">
                    <a:lnL w="9525">
                      <a:solidFill>
                        <a:srgbClr val="D7E2EB"/>
                      </a:solidFill>
                      <a:prstDash val="solid"/>
                    </a:lnL>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2175" b="1">
                          <a:solidFill>
                            <a:srgbClr val="FFFFFF"/>
                          </a:solidFill>
                          <a:latin typeface="Helvetica Neue"/>
                          <a:ea typeface="Helvetica Neue"/>
                          <a:cs typeface="Helvetica Neue"/>
                        </a:rPr>
                        <a:t>Product direction to explore</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c>
                  <a:txBody>
                    <a:bodyPr wrap="square" lIns="0" tIns="0" rIns="0" bIns="0">
                      <a:noAutofit/>
                    </a:bodyPr>
                    <a:lstStyle/>
                    <a:p>
                      <a:r>
                        <a:rPr sz="2175" b="1">
                          <a:solidFill>
                            <a:srgbClr val="FFFFFF"/>
                          </a:solidFill>
                          <a:latin typeface="Helvetica Neue"/>
                          <a:ea typeface="Helvetica Neue"/>
                          <a:cs typeface="Helvetica Neue"/>
                        </a:rPr>
                        <a:t>Next test with real users</a:t>
                      </a:r>
                    </a:p>
                  </a:txBody>
                  <a:tcPr marL="190500" marR="190500" marT="171450" marB="171450" anchor="t">
                    <a:lnR w="9525">
                      <a:solidFill>
                        <a:srgbClr val="D7E2EB"/>
                      </a:solidFill>
                      <a:prstDash val="solid"/>
                    </a:lnR>
                    <a:lnT w="9525">
                      <a:solidFill>
                        <a:srgbClr val="D7E2EB"/>
                      </a:solidFill>
                      <a:prstDash val="solid"/>
                    </a:lnT>
                    <a:lnB w="9525">
                      <a:solidFill>
                        <a:srgbClr val="D7E2EB"/>
                      </a:solidFill>
                      <a:prstDash val="solid"/>
                    </a:lnB>
                    <a:solidFill>
                      <a:srgbClr val="16234B"/>
                    </a:solidFill>
                  </a:tcPr>
                </a:tc>
              </a:tr>
              <a:tr h="1381125">
                <a:tc>
                  <a:txBody>
                    <a:bodyPr wrap="square" lIns="0" tIns="0" rIns="0" bIns="0">
                      <a:noAutofit/>
                    </a:bodyPr>
                    <a:lstStyle/>
                    <a:p>
                      <a:r>
                        <a:rPr sz="2175" b="0">
                          <a:solidFill>
                            <a:srgbClr val="16234B"/>
                          </a:solidFill>
                          <a:latin typeface="Helvetica Neue"/>
                          <a:ea typeface="Helvetica Neue"/>
                          <a:cs typeface="Helvetica Neue"/>
                        </a:rPr>
                        <a:t>A: historical context</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175" b="0">
                          <a:solidFill>
                            <a:srgbClr val="16234B"/>
                          </a:solidFill>
                          <a:latin typeface="Helvetica Neue"/>
                          <a:ea typeface="Helvetica Neue"/>
                          <a:cs typeface="Helvetica Neue"/>
                        </a:rPr>
                        <a:t>Ongoing personal monitoring</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175" b="0">
                          <a:solidFill>
                            <a:srgbClr val="16234B"/>
                          </a:solidFill>
                          <a:latin typeface="Helvetica Neue"/>
                          <a:ea typeface="Helvetica Neue"/>
                          <a:cs typeface="Helvetica Neue"/>
                        </a:rPr>
                        <a:t>Repeated use over weeks, beyond a stated format preference.</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r h="1381125">
                <a:tc>
                  <a:txBody>
                    <a:bodyPr wrap="square" lIns="0" tIns="0" rIns="0" bIns="0">
                      <a:noAutofit/>
                    </a:bodyPr>
                    <a:lstStyle/>
                    <a:p>
                      <a:r>
                        <a:rPr sz="2175" b="0">
                          <a:solidFill>
                            <a:srgbClr val="16234B"/>
                          </a:solidFill>
                          <a:latin typeface="Helvetica Neue"/>
                          <a:ea typeface="Helvetica Neue"/>
                          <a:cs typeface="Helvetica Neue"/>
                        </a:rPr>
                        <a:t>B: family preparation</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2175" b="0">
                          <a:solidFill>
                            <a:srgbClr val="16234B"/>
                          </a:solidFill>
                          <a:latin typeface="Helvetica Neue"/>
                          <a:ea typeface="Helvetica Neue"/>
                          <a:cs typeface="Helvetica Neue"/>
                        </a:rPr>
                        <a:t>Parent and pediatric workflow</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c>
                  <a:txBody>
                    <a:bodyPr wrap="square" lIns="0" tIns="0" rIns="0" bIns="0">
                      <a:noAutofit/>
                    </a:bodyPr>
                    <a:lstStyle/>
                    <a:p>
                      <a:r>
                        <a:rPr sz="2175" b="0">
                          <a:solidFill>
                            <a:srgbClr val="16234B"/>
                          </a:solidFill>
                          <a:latin typeface="Helvetica Neue"/>
                          <a:ea typeface="Helvetica Neue"/>
                          <a:cs typeface="Helvetica Neue"/>
                        </a:rPr>
                        <a:t>Whether parents use the note and complete their chosen follow-up.</a:t>
                      </a:r>
                    </a:p>
                  </a:txBody>
                  <a:tcPr marL="190500" marR="190500" marT="171450" marB="171450" anchor="t">
                    <a:lnR w="9525">
                      <a:solidFill>
                        <a:srgbClr val="D7E2EB"/>
                      </a:solidFill>
                      <a:prstDash val="solid"/>
                    </a:lnR>
                    <a:lnB w="9525">
                      <a:solidFill>
                        <a:srgbClr val="D7E2EB"/>
                      </a:solidFill>
                      <a:prstDash val="solid"/>
                    </a:lnB>
                    <a:solidFill>
                      <a:srgbClr val="EAF1F6"/>
                    </a:solidFill>
                  </a:tcPr>
                </a:tc>
              </a:tr>
              <a:tr h="1381125">
                <a:tc>
                  <a:txBody>
                    <a:bodyPr wrap="square" lIns="0" tIns="0" rIns="0" bIns="0">
                      <a:noAutofit/>
                    </a:bodyPr>
                    <a:lstStyle/>
                    <a:p>
                      <a:r>
                        <a:rPr sz="2175" b="0">
                          <a:solidFill>
                            <a:srgbClr val="16234B"/>
                          </a:solidFill>
                          <a:latin typeface="Helvetica Neue"/>
                          <a:ea typeface="Helvetica Neue"/>
                          <a:cs typeface="Helvetica Neue"/>
                        </a:rPr>
                        <a:t>C: a deadline and plan</a:t>
                      </a:r>
                    </a:p>
                  </a:txBody>
                  <a:tcPr marL="190500" marR="190500" marT="171450" marB="171450" anchor="t">
                    <a:lnL w="9525">
                      <a:solidFill>
                        <a:srgbClr val="D7E2EB"/>
                      </a:solidFill>
                      <a:prstDash val="solid"/>
                    </a:lnL>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175" b="0">
                          <a:solidFill>
                            <a:srgbClr val="16234B"/>
                          </a:solidFill>
                          <a:latin typeface="Helvetica Neue"/>
                          <a:ea typeface="Helvetica Neue"/>
                          <a:cs typeface="Helvetica Neue"/>
                        </a:rPr>
                        <a:t>A focused applicant entry point</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c>
                  <a:txBody>
                    <a:bodyPr wrap="square" lIns="0" tIns="0" rIns="0" bIns="0">
                      <a:noAutofit/>
                    </a:bodyPr>
                    <a:lstStyle/>
                    <a:p>
                      <a:r>
                        <a:rPr sz="2175" b="0">
                          <a:solidFill>
                            <a:srgbClr val="16234B"/>
                          </a:solidFill>
                          <a:latin typeface="Helvetica Neue"/>
                          <a:ea typeface="Helvetica Neue"/>
                          <a:cs typeface="Helvetica Neue"/>
                        </a:rPr>
                        <a:t>Use before real DMV visits and separate discovery with agency staff.</a:t>
                      </a:r>
                    </a:p>
                  </a:txBody>
                  <a:tcPr marL="190500" marR="190500" marT="171450" marB="171450" anchor="t">
                    <a:lnR w="9525">
                      <a:solidFill>
                        <a:srgbClr val="D7E2EB"/>
                      </a:solidFill>
                      <a:prstDash val="solid"/>
                    </a:lnR>
                    <a:lnB w="9525">
                      <a:solidFill>
                        <a:srgbClr val="D7E2EB"/>
                      </a:solidFill>
                      <a:prstDash val="solid"/>
                    </a:lnB>
                    <a:solidFill>
                      <a:srgbClr val="FFFFFF"/>
                    </a:solidFill>
                  </a:tcPr>
                </a:tc>
              </a:tr>
            </a:tbl>
          </a:graphicData>
        </a:graphic>
      </p:graphicFrame>
      <p:sp>
        <p:nvSpPr>
          <p:cNvPr id="4" name="Class preference informs the next experiment. Persona-specific ev">
            <a:extLst xmlns:a="http://schemas.openxmlformats.org/drawingml/2006/main">
              <a:ext uri="{FF2B5EF4-FFF2-40B4-BE49-F238E27FC236}">
                <a16:creationId xmlns:a16="http://schemas.microsoft.com/office/drawing/2014/main" id="{1010FEED-EA27-4FE4-8835-A1037987540B}"/>
              </a:ext>
            </a:extLst>
          </p:cNvPr>
          <p:cNvSpPr>
            <a:spLocks xmlns:a="http://schemas.openxmlformats.org/drawingml/2006/main" noGrp="1"/>
          </p:cNvSpPr>
          <p:nvPr/>
        </p:nvSpPr>
        <p:spPr>
          <a:xfrm xmlns:a="http://schemas.openxmlformats.org/drawingml/2006/main">
            <a:off x="762000" y="7581900"/>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27A"/>
                </a:solidFill>
                <a:latin typeface="Helvetica Neue"/>
                <a:ea typeface="Helvetica Neue"/>
                <a:cs typeface="Helvetica Neue"/>
              </a:defRPr>
            </a:defPPr>
            <a:lvl1pPr algn="l">
              <a:defRPr sz="1950" b="0">
                <a:solidFill>
                  <a:srgbClr val="53627A"/>
                </a:solidFill>
                <a:latin typeface="Helvetica Neue"/>
                <a:ea typeface="Helvetica Neue"/>
                <a:cs typeface="Helvetica Neue"/>
              </a:defRPr>
            </a:lvl1pPr>
            <a:lvl2pPr algn="l">
              <a:defRPr sz="1950" b="0">
                <a:solidFill>
                  <a:srgbClr val="53627A"/>
                </a:solidFill>
                <a:latin typeface="Helvetica Neue"/>
                <a:ea typeface="Helvetica Neue"/>
                <a:cs typeface="Helvetica Neue"/>
              </a:defRPr>
            </a:lvl2pPr>
            <a:lvl3pPr algn="l">
              <a:defRPr sz="1950" b="0">
                <a:solidFill>
                  <a:srgbClr val="53627A"/>
                </a:solidFill>
                <a:latin typeface="Helvetica Neue"/>
                <a:ea typeface="Helvetica Neue"/>
                <a:cs typeface="Helvetica Neue"/>
              </a:defRPr>
            </a:lvl3pPr>
            <a:lvl4pPr algn="l">
              <a:defRPr sz="1950" b="0">
                <a:solidFill>
                  <a:srgbClr val="53627A"/>
                </a:solidFill>
                <a:latin typeface="Helvetica Neue"/>
                <a:ea typeface="Helvetica Neue"/>
                <a:cs typeface="Helvetica Neue"/>
              </a:defRPr>
            </a:lvl4pPr>
            <a:lvl5pPr algn="l">
              <a:defRPr sz="1950" b="0">
                <a:solidFill>
                  <a:srgbClr val="53627A"/>
                </a:solidFill>
                <a:latin typeface="Helvetica Neue"/>
                <a:ea typeface="Helvetica Neue"/>
                <a:cs typeface="Helvetica Neue"/>
              </a:defRPr>
            </a:lvl5pPr>
            <a:lvl6pPr algn="l">
              <a:defRPr sz="1950" b="0">
                <a:solidFill>
                  <a:srgbClr val="53627A"/>
                </a:solidFill>
                <a:latin typeface="Helvetica Neue"/>
                <a:ea typeface="Helvetica Neue"/>
                <a:cs typeface="Helvetica Neue"/>
              </a:defRPr>
            </a:lvl6pPr>
            <a:lvl7pPr algn="l">
              <a:defRPr sz="1950" b="0">
                <a:solidFill>
                  <a:srgbClr val="53627A"/>
                </a:solidFill>
                <a:latin typeface="Helvetica Neue"/>
                <a:ea typeface="Helvetica Neue"/>
                <a:cs typeface="Helvetica Neue"/>
              </a:defRPr>
            </a:lvl7pPr>
            <a:lvl8pPr algn="l">
              <a:defRPr sz="1950" b="0">
                <a:solidFill>
                  <a:srgbClr val="53627A"/>
                </a:solidFill>
                <a:latin typeface="Helvetica Neue"/>
                <a:ea typeface="Helvetica Neue"/>
                <a:cs typeface="Helvetica Neue"/>
              </a:defRPr>
            </a:lvl8pPr>
            <a:lvl9pPr algn="l">
              <a:defRPr sz="1950" b="0">
                <a:solidFill>
                  <a:srgbClr val="53627A"/>
                </a:solidFill>
                <a:latin typeface="Helvetica Neue"/>
                <a:ea typeface="Helvetica Neue"/>
                <a:cs typeface="Helvetica Neue"/>
              </a:defRPr>
            </a:lvl9pPr>
          </a:lstStyle>
          <a:p xmlns:a="http://schemas.openxmlformats.org/drawingml/2006/main">
            <a:pPr algn="l">
              <a:defRPr sz="1950" b="0">
                <a:solidFill>
                  <a:srgbClr val="53627A"/>
                </a:solidFill>
                <a:latin typeface="Helvetica Neue"/>
                <a:ea typeface="Helvetica Neue"/>
                <a:cs typeface="Helvetica Neue"/>
              </a:defRPr>
            </a:pPr>
            <a:r>
              <a:rPr sz="1950" b="0">
                <a:solidFill>
                  <a:srgbClr val="53627A"/>
                </a:solidFill>
                <a:latin typeface="Helvetica Neue"/>
                <a:ea typeface="Helvetica Neue"/>
                <a:cs typeface="Helvetica Neue"/>
              </a:rPr>
              <a:t>Class preference informs the next experiment. Persona-specific evidence must support the direction.</a:t>
            </a:r>
          </a:p>
        </p:txBody>
      </p:sp>
    </p:spTree>
    <p:extLst>
      <p:ext uri="{BB962C8B-B14F-4D97-AF65-F5344CB8AC3E}">
        <p14:creationId xmlns:p14="http://schemas.microsoft.com/office/powerpoint/2010/main" val="1987434038"/>
      </p:ext>
    </p:extLst>
  </p:cSld>
</p:sld>
</file>

<file path=ppt/slides/slide13.xml><?xml version="1.0" encoding="utf-8"?>
<p:sld xmlns:p="http://schemas.openxmlformats.org/presentationml/2006/main">
  <p:cSld>
    <p:bg>
      <p:bgPr>
        <a:solidFill xmlns:a="http://schemas.openxmlformats.org/drawingml/2006/main">
          <a:srgbClr val="16234B"/>
        </a:solidFill>
      </p:bgPr>
    </p:bg>
    <p:spTree>
      <p:nvGrpSpPr>
        <p:cNvPr id="1" name=""/>
        <p:cNvGrpSpPr/>
        <p:nvPr/>
      </p:nvGrpSpPr>
      <p:grpSpPr>
        <a:xfrm xmlns:a="http://schemas.openxmlformats.org/drawingml/2006/main"/>
      </p:grpSpPr>
      <p:sp>
        <p:nvSpPr>
          <p:cNvPr id="12" name="Which would you actually use?">
            <a:extLst xmlns:a="http://schemas.openxmlformats.org/drawingml/2006/main">
              <a:ext uri="{FF2B5EF4-FFF2-40B4-BE49-F238E27FC236}">
                <a16:creationId xmlns:a16="http://schemas.microsoft.com/office/drawing/2014/main" id="{EB82D692-C365-48A9-8531-CB24DFA64634}"/>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vl1pPr algn="l">
              <a:defRPr sz="4200" b="1">
                <a:solidFill>
                  <a:srgbClr val="FFFFFF"/>
                </a:solidFill>
                <a:latin typeface="Helvetica Neue"/>
                <a:ea typeface="Helvetica Neue"/>
                <a:cs typeface="Helvetica Neue"/>
              </a:defRPr>
            </a:lvl1pPr>
            <a:lvl2pPr algn="l">
              <a:defRPr sz="4200" b="1">
                <a:solidFill>
                  <a:srgbClr val="FFFFFF"/>
                </a:solidFill>
                <a:latin typeface="Helvetica Neue"/>
                <a:ea typeface="Helvetica Neue"/>
                <a:cs typeface="Helvetica Neue"/>
              </a:defRPr>
            </a:lvl2pPr>
            <a:lvl3pPr algn="l">
              <a:defRPr sz="4200" b="1">
                <a:solidFill>
                  <a:srgbClr val="FFFFFF"/>
                </a:solidFill>
                <a:latin typeface="Helvetica Neue"/>
                <a:ea typeface="Helvetica Neue"/>
                <a:cs typeface="Helvetica Neue"/>
              </a:defRPr>
            </a:lvl3pPr>
            <a:lvl4pPr algn="l">
              <a:defRPr sz="4200" b="1">
                <a:solidFill>
                  <a:srgbClr val="FFFFFF"/>
                </a:solidFill>
                <a:latin typeface="Helvetica Neue"/>
                <a:ea typeface="Helvetica Neue"/>
                <a:cs typeface="Helvetica Neue"/>
              </a:defRPr>
            </a:lvl4pPr>
            <a:lvl5pPr algn="l">
              <a:defRPr sz="4200" b="1">
                <a:solidFill>
                  <a:srgbClr val="FFFFFF"/>
                </a:solidFill>
                <a:latin typeface="Helvetica Neue"/>
                <a:ea typeface="Helvetica Neue"/>
                <a:cs typeface="Helvetica Neue"/>
              </a:defRPr>
            </a:lvl5pPr>
            <a:lvl6pPr algn="l">
              <a:defRPr sz="4200" b="1">
                <a:solidFill>
                  <a:srgbClr val="FFFFFF"/>
                </a:solidFill>
                <a:latin typeface="Helvetica Neue"/>
                <a:ea typeface="Helvetica Neue"/>
                <a:cs typeface="Helvetica Neue"/>
              </a:defRPr>
            </a:lvl6pPr>
            <a:lvl7pPr algn="l">
              <a:defRPr sz="4200" b="1">
                <a:solidFill>
                  <a:srgbClr val="FFFFFF"/>
                </a:solidFill>
                <a:latin typeface="Helvetica Neue"/>
                <a:ea typeface="Helvetica Neue"/>
                <a:cs typeface="Helvetica Neue"/>
              </a:defRPr>
            </a:lvl7pPr>
            <a:lvl8pPr algn="l">
              <a:defRPr sz="4200" b="1">
                <a:solidFill>
                  <a:srgbClr val="FFFFFF"/>
                </a:solidFill>
                <a:latin typeface="Helvetica Neue"/>
                <a:ea typeface="Helvetica Neue"/>
                <a:cs typeface="Helvetica Neue"/>
              </a:defRPr>
            </a:lvl8pPr>
            <a:lvl9pPr algn="l">
              <a:defRPr sz="4200" b="1">
                <a:solidFill>
                  <a:srgbClr val="FFFFFF"/>
                </a:solidFill>
                <a:latin typeface="Helvetica Neue"/>
                <a:ea typeface="Helvetica Neue"/>
                <a:cs typeface="Helvetica Neue"/>
              </a:defRPr>
            </a:lvl9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Which would you actually use?</a:t>
            </a:r>
          </a:p>
        </p:txBody>
      </p:sp>
      <p:sp>
        <p:nvSpPr>
          <p:cNvPr id="2" name="13">
            <a:extLst xmlns:a="http://schemas.openxmlformats.org/drawingml/2006/main">
              <a:ext uri="{FF2B5EF4-FFF2-40B4-BE49-F238E27FC236}">
                <a16:creationId xmlns:a16="http://schemas.microsoft.com/office/drawing/2014/main" id="{6125D82E-A263-402A-9273-7AF158D62E95}"/>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C0D0E3"/>
                </a:solidFill>
                <a:latin typeface="Helvetica Neue"/>
                <a:ea typeface="Helvetica Neue"/>
                <a:cs typeface="Helvetica Neue"/>
              </a:defRPr>
            </a:defPPr>
            <a:lvl1pPr algn="r">
              <a:defRPr sz="1350" b="0">
                <a:solidFill>
                  <a:srgbClr val="C0D0E3"/>
                </a:solidFill>
                <a:latin typeface="Helvetica Neue"/>
                <a:ea typeface="Helvetica Neue"/>
                <a:cs typeface="Helvetica Neue"/>
              </a:defRPr>
            </a:lvl1pPr>
            <a:lvl2pPr algn="r">
              <a:defRPr sz="1350" b="0">
                <a:solidFill>
                  <a:srgbClr val="C0D0E3"/>
                </a:solidFill>
                <a:latin typeface="Helvetica Neue"/>
                <a:ea typeface="Helvetica Neue"/>
                <a:cs typeface="Helvetica Neue"/>
              </a:defRPr>
            </a:lvl2pPr>
            <a:lvl3pPr algn="r">
              <a:defRPr sz="1350" b="0">
                <a:solidFill>
                  <a:srgbClr val="C0D0E3"/>
                </a:solidFill>
                <a:latin typeface="Helvetica Neue"/>
                <a:ea typeface="Helvetica Neue"/>
                <a:cs typeface="Helvetica Neue"/>
              </a:defRPr>
            </a:lvl3pPr>
            <a:lvl4pPr algn="r">
              <a:defRPr sz="1350" b="0">
                <a:solidFill>
                  <a:srgbClr val="C0D0E3"/>
                </a:solidFill>
                <a:latin typeface="Helvetica Neue"/>
                <a:ea typeface="Helvetica Neue"/>
                <a:cs typeface="Helvetica Neue"/>
              </a:defRPr>
            </a:lvl4pPr>
            <a:lvl5pPr algn="r">
              <a:defRPr sz="1350" b="0">
                <a:solidFill>
                  <a:srgbClr val="C0D0E3"/>
                </a:solidFill>
                <a:latin typeface="Helvetica Neue"/>
                <a:ea typeface="Helvetica Neue"/>
                <a:cs typeface="Helvetica Neue"/>
              </a:defRPr>
            </a:lvl5pPr>
            <a:lvl6pPr algn="r">
              <a:defRPr sz="1350" b="0">
                <a:solidFill>
                  <a:srgbClr val="C0D0E3"/>
                </a:solidFill>
                <a:latin typeface="Helvetica Neue"/>
                <a:ea typeface="Helvetica Neue"/>
                <a:cs typeface="Helvetica Neue"/>
              </a:defRPr>
            </a:lvl6pPr>
            <a:lvl7pPr algn="r">
              <a:defRPr sz="1350" b="0">
                <a:solidFill>
                  <a:srgbClr val="C0D0E3"/>
                </a:solidFill>
                <a:latin typeface="Helvetica Neue"/>
                <a:ea typeface="Helvetica Neue"/>
                <a:cs typeface="Helvetica Neue"/>
              </a:defRPr>
            </a:lvl7pPr>
            <a:lvl8pPr algn="r">
              <a:defRPr sz="1350" b="0">
                <a:solidFill>
                  <a:srgbClr val="C0D0E3"/>
                </a:solidFill>
                <a:latin typeface="Helvetica Neue"/>
                <a:ea typeface="Helvetica Neue"/>
                <a:cs typeface="Helvetica Neue"/>
              </a:defRPr>
            </a:lvl8pPr>
            <a:lvl9pPr algn="r">
              <a:defRPr sz="1350" b="0">
                <a:solidFill>
                  <a:srgbClr val="C0D0E3"/>
                </a:solidFill>
                <a:latin typeface="Helvetica Neue"/>
                <a:ea typeface="Helvetica Neue"/>
                <a:cs typeface="Helvetica Neue"/>
              </a:defRPr>
            </a:lvl9pPr>
          </a:lstStyle>
          <a:p xmlns:a="http://schemas.openxmlformats.org/drawingml/2006/main">
            <a:pPr algn="r">
              <a:defRPr sz="1350" b="0">
                <a:solidFill>
                  <a:srgbClr val="C0D0E3"/>
                </a:solidFill>
                <a:latin typeface="Helvetica Neue"/>
                <a:ea typeface="Helvetica Neue"/>
                <a:cs typeface="Helvetica Neue"/>
              </a:defRPr>
            </a:pPr>
            <a:r>
              <a:rPr sz="1350" b="0">
                <a:solidFill>
                  <a:srgbClr val="C0D0E3"/>
                </a:solidFill>
                <a:latin typeface="Helvetica Neue"/>
                <a:ea typeface="Helvetica Neue"/>
                <a:cs typeface="Helvetica Neue"/>
              </a:rPr>
              <a:t>13</a:t>
            </a:r>
          </a:p>
        </p:txBody>
      </p:sp>
      <p:sp>
        <p:nvSpPr>
          <p:cNvPr id="3" name="A">
            <a:extLst xmlns:a="http://schemas.openxmlformats.org/drawingml/2006/main">
              <a:ext uri="{FF2B5EF4-FFF2-40B4-BE49-F238E27FC236}">
                <a16:creationId xmlns:a16="http://schemas.microsoft.com/office/drawing/2014/main" id="{E4E5DABC-75F7-4673-9B91-6D1E9006EE6F}"/>
              </a:ext>
            </a:extLst>
          </p:cNvPr>
          <p:cNvSpPr>
            <a:spLocks xmlns:a="http://schemas.openxmlformats.org/drawingml/2006/main" noGrp="1"/>
          </p:cNvSpPr>
          <p:nvPr/>
        </p:nvSpPr>
        <p:spPr>
          <a:xfrm xmlns:a="http://schemas.openxmlformats.org/drawingml/2006/main">
            <a:off x="809625" y="2581275"/>
            <a:ext cx="114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1">
                <a:solidFill>
                  <a:srgbClr val="65B7DF"/>
                </a:solidFill>
                <a:latin typeface="Helvetica Neue"/>
                <a:ea typeface="Helvetica Neue"/>
                <a:cs typeface="Helvetica Neue"/>
              </a:defRPr>
            </a:defPPr>
            <a:lvl1pPr algn="l">
              <a:defRPr sz="5925" b="1">
                <a:solidFill>
                  <a:srgbClr val="65B7DF"/>
                </a:solidFill>
                <a:latin typeface="Helvetica Neue"/>
                <a:ea typeface="Helvetica Neue"/>
                <a:cs typeface="Helvetica Neue"/>
              </a:defRPr>
            </a:lvl1pPr>
            <a:lvl2pPr algn="l">
              <a:defRPr sz="5925" b="1">
                <a:solidFill>
                  <a:srgbClr val="65B7DF"/>
                </a:solidFill>
                <a:latin typeface="Helvetica Neue"/>
                <a:ea typeface="Helvetica Neue"/>
                <a:cs typeface="Helvetica Neue"/>
              </a:defRPr>
            </a:lvl2pPr>
            <a:lvl3pPr algn="l">
              <a:defRPr sz="5925" b="1">
                <a:solidFill>
                  <a:srgbClr val="65B7DF"/>
                </a:solidFill>
                <a:latin typeface="Helvetica Neue"/>
                <a:ea typeface="Helvetica Neue"/>
                <a:cs typeface="Helvetica Neue"/>
              </a:defRPr>
            </a:lvl3pPr>
            <a:lvl4pPr algn="l">
              <a:defRPr sz="5925" b="1">
                <a:solidFill>
                  <a:srgbClr val="65B7DF"/>
                </a:solidFill>
                <a:latin typeface="Helvetica Neue"/>
                <a:ea typeface="Helvetica Neue"/>
                <a:cs typeface="Helvetica Neue"/>
              </a:defRPr>
            </a:lvl4pPr>
            <a:lvl5pPr algn="l">
              <a:defRPr sz="5925" b="1">
                <a:solidFill>
                  <a:srgbClr val="65B7DF"/>
                </a:solidFill>
                <a:latin typeface="Helvetica Neue"/>
                <a:ea typeface="Helvetica Neue"/>
                <a:cs typeface="Helvetica Neue"/>
              </a:defRPr>
            </a:lvl5pPr>
            <a:lvl6pPr algn="l">
              <a:defRPr sz="5925" b="1">
                <a:solidFill>
                  <a:srgbClr val="65B7DF"/>
                </a:solidFill>
                <a:latin typeface="Helvetica Neue"/>
                <a:ea typeface="Helvetica Neue"/>
                <a:cs typeface="Helvetica Neue"/>
              </a:defRPr>
            </a:lvl6pPr>
            <a:lvl7pPr algn="l">
              <a:defRPr sz="5925" b="1">
                <a:solidFill>
                  <a:srgbClr val="65B7DF"/>
                </a:solidFill>
                <a:latin typeface="Helvetica Neue"/>
                <a:ea typeface="Helvetica Neue"/>
                <a:cs typeface="Helvetica Neue"/>
              </a:defRPr>
            </a:lvl7pPr>
            <a:lvl8pPr algn="l">
              <a:defRPr sz="5925" b="1">
                <a:solidFill>
                  <a:srgbClr val="65B7DF"/>
                </a:solidFill>
                <a:latin typeface="Helvetica Neue"/>
                <a:ea typeface="Helvetica Neue"/>
                <a:cs typeface="Helvetica Neue"/>
              </a:defRPr>
            </a:lvl8pPr>
            <a:lvl9pPr algn="l">
              <a:defRPr sz="5925" b="1">
                <a:solidFill>
                  <a:srgbClr val="65B7DF"/>
                </a:solidFill>
                <a:latin typeface="Helvetica Neue"/>
                <a:ea typeface="Helvetica Neue"/>
                <a:cs typeface="Helvetica Neue"/>
              </a:defRPr>
            </a:lvl9pPr>
          </a:lstStyle>
          <a:p xmlns:a="http://schemas.openxmlformats.org/drawingml/2006/main">
            <a:pPr algn="l">
              <a:defRPr sz="5925" b="1">
                <a:solidFill>
                  <a:srgbClr val="65B7DF"/>
                </a:solidFill>
                <a:latin typeface="Helvetica Neue"/>
                <a:ea typeface="Helvetica Neue"/>
                <a:cs typeface="Helvetica Neue"/>
              </a:defRPr>
            </a:pPr>
            <a:r>
              <a:rPr sz="5925" b="1">
                <a:solidFill>
                  <a:srgbClr val="65B7DF"/>
                </a:solidFill>
                <a:latin typeface="Helvetica Neue"/>
                <a:ea typeface="Helvetica Neue"/>
                <a:cs typeface="Helvetica Neue"/>
              </a:rPr>
              <a:t>A</a:t>
            </a:r>
          </a:p>
        </p:txBody>
      </p:sp>
      <p:sp>
        <p:nvSpPr>
          <p:cNvPr id="4" name="Focal Monitor">
            <a:extLst xmlns:a="http://schemas.openxmlformats.org/drawingml/2006/main">
              <a:ext uri="{FF2B5EF4-FFF2-40B4-BE49-F238E27FC236}">
                <a16:creationId xmlns:a16="http://schemas.microsoft.com/office/drawing/2014/main" id="{9D3F5FF5-0CFE-4AC7-96BD-FD0A15732DF8}"/>
              </a:ext>
            </a:extLst>
          </p:cNvPr>
          <p:cNvSpPr>
            <a:spLocks xmlns:a="http://schemas.openxmlformats.org/drawingml/2006/main" noGrp="1"/>
          </p:cNvSpPr>
          <p:nvPr/>
        </p:nvSpPr>
        <p:spPr>
          <a:xfrm xmlns:a="http://schemas.openxmlformats.org/drawingml/2006/main">
            <a:off x="2409825" y="264795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Helvetica Neue"/>
                <a:ea typeface="Helvetica Neue"/>
                <a:cs typeface="Helvetica Neue"/>
              </a:defRPr>
            </a:defPPr>
            <a:lvl1pPr algn="l">
              <a:defRPr sz="3600" b="1">
                <a:solidFill>
                  <a:srgbClr val="FFFFFF"/>
                </a:solidFill>
                <a:latin typeface="Helvetica Neue"/>
                <a:ea typeface="Helvetica Neue"/>
                <a:cs typeface="Helvetica Neue"/>
              </a:defRPr>
            </a:lvl1pPr>
            <a:lvl2pPr algn="l">
              <a:defRPr sz="3600" b="1">
                <a:solidFill>
                  <a:srgbClr val="FFFFFF"/>
                </a:solidFill>
                <a:latin typeface="Helvetica Neue"/>
                <a:ea typeface="Helvetica Neue"/>
                <a:cs typeface="Helvetica Neue"/>
              </a:defRPr>
            </a:lvl2pPr>
            <a:lvl3pPr algn="l">
              <a:defRPr sz="3600" b="1">
                <a:solidFill>
                  <a:srgbClr val="FFFFFF"/>
                </a:solidFill>
                <a:latin typeface="Helvetica Neue"/>
                <a:ea typeface="Helvetica Neue"/>
                <a:cs typeface="Helvetica Neue"/>
              </a:defRPr>
            </a:lvl3pPr>
            <a:lvl4pPr algn="l">
              <a:defRPr sz="3600" b="1">
                <a:solidFill>
                  <a:srgbClr val="FFFFFF"/>
                </a:solidFill>
                <a:latin typeface="Helvetica Neue"/>
                <a:ea typeface="Helvetica Neue"/>
                <a:cs typeface="Helvetica Neue"/>
              </a:defRPr>
            </a:lvl4pPr>
            <a:lvl5pPr algn="l">
              <a:defRPr sz="3600" b="1">
                <a:solidFill>
                  <a:srgbClr val="FFFFFF"/>
                </a:solidFill>
                <a:latin typeface="Helvetica Neue"/>
                <a:ea typeface="Helvetica Neue"/>
                <a:cs typeface="Helvetica Neue"/>
              </a:defRPr>
            </a:lvl5pPr>
            <a:lvl6pPr algn="l">
              <a:defRPr sz="3600" b="1">
                <a:solidFill>
                  <a:srgbClr val="FFFFFF"/>
                </a:solidFill>
                <a:latin typeface="Helvetica Neue"/>
                <a:ea typeface="Helvetica Neue"/>
                <a:cs typeface="Helvetica Neue"/>
              </a:defRPr>
            </a:lvl6pPr>
            <a:lvl7pPr algn="l">
              <a:defRPr sz="3600" b="1">
                <a:solidFill>
                  <a:srgbClr val="FFFFFF"/>
                </a:solidFill>
                <a:latin typeface="Helvetica Neue"/>
                <a:ea typeface="Helvetica Neue"/>
                <a:cs typeface="Helvetica Neue"/>
              </a:defRPr>
            </a:lvl7pPr>
            <a:lvl8pPr algn="l">
              <a:defRPr sz="3600" b="1">
                <a:solidFill>
                  <a:srgbClr val="FFFFFF"/>
                </a:solidFill>
                <a:latin typeface="Helvetica Neue"/>
                <a:ea typeface="Helvetica Neue"/>
                <a:cs typeface="Helvetica Neue"/>
              </a:defRPr>
            </a:lvl8pPr>
            <a:lvl9pPr algn="l">
              <a:defRPr sz="3600" b="1">
                <a:solidFill>
                  <a:srgbClr val="FFFFFF"/>
                </a:solidFill>
                <a:latin typeface="Helvetica Neue"/>
                <a:ea typeface="Helvetica Neue"/>
                <a:cs typeface="Helvetica Neue"/>
              </a:defRPr>
            </a:lvl9pPr>
          </a:lstStyle>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Focal Monitor</a:t>
            </a:r>
          </a:p>
        </p:txBody>
      </p:sp>
      <p:sp>
        <p:nvSpPr>
          <p:cNvPr id="5" name="A result in the context of change over time">
            <a:extLst xmlns:a="http://schemas.openxmlformats.org/drawingml/2006/main">
              <a:ext uri="{FF2B5EF4-FFF2-40B4-BE49-F238E27FC236}">
                <a16:creationId xmlns:a16="http://schemas.microsoft.com/office/drawing/2014/main" id="{D5E20FE5-8573-4E78-8637-E8E4358B9787}"/>
              </a:ext>
            </a:extLst>
          </p:cNvPr>
          <p:cNvSpPr>
            <a:spLocks xmlns:a="http://schemas.openxmlformats.org/drawingml/2006/main" noGrp="1"/>
          </p:cNvSpPr>
          <p:nvPr/>
        </p:nvSpPr>
        <p:spPr>
          <a:xfrm xmlns:a="http://schemas.openxmlformats.org/drawingml/2006/main">
            <a:off x="2409825" y="33813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6D7E8"/>
                </a:solidFill>
                <a:latin typeface="Helvetica Neue"/>
                <a:ea typeface="Helvetica Neue"/>
                <a:cs typeface="Helvetica Neue"/>
              </a:defRPr>
            </a:defPPr>
            <a:lvl1pPr algn="l">
              <a:defRPr sz="2325" b="0">
                <a:solidFill>
                  <a:srgbClr val="C6D7E8"/>
                </a:solidFill>
                <a:latin typeface="Helvetica Neue"/>
                <a:ea typeface="Helvetica Neue"/>
                <a:cs typeface="Helvetica Neue"/>
              </a:defRPr>
            </a:lvl1pPr>
            <a:lvl2pPr algn="l">
              <a:defRPr sz="2325" b="0">
                <a:solidFill>
                  <a:srgbClr val="C6D7E8"/>
                </a:solidFill>
                <a:latin typeface="Helvetica Neue"/>
                <a:ea typeface="Helvetica Neue"/>
                <a:cs typeface="Helvetica Neue"/>
              </a:defRPr>
            </a:lvl2pPr>
            <a:lvl3pPr algn="l">
              <a:defRPr sz="2325" b="0">
                <a:solidFill>
                  <a:srgbClr val="C6D7E8"/>
                </a:solidFill>
                <a:latin typeface="Helvetica Neue"/>
                <a:ea typeface="Helvetica Neue"/>
                <a:cs typeface="Helvetica Neue"/>
              </a:defRPr>
            </a:lvl3pPr>
            <a:lvl4pPr algn="l">
              <a:defRPr sz="2325" b="0">
                <a:solidFill>
                  <a:srgbClr val="C6D7E8"/>
                </a:solidFill>
                <a:latin typeface="Helvetica Neue"/>
                <a:ea typeface="Helvetica Neue"/>
                <a:cs typeface="Helvetica Neue"/>
              </a:defRPr>
            </a:lvl4pPr>
            <a:lvl5pPr algn="l">
              <a:defRPr sz="2325" b="0">
                <a:solidFill>
                  <a:srgbClr val="C6D7E8"/>
                </a:solidFill>
                <a:latin typeface="Helvetica Neue"/>
                <a:ea typeface="Helvetica Neue"/>
                <a:cs typeface="Helvetica Neue"/>
              </a:defRPr>
            </a:lvl5pPr>
            <a:lvl6pPr algn="l">
              <a:defRPr sz="2325" b="0">
                <a:solidFill>
                  <a:srgbClr val="C6D7E8"/>
                </a:solidFill>
                <a:latin typeface="Helvetica Neue"/>
                <a:ea typeface="Helvetica Neue"/>
                <a:cs typeface="Helvetica Neue"/>
              </a:defRPr>
            </a:lvl6pPr>
            <a:lvl7pPr algn="l">
              <a:defRPr sz="2325" b="0">
                <a:solidFill>
                  <a:srgbClr val="C6D7E8"/>
                </a:solidFill>
                <a:latin typeface="Helvetica Neue"/>
                <a:ea typeface="Helvetica Neue"/>
                <a:cs typeface="Helvetica Neue"/>
              </a:defRPr>
            </a:lvl7pPr>
            <a:lvl8pPr algn="l">
              <a:defRPr sz="2325" b="0">
                <a:solidFill>
                  <a:srgbClr val="C6D7E8"/>
                </a:solidFill>
                <a:latin typeface="Helvetica Neue"/>
                <a:ea typeface="Helvetica Neue"/>
                <a:cs typeface="Helvetica Neue"/>
              </a:defRPr>
            </a:lvl8pPr>
            <a:lvl9pPr algn="l">
              <a:defRPr sz="2325" b="0">
                <a:solidFill>
                  <a:srgbClr val="C6D7E8"/>
                </a:solidFill>
                <a:latin typeface="Helvetica Neue"/>
                <a:ea typeface="Helvetica Neue"/>
                <a:cs typeface="Helvetica Neue"/>
              </a:defRPr>
            </a:lvl9pPr>
          </a:lstStyle>
          <a:p xmlns:a="http://schemas.openxmlformats.org/drawingml/2006/main">
            <a:pPr algn="l">
              <a:defRPr sz="2325" b="0">
                <a:solidFill>
                  <a:srgbClr val="C6D7E8"/>
                </a:solidFill>
                <a:latin typeface="Helvetica Neue"/>
                <a:ea typeface="Helvetica Neue"/>
                <a:cs typeface="Helvetica Neue"/>
              </a:defRPr>
            </a:pPr>
            <a:r>
              <a:rPr sz="2325" b="0">
                <a:solidFill>
                  <a:srgbClr val="C6D7E8"/>
                </a:solidFill>
                <a:latin typeface="Helvetica Neue"/>
                <a:ea typeface="Helvetica Neue"/>
                <a:cs typeface="Helvetica Neue"/>
              </a:rPr>
              <a:t>A result in the context of change over time</a:t>
            </a:r>
          </a:p>
        </p:txBody>
      </p:sp>
      <p:sp>
        <p:nvSpPr>
          <p:cNvPr id="6" name="B">
            <a:extLst xmlns:a="http://schemas.openxmlformats.org/drawingml/2006/main">
              <a:ext uri="{FF2B5EF4-FFF2-40B4-BE49-F238E27FC236}">
                <a16:creationId xmlns:a16="http://schemas.microsoft.com/office/drawing/2014/main" id="{76235EC3-0C78-4BD9-AD16-04B2338DEF44}"/>
              </a:ext>
            </a:extLst>
          </p:cNvPr>
          <p:cNvSpPr>
            <a:spLocks xmlns:a="http://schemas.openxmlformats.org/drawingml/2006/main" noGrp="1"/>
          </p:cNvSpPr>
          <p:nvPr/>
        </p:nvSpPr>
        <p:spPr>
          <a:xfrm xmlns:a="http://schemas.openxmlformats.org/drawingml/2006/main">
            <a:off x="809625" y="4276725"/>
            <a:ext cx="114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1">
                <a:solidFill>
                  <a:srgbClr val="79B5B4"/>
                </a:solidFill>
                <a:latin typeface="Helvetica Neue"/>
                <a:ea typeface="Helvetica Neue"/>
                <a:cs typeface="Helvetica Neue"/>
              </a:defRPr>
            </a:defPPr>
            <a:lvl1pPr algn="l">
              <a:defRPr sz="5925" b="1">
                <a:solidFill>
                  <a:srgbClr val="79B5B4"/>
                </a:solidFill>
                <a:latin typeface="Helvetica Neue"/>
                <a:ea typeface="Helvetica Neue"/>
                <a:cs typeface="Helvetica Neue"/>
              </a:defRPr>
            </a:lvl1pPr>
            <a:lvl2pPr algn="l">
              <a:defRPr sz="5925" b="1">
                <a:solidFill>
                  <a:srgbClr val="79B5B4"/>
                </a:solidFill>
                <a:latin typeface="Helvetica Neue"/>
                <a:ea typeface="Helvetica Neue"/>
                <a:cs typeface="Helvetica Neue"/>
              </a:defRPr>
            </a:lvl2pPr>
            <a:lvl3pPr algn="l">
              <a:defRPr sz="5925" b="1">
                <a:solidFill>
                  <a:srgbClr val="79B5B4"/>
                </a:solidFill>
                <a:latin typeface="Helvetica Neue"/>
                <a:ea typeface="Helvetica Neue"/>
                <a:cs typeface="Helvetica Neue"/>
              </a:defRPr>
            </a:lvl3pPr>
            <a:lvl4pPr algn="l">
              <a:defRPr sz="5925" b="1">
                <a:solidFill>
                  <a:srgbClr val="79B5B4"/>
                </a:solidFill>
                <a:latin typeface="Helvetica Neue"/>
                <a:ea typeface="Helvetica Neue"/>
                <a:cs typeface="Helvetica Neue"/>
              </a:defRPr>
            </a:lvl4pPr>
            <a:lvl5pPr algn="l">
              <a:defRPr sz="5925" b="1">
                <a:solidFill>
                  <a:srgbClr val="79B5B4"/>
                </a:solidFill>
                <a:latin typeface="Helvetica Neue"/>
                <a:ea typeface="Helvetica Neue"/>
                <a:cs typeface="Helvetica Neue"/>
              </a:defRPr>
            </a:lvl5pPr>
            <a:lvl6pPr algn="l">
              <a:defRPr sz="5925" b="1">
                <a:solidFill>
                  <a:srgbClr val="79B5B4"/>
                </a:solidFill>
                <a:latin typeface="Helvetica Neue"/>
                <a:ea typeface="Helvetica Neue"/>
                <a:cs typeface="Helvetica Neue"/>
              </a:defRPr>
            </a:lvl6pPr>
            <a:lvl7pPr algn="l">
              <a:defRPr sz="5925" b="1">
                <a:solidFill>
                  <a:srgbClr val="79B5B4"/>
                </a:solidFill>
                <a:latin typeface="Helvetica Neue"/>
                <a:ea typeface="Helvetica Neue"/>
                <a:cs typeface="Helvetica Neue"/>
              </a:defRPr>
            </a:lvl7pPr>
            <a:lvl8pPr algn="l">
              <a:defRPr sz="5925" b="1">
                <a:solidFill>
                  <a:srgbClr val="79B5B4"/>
                </a:solidFill>
                <a:latin typeface="Helvetica Neue"/>
                <a:ea typeface="Helvetica Neue"/>
                <a:cs typeface="Helvetica Neue"/>
              </a:defRPr>
            </a:lvl8pPr>
            <a:lvl9pPr algn="l">
              <a:defRPr sz="5925" b="1">
                <a:solidFill>
                  <a:srgbClr val="79B5B4"/>
                </a:solidFill>
                <a:latin typeface="Helvetica Neue"/>
                <a:ea typeface="Helvetica Neue"/>
                <a:cs typeface="Helvetica Neue"/>
              </a:defRPr>
            </a:lvl9pPr>
          </a:lstStyle>
          <a:p xmlns:a="http://schemas.openxmlformats.org/drawingml/2006/main">
            <a:pPr algn="l">
              <a:defRPr sz="5925" b="1">
                <a:solidFill>
                  <a:srgbClr val="79B5B4"/>
                </a:solidFill>
                <a:latin typeface="Helvetica Neue"/>
                <a:ea typeface="Helvetica Neue"/>
                <a:cs typeface="Helvetica Neue"/>
              </a:defRPr>
            </a:pPr>
            <a:r>
              <a:rPr sz="5925" b="1">
                <a:solidFill>
                  <a:srgbClr val="79B5B4"/>
                </a:solidFill>
                <a:latin typeface="Helvetica Neue"/>
                <a:ea typeface="Helvetica Neue"/>
                <a:cs typeface="Helvetica Neue"/>
              </a:rPr>
              <a:t>B</a:t>
            </a:r>
          </a:p>
        </p:txBody>
      </p:sp>
      <p:sp>
        <p:nvSpPr>
          <p:cNvPr id="7" name="Focal Family">
            <a:extLst xmlns:a="http://schemas.openxmlformats.org/drawingml/2006/main">
              <a:ext uri="{FF2B5EF4-FFF2-40B4-BE49-F238E27FC236}">
                <a16:creationId xmlns:a16="http://schemas.microsoft.com/office/drawing/2014/main" id="{487E8CB6-3CA7-43E7-A36A-9E8C249AE7D4}"/>
              </a:ext>
            </a:extLst>
          </p:cNvPr>
          <p:cNvSpPr>
            <a:spLocks xmlns:a="http://schemas.openxmlformats.org/drawingml/2006/main" noGrp="1"/>
          </p:cNvSpPr>
          <p:nvPr/>
        </p:nvSpPr>
        <p:spPr>
          <a:xfrm xmlns:a="http://schemas.openxmlformats.org/drawingml/2006/main">
            <a:off x="2409825" y="434340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Helvetica Neue"/>
                <a:ea typeface="Helvetica Neue"/>
                <a:cs typeface="Helvetica Neue"/>
              </a:defRPr>
            </a:defPPr>
            <a:lvl1pPr algn="l">
              <a:defRPr sz="3600" b="1">
                <a:solidFill>
                  <a:srgbClr val="FFFFFF"/>
                </a:solidFill>
                <a:latin typeface="Helvetica Neue"/>
                <a:ea typeface="Helvetica Neue"/>
                <a:cs typeface="Helvetica Neue"/>
              </a:defRPr>
            </a:lvl1pPr>
            <a:lvl2pPr algn="l">
              <a:defRPr sz="3600" b="1">
                <a:solidFill>
                  <a:srgbClr val="FFFFFF"/>
                </a:solidFill>
                <a:latin typeface="Helvetica Neue"/>
                <a:ea typeface="Helvetica Neue"/>
                <a:cs typeface="Helvetica Neue"/>
              </a:defRPr>
            </a:lvl2pPr>
            <a:lvl3pPr algn="l">
              <a:defRPr sz="3600" b="1">
                <a:solidFill>
                  <a:srgbClr val="FFFFFF"/>
                </a:solidFill>
                <a:latin typeface="Helvetica Neue"/>
                <a:ea typeface="Helvetica Neue"/>
                <a:cs typeface="Helvetica Neue"/>
              </a:defRPr>
            </a:lvl3pPr>
            <a:lvl4pPr algn="l">
              <a:defRPr sz="3600" b="1">
                <a:solidFill>
                  <a:srgbClr val="FFFFFF"/>
                </a:solidFill>
                <a:latin typeface="Helvetica Neue"/>
                <a:ea typeface="Helvetica Neue"/>
                <a:cs typeface="Helvetica Neue"/>
              </a:defRPr>
            </a:lvl4pPr>
            <a:lvl5pPr algn="l">
              <a:defRPr sz="3600" b="1">
                <a:solidFill>
                  <a:srgbClr val="FFFFFF"/>
                </a:solidFill>
                <a:latin typeface="Helvetica Neue"/>
                <a:ea typeface="Helvetica Neue"/>
                <a:cs typeface="Helvetica Neue"/>
              </a:defRPr>
            </a:lvl5pPr>
            <a:lvl6pPr algn="l">
              <a:defRPr sz="3600" b="1">
                <a:solidFill>
                  <a:srgbClr val="FFFFFF"/>
                </a:solidFill>
                <a:latin typeface="Helvetica Neue"/>
                <a:ea typeface="Helvetica Neue"/>
                <a:cs typeface="Helvetica Neue"/>
              </a:defRPr>
            </a:lvl6pPr>
            <a:lvl7pPr algn="l">
              <a:defRPr sz="3600" b="1">
                <a:solidFill>
                  <a:srgbClr val="FFFFFF"/>
                </a:solidFill>
                <a:latin typeface="Helvetica Neue"/>
                <a:ea typeface="Helvetica Neue"/>
                <a:cs typeface="Helvetica Neue"/>
              </a:defRPr>
            </a:lvl7pPr>
            <a:lvl8pPr algn="l">
              <a:defRPr sz="3600" b="1">
                <a:solidFill>
                  <a:srgbClr val="FFFFFF"/>
                </a:solidFill>
                <a:latin typeface="Helvetica Neue"/>
                <a:ea typeface="Helvetica Neue"/>
                <a:cs typeface="Helvetica Neue"/>
              </a:defRPr>
            </a:lvl8pPr>
            <a:lvl9pPr algn="l">
              <a:defRPr sz="3600" b="1">
                <a:solidFill>
                  <a:srgbClr val="FFFFFF"/>
                </a:solidFill>
                <a:latin typeface="Helvetica Neue"/>
                <a:ea typeface="Helvetica Neue"/>
                <a:cs typeface="Helvetica Neue"/>
              </a:defRPr>
            </a:lvl9pPr>
          </a:lstStyle>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Focal Family</a:t>
            </a:r>
          </a:p>
        </p:txBody>
      </p:sp>
      <p:sp>
        <p:nvSpPr>
          <p:cNvPr id="8" name="A shared activity and a prepared parent conversation">
            <a:extLst xmlns:a="http://schemas.openxmlformats.org/drawingml/2006/main">
              <a:ext uri="{FF2B5EF4-FFF2-40B4-BE49-F238E27FC236}">
                <a16:creationId xmlns:a16="http://schemas.microsoft.com/office/drawing/2014/main" id="{C488783A-B48E-468A-81BA-75DFBF543582}"/>
              </a:ext>
            </a:extLst>
          </p:cNvPr>
          <p:cNvSpPr>
            <a:spLocks xmlns:a="http://schemas.openxmlformats.org/drawingml/2006/main" noGrp="1"/>
          </p:cNvSpPr>
          <p:nvPr/>
        </p:nvSpPr>
        <p:spPr>
          <a:xfrm xmlns:a="http://schemas.openxmlformats.org/drawingml/2006/main">
            <a:off x="2409825" y="507682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6D7E8"/>
                </a:solidFill>
                <a:latin typeface="Helvetica Neue"/>
                <a:ea typeface="Helvetica Neue"/>
                <a:cs typeface="Helvetica Neue"/>
              </a:defRPr>
            </a:defPPr>
            <a:lvl1pPr algn="l">
              <a:defRPr sz="2325" b="0">
                <a:solidFill>
                  <a:srgbClr val="C6D7E8"/>
                </a:solidFill>
                <a:latin typeface="Helvetica Neue"/>
                <a:ea typeface="Helvetica Neue"/>
                <a:cs typeface="Helvetica Neue"/>
              </a:defRPr>
            </a:lvl1pPr>
            <a:lvl2pPr algn="l">
              <a:defRPr sz="2325" b="0">
                <a:solidFill>
                  <a:srgbClr val="C6D7E8"/>
                </a:solidFill>
                <a:latin typeface="Helvetica Neue"/>
                <a:ea typeface="Helvetica Neue"/>
                <a:cs typeface="Helvetica Neue"/>
              </a:defRPr>
            </a:lvl2pPr>
            <a:lvl3pPr algn="l">
              <a:defRPr sz="2325" b="0">
                <a:solidFill>
                  <a:srgbClr val="C6D7E8"/>
                </a:solidFill>
                <a:latin typeface="Helvetica Neue"/>
                <a:ea typeface="Helvetica Neue"/>
                <a:cs typeface="Helvetica Neue"/>
              </a:defRPr>
            </a:lvl3pPr>
            <a:lvl4pPr algn="l">
              <a:defRPr sz="2325" b="0">
                <a:solidFill>
                  <a:srgbClr val="C6D7E8"/>
                </a:solidFill>
                <a:latin typeface="Helvetica Neue"/>
                <a:ea typeface="Helvetica Neue"/>
                <a:cs typeface="Helvetica Neue"/>
              </a:defRPr>
            </a:lvl4pPr>
            <a:lvl5pPr algn="l">
              <a:defRPr sz="2325" b="0">
                <a:solidFill>
                  <a:srgbClr val="C6D7E8"/>
                </a:solidFill>
                <a:latin typeface="Helvetica Neue"/>
                <a:ea typeface="Helvetica Neue"/>
                <a:cs typeface="Helvetica Neue"/>
              </a:defRPr>
            </a:lvl5pPr>
            <a:lvl6pPr algn="l">
              <a:defRPr sz="2325" b="0">
                <a:solidFill>
                  <a:srgbClr val="C6D7E8"/>
                </a:solidFill>
                <a:latin typeface="Helvetica Neue"/>
                <a:ea typeface="Helvetica Neue"/>
                <a:cs typeface="Helvetica Neue"/>
              </a:defRPr>
            </a:lvl6pPr>
            <a:lvl7pPr algn="l">
              <a:defRPr sz="2325" b="0">
                <a:solidFill>
                  <a:srgbClr val="C6D7E8"/>
                </a:solidFill>
                <a:latin typeface="Helvetica Neue"/>
                <a:ea typeface="Helvetica Neue"/>
                <a:cs typeface="Helvetica Neue"/>
              </a:defRPr>
            </a:lvl7pPr>
            <a:lvl8pPr algn="l">
              <a:defRPr sz="2325" b="0">
                <a:solidFill>
                  <a:srgbClr val="C6D7E8"/>
                </a:solidFill>
                <a:latin typeface="Helvetica Neue"/>
                <a:ea typeface="Helvetica Neue"/>
                <a:cs typeface="Helvetica Neue"/>
              </a:defRPr>
            </a:lvl8pPr>
            <a:lvl9pPr algn="l">
              <a:defRPr sz="2325" b="0">
                <a:solidFill>
                  <a:srgbClr val="C6D7E8"/>
                </a:solidFill>
                <a:latin typeface="Helvetica Neue"/>
                <a:ea typeface="Helvetica Neue"/>
                <a:cs typeface="Helvetica Neue"/>
              </a:defRPr>
            </a:lvl9pPr>
          </a:lstStyle>
          <a:p xmlns:a="http://schemas.openxmlformats.org/drawingml/2006/main">
            <a:pPr algn="l">
              <a:defRPr sz="2325" b="0">
                <a:solidFill>
                  <a:srgbClr val="C6D7E8"/>
                </a:solidFill>
                <a:latin typeface="Helvetica Neue"/>
                <a:ea typeface="Helvetica Neue"/>
                <a:cs typeface="Helvetica Neue"/>
              </a:defRPr>
            </a:pPr>
            <a:r>
              <a:rPr sz="2325" b="0">
                <a:solidFill>
                  <a:srgbClr val="C6D7E8"/>
                </a:solidFill>
                <a:latin typeface="Helvetica Neue"/>
                <a:ea typeface="Helvetica Neue"/>
                <a:cs typeface="Helvetica Neue"/>
              </a:rPr>
              <a:t>A shared activity and a prepared parent conversation</a:t>
            </a:r>
          </a:p>
        </p:txBody>
      </p:sp>
      <p:sp>
        <p:nvSpPr>
          <p:cNvPr id="9" name="C">
            <a:extLst xmlns:a="http://schemas.openxmlformats.org/drawingml/2006/main">
              <a:ext uri="{FF2B5EF4-FFF2-40B4-BE49-F238E27FC236}">
                <a16:creationId xmlns:a16="http://schemas.microsoft.com/office/drawing/2014/main" id="{DC470AFA-2B78-4AEE-A880-CC789DF1FC02}"/>
              </a:ext>
            </a:extLst>
          </p:cNvPr>
          <p:cNvSpPr>
            <a:spLocks xmlns:a="http://schemas.openxmlformats.org/drawingml/2006/main" noGrp="1"/>
          </p:cNvSpPr>
          <p:nvPr/>
        </p:nvSpPr>
        <p:spPr>
          <a:xfrm xmlns:a="http://schemas.openxmlformats.org/drawingml/2006/main">
            <a:off x="809625" y="5972175"/>
            <a:ext cx="114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1">
                <a:solidFill>
                  <a:srgbClr val="E6A18E"/>
                </a:solidFill>
                <a:latin typeface="Helvetica Neue"/>
                <a:ea typeface="Helvetica Neue"/>
                <a:cs typeface="Helvetica Neue"/>
              </a:defRPr>
            </a:defPPr>
            <a:lvl1pPr algn="l">
              <a:defRPr sz="5925" b="1">
                <a:solidFill>
                  <a:srgbClr val="E6A18E"/>
                </a:solidFill>
                <a:latin typeface="Helvetica Neue"/>
                <a:ea typeface="Helvetica Neue"/>
                <a:cs typeface="Helvetica Neue"/>
              </a:defRPr>
            </a:lvl1pPr>
            <a:lvl2pPr algn="l">
              <a:defRPr sz="5925" b="1">
                <a:solidFill>
                  <a:srgbClr val="E6A18E"/>
                </a:solidFill>
                <a:latin typeface="Helvetica Neue"/>
                <a:ea typeface="Helvetica Neue"/>
                <a:cs typeface="Helvetica Neue"/>
              </a:defRPr>
            </a:lvl2pPr>
            <a:lvl3pPr algn="l">
              <a:defRPr sz="5925" b="1">
                <a:solidFill>
                  <a:srgbClr val="E6A18E"/>
                </a:solidFill>
                <a:latin typeface="Helvetica Neue"/>
                <a:ea typeface="Helvetica Neue"/>
                <a:cs typeface="Helvetica Neue"/>
              </a:defRPr>
            </a:lvl3pPr>
            <a:lvl4pPr algn="l">
              <a:defRPr sz="5925" b="1">
                <a:solidFill>
                  <a:srgbClr val="E6A18E"/>
                </a:solidFill>
                <a:latin typeface="Helvetica Neue"/>
                <a:ea typeface="Helvetica Neue"/>
                <a:cs typeface="Helvetica Neue"/>
              </a:defRPr>
            </a:lvl4pPr>
            <a:lvl5pPr algn="l">
              <a:defRPr sz="5925" b="1">
                <a:solidFill>
                  <a:srgbClr val="E6A18E"/>
                </a:solidFill>
                <a:latin typeface="Helvetica Neue"/>
                <a:ea typeface="Helvetica Neue"/>
                <a:cs typeface="Helvetica Neue"/>
              </a:defRPr>
            </a:lvl5pPr>
            <a:lvl6pPr algn="l">
              <a:defRPr sz="5925" b="1">
                <a:solidFill>
                  <a:srgbClr val="E6A18E"/>
                </a:solidFill>
                <a:latin typeface="Helvetica Neue"/>
                <a:ea typeface="Helvetica Neue"/>
                <a:cs typeface="Helvetica Neue"/>
              </a:defRPr>
            </a:lvl6pPr>
            <a:lvl7pPr algn="l">
              <a:defRPr sz="5925" b="1">
                <a:solidFill>
                  <a:srgbClr val="E6A18E"/>
                </a:solidFill>
                <a:latin typeface="Helvetica Neue"/>
                <a:ea typeface="Helvetica Neue"/>
                <a:cs typeface="Helvetica Neue"/>
              </a:defRPr>
            </a:lvl7pPr>
            <a:lvl8pPr algn="l">
              <a:defRPr sz="5925" b="1">
                <a:solidFill>
                  <a:srgbClr val="E6A18E"/>
                </a:solidFill>
                <a:latin typeface="Helvetica Neue"/>
                <a:ea typeface="Helvetica Neue"/>
                <a:cs typeface="Helvetica Neue"/>
              </a:defRPr>
            </a:lvl8pPr>
            <a:lvl9pPr algn="l">
              <a:defRPr sz="5925" b="1">
                <a:solidFill>
                  <a:srgbClr val="E6A18E"/>
                </a:solidFill>
                <a:latin typeface="Helvetica Neue"/>
                <a:ea typeface="Helvetica Neue"/>
                <a:cs typeface="Helvetica Neue"/>
              </a:defRPr>
            </a:lvl9pPr>
          </a:lstStyle>
          <a:p xmlns:a="http://schemas.openxmlformats.org/drawingml/2006/main">
            <a:pPr algn="l">
              <a:defRPr sz="5925" b="1">
                <a:solidFill>
                  <a:srgbClr val="E6A18E"/>
                </a:solidFill>
                <a:latin typeface="Helvetica Neue"/>
                <a:ea typeface="Helvetica Neue"/>
                <a:cs typeface="Helvetica Neue"/>
              </a:defRPr>
            </a:pPr>
            <a:r>
              <a:rPr sz="5925" b="1">
                <a:solidFill>
                  <a:srgbClr val="E6A18E"/>
                </a:solidFill>
                <a:latin typeface="Helvetica Neue"/>
                <a:ea typeface="Helvetica Neue"/>
                <a:cs typeface="Helvetica Neue"/>
              </a:rPr>
              <a:t>C</a:t>
            </a:r>
          </a:p>
        </p:txBody>
      </p:sp>
      <p:sp>
        <p:nvSpPr>
          <p:cNvPr id="10" name="Focal DMV Pre-Check">
            <a:extLst xmlns:a="http://schemas.openxmlformats.org/drawingml/2006/main">
              <a:ext uri="{FF2B5EF4-FFF2-40B4-BE49-F238E27FC236}">
                <a16:creationId xmlns:a16="http://schemas.microsoft.com/office/drawing/2014/main" id="{89BA34C3-5865-46B1-B9D7-C171A1205931}"/>
              </a:ext>
            </a:extLst>
          </p:cNvPr>
          <p:cNvSpPr>
            <a:spLocks xmlns:a="http://schemas.openxmlformats.org/drawingml/2006/main" noGrp="1"/>
          </p:cNvSpPr>
          <p:nvPr/>
        </p:nvSpPr>
        <p:spPr>
          <a:xfrm xmlns:a="http://schemas.openxmlformats.org/drawingml/2006/main">
            <a:off x="2409825" y="603885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Helvetica Neue"/>
                <a:ea typeface="Helvetica Neue"/>
                <a:cs typeface="Helvetica Neue"/>
              </a:defRPr>
            </a:defPPr>
            <a:lvl1pPr algn="l">
              <a:defRPr sz="3600" b="1">
                <a:solidFill>
                  <a:srgbClr val="FFFFFF"/>
                </a:solidFill>
                <a:latin typeface="Helvetica Neue"/>
                <a:ea typeface="Helvetica Neue"/>
                <a:cs typeface="Helvetica Neue"/>
              </a:defRPr>
            </a:lvl1pPr>
            <a:lvl2pPr algn="l">
              <a:defRPr sz="3600" b="1">
                <a:solidFill>
                  <a:srgbClr val="FFFFFF"/>
                </a:solidFill>
                <a:latin typeface="Helvetica Neue"/>
                <a:ea typeface="Helvetica Neue"/>
                <a:cs typeface="Helvetica Neue"/>
              </a:defRPr>
            </a:lvl2pPr>
            <a:lvl3pPr algn="l">
              <a:defRPr sz="3600" b="1">
                <a:solidFill>
                  <a:srgbClr val="FFFFFF"/>
                </a:solidFill>
                <a:latin typeface="Helvetica Neue"/>
                <a:ea typeface="Helvetica Neue"/>
                <a:cs typeface="Helvetica Neue"/>
              </a:defRPr>
            </a:lvl3pPr>
            <a:lvl4pPr algn="l">
              <a:defRPr sz="3600" b="1">
                <a:solidFill>
                  <a:srgbClr val="FFFFFF"/>
                </a:solidFill>
                <a:latin typeface="Helvetica Neue"/>
                <a:ea typeface="Helvetica Neue"/>
                <a:cs typeface="Helvetica Neue"/>
              </a:defRPr>
            </a:lvl4pPr>
            <a:lvl5pPr algn="l">
              <a:defRPr sz="3600" b="1">
                <a:solidFill>
                  <a:srgbClr val="FFFFFF"/>
                </a:solidFill>
                <a:latin typeface="Helvetica Neue"/>
                <a:ea typeface="Helvetica Neue"/>
                <a:cs typeface="Helvetica Neue"/>
              </a:defRPr>
            </a:lvl5pPr>
            <a:lvl6pPr algn="l">
              <a:defRPr sz="3600" b="1">
                <a:solidFill>
                  <a:srgbClr val="FFFFFF"/>
                </a:solidFill>
                <a:latin typeface="Helvetica Neue"/>
                <a:ea typeface="Helvetica Neue"/>
                <a:cs typeface="Helvetica Neue"/>
              </a:defRPr>
            </a:lvl6pPr>
            <a:lvl7pPr algn="l">
              <a:defRPr sz="3600" b="1">
                <a:solidFill>
                  <a:srgbClr val="FFFFFF"/>
                </a:solidFill>
                <a:latin typeface="Helvetica Neue"/>
                <a:ea typeface="Helvetica Neue"/>
                <a:cs typeface="Helvetica Neue"/>
              </a:defRPr>
            </a:lvl7pPr>
            <a:lvl8pPr algn="l">
              <a:defRPr sz="3600" b="1">
                <a:solidFill>
                  <a:srgbClr val="FFFFFF"/>
                </a:solidFill>
                <a:latin typeface="Helvetica Neue"/>
                <a:ea typeface="Helvetica Neue"/>
                <a:cs typeface="Helvetica Neue"/>
              </a:defRPr>
            </a:lvl8pPr>
            <a:lvl9pPr algn="l">
              <a:defRPr sz="3600" b="1">
                <a:solidFill>
                  <a:srgbClr val="FFFFFF"/>
                </a:solidFill>
                <a:latin typeface="Helvetica Neue"/>
                <a:ea typeface="Helvetica Neue"/>
                <a:cs typeface="Helvetica Neue"/>
              </a:defRPr>
            </a:lvl9pPr>
          </a:lstStyle>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Focal DMV Pre-Check</a:t>
            </a:r>
          </a:p>
        </p:txBody>
      </p:sp>
      <p:sp>
        <p:nvSpPr>
          <p:cNvPr id="11" name="A practice result before a specific deadline">
            <a:extLst xmlns:a="http://schemas.openxmlformats.org/drawingml/2006/main">
              <a:ext uri="{FF2B5EF4-FFF2-40B4-BE49-F238E27FC236}">
                <a16:creationId xmlns:a16="http://schemas.microsoft.com/office/drawing/2014/main" id="{BD53ED7E-D258-4D81-805B-713CDA5FD553}"/>
              </a:ext>
            </a:extLst>
          </p:cNvPr>
          <p:cNvSpPr>
            <a:spLocks xmlns:a="http://schemas.openxmlformats.org/drawingml/2006/main" noGrp="1"/>
          </p:cNvSpPr>
          <p:nvPr/>
        </p:nvSpPr>
        <p:spPr>
          <a:xfrm xmlns:a="http://schemas.openxmlformats.org/drawingml/2006/main">
            <a:off x="2409825" y="67722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6D7E8"/>
                </a:solidFill>
                <a:latin typeface="Helvetica Neue"/>
                <a:ea typeface="Helvetica Neue"/>
                <a:cs typeface="Helvetica Neue"/>
              </a:defRPr>
            </a:defPPr>
            <a:lvl1pPr algn="l">
              <a:defRPr sz="2325" b="0">
                <a:solidFill>
                  <a:srgbClr val="C6D7E8"/>
                </a:solidFill>
                <a:latin typeface="Helvetica Neue"/>
                <a:ea typeface="Helvetica Neue"/>
                <a:cs typeface="Helvetica Neue"/>
              </a:defRPr>
            </a:lvl1pPr>
            <a:lvl2pPr algn="l">
              <a:defRPr sz="2325" b="0">
                <a:solidFill>
                  <a:srgbClr val="C6D7E8"/>
                </a:solidFill>
                <a:latin typeface="Helvetica Neue"/>
                <a:ea typeface="Helvetica Neue"/>
                <a:cs typeface="Helvetica Neue"/>
              </a:defRPr>
            </a:lvl2pPr>
            <a:lvl3pPr algn="l">
              <a:defRPr sz="2325" b="0">
                <a:solidFill>
                  <a:srgbClr val="C6D7E8"/>
                </a:solidFill>
                <a:latin typeface="Helvetica Neue"/>
                <a:ea typeface="Helvetica Neue"/>
                <a:cs typeface="Helvetica Neue"/>
              </a:defRPr>
            </a:lvl3pPr>
            <a:lvl4pPr algn="l">
              <a:defRPr sz="2325" b="0">
                <a:solidFill>
                  <a:srgbClr val="C6D7E8"/>
                </a:solidFill>
                <a:latin typeface="Helvetica Neue"/>
                <a:ea typeface="Helvetica Neue"/>
                <a:cs typeface="Helvetica Neue"/>
              </a:defRPr>
            </a:lvl4pPr>
            <a:lvl5pPr algn="l">
              <a:defRPr sz="2325" b="0">
                <a:solidFill>
                  <a:srgbClr val="C6D7E8"/>
                </a:solidFill>
                <a:latin typeface="Helvetica Neue"/>
                <a:ea typeface="Helvetica Neue"/>
                <a:cs typeface="Helvetica Neue"/>
              </a:defRPr>
            </a:lvl5pPr>
            <a:lvl6pPr algn="l">
              <a:defRPr sz="2325" b="0">
                <a:solidFill>
                  <a:srgbClr val="C6D7E8"/>
                </a:solidFill>
                <a:latin typeface="Helvetica Neue"/>
                <a:ea typeface="Helvetica Neue"/>
                <a:cs typeface="Helvetica Neue"/>
              </a:defRPr>
            </a:lvl6pPr>
            <a:lvl7pPr algn="l">
              <a:defRPr sz="2325" b="0">
                <a:solidFill>
                  <a:srgbClr val="C6D7E8"/>
                </a:solidFill>
                <a:latin typeface="Helvetica Neue"/>
                <a:ea typeface="Helvetica Neue"/>
                <a:cs typeface="Helvetica Neue"/>
              </a:defRPr>
            </a:lvl7pPr>
            <a:lvl8pPr algn="l">
              <a:defRPr sz="2325" b="0">
                <a:solidFill>
                  <a:srgbClr val="C6D7E8"/>
                </a:solidFill>
                <a:latin typeface="Helvetica Neue"/>
                <a:ea typeface="Helvetica Neue"/>
                <a:cs typeface="Helvetica Neue"/>
              </a:defRPr>
            </a:lvl8pPr>
            <a:lvl9pPr algn="l">
              <a:defRPr sz="2325" b="0">
                <a:solidFill>
                  <a:srgbClr val="C6D7E8"/>
                </a:solidFill>
                <a:latin typeface="Helvetica Neue"/>
                <a:ea typeface="Helvetica Neue"/>
                <a:cs typeface="Helvetica Neue"/>
              </a:defRPr>
            </a:lvl9pPr>
          </a:lstStyle>
          <a:p xmlns:a="http://schemas.openxmlformats.org/drawingml/2006/main">
            <a:pPr algn="l">
              <a:defRPr sz="2325" b="0">
                <a:solidFill>
                  <a:srgbClr val="C6D7E8"/>
                </a:solidFill>
                <a:latin typeface="Helvetica Neue"/>
                <a:ea typeface="Helvetica Neue"/>
                <a:cs typeface="Helvetica Neue"/>
              </a:defRPr>
            </a:pPr>
            <a:r>
              <a:rPr sz="2325" b="0">
                <a:solidFill>
                  <a:srgbClr val="C6D7E8"/>
                </a:solidFill>
                <a:latin typeface="Helvetica Neue"/>
                <a:ea typeface="Helvetica Neue"/>
                <a:cs typeface="Helvetica Neue"/>
              </a:rPr>
              <a:t>A practice result before a specific deadline</a:t>
            </a:r>
          </a:p>
        </p:txBody>
      </p:sp>
    </p:spTree>
    <p:extLst>
      <p:ext uri="{BB962C8B-B14F-4D97-AF65-F5344CB8AC3E}">
        <p14:creationId xmlns:p14="http://schemas.microsoft.com/office/powerpoint/2010/main" val="936112395"/>
      </p:ext>
    </p:extLst>
  </p:cSld>
</p:sld>
</file>

<file path=ppt/slides/slide14.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0" name="Prototype links">
            <a:extLst xmlns:a="http://schemas.openxmlformats.org/drawingml/2006/main">
              <a:ext uri="{FF2B5EF4-FFF2-40B4-BE49-F238E27FC236}">
                <a16:creationId xmlns:a16="http://schemas.microsoft.com/office/drawing/2014/main" id="{E8CFA348-38A4-40C8-A8B3-DA82C55147BD}"/>
              </a:ext>
            </a:extLst>
          </p:cNvPr>
          <p:cNvSpPr>
            <a:spLocks xmlns:a="http://schemas.openxmlformats.org/drawingml/2006/main" noGrp="1"/>
          </p:cNvSpPr>
          <p:nvPr/>
        </p:nvSpPr>
        <p:spPr>
          <a:xfrm xmlns:a="http://schemas.openxmlformats.org/drawingml/2006/main">
            <a:off x="762000" y="638175"/>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234B"/>
                </a:solidFill>
                <a:latin typeface="Helvetica Neue"/>
                <a:ea typeface="Helvetica Neue"/>
                <a:cs typeface="Helvetica Neue"/>
              </a:defRPr>
            </a:defPPr>
            <a:lvl1pPr algn="l">
              <a:defRPr sz="4200" b="1">
                <a:solidFill>
                  <a:srgbClr val="16234B"/>
                </a:solidFill>
                <a:latin typeface="Helvetica Neue"/>
                <a:ea typeface="Helvetica Neue"/>
                <a:cs typeface="Helvetica Neue"/>
              </a:defRPr>
            </a:lvl1pPr>
            <a:lvl2pPr algn="l">
              <a:defRPr sz="4200" b="1">
                <a:solidFill>
                  <a:srgbClr val="16234B"/>
                </a:solidFill>
                <a:latin typeface="Helvetica Neue"/>
                <a:ea typeface="Helvetica Neue"/>
                <a:cs typeface="Helvetica Neue"/>
              </a:defRPr>
            </a:lvl2pPr>
            <a:lvl3pPr algn="l">
              <a:defRPr sz="4200" b="1">
                <a:solidFill>
                  <a:srgbClr val="16234B"/>
                </a:solidFill>
                <a:latin typeface="Helvetica Neue"/>
                <a:ea typeface="Helvetica Neue"/>
                <a:cs typeface="Helvetica Neue"/>
              </a:defRPr>
            </a:lvl3pPr>
            <a:lvl4pPr algn="l">
              <a:defRPr sz="4200" b="1">
                <a:solidFill>
                  <a:srgbClr val="16234B"/>
                </a:solidFill>
                <a:latin typeface="Helvetica Neue"/>
                <a:ea typeface="Helvetica Neue"/>
                <a:cs typeface="Helvetica Neue"/>
              </a:defRPr>
            </a:lvl4pPr>
            <a:lvl5pPr algn="l">
              <a:defRPr sz="4200" b="1">
                <a:solidFill>
                  <a:srgbClr val="16234B"/>
                </a:solidFill>
                <a:latin typeface="Helvetica Neue"/>
                <a:ea typeface="Helvetica Neue"/>
                <a:cs typeface="Helvetica Neue"/>
              </a:defRPr>
            </a:lvl5pPr>
            <a:lvl6pPr algn="l">
              <a:defRPr sz="4200" b="1">
                <a:solidFill>
                  <a:srgbClr val="16234B"/>
                </a:solidFill>
                <a:latin typeface="Helvetica Neue"/>
                <a:ea typeface="Helvetica Neue"/>
                <a:cs typeface="Helvetica Neue"/>
              </a:defRPr>
            </a:lvl6pPr>
            <a:lvl7pPr algn="l">
              <a:defRPr sz="4200" b="1">
                <a:solidFill>
                  <a:srgbClr val="16234B"/>
                </a:solidFill>
                <a:latin typeface="Helvetica Neue"/>
                <a:ea typeface="Helvetica Neue"/>
                <a:cs typeface="Helvetica Neue"/>
              </a:defRPr>
            </a:lvl7pPr>
            <a:lvl8pPr algn="l">
              <a:defRPr sz="4200" b="1">
                <a:solidFill>
                  <a:srgbClr val="16234B"/>
                </a:solidFill>
                <a:latin typeface="Helvetica Neue"/>
                <a:ea typeface="Helvetica Neue"/>
                <a:cs typeface="Helvetica Neue"/>
              </a:defRPr>
            </a:lvl8pPr>
            <a:lvl9pPr algn="l">
              <a:defRPr sz="4200" b="1">
                <a:solidFill>
                  <a:srgbClr val="16234B"/>
                </a:solidFill>
                <a:latin typeface="Helvetica Neue"/>
                <a:ea typeface="Helvetica Neue"/>
                <a:cs typeface="Helvetica Neue"/>
              </a:defRPr>
            </a:lvl9pPr>
          </a:lstStyle>
          <a:p xmlns:a="http://schemas.openxmlformats.org/drawingml/2006/main">
            <a:pPr algn="l">
              <a:defRPr sz="4200" b="1">
                <a:solidFill>
                  <a:srgbClr val="16234B"/>
                </a:solidFill>
                <a:latin typeface="Helvetica Neue"/>
                <a:ea typeface="Helvetica Neue"/>
                <a:cs typeface="Helvetica Neue"/>
              </a:defRPr>
            </a:pPr>
            <a:r>
              <a:rPr sz="4200" b="1">
                <a:solidFill>
                  <a:srgbClr val="16234B"/>
                </a:solidFill>
                <a:latin typeface="Helvetica Neue"/>
                <a:ea typeface="Helvetica Neue"/>
                <a:cs typeface="Helvetica Neue"/>
              </a:rPr>
              <a:t>Prototype links</a:t>
            </a:r>
          </a:p>
        </p:txBody>
      </p:sp>
      <p:sp>
        <p:nvSpPr>
          <p:cNvPr id="2" name="14">
            <a:extLst xmlns:a="http://schemas.openxmlformats.org/drawingml/2006/main">
              <a:ext uri="{FF2B5EF4-FFF2-40B4-BE49-F238E27FC236}">
                <a16:creationId xmlns:a16="http://schemas.microsoft.com/office/drawing/2014/main" id="{F1E31882-00A5-4088-99D9-A4C23F1A4458}"/>
              </a:ext>
            </a:extLst>
          </p:cNvPr>
          <p:cNvSpPr>
            <a:spLocks xmlns:a="http://schemas.openxmlformats.org/drawingml/2006/main" noGrp="1"/>
          </p:cNvSpPr>
          <p:nvPr/>
        </p:nvSpPr>
        <p:spPr>
          <a:xfrm xmlns:a="http://schemas.openxmlformats.org/drawingml/2006/main">
            <a:off x="13906500" y="80010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27A"/>
                </a:solidFill>
                <a:latin typeface="Helvetica Neue"/>
                <a:ea typeface="Helvetica Neue"/>
                <a:cs typeface="Helvetica Neue"/>
              </a:defRPr>
            </a:defPPr>
            <a:lvl1pPr algn="r">
              <a:defRPr sz="1350" b="0">
                <a:solidFill>
                  <a:srgbClr val="53627A"/>
                </a:solidFill>
                <a:latin typeface="Helvetica Neue"/>
                <a:ea typeface="Helvetica Neue"/>
                <a:cs typeface="Helvetica Neue"/>
              </a:defRPr>
            </a:lvl1pPr>
            <a:lvl2pPr algn="r">
              <a:defRPr sz="1350" b="0">
                <a:solidFill>
                  <a:srgbClr val="53627A"/>
                </a:solidFill>
                <a:latin typeface="Helvetica Neue"/>
                <a:ea typeface="Helvetica Neue"/>
                <a:cs typeface="Helvetica Neue"/>
              </a:defRPr>
            </a:lvl2pPr>
            <a:lvl3pPr algn="r">
              <a:defRPr sz="1350" b="0">
                <a:solidFill>
                  <a:srgbClr val="53627A"/>
                </a:solidFill>
                <a:latin typeface="Helvetica Neue"/>
                <a:ea typeface="Helvetica Neue"/>
                <a:cs typeface="Helvetica Neue"/>
              </a:defRPr>
            </a:lvl3pPr>
            <a:lvl4pPr algn="r">
              <a:defRPr sz="1350" b="0">
                <a:solidFill>
                  <a:srgbClr val="53627A"/>
                </a:solidFill>
                <a:latin typeface="Helvetica Neue"/>
                <a:ea typeface="Helvetica Neue"/>
                <a:cs typeface="Helvetica Neue"/>
              </a:defRPr>
            </a:lvl4pPr>
            <a:lvl5pPr algn="r">
              <a:defRPr sz="1350" b="0">
                <a:solidFill>
                  <a:srgbClr val="53627A"/>
                </a:solidFill>
                <a:latin typeface="Helvetica Neue"/>
                <a:ea typeface="Helvetica Neue"/>
                <a:cs typeface="Helvetica Neue"/>
              </a:defRPr>
            </a:lvl5pPr>
            <a:lvl6pPr algn="r">
              <a:defRPr sz="1350" b="0">
                <a:solidFill>
                  <a:srgbClr val="53627A"/>
                </a:solidFill>
                <a:latin typeface="Helvetica Neue"/>
                <a:ea typeface="Helvetica Neue"/>
                <a:cs typeface="Helvetica Neue"/>
              </a:defRPr>
            </a:lvl6pPr>
            <a:lvl7pPr algn="r">
              <a:defRPr sz="1350" b="0">
                <a:solidFill>
                  <a:srgbClr val="53627A"/>
                </a:solidFill>
                <a:latin typeface="Helvetica Neue"/>
                <a:ea typeface="Helvetica Neue"/>
                <a:cs typeface="Helvetica Neue"/>
              </a:defRPr>
            </a:lvl7pPr>
            <a:lvl8pPr algn="r">
              <a:defRPr sz="1350" b="0">
                <a:solidFill>
                  <a:srgbClr val="53627A"/>
                </a:solidFill>
                <a:latin typeface="Helvetica Neue"/>
                <a:ea typeface="Helvetica Neue"/>
                <a:cs typeface="Helvetica Neue"/>
              </a:defRPr>
            </a:lvl8pPr>
            <a:lvl9pPr algn="r">
              <a:defRPr sz="1350" b="0">
                <a:solidFill>
                  <a:srgbClr val="53627A"/>
                </a:solidFill>
                <a:latin typeface="Helvetica Neue"/>
                <a:ea typeface="Helvetica Neue"/>
                <a:cs typeface="Helvetica Neue"/>
              </a:defRPr>
            </a:lvl9pPr>
          </a:lstStyle>
          <a:p xmlns:a="http://schemas.openxmlformats.org/drawingml/2006/main">
            <a:pPr algn="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14</a:t>
            </a:r>
          </a:p>
        </p:txBody>
      </p:sp>
      <p:sp>
        <p:nvSpPr>
          <p:cNvPr id="3" name="A   Focal Monitor">
            <a:extLst xmlns:a="http://schemas.openxmlformats.org/drawingml/2006/main">
              <a:ext uri="{FF2B5EF4-FFF2-40B4-BE49-F238E27FC236}">
                <a16:creationId xmlns:a16="http://schemas.microsoft.com/office/drawing/2014/main" id="{111EE26A-86EA-40A0-BE57-561ADB705AF8}"/>
              </a:ext>
            </a:extLst>
          </p:cNvPr>
          <p:cNvSpPr>
            <a:spLocks xmlns:a="http://schemas.openxmlformats.org/drawingml/2006/main" noGrp="1"/>
          </p:cNvSpPr>
          <p:nvPr/>
        </p:nvSpPr>
        <p:spPr>
          <a:xfrm xmlns:a="http://schemas.openxmlformats.org/drawingml/2006/main">
            <a:off x="762000" y="2305050"/>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234B"/>
                </a:solidFill>
                <a:latin typeface="Helvetica Neue"/>
                <a:ea typeface="Helvetica Neue"/>
                <a:cs typeface="Helvetica Neue"/>
              </a:defRPr>
            </a:defPPr>
            <a:lvl1pPr algn="l">
              <a:defRPr sz="2925" b="1">
                <a:solidFill>
                  <a:srgbClr val="16234B"/>
                </a:solidFill>
                <a:latin typeface="Helvetica Neue"/>
                <a:ea typeface="Helvetica Neue"/>
                <a:cs typeface="Helvetica Neue"/>
              </a:defRPr>
            </a:lvl1pPr>
            <a:lvl2pPr algn="l">
              <a:defRPr sz="2925" b="1">
                <a:solidFill>
                  <a:srgbClr val="16234B"/>
                </a:solidFill>
                <a:latin typeface="Helvetica Neue"/>
                <a:ea typeface="Helvetica Neue"/>
                <a:cs typeface="Helvetica Neue"/>
              </a:defRPr>
            </a:lvl2pPr>
            <a:lvl3pPr algn="l">
              <a:defRPr sz="2925" b="1">
                <a:solidFill>
                  <a:srgbClr val="16234B"/>
                </a:solidFill>
                <a:latin typeface="Helvetica Neue"/>
                <a:ea typeface="Helvetica Neue"/>
                <a:cs typeface="Helvetica Neue"/>
              </a:defRPr>
            </a:lvl3pPr>
            <a:lvl4pPr algn="l">
              <a:defRPr sz="2925" b="1">
                <a:solidFill>
                  <a:srgbClr val="16234B"/>
                </a:solidFill>
                <a:latin typeface="Helvetica Neue"/>
                <a:ea typeface="Helvetica Neue"/>
                <a:cs typeface="Helvetica Neue"/>
              </a:defRPr>
            </a:lvl4pPr>
            <a:lvl5pPr algn="l">
              <a:defRPr sz="2925" b="1">
                <a:solidFill>
                  <a:srgbClr val="16234B"/>
                </a:solidFill>
                <a:latin typeface="Helvetica Neue"/>
                <a:ea typeface="Helvetica Neue"/>
                <a:cs typeface="Helvetica Neue"/>
              </a:defRPr>
            </a:lvl5pPr>
            <a:lvl6pPr algn="l">
              <a:defRPr sz="2925" b="1">
                <a:solidFill>
                  <a:srgbClr val="16234B"/>
                </a:solidFill>
                <a:latin typeface="Helvetica Neue"/>
                <a:ea typeface="Helvetica Neue"/>
                <a:cs typeface="Helvetica Neue"/>
              </a:defRPr>
            </a:lvl6pPr>
            <a:lvl7pPr algn="l">
              <a:defRPr sz="2925" b="1">
                <a:solidFill>
                  <a:srgbClr val="16234B"/>
                </a:solidFill>
                <a:latin typeface="Helvetica Neue"/>
                <a:ea typeface="Helvetica Neue"/>
                <a:cs typeface="Helvetica Neue"/>
              </a:defRPr>
            </a:lvl7pPr>
            <a:lvl8pPr algn="l">
              <a:defRPr sz="2925" b="1">
                <a:solidFill>
                  <a:srgbClr val="16234B"/>
                </a:solidFill>
                <a:latin typeface="Helvetica Neue"/>
                <a:ea typeface="Helvetica Neue"/>
                <a:cs typeface="Helvetica Neue"/>
              </a:defRPr>
            </a:lvl8pPr>
            <a:lvl9pPr algn="l">
              <a:defRPr sz="2925" b="1">
                <a:solidFill>
                  <a:srgbClr val="16234B"/>
                </a:solidFill>
                <a:latin typeface="Helvetica Neue"/>
                <a:ea typeface="Helvetica Neue"/>
                <a:cs typeface="Helvetica Neue"/>
              </a:defRPr>
            </a:lvl9pPr>
          </a:lstStyle>
          <a:p xmlns:a="http://schemas.openxmlformats.org/drawingml/2006/main">
            <a:pPr algn="l">
              <a:defRPr sz="2925" b="1">
                <a:solidFill>
                  <a:srgbClr val="16234B"/>
                </a:solidFill>
                <a:latin typeface="Helvetica Neue"/>
                <a:ea typeface="Helvetica Neue"/>
                <a:cs typeface="Helvetica Neue"/>
              </a:defRPr>
            </a:pPr>
            <a:r>
              <a:rPr sz="2925" b="1">
                <a:solidFill>
                  <a:srgbClr val="16234B"/>
                </a:solidFill>
                <a:latin typeface="Helvetica Neue"/>
                <a:ea typeface="Helvetica Neue"/>
                <a:cs typeface="Helvetica Neue"/>
              </a:rPr>
              <a:t>A   Focal Monitor</a:t>
            </a:r>
          </a:p>
        </p:txBody>
      </p:sp>
      <p:sp>
        <p:nvSpPr>
          <p:cNvPr id="4" name="https://focal-demo-a.streamlit.app/">
            <a:extLst xmlns:a="http://schemas.openxmlformats.org/drawingml/2006/main">
              <a:ext uri="{FF2B5EF4-FFF2-40B4-BE49-F238E27FC236}">
                <a16:creationId xmlns:a16="http://schemas.microsoft.com/office/drawing/2014/main" id="{DE32EF11-0FC4-488C-85D1-664FB4FED727}"/>
              </a:ext>
            </a:extLst>
          </p:cNvPr>
          <p:cNvSpPr>
            <a:spLocks xmlns:a="http://schemas.openxmlformats.org/drawingml/2006/main" noGrp="1"/>
          </p:cNvSpPr>
          <p:nvPr/>
        </p:nvSpPr>
        <p:spPr>
          <a:xfrm xmlns:a="http://schemas.openxmlformats.org/drawingml/2006/main">
            <a:off x="762000" y="297180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75AA"/>
                </a:solidFill>
                <a:latin typeface="Helvetica Neue"/>
                <a:ea typeface="Helvetica Neue"/>
                <a:cs typeface="Helvetica Neue"/>
              </a:defRPr>
            </a:defPPr>
            <a:lvl1pPr algn="l">
              <a:defRPr sz="2250" b="1">
                <a:solidFill>
                  <a:srgbClr val="1475AA"/>
                </a:solidFill>
                <a:latin typeface="Helvetica Neue"/>
                <a:ea typeface="Helvetica Neue"/>
                <a:cs typeface="Helvetica Neue"/>
              </a:defRPr>
            </a:lvl1pPr>
            <a:lvl2pPr algn="l">
              <a:defRPr sz="2250" b="1">
                <a:solidFill>
                  <a:srgbClr val="1475AA"/>
                </a:solidFill>
                <a:latin typeface="Helvetica Neue"/>
                <a:ea typeface="Helvetica Neue"/>
                <a:cs typeface="Helvetica Neue"/>
              </a:defRPr>
            </a:lvl2pPr>
            <a:lvl3pPr algn="l">
              <a:defRPr sz="2250" b="1">
                <a:solidFill>
                  <a:srgbClr val="1475AA"/>
                </a:solidFill>
                <a:latin typeface="Helvetica Neue"/>
                <a:ea typeface="Helvetica Neue"/>
                <a:cs typeface="Helvetica Neue"/>
              </a:defRPr>
            </a:lvl3pPr>
            <a:lvl4pPr algn="l">
              <a:defRPr sz="2250" b="1">
                <a:solidFill>
                  <a:srgbClr val="1475AA"/>
                </a:solidFill>
                <a:latin typeface="Helvetica Neue"/>
                <a:ea typeface="Helvetica Neue"/>
                <a:cs typeface="Helvetica Neue"/>
              </a:defRPr>
            </a:lvl4pPr>
            <a:lvl5pPr algn="l">
              <a:defRPr sz="2250" b="1">
                <a:solidFill>
                  <a:srgbClr val="1475AA"/>
                </a:solidFill>
                <a:latin typeface="Helvetica Neue"/>
                <a:ea typeface="Helvetica Neue"/>
                <a:cs typeface="Helvetica Neue"/>
              </a:defRPr>
            </a:lvl5pPr>
            <a:lvl6pPr algn="l">
              <a:defRPr sz="2250" b="1">
                <a:solidFill>
                  <a:srgbClr val="1475AA"/>
                </a:solidFill>
                <a:latin typeface="Helvetica Neue"/>
                <a:ea typeface="Helvetica Neue"/>
                <a:cs typeface="Helvetica Neue"/>
              </a:defRPr>
            </a:lvl6pPr>
            <a:lvl7pPr algn="l">
              <a:defRPr sz="2250" b="1">
                <a:solidFill>
                  <a:srgbClr val="1475AA"/>
                </a:solidFill>
                <a:latin typeface="Helvetica Neue"/>
                <a:ea typeface="Helvetica Neue"/>
                <a:cs typeface="Helvetica Neue"/>
              </a:defRPr>
            </a:lvl7pPr>
            <a:lvl8pPr algn="l">
              <a:defRPr sz="2250" b="1">
                <a:solidFill>
                  <a:srgbClr val="1475AA"/>
                </a:solidFill>
                <a:latin typeface="Helvetica Neue"/>
                <a:ea typeface="Helvetica Neue"/>
                <a:cs typeface="Helvetica Neue"/>
              </a:defRPr>
            </a:lvl8pPr>
            <a:lvl9pPr algn="l">
              <a:defRPr sz="2250" b="1">
                <a:solidFill>
                  <a:srgbClr val="1475AA"/>
                </a:solidFill>
                <a:latin typeface="Helvetica Neue"/>
                <a:ea typeface="Helvetica Neue"/>
                <a:cs typeface="Helvetica Neue"/>
              </a:defRPr>
            </a:lvl9pPr>
          </a:lstStyle>
          <a:p xmlns:a="http://schemas.openxmlformats.org/drawingml/2006/main">
            <a:pPr algn="l">
              <a:defRPr sz="2250" b="1">
                <a:solidFill>
                  <a:srgbClr val="1475AA"/>
                </a:solidFill>
                <a:latin typeface="Helvetica Neue"/>
                <a:ea typeface="Helvetica Neue"/>
                <a:cs typeface="Helvetica Neue"/>
              </a:defRPr>
            </a:pPr>
            <a:r>
              <a:rPr sz="2250" b="1">
                <a:solidFill>
                  <a:srgbClr val="1475AA"/>
                </a:solidFill>
                <a:latin typeface="Helvetica Neue"/>
                <a:ea typeface="Helvetica Neue"/>
                <a:cs typeface="Helvetica Neue"/>
                <a:hlinkClick xmlns:r="http://schemas.openxmlformats.org/officeDocument/2006/relationships" r:id="Re81a525bba0c44e9"/>
              </a:rPr>
              <a:t>https://focal-demo-a.streamlit.app/</a:t>
            </a:r>
          </a:p>
        </p:txBody>
      </p:sp>
      <p:sp>
        <p:nvSpPr>
          <p:cNvPr id="5" name="B   Focal Family">
            <a:extLst xmlns:a="http://schemas.openxmlformats.org/drawingml/2006/main">
              <a:ext uri="{FF2B5EF4-FFF2-40B4-BE49-F238E27FC236}">
                <a16:creationId xmlns:a16="http://schemas.microsoft.com/office/drawing/2014/main" id="{4ED6CF53-104A-45AF-8993-3BD603F2E837}"/>
              </a:ext>
            </a:extLst>
          </p:cNvPr>
          <p:cNvSpPr>
            <a:spLocks xmlns:a="http://schemas.openxmlformats.org/drawingml/2006/main" noGrp="1"/>
          </p:cNvSpPr>
          <p:nvPr/>
        </p:nvSpPr>
        <p:spPr>
          <a:xfrm xmlns:a="http://schemas.openxmlformats.org/drawingml/2006/main">
            <a:off x="762000" y="3905250"/>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234B"/>
                </a:solidFill>
                <a:latin typeface="Helvetica Neue"/>
                <a:ea typeface="Helvetica Neue"/>
                <a:cs typeface="Helvetica Neue"/>
              </a:defRPr>
            </a:defPPr>
            <a:lvl1pPr algn="l">
              <a:defRPr sz="2925" b="1">
                <a:solidFill>
                  <a:srgbClr val="16234B"/>
                </a:solidFill>
                <a:latin typeface="Helvetica Neue"/>
                <a:ea typeface="Helvetica Neue"/>
                <a:cs typeface="Helvetica Neue"/>
              </a:defRPr>
            </a:lvl1pPr>
            <a:lvl2pPr algn="l">
              <a:defRPr sz="2925" b="1">
                <a:solidFill>
                  <a:srgbClr val="16234B"/>
                </a:solidFill>
                <a:latin typeface="Helvetica Neue"/>
                <a:ea typeface="Helvetica Neue"/>
                <a:cs typeface="Helvetica Neue"/>
              </a:defRPr>
            </a:lvl2pPr>
            <a:lvl3pPr algn="l">
              <a:defRPr sz="2925" b="1">
                <a:solidFill>
                  <a:srgbClr val="16234B"/>
                </a:solidFill>
                <a:latin typeface="Helvetica Neue"/>
                <a:ea typeface="Helvetica Neue"/>
                <a:cs typeface="Helvetica Neue"/>
              </a:defRPr>
            </a:lvl3pPr>
            <a:lvl4pPr algn="l">
              <a:defRPr sz="2925" b="1">
                <a:solidFill>
                  <a:srgbClr val="16234B"/>
                </a:solidFill>
                <a:latin typeface="Helvetica Neue"/>
                <a:ea typeface="Helvetica Neue"/>
                <a:cs typeface="Helvetica Neue"/>
              </a:defRPr>
            </a:lvl4pPr>
            <a:lvl5pPr algn="l">
              <a:defRPr sz="2925" b="1">
                <a:solidFill>
                  <a:srgbClr val="16234B"/>
                </a:solidFill>
                <a:latin typeface="Helvetica Neue"/>
                <a:ea typeface="Helvetica Neue"/>
                <a:cs typeface="Helvetica Neue"/>
              </a:defRPr>
            </a:lvl5pPr>
            <a:lvl6pPr algn="l">
              <a:defRPr sz="2925" b="1">
                <a:solidFill>
                  <a:srgbClr val="16234B"/>
                </a:solidFill>
                <a:latin typeface="Helvetica Neue"/>
                <a:ea typeface="Helvetica Neue"/>
                <a:cs typeface="Helvetica Neue"/>
              </a:defRPr>
            </a:lvl6pPr>
            <a:lvl7pPr algn="l">
              <a:defRPr sz="2925" b="1">
                <a:solidFill>
                  <a:srgbClr val="16234B"/>
                </a:solidFill>
                <a:latin typeface="Helvetica Neue"/>
                <a:ea typeface="Helvetica Neue"/>
                <a:cs typeface="Helvetica Neue"/>
              </a:defRPr>
            </a:lvl7pPr>
            <a:lvl8pPr algn="l">
              <a:defRPr sz="2925" b="1">
                <a:solidFill>
                  <a:srgbClr val="16234B"/>
                </a:solidFill>
                <a:latin typeface="Helvetica Neue"/>
                <a:ea typeface="Helvetica Neue"/>
                <a:cs typeface="Helvetica Neue"/>
              </a:defRPr>
            </a:lvl8pPr>
            <a:lvl9pPr algn="l">
              <a:defRPr sz="2925" b="1">
                <a:solidFill>
                  <a:srgbClr val="16234B"/>
                </a:solidFill>
                <a:latin typeface="Helvetica Neue"/>
                <a:ea typeface="Helvetica Neue"/>
                <a:cs typeface="Helvetica Neue"/>
              </a:defRPr>
            </a:lvl9pPr>
          </a:lstStyle>
          <a:p xmlns:a="http://schemas.openxmlformats.org/drawingml/2006/main">
            <a:pPr algn="l">
              <a:defRPr sz="2925" b="1">
                <a:solidFill>
                  <a:srgbClr val="16234B"/>
                </a:solidFill>
                <a:latin typeface="Helvetica Neue"/>
                <a:ea typeface="Helvetica Neue"/>
                <a:cs typeface="Helvetica Neue"/>
              </a:defRPr>
            </a:pPr>
            <a:r>
              <a:rPr sz="2925" b="1">
                <a:solidFill>
                  <a:srgbClr val="16234B"/>
                </a:solidFill>
                <a:latin typeface="Helvetica Neue"/>
                <a:ea typeface="Helvetica Neue"/>
                <a:cs typeface="Helvetica Neue"/>
              </a:rPr>
              <a:t>B   Focal Family</a:t>
            </a:r>
          </a:p>
        </p:txBody>
      </p:sp>
      <p:sp>
        <p:nvSpPr>
          <p:cNvPr id="6" name="https://focal-demo-b.streamlit.app/">
            <a:extLst xmlns:a="http://schemas.openxmlformats.org/drawingml/2006/main">
              <a:ext uri="{FF2B5EF4-FFF2-40B4-BE49-F238E27FC236}">
                <a16:creationId xmlns:a16="http://schemas.microsoft.com/office/drawing/2014/main" id="{B8A91098-97C3-45EE-B2A4-CBAD51176317}"/>
              </a:ext>
            </a:extLst>
          </p:cNvPr>
          <p:cNvSpPr>
            <a:spLocks xmlns:a="http://schemas.openxmlformats.org/drawingml/2006/main" noGrp="1"/>
          </p:cNvSpPr>
          <p:nvPr/>
        </p:nvSpPr>
        <p:spPr>
          <a:xfrm xmlns:a="http://schemas.openxmlformats.org/drawingml/2006/main">
            <a:off x="762000" y="457200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75AA"/>
                </a:solidFill>
                <a:latin typeface="Helvetica Neue"/>
                <a:ea typeface="Helvetica Neue"/>
                <a:cs typeface="Helvetica Neue"/>
              </a:defRPr>
            </a:defPPr>
            <a:lvl1pPr algn="l">
              <a:defRPr sz="2250" b="1">
                <a:solidFill>
                  <a:srgbClr val="1475AA"/>
                </a:solidFill>
                <a:latin typeface="Helvetica Neue"/>
                <a:ea typeface="Helvetica Neue"/>
                <a:cs typeface="Helvetica Neue"/>
              </a:defRPr>
            </a:lvl1pPr>
            <a:lvl2pPr algn="l">
              <a:defRPr sz="2250" b="1">
                <a:solidFill>
                  <a:srgbClr val="1475AA"/>
                </a:solidFill>
                <a:latin typeface="Helvetica Neue"/>
                <a:ea typeface="Helvetica Neue"/>
                <a:cs typeface="Helvetica Neue"/>
              </a:defRPr>
            </a:lvl2pPr>
            <a:lvl3pPr algn="l">
              <a:defRPr sz="2250" b="1">
                <a:solidFill>
                  <a:srgbClr val="1475AA"/>
                </a:solidFill>
                <a:latin typeface="Helvetica Neue"/>
                <a:ea typeface="Helvetica Neue"/>
                <a:cs typeface="Helvetica Neue"/>
              </a:defRPr>
            </a:lvl3pPr>
            <a:lvl4pPr algn="l">
              <a:defRPr sz="2250" b="1">
                <a:solidFill>
                  <a:srgbClr val="1475AA"/>
                </a:solidFill>
                <a:latin typeface="Helvetica Neue"/>
                <a:ea typeface="Helvetica Neue"/>
                <a:cs typeface="Helvetica Neue"/>
              </a:defRPr>
            </a:lvl4pPr>
            <a:lvl5pPr algn="l">
              <a:defRPr sz="2250" b="1">
                <a:solidFill>
                  <a:srgbClr val="1475AA"/>
                </a:solidFill>
                <a:latin typeface="Helvetica Neue"/>
                <a:ea typeface="Helvetica Neue"/>
                <a:cs typeface="Helvetica Neue"/>
              </a:defRPr>
            </a:lvl5pPr>
            <a:lvl6pPr algn="l">
              <a:defRPr sz="2250" b="1">
                <a:solidFill>
                  <a:srgbClr val="1475AA"/>
                </a:solidFill>
                <a:latin typeface="Helvetica Neue"/>
                <a:ea typeface="Helvetica Neue"/>
                <a:cs typeface="Helvetica Neue"/>
              </a:defRPr>
            </a:lvl6pPr>
            <a:lvl7pPr algn="l">
              <a:defRPr sz="2250" b="1">
                <a:solidFill>
                  <a:srgbClr val="1475AA"/>
                </a:solidFill>
                <a:latin typeface="Helvetica Neue"/>
                <a:ea typeface="Helvetica Neue"/>
                <a:cs typeface="Helvetica Neue"/>
              </a:defRPr>
            </a:lvl7pPr>
            <a:lvl8pPr algn="l">
              <a:defRPr sz="2250" b="1">
                <a:solidFill>
                  <a:srgbClr val="1475AA"/>
                </a:solidFill>
                <a:latin typeface="Helvetica Neue"/>
                <a:ea typeface="Helvetica Neue"/>
                <a:cs typeface="Helvetica Neue"/>
              </a:defRPr>
            </a:lvl8pPr>
            <a:lvl9pPr algn="l">
              <a:defRPr sz="2250" b="1">
                <a:solidFill>
                  <a:srgbClr val="1475AA"/>
                </a:solidFill>
                <a:latin typeface="Helvetica Neue"/>
                <a:ea typeface="Helvetica Neue"/>
                <a:cs typeface="Helvetica Neue"/>
              </a:defRPr>
            </a:lvl9pPr>
          </a:lstStyle>
          <a:p xmlns:a="http://schemas.openxmlformats.org/drawingml/2006/main">
            <a:pPr algn="l">
              <a:defRPr sz="2250" b="1">
                <a:solidFill>
                  <a:srgbClr val="1475AA"/>
                </a:solidFill>
                <a:latin typeface="Helvetica Neue"/>
                <a:ea typeface="Helvetica Neue"/>
                <a:cs typeface="Helvetica Neue"/>
              </a:defRPr>
            </a:pPr>
            <a:r>
              <a:rPr sz="2250" b="1">
                <a:solidFill>
                  <a:srgbClr val="1475AA"/>
                </a:solidFill>
                <a:latin typeface="Helvetica Neue"/>
                <a:ea typeface="Helvetica Neue"/>
                <a:cs typeface="Helvetica Neue"/>
                <a:hlinkClick xmlns:r="http://schemas.openxmlformats.org/officeDocument/2006/relationships" r:id="Rd35831b1104643f6"/>
              </a:rPr>
              <a:t>https://focal-demo-b.streamlit.app/</a:t>
            </a:r>
          </a:p>
        </p:txBody>
      </p:sp>
      <p:sp>
        <p:nvSpPr>
          <p:cNvPr id="7" name="C   Focal DMV Pre-Check">
            <a:extLst xmlns:a="http://schemas.openxmlformats.org/drawingml/2006/main">
              <a:ext uri="{FF2B5EF4-FFF2-40B4-BE49-F238E27FC236}">
                <a16:creationId xmlns:a16="http://schemas.microsoft.com/office/drawing/2014/main" id="{8282ADBF-4365-4C4F-BB3F-4B854540F040}"/>
              </a:ext>
            </a:extLst>
          </p:cNvPr>
          <p:cNvSpPr>
            <a:spLocks xmlns:a="http://schemas.openxmlformats.org/drawingml/2006/main" noGrp="1"/>
          </p:cNvSpPr>
          <p:nvPr/>
        </p:nvSpPr>
        <p:spPr>
          <a:xfrm xmlns:a="http://schemas.openxmlformats.org/drawingml/2006/main">
            <a:off x="762000" y="5505450"/>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234B"/>
                </a:solidFill>
                <a:latin typeface="Helvetica Neue"/>
                <a:ea typeface="Helvetica Neue"/>
                <a:cs typeface="Helvetica Neue"/>
              </a:defRPr>
            </a:defPPr>
            <a:lvl1pPr algn="l">
              <a:defRPr sz="2925" b="1">
                <a:solidFill>
                  <a:srgbClr val="16234B"/>
                </a:solidFill>
                <a:latin typeface="Helvetica Neue"/>
                <a:ea typeface="Helvetica Neue"/>
                <a:cs typeface="Helvetica Neue"/>
              </a:defRPr>
            </a:lvl1pPr>
            <a:lvl2pPr algn="l">
              <a:defRPr sz="2925" b="1">
                <a:solidFill>
                  <a:srgbClr val="16234B"/>
                </a:solidFill>
                <a:latin typeface="Helvetica Neue"/>
                <a:ea typeface="Helvetica Neue"/>
                <a:cs typeface="Helvetica Neue"/>
              </a:defRPr>
            </a:lvl2pPr>
            <a:lvl3pPr algn="l">
              <a:defRPr sz="2925" b="1">
                <a:solidFill>
                  <a:srgbClr val="16234B"/>
                </a:solidFill>
                <a:latin typeface="Helvetica Neue"/>
                <a:ea typeface="Helvetica Neue"/>
                <a:cs typeface="Helvetica Neue"/>
              </a:defRPr>
            </a:lvl3pPr>
            <a:lvl4pPr algn="l">
              <a:defRPr sz="2925" b="1">
                <a:solidFill>
                  <a:srgbClr val="16234B"/>
                </a:solidFill>
                <a:latin typeface="Helvetica Neue"/>
                <a:ea typeface="Helvetica Neue"/>
                <a:cs typeface="Helvetica Neue"/>
              </a:defRPr>
            </a:lvl4pPr>
            <a:lvl5pPr algn="l">
              <a:defRPr sz="2925" b="1">
                <a:solidFill>
                  <a:srgbClr val="16234B"/>
                </a:solidFill>
                <a:latin typeface="Helvetica Neue"/>
                <a:ea typeface="Helvetica Neue"/>
                <a:cs typeface="Helvetica Neue"/>
              </a:defRPr>
            </a:lvl5pPr>
            <a:lvl6pPr algn="l">
              <a:defRPr sz="2925" b="1">
                <a:solidFill>
                  <a:srgbClr val="16234B"/>
                </a:solidFill>
                <a:latin typeface="Helvetica Neue"/>
                <a:ea typeface="Helvetica Neue"/>
                <a:cs typeface="Helvetica Neue"/>
              </a:defRPr>
            </a:lvl6pPr>
            <a:lvl7pPr algn="l">
              <a:defRPr sz="2925" b="1">
                <a:solidFill>
                  <a:srgbClr val="16234B"/>
                </a:solidFill>
                <a:latin typeface="Helvetica Neue"/>
                <a:ea typeface="Helvetica Neue"/>
                <a:cs typeface="Helvetica Neue"/>
              </a:defRPr>
            </a:lvl7pPr>
            <a:lvl8pPr algn="l">
              <a:defRPr sz="2925" b="1">
                <a:solidFill>
                  <a:srgbClr val="16234B"/>
                </a:solidFill>
                <a:latin typeface="Helvetica Neue"/>
                <a:ea typeface="Helvetica Neue"/>
                <a:cs typeface="Helvetica Neue"/>
              </a:defRPr>
            </a:lvl8pPr>
            <a:lvl9pPr algn="l">
              <a:defRPr sz="2925" b="1">
                <a:solidFill>
                  <a:srgbClr val="16234B"/>
                </a:solidFill>
                <a:latin typeface="Helvetica Neue"/>
                <a:ea typeface="Helvetica Neue"/>
                <a:cs typeface="Helvetica Neue"/>
              </a:defRPr>
            </a:lvl9pPr>
          </a:lstStyle>
          <a:p xmlns:a="http://schemas.openxmlformats.org/drawingml/2006/main">
            <a:pPr algn="l">
              <a:defRPr sz="2925" b="1">
                <a:solidFill>
                  <a:srgbClr val="16234B"/>
                </a:solidFill>
                <a:latin typeface="Helvetica Neue"/>
                <a:ea typeface="Helvetica Neue"/>
                <a:cs typeface="Helvetica Neue"/>
              </a:defRPr>
            </a:pPr>
            <a:r>
              <a:rPr sz="2925" b="1">
                <a:solidFill>
                  <a:srgbClr val="16234B"/>
                </a:solidFill>
                <a:latin typeface="Helvetica Neue"/>
                <a:ea typeface="Helvetica Neue"/>
                <a:cs typeface="Helvetica Neue"/>
              </a:rPr>
              <a:t>C   Focal DMV Pre-Check</a:t>
            </a:r>
          </a:p>
        </p:txBody>
      </p:sp>
      <p:sp>
        <p:nvSpPr>
          <p:cNvPr id="8" name="https://focal-demo-c.streamlit.app/">
            <a:extLst xmlns:a="http://schemas.openxmlformats.org/drawingml/2006/main">
              <a:ext uri="{FF2B5EF4-FFF2-40B4-BE49-F238E27FC236}">
                <a16:creationId xmlns:a16="http://schemas.microsoft.com/office/drawing/2014/main" id="{03E9AE6F-154A-455F-A661-102B67003B67}"/>
              </a:ext>
            </a:extLst>
          </p:cNvPr>
          <p:cNvSpPr>
            <a:spLocks xmlns:a="http://schemas.openxmlformats.org/drawingml/2006/main" noGrp="1"/>
          </p:cNvSpPr>
          <p:nvPr/>
        </p:nvSpPr>
        <p:spPr>
          <a:xfrm xmlns:a="http://schemas.openxmlformats.org/drawingml/2006/main">
            <a:off x="762000" y="617220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75AA"/>
                </a:solidFill>
                <a:latin typeface="Helvetica Neue"/>
                <a:ea typeface="Helvetica Neue"/>
                <a:cs typeface="Helvetica Neue"/>
              </a:defRPr>
            </a:defPPr>
            <a:lvl1pPr algn="l">
              <a:defRPr sz="2250" b="1">
                <a:solidFill>
                  <a:srgbClr val="1475AA"/>
                </a:solidFill>
                <a:latin typeface="Helvetica Neue"/>
                <a:ea typeface="Helvetica Neue"/>
                <a:cs typeface="Helvetica Neue"/>
              </a:defRPr>
            </a:lvl1pPr>
            <a:lvl2pPr algn="l">
              <a:defRPr sz="2250" b="1">
                <a:solidFill>
                  <a:srgbClr val="1475AA"/>
                </a:solidFill>
                <a:latin typeface="Helvetica Neue"/>
                <a:ea typeface="Helvetica Neue"/>
                <a:cs typeface="Helvetica Neue"/>
              </a:defRPr>
            </a:lvl2pPr>
            <a:lvl3pPr algn="l">
              <a:defRPr sz="2250" b="1">
                <a:solidFill>
                  <a:srgbClr val="1475AA"/>
                </a:solidFill>
                <a:latin typeface="Helvetica Neue"/>
                <a:ea typeface="Helvetica Neue"/>
                <a:cs typeface="Helvetica Neue"/>
              </a:defRPr>
            </a:lvl3pPr>
            <a:lvl4pPr algn="l">
              <a:defRPr sz="2250" b="1">
                <a:solidFill>
                  <a:srgbClr val="1475AA"/>
                </a:solidFill>
                <a:latin typeface="Helvetica Neue"/>
                <a:ea typeface="Helvetica Neue"/>
                <a:cs typeface="Helvetica Neue"/>
              </a:defRPr>
            </a:lvl4pPr>
            <a:lvl5pPr algn="l">
              <a:defRPr sz="2250" b="1">
                <a:solidFill>
                  <a:srgbClr val="1475AA"/>
                </a:solidFill>
                <a:latin typeface="Helvetica Neue"/>
                <a:ea typeface="Helvetica Neue"/>
                <a:cs typeface="Helvetica Neue"/>
              </a:defRPr>
            </a:lvl5pPr>
            <a:lvl6pPr algn="l">
              <a:defRPr sz="2250" b="1">
                <a:solidFill>
                  <a:srgbClr val="1475AA"/>
                </a:solidFill>
                <a:latin typeface="Helvetica Neue"/>
                <a:ea typeface="Helvetica Neue"/>
                <a:cs typeface="Helvetica Neue"/>
              </a:defRPr>
            </a:lvl6pPr>
            <a:lvl7pPr algn="l">
              <a:defRPr sz="2250" b="1">
                <a:solidFill>
                  <a:srgbClr val="1475AA"/>
                </a:solidFill>
                <a:latin typeface="Helvetica Neue"/>
                <a:ea typeface="Helvetica Neue"/>
                <a:cs typeface="Helvetica Neue"/>
              </a:defRPr>
            </a:lvl7pPr>
            <a:lvl8pPr algn="l">
              <a:defRPr sz="2250" b="1">
                <a:solidFill>
                  <a:srgbClr val="1475AA"/>
                </a:solidFill>
                <a:latin typeface="Helvetica Neue"/>
                <a:ea typeface="Helvetica Neue"/>
                <a:cs typeface="Helvetica Neue"/>
              </a:defRPr>
            </a:lvl8pPr>
            <a:lvl9pPr algn="l">
              <a:defRPr sz="2250" b="1">
                <a:solidFill>
                  <a:srgbClr val="1475AA"/>
                </a:solidFill>
                <a:latin typeface="Helvetica Neue"/>
                <a:ea typeface="Helvetica Neue"/>
                <a:cs typeface="Helvetica Neue"/>
              </a:defRPr>
            </a:lvl9pPr>
          </a:lstStyle>
          <a:p xmlns:a="http://schemas.openxmlformats.org/drawingml/2006/main">
            <a:pPr algn="l">
              <a:defRPr sz="2250" b="1">
                <a:solidFill>
                  <a:srgbClr val="1475AA"/>
                </a:solidFill>
                <a:latin typeface="Helvetica Neue"/>
                <a:ea typeface="Helvetica Neue"/>
                <a:cs typeface="Helvetica Neue"/>
              </a:defRPr>
            </a:pPr>
            <a:r>
              <a:rPr sz="2250" b="1">
                <a:solidFill>
                  <a:srgbClr val="1475AA"/>
                </a:solidFill>
                <a:latin typeface="Helvetica Neue"/>
                <a:ea typeface="Helvetica Neue"/>
                <a:cs typeface="Helvetica Neue"/>
                <a:hlinkClick xmlns:r="http://schemas.openxmlformats.org/officeDocument/2006/relationships" r:id="R20d919ae7e6f44f9"/>
              </a:rPr>
              <a:t>https://focal-demo-c.streamlit.app/</a:t>
            </a:r>
          </a:p>
        </p:txBody>
      </p:sp>
      <p:sp>
        <p:nvSpPr>
          <p:cNvPr id="9" name="Repository and team prompt log">
            <a:extLst xmlns:a="http://schemas.openxmlformats.org/drawingml/2006/main">
              <a:ext uri="{FF2B5EF4-FFF2-40B4-BE49-F238E27FC236}">
                <a16:creationId xmlns:a16="http://schemas.microsoft.com/office/drawing/2014/main" id="{644E6A03-C40D-41A3-B7D5-FCEFFCAB2228}"/>
              </a:ext>
            </a:extLst>
          </p:cNvPr>
          <p:cNvSpPr>
            <a:spLocks xmlns:a="http://schemas.openxmlformats.org/drawingml/2006/main" noGrp="1"/>
          </p:cNvSpPr>
          <p:nvPr/>
        </p:nvSpPr>
        <p:spPr>
          <a:xfrm xmlns:a="http://schemas.openxmlformats.org/drawingml/2006/main">
            <a:off x="762000" y="7486650"/>
            <a:ext cx="1238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75AA"/>
                </a:solidFill>
                <a:latin typeface="Helvetica Neue"/>
                <a:ea typeface="Helvetica Neue"/>
                <a:cs typeface="Helvetica Neue"/>
              </a:defRPr>
            </a:defPPr>
            <a:lvl1pPr algn="l">
              <a:defRPr sz="2025" b="1">
                <a:solidFill>
                  <a:srgbClr val="1475AA"/>
                </a:solidFill>
                <a:latin typeface="Helvetica Neue"/>
                <a:ea typeface="Helvetica Neue"/>
                <a:cs typeface="Helvetica Neue"/>
              </a:defRPr>
            </a:lvl1pPr>
            <a:lvl2pPr algn="l">
              <a:defRPr sz="2025" b="1">
                <a:solidFill>
                  <a:srgbClr val="1475AA"/>
                </a:solidFill>
                <a:latin typeface="Helvetica Neue"/>
                <a:ea typeface="Helvetica Neue"/>
                <a:cs typeface="Helvetica Neue"/>
              </a:defRPr>
            </a:lvl2pPr>
            <a:lvl3pPr algn="l">
              <a:defRPr sz="2025" b="1">
                <a:solidFill>
                  <a:srgbClr val="1475AA"/>
                </a:solidFill>
                <a:latin typeface="Helvetica Neue"/>
                <a:ea typeface="Helvetica Neue"/>
                <a:cs typeface="Helvetica Neue"/>
              </a:defRPr>
            </a:lvl3pPr>
            <a:lvl4pPr algn="l">
              <a:defRPr sz="2025" b="1">
                <a:solidFill>
                  <a:srgbClr val="1475AA"/>
                </a:solidFill>
                <a:latin typeface="Helvetica Neue"/>
                <a:ea typeface="Helvetica Neue"/>
                <a:cs typeface="Helvetica Neue"/>
              </a:defRPr>
            </a:lvl4pPr>
            <a:lvl5pPr algn="l">
              <a:defRPr sz="2025" b="1">
                <a:solidFill>
                  <a:srgbClr val="1475AA"/>
                </a:solidFill>
                <a:latin typeface="Helvetica Neue"/>
                <a:ea typeface="Helvetica Neue"/>
                <a:cs typeface="Helvetica Neue"/>
              </a:defRPr>
            </a:lvl5pPr>
            <a:lvl6pPr algn="l">
              <a:defRPr sz="2025" b="1">
                <a:solidFill>
                  <a:srgbClr val="1475AA"/>
                </a:solidFill>
                <a:latin typeface="Helvetica Neue"/>
                <a:ea typeface="Helvetica Neue"/>
                <a:cs typeface="Helvetica Neue"/>
              </a:defRPr>
            </a:lvl6pPr>
            <a:lvl7pPr algn="l">
              <a:defRPr sz="2025" b="1">
                <a:solidFill>
                  <a:srgbClr val="1475AA"/>
                </a:solidFill>
                <a:latin typeface="Helvetica Neue"/>
                <a:ea typeface="Helvetica Neue"/>
                <a:cs typeface="Helvetica Neue"/>
              </a:defRPr>
            </a:lvl7pPr>
            <a:lvl8pPr algn="l">
              <a:defRPr sz="2025" b="1">
                <a:solidFill>
                  <a:srgbClr val="1475AA"/>
                </a:solidFill>
                <a:latin typeface="Helvetica Neue"/>
                <a:ea typeface="Helvetica Neue"/>
                <a:cs typeface="Helvetica Neue"/>
              </a:defRPr>
            </a:lvl8pPr>
            <a:lvl9pPr algn="l">
              <a:defRPr sz="2025" b="1">
                <a:solidFill>
                  <a:srgbClr val="1475AA"/>
                </a:solidFill>
                <a:latin typeface="Helvetica Neue"/>
                <a:ea typeface="Helvetica Neue"/>
                <a:cs typeface="Helvetica Neue"/>
              </a:defRPr>
            </a:lvl9pPr>
          </a:lstStyle>
          <a:p xmlns:a="http://schemas.openxmlformats.org/drawingml/2006/main">
            <a:pPr algn="l">
              <a:defRPr sz="2025" b="1">
                <a:solidFill>
                  <a:srgbClr val="1475AA"/>
                </a:solidFill>
                <a:latin typeface="Helvetica Neue"/>
                <a:ea typeface="Helvetica Neue"/>
                <a:cs typeface="Helvetica Neue"/>
              </a:defRPr>
            </a:pPr>
            <a:r>
              <a:rPr sz="2025" b="1">
                <a:solidFill>
                  <a:srgbClr val="1475AA"/>
                </a:solidFill>
                <a:latin typeface="Helvetica Neue"/>
                <a:ea typeface="Helvetica Neue"/>
                <a:cs typeface="Helvetica Neue"/>
                <a:hlinkClick xmlns:r="http://schemas.openxmlformats.org/officeDocument/2006/relationships" r:id="R9a95012ec88e4d3d"/>
              </a:rPr>
              <a:t>Repository and team prompt log</a:t>
            </a:r>
          </a:p>
        </p:txBody>
      </p:sp>
    </p:spTree>
    <p:extLst>
      <p:ext uri="{BB962C8B-B14F-4D97-AF65-F5344CB8AC3E}">
        <p14:creationId xmlns:p14="http://schemas.microsoft.com/office/powerpoint/2010/main" val="578859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2026-10-22T02:54:59.3370000Z</dcterms:created>
  <dcterms:modified xsi:type="dcterms:W3CDTF">2026-10-22T02:54:59.3370000Z</dcterms:modified>
</coreProperties>
</file>