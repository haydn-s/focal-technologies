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2ffee43-9041-2e57-b1ee-26e74f014b10}">
          <p14:sldIdLst>
            <p14:sldId id="256"/>
          </p14:sldIdLst>
        </p14:section>
        <p14:section name="Problem and approach" id="{ff63cbc9-93e6-79fe-62c9-6f9949cbe03c}">
          <p14:sldIdLst>
            <p14:sldId id="257"/>
            <p14:sldId id="258"/>
          </p14:sldIdLst>
        </p14:section>
        <p14:section name="The three versions" id="{bf9012eb-856b-496b-f47c-a970716a305d}">
          <p14:sldIdLst>
            <p14:sldId id="259"/>
            <p14:sldId id="260"/>
            <p14:sldId id="261"/>
            <p14:sldId id="262"/>
          </p14:sldIdLst>
        </p14:section>
        <p14:section name="Live demos" id="{e1a67995-898e-6ab8-ef0c-6bbe70853d40}">
          <p14:sldIdLst>
            <p14:sldId id="263"/>
          </p14:sldIdLst>
        </p14:section>
        <p14:section name="Justification and strategy" id="{fb2aa25a-92f9-43c1-5b0e-b28f80abba99}">
          <p14:sldIdLst>
            <p14:sldId id="264"/>
            <p14:sldId id="265"/>
            <p14:sldId id="266"/>
          </p14:sldIdLst>
        </p14:section>
        <p14:section name="Vote" id="{c1cf0522-3f68-8113-0769-77380f25276e}">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0:10.
Say: We are Focal, Team 5. Today we show three prototypes of one product. Each tests a different hypothesis about how Focal should help people act on their vision. At the end, you vote on the one you would actually use.
FLOW (about 13.5 min): slides 2-3 problem and how our thinking changed (1:30) | slides 4-7 the three versions (about 4:25) | slide 8 live demos (about 1:30 each) | slides 9-11 why we built it this way (about 2 min) | slide 12 the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0:40 (slides 2 and 3 together are the problem section, about 1:30; the assignment allows 2:00).
WHO WE'RE BUILDING FOR: three personas from our Define work: Riley (adult who wears corrective lenses and puts off routine checks), Pat (parent of a young child), Alex (first-time license applicant). A fourth persona, the licensing supervisor, only appeared in virtual interviews, so no prototype targets it.
Early detection needs routine checks, and routine checks are hard to get. Today people choose between convenient (an online chart) and thorough (a clinic exam). We heard three pains: access, seeing change over time, and trusting an online result.
SOURCE: WHO, World report on vision (2019); Blindness and vision impairment fact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0:45. Finish the problem section by 1:30.
We started thinking the problem was access, and that institutions like DMVs and airlines were the big market. Ten interviews moved us. People avoid the answer, not just the appointment. Action needs an outside trigger. And a result only helps if people trust it and know what to do next. We dropped pilots because no interview supported them. Licensing agencies stay a hypothesis because we only reached that persona through AI-simulated interviews.
BE HONEST ABOUT THE EVIDENCE: five virtual (AI-simulated personas) and five in person. The parent finding (kids memorize a home chart; one parent already kept exam records) is from a real interview. Alex's DMV scenario and the licensing supervisor are virtual-persona evidence, so C's DMV deadline is a bet to test with real applicants.
SOURCES: docs/research/customer-discovery/presentation.pptx; interview-workbook.docx (sections 3B, 3C and the Team Final Assessment); docs/strategy/lean-canvas.pptx.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0:25.
One job sits under all three versions: has my vision changed, and do I need a doctor? We built three answers that differ in how much the product judges for you. B leaves the judgment with the parent: no score at all. A shows a trend and lets you read it. C gives a verdict against an official rule. The vote tells us which degree of judgment people actually want.
(The cards are ordered along the spectrum, not alphabetically,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1:20. With the framing on slide 4, each hypothesis takes about 1:30 to 2:00.
Riley wears corrective lenses and wants to understand change between exams. The bet: seeing change over time is worth more than one score. The prototype runs an eight-item check, then shows the SAME result two ways, alone and on a seven-week trend, in random order, then asks neutral questions.
LIMITS TO SAY OUT LOUD: the seven weeks of history are fictional and labeled as such, and the acuity-style labels (20/20 to 20/200) are illustrative, not calibrated. This tests stated preference, not whether people really come back.
PROPOSED SIGNAL (a decision aid, not a finding): at least 3 of 5 Riley-like participants state a format preference and explain why. WOULD CHALLENGE THE BET: a flat preference, confusion between fictional and current data, or a preference for the single result.
SOURCES: prototypes/prototype-a-riley-vision-tracking/README.md (Feature Scope Card); https://focal-demo-a.streamlit.app/ (screenshot captured Oct 21, 2026).
QUOTE ON SLIDE: "There's no baseline to compare against." (Riley, virtual interview). Virtual interviews were AI-simulated personas; we checked the wording against interview-workbook.docx, and in-person interviews backed the same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1:20.
Pat is a working parent who relies on school screenings. Kids can't explain what they see, and they memorize home charts. So B does not measure anything. A parent and child play a short matching game together (shapes, not letters), the parent records what they've noticed, and Focal helps them prepare a concrete next step. The bet: parents value preparation and support over a number.
The app never infers a care recommendation from how many pictures matched. Pictures are always large; there is no timer or pass mark; the child can skip or take a break.
PROPOSED SIGNALS (small-sample decision rules, not findings): 4 of 5 parents finish unaided; 3 of 5 choose appointment or school-contact preparation. WOULD CHALLENGE THE BET: parents find the activity irrelevant or the note unhelpful. Expressed intent or a download is not proof an appointment happened.
SOURCES: prototypes/prototype-b-parent-guided-check/README.md; customer discovery workbook (one real parent kept detailed exam records and described a child memorizing a home chart); https://focal-demo-b.streamlit.app/ (screenshot of the built-in fictional example, Oct 21, 2026).
QUOTE ON SLIDE: "I want to know when there is a reasonable reason to get it checked." (Pat, virtual interview). Virtual interviews were AI-simulated personas; we checked the wording against interview-workbook.docx, and in-person interviews backed the same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1:20.
Alex is a college student getting a first license. He doesn't want a number; he wants to know whether he will pass his state's test. C checks against the real rule for NC, CA, NY, TX and FL, each with an official source (checked October 2026), and falls back to "another state". Letters are sized to the screen using any ID card. Six letters sit at the deciding 20/40 line, so a lucky guess can't pass you, and "Can't tell" is always available. You get one honest retake, shown side by side. If it's not a pass, you get a plan: an eye exam near you, your state's form, a simulated reminder, and a draft message for a parent. This is also the free DMV checker from our Lean Canvas channels.
PROPOSED SIGNALS (not findings): 60% of people with a DMV visit coming say they'd likely use it; 70% say they knew whether they'd pass; 50% told to see an eye doctor first say they'd book before the DMV. RISKIEST ASSUMPTION: a DMV visit may not be a strong enough trigger (Alex: "more of a background worry").
LIMITS: both eyes together only (CA and TX also test each eye); not an official DMV test or a clinical prediction.
SOURCES: prototypes/prototype-c-alex-dmv-precheck/README.md; https://focal-demo-c.streamlit.app/ (screenshot, Oct 21, 2026).
QUOTE ON SLIDE: "I didn't even know if that's a pass or a fail." (Alex, virtual interview). Virtual interviews were AI-simulated personas; we checked the wording against interview-workbook.docx, and in-person interviews backed the same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aim for about 1:30 per prototype (about 4:30 total); the assignment allows about 2:00. The minute marks below are for a full 2:00 run: if you're running long, drop the last step of each demo. Let each product speak; do not narrate every click. If a live app fails, say so, show the matching screenshot on the version slide, and move on.
BEFORE CLASS: open all three links in the browser you will present from, at least 5 minutes ahead (idle Streamlit apps sleep; first loads took 10-20 seconds when we checked on Oct 21). Run each main journey once in a fresh session. Keep one finished-result tab per prototype as a backup.
A (Focal Monitor): 0:00-0:20 open and introduce Riley. 0:20-0:55 answer the eight Es. 0:55-1:30 open Compare Results and switch between Single Result and Trend Tracking; point out the history is illustrative and today's point is separate. 1:30-2:00 show the neutral feedback and the Reset button. Do not call the 20/xx label a measurement. HEADS-UP: A's answer buttons follow the browser's color theme; in a dark-theme browser their labels were hard to read when we tested. Present from a light-theme browser (or fix the button CSS in app.py) and check before class.
B (Focal Family): 0:00-0:20 pick a child label and age group, do the practice circle. 0:20-0:55 play the pictures, skip one, try Take a break. 0:55-1:30 record an observation, choose a next step, add a question. 1:30-2:00 show the summary and feedback. Nothing is booked or sent. The built-in "Explore a fictional example" is a labeled backup, not a participant result.
C (DMV Pre-Check): 0:00-0:30 North Carolina is the default: show the rule card and its source link, hold an ID card to the sizing box, tick the three setup boxes. 0:30-1:15 answer the first lines, then tap "Can't tell" on a few letters at the 20/40 line (the check can end early). 1:15-2:00 show the verdict, the next-step plan, the simulated reminder and the Retake option. Don't force a favorable outcome.
LINKS: A https://focal-demo-a.streamlit.app/ | B https://focal-demo-b.streamlit.app/ | C https://focal-demo-c.streamlit.app/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0:40.
Prioritization used the same lens from the in-class Feature Scope Card: value, effort, complexity and a success signal. Each prototype tests exactly one decision, and the effort went where a fair test needed it: A's medium effort protects a fair format comparison; B keeps observation capture simple and spends extra effort on note editing and pause/resume; C spends effort on state rules, sizing and how the result is communicated. All three keep feedback visible because the goal is learning.
CAVEAT: effort and complexity are qualitative team estimates synthesized from the per-prototype scope cards. The numeric signals are proposed pilot rules, not statistically powered thresholds, and they do not make the three personas directly comparable.
SOURCES: README.md scope cards in prototypes/prototype-a..., prototype-b..., prototype-c...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0:45.
Each prototype tests exactly one decision, and we cut everything that didn't serve it. The cost of each cut: A cannot show real retention (the history is illustrative); B has no score on purpose, so the open question is whether parents want one, and it cannot show that an appointment happened; C tests both eyes together across five states, which is mostly right, but California and Texas also check each eye, and it cannot claim official acceptance. Our biggest cut was the agency side, because that evidence is thinnest. Adding every integration now would raise effort and muddy the comparison. Clinical calibration and validation are separate work for all three.
SOURCES: scope cards and "Deliberate cuts" sections in each prototype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0:40.
What building three versions taught us. First, the hard part isn't the test, it's trust and action, so every version ends in a next step. Second, people act when something forces it: a prescription, a school letter, a DMV date. Each version attaches to one of those moments. Third, the underlying check could be shared; what changes is the front door and how the result is framed.
Close by pointing to the vote: which front door people pick tells us which direction to build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0:45, plus the vote itself.
Before the vote, say one sentence: the vote is data, not a verdict. The room is mostly students, closer to Riley and Alex than to Pat, so a low B vote may say more about the room than about parents. A favorable vote tells us which direction to investigate next, not proven demand.
Leave this slide up during the vote. Ask the class to vote for the prototype they would actually use and to give a reason. The QR codes open each prototype on a phone, so people can try one while they decide. Thank the class. After the results, record the tally and the team's response in docs/assignment-readiness.md.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part of the timed talk. Use it for Q&amp;A: it has the three public links, the repository, and the shared prompt log (at least five prompts per prototype, as the assignment requires).
STATUS TO CONFIRM BEFORE CLASS (see docs/assignment-readiness.md): two human rehearsals per demo, a final public full-flow check, and the Canvas submission are not yet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pic>
        <p:nvPicPr>
          <p:cNvPr id="2" name="Image 0" descr="Focal logo mark">    </p:cNvPr>
          <p:cNvPicPr>
            <a:picLocks noChangeAspect="1"/>
          </p:cNvPicPr>
          <p:nvPr/>
        </p:nvPicPr>
        <p:blipFill>
          <a:blip r:embed="rId1"/>
          <a:stretch>
            <a:fillRect/>
          </a:stretch>
        </p:blipFill>
        <p:spPr>
          <a:xfrm>
            <a:off x="548640" y="6364224"/>
            <a:ext cx="237744" cy="237744"/>
          </a:xfrm>
          <a:prstGeom prst="rect">
            <a:avLst/>
          </a:prstGeom>
        </p:spPr>
      </p:pic>
      <p:sp>
        <p:nvSpPr>
          <p:cNvPr id="3" name="Text 0"/>
          <p:cNvSpPr/>
          <p:nvPr/>
        </p:nvSpPr>
        <p:spPr>
          <a:xfrm>
            <a:off x="868680" y="6336792"/>
            <a:ext cx="4572000" cy="292608"/>
          </a:xfrm>
          <a:prstGeom prst="rect">
            <a:avLst/>
          </a:prstGeom>
          <a:noFill/>
          <a:ln/>
        </p:spPr>
        <p:txBody>
          <a:bodyPr wrap="square" lIns="0" tIns="0" rIns="0" bIns="0" rtlCol="0" anchor="ctr"/>
          <a:lstStyle/>
          <a:p>
            <a:pPr indent="0" marL="0">
              <a:buNone/>
            </a:pPr>
            <a:r>
              <a:rPr lang="en-US" sz="1000" dirty="0">
                <a:solidFill>
                  <a:schemeClr val="accent5"/>
                </a:solidFill>
              </a:rPr>
              <a:t>FOCAL  ·  Team 5  ·  MENG 570</a:t>
            </a:r>
            <a:endParaRPr lang="en-US" sz="1000" dirty="0"/>
          </a:p>
        </p:txBody>
      </p:sp>
      <p:sp>
        <p:nvSpPr>
          <p:cNvPr id="4" name="Text 1"/>
          <p:cNvSpPr/>
          <p:nvPr>
            <p:ph idx="102" type="title" hasCustomPrompt="1"/>
          </p:nvPr>
        </p:nvSpPr>
        <p:spPr>
          <a:xfrm>
            <a:off x="548640" y="676656"/>
            <a:ext cx="11064240" cy="713232"/>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336792"/>
            <a:ext cx="4572000" cy="292608"/>
          </a:xfrm>
          <a:prstGeom prst="rect">
            <a:avLst/>
          </a:prstGeom>
          <a:noFill/>
          <a:ln/>
        </p:spPr>
        <p:txBody>
          <a:bodyPr wrap="square" lIns="0" tIns="0" rIns="0" bIns="0" rtlCol="0" anchor="ctr"/>
          <a:lstStyle/>
          <a:p>
            <a:pPr indent="0" marL="0">
              <a:buNone/>
            </a:pPr>
            <a:r>
              <a:rPr lang="en-US" sz="1000" dirty="0">
                <a:solidFill>
                  <a:schemeClr val="accent6"/>
                </a:solidFill>
              </a:rPr>
              <a:t>FOCAL  ·  Team 5  ·  MENG 570</a:t>
            </a:r>
            <a:endParaRPr lang="en-US" sz="1000" dirty="0"/>
          </a:p>
        </p:txBody>
      </p:sp>
      <p:sp>
        <p:nvSpPr>
          <p:cNvPr id="3" name="Text 1"/>
          <p:cNvSpPr/>
          <p:nvPr>
            <p:ph idx="101" type="title" hasCustomPrompt="1"/>
          </p:nvPr>
        </p:nvSpPr>
        <p:spPr>
          <a:xfrm>
            <a:off x="548640" y="676656"/>
            <a:ext cx="11064240" cy="713232"/>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focal-demo-a.streamlit.app/" TargetMode="External"/><Relationship Id="rId2" Type="http://schemas.openxmlformats.org/officeDocument/2006/relationships/hyperlink" Target="https://focal-demo-b.streamlit.app/" TargetMode="External"/><Relationship Id="rId3" Type="http://schemas.openxmlformats.org/officeDocument/2006/relationships/hyperlink" Target="https://focal-demo-c.streamlit.app/" TargetMode="External"/><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focal-demo-a.streamlit.app/" TargetMode="External"/><Relationship Id="rId4" Type="http://schemas.openxmlformats.org/officeDocument/2006/relationships/hyperlink" Target="https://focal-demo-b.streamlit.app/" TargetMode="External"/><Relationship Id="rId6" Type="http://schemas.openxmlformats.org/officeDocument/2006/relationships/hyperlink" Target="https://focal-demo-c.streamlit.app/" TargetMode="External"/><Relationship Id="rId1" Type="http://schemas.openxmlformats.org/officeDocument/2006/relationships/image" Target="../media/image-12-1.png"/><Relationship Id="rId3" Type="http://schemas.openxmlformats.org/officeDocument/2006/relationships/image" Target="../media/image-12-2.png"/><Relationship Id="rId5" Type="http://schemas.openxmlformats.org/officeDocument/2006/relationships/image" Target="../media/image-12-3.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focal-demo-a.streamlit.app/" TargetMode="External"/><Relationship Id="rId2" Type="http://schemas.openxmlformats.org/officeDocument/2006/relationships/hyperlink" Target="https://focal-demo-b.streamlit.app/" TargetMode="External"/><Relationship Id="rId3" Type="http://schemas.openxmlformats.org/officeDocument/2006/relationships/hyperlink" Target="https://focal-demo-c.streamlit.app/" TargetMode="External"/><Relationship Id="rId4" Type="http://schemas.openxmlformats.org/officeDocument/2006/relationships/hyperlink" Target="https://github.com/haydn-s/focal-technologies" TargetMode="External"/><Relationship Id="rId5" Type="http://schemas.openxmlformats.org/officeDocument/2006/relationships/hyperlink" Target="https://github.com/haydn-s/focal-technologies/blob/main/prompts.md" TargetMode="External"/><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ocal logo">    </p:cNvPr>
          <p:cNvPicPr>
            <a:picLocks noChangeAspect="1"/>
          </p:cNvPicPr>
          <p:nvPr/>
        </p:nvPicPr>
        <p:blipFill>
          <a:blip r:embed="rId1"/>
          <a:stretch>
            <a:fillRect/>
          </a:stretch>
        </p:blipFill>
        <p:spPr>
          <a:xfrm>
            <a:off x="548640" y="640080"/>
            <a:ext cx="731520" cy="731520"/>
          </a:xfrm>
          <a:prstGeom prst="rect">
            <a:avLst/>
          </a:prstGeom>
        </p:spPr>
      </p:pic>
      <p:sp>
        <p:nvSpPr>
          <p:cNvPr id="3" name="Text 0"/>
          <p:cNvSpPr txBox="1"/>
          <p:nvPr/>
        </p:nvSpPr>
        <p:spPr>
          <a:xfrm>
            <a:off x="1463040" y="640080"/>
            <a:ext cx="3657600" cy="731520"/>
          </a:xfrm>
          <a:prstGeom prst="rect">
            <a:avLst/>
          </a:prstGeom>
          <a:noFill/>
          <a:ln/>
        </p:spPr>
        <p:txBody>
          <a:bodyPr wrap="square" lIns="0" tIns="0" rIns="0" bIns="0" rtlCol="0" anchor="ctr"/>
          <a:lstStyle/>
          <a:p>
            <a:pPr indent="0" marL="0">
              <a:buNone/>
            </a:pPr>
            <a:r>
              <a:rPr lang="en-US" sz="2600" b="1" spc="400" kern="0" dirty="0">
                <a:solidFill>
                  <a:schemeClr val="bg1"/>
                </a:solidFill>
              </a:rPr>
              <a:t>FOCAL</a:t>
            </a:r>
            <a:endParaRPr lang="en-US" sz="2600" dirty="0"/>
          </a:p>
        </p:txBody>
      </p:sp>
      <p:sp>
        <p:nvSpPr>
          <p:cNvPr id="4" name="Text 1"/>
          <p:cNvSpPr txBox="1"/>
          <p:nvPr/>
        </p:nvSpPr>
        <p:spPr>
          <a:xfrm>
            <a:off x="548640" y="1920240"/>
            <a:ext cx="91440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MENG 570  ·  PROTOTYPE PRESENTATION  ·  TEAM 5</a:t>
            </a:r>
            <a:endParaRPr lang="en-US" sz="1200" dirty="0"/>
          </a:p>
        </p:txBody>
      </p:sp>
      <p:sp>
        <p:nvSpPr>
          <p:cNvPr id="5" name="Title"/>
          <p:cNvSpPr txBox="1"/>
          <p:nvPr/>
        </p:nvSpPr>
        <p:spPr>
          <a:xfrm>
            <a:off x="548640" y="2286000"/>
            <a:ext cx="9144000" cy="1737360"/>
          </a:xfrm>
          <a:prstGeom prst="rect">
            <a:avLst/>
          </a:prstGeom>
          <a:noFill/>
          <a:ln/>
        </p:spPr>
        <p:txBody>
          <a:bodyPr wrap="square" lIns="0" tIns="0" rIns="0" bIns="0" rtlCol="0" anchor="t"/>
          <a:lstStyle/>
          <a:p>
            <a:pPr indent="0" marL="0">
              <a:buNone/>
            </a:pPr>
            <a:r>
              <a:rPr lang="en-US" sz="5600" b="1" dirty="0">
                <a:solidFill>
                  <a:schemeClr val="bg1"/>
                </a:solidFill>
              </a:rPr>
              <a:t>Three prototypes,</a:t>
            </a:r>
            <a:endParaRPr lang="en-US" sz="5600" dirty="0"/>
          </a:p>
          <a:p>
            <a:pPr indent="0" marL="0">
              <a:buNone/>
            </a:pPr>
            <a:r>
              <a:rPr lang="en-US" sz="5600" b="1" dirty="0">
                <a:solidFill>
                  <a:schemeClr val="bg1"/>
                </a:solidFill>
              </a:rPr>
              <a:t>three hypotheses</a:t>
            </a:r>
            <a:endParaRPr lang="en-US" sz="5600" dirty="0"/>
          </a:p>
        </p:txBody>
      </p:sp>
      <p:sp>
        <p:nvSpPr>
          <p:cNvPr id="6" name="Text 3"/>
          <p:cNvSpPr txBox="1"/>
          <p:nvPr/>
        </p:nvSpPr>
        <p:spPr>
          <a:xfrm>
            <a:off x="548640" y="4160520"/>
            <a:ext cx="9144000" cy="457200"/>
          </a:xfrm>
          <a:prstGeom prst="rect">
            <a:avLst/>
          </a:prstGeom>
          <a:noFill/>
          <a:ln/>
        </p:spPr>
        <p:txBody>
          <a:bodyPr wrap="square" lIns="0" tIns="0" rIns="0" bIns="0" rtlCol="0" anchor="ctr"/>
          <a:lstStyle/>
          <a:p>
            <a:pPr indent="0" marL="0">
              <a:buNone/>
            </a:pPr>
            <a:r>
              <a:rPr lang="en-US" sz="2200" i="1" dirty="0">
                <a:solidFill>
                  <a:schemeClr val="accent6"/>
                </a:solidFill>
              </a:rPr>
              <a:t>Which way should Focal help people act on their vision?</a:t>
            </a:r>
            <a:endParaRPr lang="en-US" sz="2200" dirty="0"/>
          </a:p>
        </p:txBody>
      </p:sp>
      <p:sp>
        <p:nvSpPr>
          <p:cNvPr id="7" name="Text 4"/>
          <p:cNvSpPr txBox="1"/>
          <p:nvPr/>
        </p:nvSpPr>
        <p:spPr>
          <a:xfrm>
            <a:off x="548640" y="5577840"/>
            <a:ext cx="2194560" cy="274320"/>
          </a:xfrm>
          <a:prstGeom prst="rect">
            <a:avLst/>
          </a:prstGeom>
          <a:noFill/>
          <a:ln/>
        </p:spPr>
        <p:txBody>
          <a:bodyPr wrap="square" lIns="0" tIns="0" rIns="0" bIns="0" rtlCol="0" anchor="ctr"/>
          <a:lstStyle/>
          <a:p>
            <a:pPr indent="0" marL="0">
              <a:buNone/>
            </a:pPr>
            <a:r>
              <a:rPr lang="en-US" sz="1500" b="1" dirty="0">
                <a:solidFill>
                  <a:schemeClr val="bg1"/>
                </a:solidFill>
              </a:rPr>
              <a:t>Haydn Stucker</a:t>
            </a:r>
            <a:endParaRPr lang="en-US" sz="1500" dirty="0"/>
          </a:p>
        </p:txBody>
      </p:sp>
      <p:sp>
        <p:nvSpPr>
          <p:cNvPr id="8" name="Text 5"/>
          <p:cNvSpPr txBox="1"/>
          <p:nvPr/>
        </p:nvSpPr>
        <p:spPr>
          <a:xfrm>
            <a:off x="548640" y="5852160"/>
            <a:ext cx="2194560" cy="256032"/>
          </a:xfrm>
          <a:prstGeom prst="rect">
            <a:avLst/>
          </a:prstGeom>
          <a:noFill/>
          <a:ln/>
        </p:spPr>
        <p:txBody>
          <a:bodyPr wrap="square" lIns="0" tIns="0" rIns="0" bIns="0" rtlCol="0" anchor="ctr"/>
          <a:lstStyle/>
          <a:p>
            <a:pPr indent="0" marL="0">
              <a:buNone/>
            </a:pPr>
            <a:r>
              <a:rPr lang="en-US" sz="1200" dirty="0">
                <a:solidFill>
                  <a:schemeClr val="accent6"/>
                </a:solidFill>
              </a:rPr>
              <a:t>CEO</a:t>
            </a:r>
            <a:endParaRPr lang="en-US" sz="1200" dirty="0"/>
          </a:p>
        </p:txBody>
      </p:sp>
      <p:sp>
        <p:nvSpPr>
          <p:cNvPr id="9" name="Text 6"/>
          <p:cNvSpPr txBox="1"/>
          <p:nvPr/>
        </p:nvSpPr>
        <p:spPr>
          <a:xfrm>
            <a:off x="2788920" y="5577840"/>
            <a:ext cx="2194560" cy="274320"/>
          </a:xfrm>
          <a:prstGeom prst="rect">
            <a:avLst/>
          </a:prstGeom>
          <a:noFill/>
          <a:ln/>
        </p:spPr>
        <p:txBody>
          <a:bodyPr wrap="square" lIns="0" tIns="0" rIns="0" bIns="0" rtlCol="0" anchor="ctr"/>
          <a:lstStyle/>
          <a:p>
            <a:pPr indent="0" marL="0">
              <a:buNone/>
            </a:pPr>
            <a:r>
              <a:rPr lang="en-US" sz="1500" b="1" dirty="0">
                <a:solidFill>
                  <a:schemeClr val="bg1"/>
                </a:solidFill>
              </a:rPr>
              <a:t>Burak Donbekci</a:t>
            </a:r>
            <a:endParaRPr lang="en-US" sz="1500" dirty="0"/>
          </a:p>
        </p:txBody>
      </p:sp>
      <p:sp>
        <p:nvSpPr>
          <p:cNvPr id="10" name="Text 7"/>
          <p:cNvSpPr txBox="1"/>
          <p:nvPr/>
        </p:nvSpPr>
        <p:spPr>
          <a:xfrm>
            <a:off x="2788920" y="5852160"/>
            <a:ext cx="2194560" cy="256032"/>
          </a:xfrm>
          <a:prstGeom prst="rect">
            <a:avLst/>
          </a:prstGeom>
          <a:noFill/>
          <a:ln/>
        </p:spPr>
        <p:txBody>
          <a:bodyPr wrap="square" lIns="0" tIns="0" rIns="0" bIns="0" rtlCol="0" anchor="ctr"/>
          <a:lstStyle/>
          <a:p>
            <a:pPr indent="0" marL="0">
              <a:buNone/>
            </a:pPr>
            <a:r>
              <a:rPr lang="en-US" sz="1200" dirty="0">
                <a:solidFill>
                  <a:schemeClr val="accent6"/>
                </a:solidFill>
              </a:rPr>
              <a:t>CTO</a:t>
            </a:r>
            <a:endParaRPr lang="en-US" sz="1200" dirty="0"/>
          </a:p>
        </p:txBody>
      </p:sp>
      <p:sp>
        <p:nvSpPr>
          <p:cNvPr id="11" name="Text 8"/>
          <p:cNvSpPr txBox="1"/>
          <p:nvPr/>
        </p:nvSpPr>
        <p:spPr>
          <a:xfrm>
            <a:off x="5029200" y="5577840"/>
            <a:ext cx="2194560" cy="274320"/>
          </a:xfrm>
          <a:prstGeom prst="rect">
            <a:avLst/>
          </a:prstGeom>
          <a:noFill/>
          <a:ln/>
        </p:spPr>
        <p:txBody>
          <a:bodyPr wrap="square" lIns="0" tIns="0" rIns="0" bIns="0" rtlCol="0" anchor="ctr"/>
          <a:lstStyle/>
          <a:p>
            <a:pPr indent="0" marL="0">
              <a:buNone/>
            </a:pPr>
            <a:r>
              <a:rPr lang="en-US" sz="1500" b="1" dirty="0">
                <a:solidFill>
                  <a:schemeClr val="bg1"/>
                </a:solidFill>
              </a:rPr>
              <a:t>Hadley McCormack</a:t>
            </a:r>
            <a:endParaRPr lang="en-US" sz="1500" dirty="0"/>
          </a:p>
        </p:txBody>
      </p:sp>
      <p:sp>
        <p:nvSpPr>
          <p:cNvPr id="12" name="Text 9"/>
          <p:cNvSpPr txBox="1"/>
          <p:nvPr/>
        </p:nvSpPr>
        <p:spPr>
          <a:xfrm>
            <a:off x="5029200" y="5852160"/>
            <a:ext cx="2194560" cy="256032"/>
          </a:xfrm>
          <a:prstGeom prst="rect">
            <a:avLst/>
          </a:prstGeom>
          <a:noFill/>
          <a:ln/>
        </p:spPr>
        <p:txBody>
          <a:bodyPr wrap="square" lIns="0" tIns="0" rIns="0" bIns="0" rtlCol="0" anchor="ctr"/>
          <a:lstStyle/>
          <a:p>
            <a:pPr indent="0" marL="0">
              <a:buNone/>
            </a:pPr>
            <a:r>
              <a:rPr lang="en-US" sz="1200" dirty="0">
                <a:solidFill>
                  <a:schemeClr val="accent6"/>
                </a:solidFill>
              </a:rPr>
              <a:t>CFO</a:t>
            </a:r>
            <a:endParaRPr lang="en-US" sz="1200" dirty="0"/>
          </a:p>
        </p:txBody>
      </p:sp>
      <p:sp>
        <p:nvSpPr>
          <p:cNvPr id="13" name="Text 10"/>
          <p:cNvSpPr txBox="1"/>
          <p:nvPr/>
        </p:nvSpPr>
        <p:spPr>
          <a:xfrm>
            <a:off x="7269480" y="5577840"/>
            <a:ext cx="2194560" cy="274320"/>
          </a:xfrm>
          <a:prstGeom prst="rect">
            <a:avLst/>
          </a:prstGeom>
          <a:noFill/>
          <a:ln/>
        </p:spPr>
        <p:txBody>
          <a:bodyPr wrap="square" lIns="0" tIns="0" rIns="0" bIns="0" rtlCol="0" anchor="ctr"/>
          <a:lstStyle/>
          <a:p>
            <a:pPr indent="0" marL="0">
              <a:buNone/>
            </a:pPr>
            <a:r>
              <a:rPr lang="en-US" sz="1500" b="1" dirty="0">
                <a:solidFill>
                  <a:schemeClr val="bg1"/>
                </a:solidFill>
              </a:rPr>
              <a:t>Fan Zhang</a:t>
            </a:r>
            <a:endParaRPr lang="en-US" sz="1500" dirty="0"/>
          </a:p>
        </p:txBody>
      </p:sp>
      <p:sp>
        <p:nvSpPr>
          <p:cNvPr id="14" name="Text 11"/>
          <p:cNvSpPr txBox="1"/>
          <p:nvPr/>
        </p:nvSpPr>
        <p:spPr>
          <a:xfrm>
            <a:off x="7269480" y="5852160"/>
            <a:ext cx="2194560" cy="256032"/>
          </a:xfrm>
          <a:prstGeom prst="rect">
            <a:avLst/>
          </a:prstGeom>
          <a:noFill/>
          <a:ln/>
        </p:spPr>
        <p:txBody>
          <a:bodyPr wrap="square" lIns="0" tIns="0" rIns="0" bIns="0" rtlCol="0" anchor="ctr"/>
          <a:lstStyle/>
          <a:p>
            <a:pPr indent="0" marL="0">
              <a:buNone/>
            </a:pPr>
            <a:r>
              <a:rPr lang="en-US" sz="1200" dirty="0">
                <a:solidFill>
                  <a:schemeClr val="accent6"/>
                </a:solidFill>
              </a:rPr>
              <a:t>CCO</a:t>
            </a:r>
            <a:endParaRPr lang="en-US" sz="1200" dirty="0"/>
          </a:p>
        </p:txBody>
      </p:sp>
      <p:sp>
        <p:nvSpPr>
          <p:cNvPr id="15" name="Text 12"/>
          <p:cNvSpPr txBox="1"/>
          <p:nvPr/>
        </p:nvSpPr>
        <p:spPr>
          <a:xfrm>
            <a:off x="9509760" y="5577840"/>
            <a:ext cx="2194560" cy="274320"/>
          </a:xfrm>
          <a:prstGeom prst="rect">
            <a:avLst/>
          </a:prstGeom>
          <a:noFill/>
          <a:ln/>
        </p:spPr>
        <p:txBody>
          <a:bodyPr wrap="square" lIns="0" tIns="0" rIns="0" bIns="0" rtlCol="0" anchor="ctr"/>
          <a:lstStyle/>
          <a:p>
            <a:pPr indent="0" marL="0">
              <a:buNone/>
            </a:pPr>
            <a:r>
              <a:rPr lang="en-US" sz="1500" b="1" dirty="0">
                <a:solidFill>
                  <a:schemeClr val="bg1"/>
                </a:solidFill>
              </a:rPr>
              <a:t>Qingyi Hu</a:t>
            </a:r>
            <a:endParaRPr lang="en-US" sz="1500" dirty="0"/>
          </a:p>
        </p:txBody>
      </p:sp>
      <p:sp>
        <p:nvSpPr>
          <p:cNvPr id="16" name="Text 13"/>
          <p:cNvSpPr txBox="1"/>
          <p:nvPr/>
        </p:nvSpPr>
        <p:spPr>
          <a:xfrm>
            <a:off x="9509760" y="5852160"/>
            <a:ext cx="2194560" cy="256032"/>
          </a:xfrm>
          <a:prstGeom prst="rect">
            <a:avLst/>
          </a:prstGeom>
          <a:noFill/>
          <a:ln/>
        </p:spPr>
        <p:txBody>
          <a:bodyPr wrap="square" lIns="0" tIns="0" rIns="0" bIns="0" rtlCol="0" anchor="ctr"/>
          <a:lstStyle/>
          <a:p>
            <a:pPr indent="0" marL="0">
              <a:buNone/>
            </a:pPr>
            <a:r>
              <a:rPr lang="en-US" sz="1200" dirty="0">
                <a:solidFill>
                  <a:schemeClr val="accent6"/>
                </a:solidFill>
              </a:rPr>
              <a:t>CPO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THE PROBLEM</a:t>
            </a:r>
            <a:endParaRPr lang="en-US" sz="1200" dirty="0"/>
          </a:p>
        </p:txBody>
      </p:sp>
      <p:sp>
        <p:nvSpPr>
          <p:cNvPr id="3" name="Text 1"/>
          <p:cNvSpPr/>
          <p:nvPr>
            <p:ph idx="102"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tx2"/>
                </a:solidFill>
              </a:rPr>
              <a:t>Convenient or thorough: pick one</a:t>
            </a:r>
            <a:endParaRPr lang="en-US" sz="3600" dirty="0"/>
          </a:p>
        </p:txBody>
      </p:sp>
      <p:sp>
        <p:nvSpPr>
          <p:cNvPr id="4" name="Stat"/>
          <p:cNvSpPr txBox="1"/>
          <p:nvPr/>
        </p:nvSpPr>
        <p:spPr>
          <a:xfrm>
            <a:off x="548640" y="1783080"/>
            <a:ext cx="5669280" cy="1188720"/>
          </a:xfrm>
          <a:prstGeom prst="rect">
            <a:avLst/>
          </a:prstGeom>
          <a:noFill/>
          <a:ln/>
        </p:spPr>
        <p:txBody>
          <a:bodyPr wrap="square" lIns="0" tIns="0" rIns="0" bIns="0" rtlCol="0" anchor="ctr"/>
          <a:lstStyle/>
          <a:p>
            <a:pPr indent="0" marL="0">
              <a:buNone/>
            </a:pPr>
            <a:r>
              <a:rPr lang="en-US" sz="8000" b="1" dirty="0">
                <a:solidFill>
                  <a:schemeClr val="tx2"/>
                </a:solidFill>
              </a:rPr>
              <a:t>2.2 billion</a:t>
            </a:r>
            <a:endParaRPr lang="en-US" sz="8000" dirty="0"/>
          </a:p>
        </p:txBody>
      </p:sp>
      <p:sp>
        <p:nvSpPr>
          <p:cNvPr id="5" name="Text 3"/>
          <p:cNvSpPr txBox="1"/>
          <p:nvPr/>
        </p:nvSpPr>
        <p:spPr>
          <a:xfrm>
            <a:off x="548640" y="3108960"/>
            <a:ext cx="5120640" cy="1097280"/>
          </a:xfrm>
          <a:prstGeom prst="rect">
            <a:avLst/>
          </a:prstGeom>
          <a:noFill/>
          <a:ln/>
        </p:spPr>
        <p:txBody>
          <a:bodyPr wrap="square" lIns="0" tIns="0" rIns="0" bIns="0" rtlCol="0" anchor="t"/>
          <a:lstStyle/>
          <a:p>
            <a:pPr indent="0" marL="0">
              <a:buNone/>
            </a:pPr>
            <a:r>
              <a:rPr lang="en-US" sz="1800" dirty="0">
                <a:solidFill>
                  <a:schemeClr val="tx1"/>
                </a:solidFill>
              </a:rPr>
              <a:t>people live with a vision impairment. At least 1 billion of those cases were preventable or not yet addressed.</a:t>
            </a:r>
            <a:endParaRPr lang="en-US" sz="1800" dirty="0"/>
          </a:p>
        </p:txBody>
      </p:sp>
      <p:sp>
        <p:nvSpPr>
          <p:cNvPr id="6" name="Text 4"/>
          <p:cNvSpPr txBox="1"/>
          <p:nvPr/>
        </p:nvSpPr>
        <p:spPr>
          <a:xfrm>
            <a:off x="548640" y="3840480"/>
            <a:ext cx="5120640" cy="685800"/>
          </a:xfrm>
          <a:prstGeom prst="rect">
            <a:avLst/>
          </a:prstGeom>
          <a:noFill/>
          <a:ln/>
        </p:spPr>
        <p:txBody>
          <a:bodyPr wrap="square" lIns="0" tIns="0" rIns="0" bIns="0" rtlCol="0" anchor="t"/>
          <a:lstStyle/>
          <a:p>
            <a:pPr indent="0" marL="0">
              <a:buNone/>
            </a:pPr>
            <a:r>
              <a:rPr lang="en-US" sz="1800" i="1" dirty="0">
                <a:solidFill>
                  <a:schemeClr val="accent1"/>
                </a:solidFill>
              </a:rPr>
              <a:t>Early detection needs routine checks. Routine checks are hard to get.</a:t>
            </a:r>
            <a:endParaRPr lang="en-US" sz="1800" dirty="0"/>
          </a:p>
        </p:txBody>
      </p:sp>
      <p:sp>
        <p:nvSpPr>
          <p:cNvPr id="7" name="Label"/>
          <p:cNvSpPr txBox="1"/>
          <p:nvPr/>
        </p:nvSpPr>
        <p:spPr>
          <a:xfrm>
            <a:off x="548640" y="4663440"/>
            <a:ext cx="512064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WHO WE'RE BUILDING FOR</a:t>
            </a:r>
            <a:endParaRPr lang="en-US" sz="1100" dirty="0"/>
          </a:p>
        </p:txBody>
      </p:sp>
      <p:sp>
        <p:nvSpPr>
          <p:cNvPr id="8" name="Text 6"/>
          <p:cNvSpPr txBox="1"/>
          <p:nvPr/>
        </p:nvSpPr>
        <p:spPr>
          <a:xfrm>
            <a:off x="548640" y="4937760"/>
            <a:ext cx="5120640" cy="822960"/>
          </a:xfrm>
          <a:prstGeom prst="rect">
            <a:avLst/>
          </a:prstGeom>
          <a:noFill/>
          <a:ln/>
        </p:spPr>
        <p:txBody>
          <a:bodyPr wrap="square" lIns="0" tIns="0" rIns="0" bIns="0" rtlCol="0" anchor="t"/>
          <a:lstStyle/>
          <a:p>
            <a:pPr indent="0" marL="0">
              <a:buNone/>
            </a:pPr>
            <a:r>
              <a:rPr lang="en-US" sz="1400" dirty="0">
                <a:solidFill>
                  <a:schemeClr val="tx1"/>
                </a:solidFill>
              </a:rPr>
              <a:t>Adults putting off routine eye checks (Riley) · parents of young kids (Pat) · first-time license applicants (Alex)</a:t>
            </a:r>
            <a:endParaRPr lang="en-US" sz="1400" dirty="0"/>
          </a:p>
        </p:txBody>
      </p:sp>
      <p:sp>
        <p:nvSpPr>
          <p:cNvPr id="9" name="Card"/>
          <p:cNvSpPr/>
          <p:nvPr/>
        </p:nvSpPr>
        <p:spPr>
          <a:xfrm>
            <a:off x="6492240" y="1691640"/>
            <a:ext cx="5120640" cy="1143000"/>
          </a:xfrm>
          <a:prstGeom prst="roundRect">
            <a:avLst>
              <a:gd name="adj" fmla="val 6400"/>
            </a:avLst>
          </a:prstGeom>
          <a:solidFill>
            <a:schemeClr val="bg1"/>
          </a:solidFill>
          <a:ln/>
          <a:effectLst>
            <a:outerShdw sx="100000" sy="100000" kx="0" ky="0" algn="bl" rotWithShape="0" blurRad="101600" dist="25400" dir="5400000">
              <a:srgbClr val="10265F">
                <a:alpha val="10000"/>
              </a:srgbClr>
            </a:outerShdw>
          </a:effectLst>
        </p:spPr>
      </p:sp>
      <p:sp>
        <p:nvSpPr>
          <p:cNvPr id="10" name="Icon circle"/>
          <p:cNvSpPr/>
          <p:nvPr/>
        </p:nvSpPr>
        <p:spPr>
          <a:xfrm>
            <a:off x="6720840" y="1965960"/>
            <a:ext cx="594360" cy="594360"/>
          </a:xfrm>
          <a:prstGeom prst="ellipse">
            <a:avLst/>
          </a:prstGeom>
          <a:solidFill>
            <a:schemeClr val="accent1"/>
          </a:solidFill>
          <a:ln/>
        </p:spPr>
      </p:sp>
      <p:pic>
        <p:nvPicPr>
          <p:cNvPr id="11" name="Image 0" descr="icon">    </p:cNvPr>
          <p:cNvPicPr>
            <a:picLocks noChangeAspect="1"/>
          </p:cNvPicPr>
          <p:nvPr/>
        </p:nvPicPr>
        <p:blipFill>
          <a:blip r:embed="rId1"/>
          <a:stretch>
            <a:fillRect/>
          </a:stretch>
        </p:blipFill>
        <p:spPr>
          <a:xfrm>
            <a:off x="6869430" y="2114550"/>
            <a:ext cx="297180" cy="297180"/>
          </a:xfrm>
          <a:prstGeom prst="rect">
            <a:avLst/>
          </a:prstGeom>
        </p:spPr>
      </p:pic>
      <p:sp>
        <p:nvSpPr>
          <p:cNvPr id="12" name="Text 9"/>
          <p:cNvSpPr txBox="1"/>
          <p:nvPr/>
        </p:nvSpPr>
        <p:spPr>
          <a:xfrm>
            <a:off x="7543800" y="1837944"/>
            <a:ext cx="3931920" cy="365760"/>
          </a:xfrm>
          <a:prstGeom prst="rect">
            <a:avLst/>
          </a:prstGeom>
          <a:noFill/>
          <a:ln/>
        </p:spPr>
        <p:txBody>
          <a:bodyPr wrap="square" lIns="0" tIns="0" rIns="0" bIns="0" rtlCol="0" anchor="ctr"/>
          <a:lstStyle/>
          <a:p>
            <a:pPr indent="0" marL="0">
              <a:buNone/>
            </a:pPr>
            <a:r>
              <a:rPr lang="en-US" sz="2000" b="1" dirty="0">
                <a:solidFill>
                  <a:schemeClr val="tx2"/>
                </a:solidFill>
              </a:rPr>
              <a:t>Access is hard</a:t>
            </a:r>
            <a:endParaRPr lang="en-US" sz="2000" dirty="0"/>
          </a:p>
        </p:txBody>
      </p:sp>
      <p:sp>
        <p:nvSpPr>
          <p:cNvPr id="13" name="Text 10"/>
          <p:cNvSpPr txBox="1"/>
          <p:nvPr/>
        </p:nvSpPr>
        <p:spPr>
          <a:xfrm>
            <a:off x="7543800" y="2221992"/>
            <a:ext cx="3931920" cy="548640"/>
          </a:xfrm>
          <a:prstGeom prst="rect">
            <a:avLst/>
          </a:prstGeom>
          <a:noFill/>
          <a:ln/>
        </p:spPr>
        <p:txBody>
          <a:bodyPr wrap="square" lIns="0" tIns="0" rIns="0" bIns="0" rtlCol="0" anchor="t"/>
          <a:lstStyle/>
          <a:p>
            <a:pPr indent="0" marL="0">
              <a:buNone/>
            </a:pPr>
            <a:r>
              <a:rPr lang="en-US" sz="1400" dirty="0">
                <a:solidFill>
                  <a:schemeClr val="accent5"/>
                </a:solidFill>
              </a:rPr>
              <a:t>Even a basic check means a clinic visit and a wait.</a:t>
            </a:r>
            <a:endParaRPr lang="en-US" sz="1400" dirty="0"/>
          </a:p>
        </p:txBody>
      </p:sp>
      <p:sp>
        <p:nvSpPr>
          <p:cNvPr id="14" name="Card"/>
          <p:cNvSpPr/>
          <p:nvPr/>
        </p:nvSpPr>
        <p:spPr>
          <a:xfrm>
            <a:off x="6492240" y="3063240"/>
            <a:ext cx="5120640" cy="1143000"/>
          </a:xfrm>
          <a:prstGeom prst="roundRect">
            <a:avLst>
              <a:gd name="adj" fmla="val 6400"/>
            </a:avLst>
          </a:prstGeom>
          <a:solidFill>
            <a:schemeClr val="bg1"/>
          </a:solidFill>
          <a:ln/>
          <a:effectLst>
            <a:outerShdw sx="100000" sy="100000" kx="0" ky="0" algn="bl" rotWithShape="0" blurRad="101600" dist="25400" dir="5400000">
              <a:srgbClr val="10265F">
                <a:alpha val="10000"/>
              </a:srgbClr>
            </a:outerShdw>
          </a:effectLst>
        </p:spPr>
      </p:sp>
      <p:sp>
        <p:nvSpPr>
          <p:cNvPr id="15" name="Icon circle"/>
          <p:cNvSpPr/>
          <p:nvPr/>
        </p:nvSpPr>
        <p:spPr>
          <a:xfrm>
            <a:off x="6720840" y="3337560"/>
            <a:ext cx="594360" cy="594360"/>
          </a:xfrm>
          <a:prstGeom prst="ellipse">
            <a:avLst/>
          </a:prstGeom>
          <a:solidFill>
            <a:schemeClr val="accent1"/>
          </a:solidFill>
          <a:ln/>
        </p:spPr>
      </p:sp>
      <p:pic>
        <p:nvPicPr>
          <p:cNvPr id="16" name="Image 1" descr="icon">    </p:cNvPr>
          <p:cNvPicPr>
            <a:picLocks noChangeAspect="1"/>
          </p:cNvPicPr>
          <p:nvPr/>
        </p:nvPicPr>
        <p:blipFill>
          <a:blip r:embed="rId2"/>
          <a:stretch>
            <a:fillRect/>
          </a:stretch>
        </p:blipFill>
        <p:spPr>
          <a:xfrm>
            <a:off x="6869430" y="3486150"/>
            <a:ext cx="297180" cy="297180"/>
          </a:xfrm>
          <a:prstGeom prst="rect">
            <a:avLst/>
          </a:prstGeom>
        </p:spPr>
      </p:pic>
      <p:sp>
        <p:nvSpPr>
          <p:cNvPr id="17" name="Text 13"/>
          <p:cNvSpPr txBox="1"/>
          <p:nvPr/>
        </p:nvSpPr>
        <p:spPr>
          <a:xfrm>
            <a:off x="7543800" y="3209544"/>
            <a:ext cx="3931920" cy="365760"/>
          </a:xfrm>
          <a:prstGeom prst="rect">
            <a:avLst/>
          </a:prstGeom>
          <a:noFill/>
          <a:ln/>
        </p:spPr>
        <p:txBody>
          <a:bodyPr wrap="square" lIns="0" tIns="0" rIns="0" bIns="0" rtlCol="0" anchor="ctr"/>
          <a:lstStyle/>
          <a:p>
            <a:pPr indent="0" marL="0">
              <a:buNone/>
            </a:pPr>
            <a:r>
              <a:rPr lang="en-US" sz="2000" b="1" dirty="0">
                <a:solidFill>
                  <a:schemeClr val="tx2"/>
                </a:solidFill>
              </a:rPr>
              <a:t>Change is hard to see</a:t>
            </a:r>
            <a:endParaRPr lang="en-US" sz="2000" dirty="0"/>
          </a:p>
        </p:txBody>
      </p:sp>
      <p:sp>
        <p:nvSpPr>
          <p:cNvPr id="18" name="Text 14"/>
          <p:cNvSpPr txBox="1"/>
          <p:nvPr/>
        </p:nvSpPr>
        <p:spPr>
          <a:xfrm>
            <a:off x="7543800" y="3593592"/>
            <a:ext cx="3931920" cy="548640"/>
          </a:xfrm>
          <a:prstGeom prst="rect">
            <a:avLst/>
          </a:prstGeom>
          <a:noFill/>
          <a:ln/>
        </p:spPr>
        <p:txBody>
          <a:bodyPr wrap="square" lIns="0" tIns="0" rIns="0" bIns="0" rtlCol="0" anchor="t"/>
          <a:lstStyle/>
          <a:p>
            <a:pPr indent="0" marL="0">
              <a:buNone/>
            </a:pPr>
            <a:r>
              <a:rPr lang="en-US" sz="1400" dirty="0">
                <a:solidFill>
                  <a:schemeClr val="accent5"/>
                </a:solidFill>
              </a:rPr>
              <a:t>One snapshot can't show a trend, and kids memorize home charts.</a:t>
            </a:r>
            <a:endParaRPr lang="en-US" sz="1400" dirty="0"/>
          </a:p>
        </p:txBody>
      </p:sp>
      <p:sp>
        <p:nvSpPr>
          <p:cNvPr id="19" name="Card"/>
          <p:cNvSpPr/>
          <p:nvPr/>
        </p:nvSpPr>
        <p:spPr>
          <a:xfrm>
            <a:off x="6492240" y="4434840"/>
            <a:ext cx="5120640" cy="1143000"/>
          </a:xfrm>
          <a:prstGeom prst="roundRect">
            <a:avLst>
              <a:gd name="adj" fmla="val 6400"/>
            </a:avLst>
          </a:prstGeom>
          <a:solidFill>
            <a:schemeClr val="bg1"/>
          </a:solidFill>
          <a:ln/>
          <a:effectLst>
            <a:outerShdw sx="100000" sy="100000" kx="0" ky="0" algn="bl" rotWithShape="0" blurRad="101600" dist="25400" dir="5400000">
              <a:srgbClr val="10265F">
                <a:alpha val="10000"/>
              </a:srgbClr>
            </a:outerShdw>
          </a:effectLst>
        </p:spPr>
      </p:sp>
      <p:sp>
        <p:nvSpPr>
          <p:cNvPr id="20" name="Icon circle"/>
          <p:cNvSpPr/>
          <p:nvPr/>
        </p:nvSpPr>
        <p:spPr>
          <a:xfrm>
            <a:off x="6720840" y="4709160"/>
            <a:ext cx="594360" cy="594360"/>
          </a:xfrm>
          <a:prstGeom prst="ellipse">
            <a:avLst/>
          </a:prstGeom>
          <a:solidFill>
            <a:schemeClr val="accent1"/>
          </a:solidFill>
          <a:ln/>
        </p:spPr>
      </p:sp>
      <p:pic>
        <p:nvPicPr>
          <p:cNvPr id="21" name="Image 2" descr="icon">    </p:cNvPr>
          <p:cNvPicPr>
            <a:picLocks noChangeAspect="1"/>
          </p:cNvPicPr>
          <p:nvPr/>
        </p:nvPicPr>
        <p:blipFill>
          <a:blip r:embed="rId3"/>
          <a:stretch>
            <a:fillRect/>
          </a:stretch>
        </p:blipFill>
        <p:spPr>
          <a:xfrm>
            <a:off x="6869430" y="4857750"/>
            <a:ext cx="297180" cy="297180"/>
          </a:xfrm>
          <a:prstGeom prst="rect">
            <a:avLst/>
          </a:prstGeom>
        </p:spPr>
      </p:pic>
      <p:sp>
        <p:nvSpPr>
          <p:cNvPr id="22" name="Text 17"/>
          <p:cNvSpPr txBox="1"/>
          <p:nvPr/>
        </p:nvSpPr>
        <p:spPr>
          <a:xfrm>
            <a:off x="7543800" y="4581144"/>
            <a:ext cx="3931920" cy="365760"/>
          </a:xfrm>
          <a:prstGeom prst="rect">
            <a:avLst/>
          </a:prstGeom>
          <a:noFill/>
          <a:ln/>
        </p:spPr>
        <p:txBody>
          <a:bodyPr wrap="square" lIns="0" tIns="0" rIns="0" bIns="0" rtlCol="0" anchor="ctr"/>
          <a:lstStyle/>
          <a:p>
            <a:pPr indent="0" marL="0">
              <a:buNone/>
            </a:pPr>
            <a:r>
              <a:rPr lang="en-US" sz="2000" b="1" dirty="0">
                <a:solidFill>
                  <a:schemeClr val="tx2"/>
                </a:solidFill>
              </a:rPr>
              <a:t>Online tests aren't trusted</a:t>
            </a:r>
            <a:endParaRPr lang="en-US" sz="2000" dirty="0"/>
          </a:p>
        </p:txBody>
      </p:sp>
      <p:sp>
        <p:nvSpPr>
          <p:cNvPr id="23" name="Text 18"/>
          <p:cNvSpPr txBox="1"/>
          <p:nvPr/>
        </p:nvSpPr>
        <p:spPr>
          <a:xfrm>
            <a:off x="7543800" y="4965192"/>
            <a:ext cx="3931920" cy="548640"/>
          </a:xfrm>
          <a:prstGeom prst="rect">
            <a:avLst/>
          </a:prstGeom>
          <a:noFill/>
          <a:ln/>
        </p:spPr>
        <p:txBody>
          <a:bodyPr wrap="square" lIns="0" tIns="0" rIns="0" bIns="0" rtlCol="0" anchor="t"/>
          <a:lstStyle/>
          <a:p>
            <a:pPr indent="0" marL="0">
              <a:buNone/>
            </a:pPr>
            <a:r>
              <a:rPr lang="en-US" sz="1400" dirty="0">
                <a:solidFill>
                  <a:schemeClr val="accent5"/>
                </a:solidFill>
              </a:rPr>
              <a:t>No credible source behind them, and a number with no next step.</a:t>
            </a:r>
            <a:endParaRPr lang="en-US" sz="1400" dirty="0"/>
          </a:p>
        </p:txBody>
      </p:sp>
      <p:sp>
        <p:nvSpPr>
          <p:cNvPr id="24" name="Text 19"/>
          <p:cNvSpPr txBox="1"/>
          <p:nvPr/>
        </p:nvSpPr>
        <p:spPr>
          <a:xfrm>
            <a:off x="548640" y="5897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Source: WHO, World report on vision (2019)</a:t>
            </a:r>
            <a:endParaRPr lang="en-US" sz="10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HOW OUR THINKING CHANGED</a:t>
            </a:r>
            <a:endParaRPr lang="en-US" sz="1200" dirty="0"/>
          </a:p>
        </p:txBody>
      </p:sp>
      <p:sp>
        <p:nvSpPr>
          <p:cNvPr id="3" name="Text 1"/>
          <p:cNvSpPr/>
          <p:nvPr>
            <p:ph idx="102"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tx2"/>
                </a:solidFill>
              </a:rPr>
              <a:t>What we knew then vs. now</a:t>
            </a:r>
            <a:endParaRPr lang="en-US" sz="3600" dirty="0"/>
          </a:p>
        </p:txBody>
      </p:sp>
      <p:sp>
        <p:nvSpPr>
          <p:cNvPr id="4" name="Card"/>
          <p:cNvSpPr/>
          <p:nvPr/>
        </p:nvSpPr>
        <p:spPr>
          <a:xfrm>
            <a:off x="548640" y="1645920"/>
            <a:ext cx="4754880" cy="3291840"/>
          </a:xfrm>
          <a:prstGeom prst="roundRect">
            <a:avLst>
              <a:gd name="adj" fmla="val 2222"/>
            </a:avLst>
          </a:prstGeom>
          <a:solidFill>
            <a:schemeClr val="accent6"/>
          </a:solidFill>
          <a:ln/>
        </p:spPr>
      </p:sp>
      <p:sp>
        <p:nvSpPr>
          <p:cNvPr id="5" name="Text 3"/>
          <p:cNvSpPr txBox="1"/>
          <p:nvPr/>
        </p:nvSpPr>
        <p:spPr>
          <a:xfrm>
            <a:off x="822960" y="1828800"/>
            <a:ext cx="4206240" cy="411480"/>
          </a:xfrm>
          <a:prstGeom prst="rect">
            <a:avLst/>
          </a:prstGeom>
          <a:noFill/>
          <a:ln/>
        </p:spPr>
        <p:txBody>
          <a:bodyPr wrap="square" lIns="0" tIns="0" rIns="0" bIns="0" rtlCol="0" anchor="ctr"/>
          <a:lstStyle/>
          <a:p>
            <a:pPr indent="0" marL="0">
              <a:buNone/>
            </a:pPr>
            <a:r>
              <a:rPr lang="en-US" sz="2200" b="1" dirty="0">
                <a:solidFill>
                  <a:schemeClr val="accent5"/>
                </a:solidFill>
              </a:rPr>
              <a:t>When we started</a:t>
            </a:r>
            <a:endParaRPr lang="en-US" sz="2200" dirty="0"/>
          </a:p>
        </p:txBody>
      </p:sp>
      <p:sp>
        <p:nvSpPr>
          <p:cNvPr id="6" name="Text 4"/>
          <p:cNvSpPr txBox="1"/>
          <p:nvPr/>
        </p:nvSpPr>
        <p:spPr>
          <a:xfrm>
            <a:off x="822960" y="2377440"/>
            <a:ext cx="420624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Problem: vision testing is hard to access and outdated</a:t>
            </a:r>
            <a:endParaRPr lang="en-US" sz="1600" dirty="0"/>
          </a:p>
          <a:p>
            <a:pPr marL="342900" indent="-342900">
              <a:spcAft>
                <a:spcPts val="1000"/>
              </a:spcAft>
              <a:buSzPct val="100000"/>
              <a:buChar char="•"/>
            </a:pPr>
            <a:r>
              <a:rPr lang="en-US" sz="1600" dirty="0">
                <a:solidFill>
                  <a:schemeClr val="tx1"/>
                </a:solidFill>
              </a:rPr>
              <a:t>People need a more accurate test</a:t>
            </a:r>
            <a:endParaRPr lang="en-US" sz="1600" dirty="0"/>
          </a:p>
          <a:p>
            <a:pPr marL="342900" indent="-342900">
              <a:spcAft>
                <a:spcPts val="1000"/>
              </a:spcAft>
              <a:buSzPct val="100000"/>
              <a:buChar char="•"/>
            </a:pPr>
            <a:r>
              <a:rPr lang="en-US" sz="1600" dirty="0">
                <a:solidFill>
                  <a:schemeClr val="tx1"/>
                </a:solidFill>
              </a:rPr>
              <a:t>Big institutional buyers: DMVs, airlines, pilots</a:t>
            </a:r>
            <a:endParaRPr lang="en-US" sz="1600" dirty="0"/>
          </a:p>
        </p:txBody>
      </p:sp>
      <p:sp>
        <p:nvSpPr>
          <p:cNvPr id="7" name="Icon circle"/>
          <p:cNvSpPr/>
          <p:nvPr/>
        </p:nvSpPr>
        <p:spPr>
          <a:xfrm>
            <a:off x="5577840" y="3017520"/>
            <a:ext cx="548640" cy="548640"/>
          </a:xfrm>
          <a:prstGeom prst="ellipse">
            <a:avLst/>
          </a:prstGeom>
          <a:solidFill>
            <a:schemeClr val="accent1"/>
          </a:solidFill>
          <a:ln/>
        </p:spPr>
      </p:sp>
      <p:pic>
        <p:nvPicPr>
          <p:cNvPr id="8" name="Image 0" descr="icon">    </p:cNvPr>
          <p:cNvPicPr>
            <a:picLocks noChangeAspect="1"/>
          </p:cNvPicPr>
          <p:nvPr/>
        </p:nvPicPr>
        <p:blipFill>
          <a:blip r:embed="rId1"/>
          <a:stretch>
            <a:fillRect/>
          </a:stretch>
        </p:blipFill>
        <p:spPr>
          <a:xfrm>
            <a:off x="5715000" y="3154680"/>
            <a:ext cx="274320" cy="274320"/>
          </a:xfrm>
          <a:prstGeom prst="rect">
            <a:avLst/>
          </a:prstGeom>
        </p:spPr>
      </p:pic>
      <p:sp>
        <p:nvSpPr>
          <p:cNvPr id="9" name="Card"/>
          <p:cNvSpPr/>
          <p:nvPr/>
        </p:nvSpPr>
        <p:spPr>
          <a:xfrm>
            <a:off x="6400800" y="1645920"/>
            <a:ext cx="5239512" cy="3291840"/>
          </a:xfrm>
          <a:prstGeom prst="roundRect">
            <a:avLst>
              <a:gd name="adj" fmla="val 2222"/>
            </a:avLst>
          </a:prstGeom>
          <a:solidFill>
            <a:schemeClr val="bg1"/>
          </a:solidFill>
          <a:ln/>
          <a:effectLst>
            <a:outerShdw sx="100000" sy="100000" kx="0" ky="0" algn="bl" rotWithShape="0" blurRad="101600" dist="25400" dir="5400000">
              <a:srgbClr val="10265F">
                <a:alpha val="10000"/>
              </a:srgbClr>
            </a:outerShdw>
          </a:effectLst>
        </p:spPr>
      </p:sp>
      <p:sp>
        <p:nvSpPr>
          <p:cNvPr id="10" name="Text 7"/>
          <p:cNvSpPr txBox="1"/>
          <p:nvPr/>
        </p:nvSpPr>
        <p:spPr>
          <a:xfrm>
            <a:off x="6675120" y="1828800"/>
            <a:ext cx="4754880" cy="411480"/>
          </a:xfrm>
          <a:prstGeom prst="rect">
            <a:avLst/>
          </a:prstGeom>
          <a:noFill/>
          <a:ln/>
        </p:spPr>
        <p:txBody>
          <a:bodyPr wrap="square" lIns="0" tIns="0" rIns="0" bIns="0" rtlCol="0" anchor="ctr"/>
          <a:lstStyle/>
          <a:p>
            <a:pPr indent="0" marL="0">
              <a:buNone/>
            </a:pPr>
            <a:r>
              <a:rPr lang="en-US" sz="2200" b="1" dirty="0">
                <a:solidFill>
                  <a:schemeClr val="tx2"/>
                </a:solidFill>
              </a:rPr>
              <a:t>After 10 interviews</a:t>
            </a:r>
            <a:endParaRPr lang="en-US" sz="2200" dirty="0"/>
          </a:p>
        </p:txBody>
      </p:sp>
      <p:sp>
        <p:nvSpPr>
          <p:cNvPr id="11" name="Text 8"/>
          <p:cNvSpPr txBox="1"/>
          <p:nvPr/>
        </p:nvSpPr>
        <p:spPr>
          <a:xfrm>
            <a:off x="6675120" y="2377440"/>
            <a:ext cx="475488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Avoidance isn't only logistics: “maybe I'm fine” feels safer</a:t>
            </a:r>
            <a:endParaRPr lang="en-US" sz="1600" dirty="0"/>
          </a:p>
          <a:p>
            <a:pPr marL="342900" indent="-342900">
              <a:spcAft>
                <a:spcPts val="800"/>
              </a:spcAft>
              <a:buSzPct val="100000"/>
              <a:buChar char="•"/>
            </a:pPr>
            <a:r>
              <a:rPr lang="en-US" sz="1600" dirty="0">
                <a:solidFill>
                  <a:schemeClr val="tx1"/>
                </a:solidFill>
              </a:rPr>
              <a:t>Urgency comes from outside: a prescription, a school letter, a DMV date</a:t>
            </a:r>
            <a:endParaRPr lang="en-US" sz="1600" dirty="0"/>
          </a:p>
          <a:p>
            <a:pPr marL="342900" indent="-342900">
              <a:spcAft>
                <a:spcPts val="800"/>
              </a:spcAft>
              <a:buSzPct val="100000"/>
              <a:buChar char="•"/>
            </a:pPr>
            <a:r>
              <a:rPr lang="en-US" sz="1600" dirty="0">
                <a:solidFill>
                  <a:schemeClr val="tx1"/>
                </a:solidFill>
              </a:rPr>
              <a:t>Trust and a clear next step matter, not just accuracy</a:t>
            </a:r>
            <a:endParaRPr lang="en-US" sz="1600" dirty="0"/>
          </a:p>
          <a:p>
            <a:pPr marL="342900" indent="-342900">
              <a:spcAft>
                <a:spcPts val="800"/>
              </a:spcAft>
              <a:buSzPct val="100000"/>
              <a:buChar char="•"/>
            </a:pPr>
            <a:r>
              <a:rPr lang="en-US" sz="1600" dirty="0">
                <a:solidFill>
                  <a:schemeClr val="tx1"/>
                </a:solidFill>
              </a:rPr>
              <a:t>Pilots dropped. Licensing agencies stay a hypothesis</a:t>
            </a:r>
            <a:endParaRPr lang="en-US" sz="1600" dirty="0"/>
          </a:p>
        </p:txBody>
      </p:sp>
      <p:sp>
        <p:nvSpPr>
          <p:cNvPr id="12" name="Card"/>
          <p:cNvSpPr/>
          <p:nvPr/>
        </p:nvSpPr>
        <p:spPr>
          <a:xfrm>
            <a:off x="548640" y="5212080"/>
            <a:ext cx="11091672" cy="777240"/>
          </a:xfrm>
          <a:prstGeom prst="roundRect">
            <a:avLst>
              <a:gd name="adj" fmla="val 9412"/>
            </a:avLst>
          </a:prstGeom>
          <a:solidFill>
            <a:schemeClr val="bg1"/>
          </a:solidFill>
          <a:ln w="9525">
            <a:solidFill>
              <a:schemeClr val="accent6"/>
            </a:solidFill>
            <a:prstDash val="solid"/>
          </a:ln>
        </p:spPr>
      </p:sp>
      <p:sp>
        <p:nvSpPr>
          <p:cNvPr id="13" name="Text 10"/>
          <p:cNvSpPr txBox="1"/>
          <p:nvPr/>
        </p:nvSpPr>
        <p:spPr>
          <a:xfrm>
            <a:off x="777240" y="5212080"/>
            <a:ext cx="10698480" cy="777240"/>
          </a:xfrm>
          <a:prstGeom prst="rect">
            <a:avLst/>
          </a:prstGeom>
          <a:noFill/>
          <a:ln/>
        </p:spPr>
        <p:txBody>
          <a:bodyPr wrap="square" lIns="0" tIns="0" rIns="0" bIns="0" rtlCol="0" anchor="ctr"/>
          <a:lstStyle/>
          <a:p>
            <a:pPr indent="0" marL="0">
              <a:buNone/>
            </a:pPr>
            <a:r>
              <a:rPr lang="en-US" sz="1400" b="1" dirty="0">
                <a:solidFill>
                  <a:schemeClr val="tx2"/>
                </a:solidFill>
              </a:rPr>
              <a:t>10 interviews · 4 personas · 5 in person, 5 virtual (AI-simulated personas). </a:t>
            </a:r>
            <a:pPr indent="0" marL="0">
              <a:buNone/>
            </a:pPr>
            <a:r>
              <a:rPr lang="en-US" sz="1400" dirty="0">
                <a:solidFill>
                  <a:schemeClr val="accent5"/>
                </a:solidFill>
              </a:rPr>
              <a:t>A small convenience sample: it gives us hypotheses to test, not validated demand.</a:t>
            </a:r>
            <a:endParaRPr lang="en-US" sz="14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OUR EXPERIMENT</a:t>
            </a:r>
            <a:endParaRPr lang="en-US" sz="1200" dirty="0"/>
          </a:p>
        </p:txBody>
      </p:sp>
      <p:sp>
        <p:nvSpPr>
          <p:cNvPr id="3" name="Text 1"/>
          <p:cNvSpPr/>
          <p:nvPr>
            <p:ph idx="102"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tx2"/>
                </a:solidFill>
              </a:rPr>
              <a:t>Same job, three ways to help</a:t>
            </a:r>
            <a:endParaRPr lang="en-US" sz="3600" dirty="0"/>
          </a:p>
        </p:txBody>
      </p:sp>
      <p:sp>
        <p:nvSpPr>
          <p:cNvPr id="4" name="Text 2"/>
          <p:cNvSpPr txBox="1"/>
          <p:nvPr/>
        </p:nvSpPr>
        <p:spPr>
          <a:xfrm>
            <a:off x="548640" y="1554480"/>
            <a:ext cx="11064240" cy="914400"/>
          </a:xfrm>
          <a:prstGeom prst="rect">
            <a:avLst/>
          </a:prstGeom>
          <a:noFill/>
          <a:ln/>
        </p:spPr>
        <p:txBody>
          <a:bodyPr wrap="square" lIns="0" tIns="0" rIns="0" bIns="0" rtlCol="0" anchor="t"/>
          <a:lstStyle/>
          <a:p>
            <a:pPr indent="0" marL="0">
              <a:buNone/>
            </a:pPr>
            <a:r>
              <a:rPr lang="en-US" sz="1800" dirty="0">
                <a:solidFill>
                  <a:schemeClr val="tx1"/>
                </a:solidFill>
              </a:rPr>
              <a:t>Every version serves one job: </a:t>
            </a:r>
            <a:pPr indent="0" marL="0">
              <a:buNone/>
            </a:pPr>
            <a:r>
              <a:rPr lang="en-US" sz="1800" b="1" dirty="0">
                <a:solidFill>
                  <a:schemeClr val="tx2"/>
                </a:solidFill>
              </a:rPr>
              <a:t>“Has my vision changed, and do I need to see an eye doctor?” </a:t>
            </a:r>
            <a:pPr indent="0" marL="0">
              <a:buNone/>
            </a:pPr>
            <a:r>
              <a:rPr lang="en-US" sz="1800" dirty="0">
                <a:solidFill>
                  <a:schemeClr val="tx1"/>
                </a:solidFill>
              </a:rPr>
              <a:t>They differ in how much Focal judges for you. </a:t>
            </a:r>
            <a:pPr indent="0" marL="0">
              <a:buNone/>
            </a:pPr>
            <a:r>
              <a:rPr lang="en-US" sz="1800" b="1" dirty="0">
                <a:solidFill>
                  <a:schemeClr val="accent1"/>
                </a:solidFill>
              </a:rPr>
              <a:t>What we want to learn: how much judgment do people actually want?</a:t>
            </a:r>
            <a:endParaRPr lang="en-US" sz="1800" dirty="0"/>
          </a:p>
        </p:txBody>
      </p:sp>
      <p:sp>
        <p:nvSpPr>
          <p:cNvPr id="5" name="Text 3"/>
          <p:cNvSpPr txBox="1"/>
          <p:nvPr/>
        </p:nvSpPr>
        <p:spPr>
          <a:xfrm>
            <a:off x="548640" y="2606040"/>
            <a:ext cx="2286000" cy="274320"/>
          </a:xfrm>
          <a:prstGeom prst="rect">
            <a:avLst/>
          </a:prstGeom>
          <a:noFill/>
          <a:ln/>
        </p:spPr>
        <p:txBody>
          <a:bodyPr wrap="square" lIns="0" tIns="0" rIns="0" bIns="0" rtlCol="0" anchor="ctr"/>
          <a:lstStyle/>
          <a:p>
            <a:pPr indent="0" marL="0">
              <a:buNone/>
            </a:pPr>
            <a:r>
              <a:rPr lang="en-US" sz="1300" b="1" dirty="0">
                <a:solidFill>
                  <a:schemeClr val="accent5"/>
                </a:solidFill>
              </a:rPr>
              <a:t>Less judgment</a:t>
            </a:r>
            <a:endParaRPr lang="en-US" sz="1300" dirty="0"/>
          </a:p>
        </p:txBody>
      </p:sp>
      <p:sp>
        <p:nvSpPr>
          <p:cNvPr id="6" name="Text 4"/>
          <p:cNvSpPr txBox="1"/>
          <p:nvPr/>
        </p:nvSpPr>
        <p:spPr>
          <a:xfrm>
            <a:off x="9357055" y="2606040"/>
            <a:ext cx="2286000" cy="274320"/>
          </a:xfrm>
          <a:prstGeom prst="rect">
            <a:avLst/>
          </a:prstGeom>
          <a:noFill/>
          <a:ln/>
        </p:spPr>
        <p:txBody>
          <a:bodyPr wrap="square" lIns="0" tIns="0" rIns="0" bIns="0" rtlCol="0" anchor="ctr"/>
          <a:lstStyle/>
          <a:p>
            <a:pPr algn="r" indent="0" marL="0">
              <a:buNone/>
            </a:pPr>
            <a:r>
              <a:rPr lang="en-US" sz="1300" b="1" dirty="0">
                <a:solidFill>
                  <a:schemeClr val="accent5"/>
                </a:solidFill>
              </a:rPr>
              <a:t>More judgment</a:t>
            </a:r>
            <a:endParaRPr lang="en-US" sz="1300" dirty="0"/>
          </a:p>
        </p:txBody>
      </p:sp>
      <p:sp>
        <p:nvSpPr>
          <p:cNvPr id="7" name="Spectrum arrow"/>
          <p:cNvSpPr/>
          <p:nvPr/>
        </p:nvSpPr>
        <p:spPr>
          <a:xfrm>
            <a:off x="2331720" y="2743200"/>
            <a:ext cx="7528255" cy="0"/>
          </a:xfrm>
          <a:prstGeom prst="line">
            <a:avLst/>
          </a:prstGeom>
          <a:noFill/>
          <a:ln w="38100">
            <a:solidFill>
              <a:schemeClr val="accent1"/>
            </a:solidFill>
            <a:prstDash val="solid"/>
            <a:tailEnd type="triangle"/>
          </a:ln>
        </p:spPr>
      </p:sp>
      <p:sp>
        <p:nvSpPr>
          <p:cNvPr id="8" name="Card"/>
          <p:cNvSpPr/>
          <p:nvPr/>
        </p:nvSpPr>
        <p:spPr>
          <a:xfrm>
            <a:off x="548640" y="3200400"/>
            <a:ext cx="3566160" cy="2697480"/>
          </a:xfrm>
          <a:prstGeom prst="roundRect">
            <a:avLst>
              <a:gd name="adj" fmla="val 2712"/>
            </a:avLst>
          </a:prstGeom>
          <a:solidFill>
            <a:schemeClr val="bg1"/>
          </a:solidFill>
          <a:ln/>
          <a:effectLst>
            <a:outerShdw sx="100000" sy="100000" kx="0" ky="0" algn="bl" rotWithShape="0" blurRad="101600" dist="25400" dir="5400000">
              <a:srgbClr val="10265F">
                <a:alpha val="10000"/>
              </a:srgbClr>
            </a:outerShdw>
          </a:effectLst>
        </p:spPr>
      </p:sp>
      <p:sp>
        <p:nvSpPr>
          <p:cNvPr id="9" name="Badge B"/>
          <p:cNvSpPr/>
          <p:nvPr/>
        </p:nvSpPr>
        <p:spPr>
          <a:xfrm>
            <a:off x="822960" y="3429000"/>
            <a:ext cx="548640" cy="548640"/>
          </a:xfrm>
          <a:prstGeom prst="ellipse">
            <a:avLst/>
          </a:prstGeom>
          <a:solidFill>
            <a:schemeClr val="accent3"/>
          </a:solidFill>
          <a:ln/>
        </p:spPr>
      </p:sp>
      <p:sp>
        <p:nvSpPr>
          <p:cNvPr id="10" name="Badge letter B"/>
          <p:cNvSpPr txBox="1"/>
          <p:nvPr/>
        </p:nvSpPr>
        <p:spPr>
          <a:xfrm>
            <a:off x="822960" y="34290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11" name="Text 9"/>
          <p:cNvSpPr txBox="1"/>
          <p:nvPr/>
        </p:nvSpPr>
        <p:spPr>
          <a:xfrm>
            <a:off x="1554480" y="3474720"/>
            <a:ext cx="2377440" cy="457200"/>
          </a:xfrm>
          <a:prstGeom prst="rect">
            <a:avLst/>
          </a:prstGeom>
          <a:noFill/>
          <a:ln/>
        </p:spPr>
        <p:txBody>
          <a:bodyPr wrap="square" lIns="0" tIns="0" rIns="0" bIns="0" rtlCol="0" anchor="ctr"/>
          <a:lstStyle/>
          <a:p>
            <a:pPr indent="0" marL="0">
              <a:buNone/>
            </a:pPr>
            <a:r>
              <a:rPr lang="en-US" sz="1200" b="1" spc="150" kern="0" dirty="0">
                <a:solidFill>
                  <a:schemeClr val="accent5"/>
                </a:solidFill>
              </a:rPr>
              <a:t>PARENT PAT</a:t>
            </a:r>
            <a:endParaRPr lang="en-US" sz="1200" dirty="0"/>
          </a:p>
        </p:txBody>
      </p:sp>
      <p:sp>
        <p:nvSpPr>
          <p:cNvPr id="12" name="Text 10"/>
          <p:cNvSpPr txBox="1"/>
          <p:nvPr/>
        </p:nvSpPr>
        <p:spPr>
          <a:xfrm>
            <a:off x="822960" y="4206240"/>
            <a:ext cx="3108960" cy="457200"/>
          </a:xfrm>
          <a:prstGeom prst="rect">
            <a:avLst/>
          </a:prstGeom>
          <a:noFill/>
          <a:ln/>
        </p:spPr>
        <p:txBody>
          <a:bodyPr wrap="square" lIns="0" tIns="0" rIns="0" bIns="0" rtlCol="0" anchor="ctr"/>
          <a:lstStyle/>
          <a:p>
            <a:pPr indent="0" marL="0">
              <a:buNone/>
            </a:pPr>
            <a:r>
              <a:rPr lang="en-US" sz="2600" b="1" dirty="0">
                <a:solidFill>
                  <a:schemeClr val="tx2"/>
                </a:solidFill>
              </a:rPr>
              <a:t>Focal Family</a:t>
            </a:r>
            <a:endParaRPr lang="en-US" sz="2600" dirty="0"/>
          </a:p>
        </p:txBody>
      </p:sp>
      <p:sp>
        <p:nvSpPr>
          <p:cNvPr id="13" name="Text 11"/>
          <p:cNvSpPr txBox="1"/>
          <p:nvPr/>
        </p:nvSpPr>
        <p:spPr>
          <a:xfrm>
            <a:off x="822960" y="4754880"/>
            <a:ext cx="3063240" cy="960120"/>
          </a:xfrm>
          <a:prstGeom prst="rect">
            <a:avLst/>
          </a:prstGeom>
          <a:noFill/>
          <a:ln/>
        </p:spPr>
        <p:txBody>
          <a:bodyPr wrap="square" lIns="0" tIns="0" rIns="0" bIns="0" rtlCol="0" anchor="t"/>
          <a:lstStyle/>
          <a:p>
            <a:pPr indent="0" marL="0">
              <a:buNone/>
            </a:pPr>
            <a:r>
              <a:rPr lang="en-US" sz="1600" dirty="0">
                <a:solidFill>
                  <a:schemeClr val="tx1"/>
                </a:solidFill>
              </a:rPr>
              <a:t>The parent decides what it means. No score at all.</a:t>
            </a:r>
            <a:endParaRPr lang="en-US" sz="1600" dirty="0"/>
          </a:p>
        </p:txBody>
      </p:sp>
      <p:sp>
        <p:nvSpPr>
          <p:cNvPr id="14" name="Card"/>
          <p:cNvSpPr/>
          <p:nvPr/>
        </p:nvSpPr>
        <p:spPr>
          <a:xfrm>
            <a:off x="4311396" y="3200400"/>
            <a:ext cx="3566160" cy="2697480"/>
          </a:xfrm>
          <a:prstGeom prst="roundRect">
            <a:avLst>
              <a:gd name="adj" fmla="val 2712"/>
            </a:avLst>
          </a:prstGeom>
          <a:solidFill>
            <a:schemeClr val="bg1"/>
          </a:solidFill>
          <a:ln/>
          <a:effectLst>
            <a:outerShdw sx="100000" sy="100000" kx="0" ky="0" algn="bl" rotWithShape="0" blurRad="101600" dist="25400" dir="5400000">
              <a:srgbClr val="10265F">
                <a:alpha val="10000"/>
              </a:srgbClr>
            </a:outerShdw>
          </a:effectLst>
        </p:spPr>
      </p:sp>
      <p:sp>
        <p:nvSpPr>
          <p:cNvPr id="15" name="Badge A"/>
          <p:cNvSpPr/>
          <p:nvPr/>
        </p:nvSpPr>
        <p:spPr>
          <a:xfrm>
            <a:off x="4585716" y="3429000"/>
            <a:ext cx="548640" cy="548640"/>
          </a:xfrm>
          <a:prstGeom prst="ellipse">
            <a:avLst/>
          </a:prstGeom>
          <a:solidFill>
            <a:schemeClr val="accent2"/>
          </a:solidFill>
          <a:ln/>
        </p:spPr>
      </p:sp>
      <p:sp>
        <p:nvSpPr>
          <p:cNvPr id="16" name="Badge letter A"/>
          <p:cNvSpPr txBox="1"/>
          <p:nvPr/>
        </p:nvSpPr>
        <p:spPr>
          <a:xfrm>
            <a:off x="4585716" y="34290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17" name="Text 15"/>
          <p:cNvSpPr txBox="1"/>
          <p:nvPr/>
        </p:nvSpPr>
        <p:spPr>
          <a:xfrm>
            <a:off x="5317236" y="3474720"/>
            <a:ext cx="2377440" cy="457200"/>
          </a:xfrm>
          <a:prstGeom prst="rect">
            <a:avLst/>
          </a:prstGeom>
          <a:noFill/>
          <a:ln/>
        </p:spPr>
        <p:txBody>
          <a:bodyPr wrap="square" lIns="0" tIns="0" rIns="0" bIns="0" rtlCol="0" anchor="ctr"/>
          <a:lstStyle/>
          <a:p>
            <a:pPr indent="0" marL="0">
              <a:buNone/>
            </a:pPr>
            <a:r>
              <a:rPr lang="en-US" sz="1200" b="1" spc="150" kern="0" dirty="0">
                <a:solidFill>
                  <a:schemeClr val="accent5"/>
                </a:solidFill>
              </a:rPr>
              <a:t>RILEY</a:t>
            </a:r>
            <a:endParaRPr lang="en-US" sz="1200" dirty="0"/>
          </a:p>
        </p:txBody>
      </p:sp>
      <p:sp>
        <p:nvSpPr>
          <p:cNvPr id="18" name="Text 16"/>
          <p:cNvSpPr txBox="1"/>
          <p:nvPr/>
        </p:nvSpPr>
        <p:spPr>
          <a:xfrm>
            <a:off x="4585716" y="4206240"/>
            <a:ext cx="3108960" cy="457200"/>
          </a:xfrm>
          <a:prstGeom prst="rect">
            <a:avLst/>
          </a:prstGeom>
          <a:noFill/>
          <a:ln/>
        </p:spPr>
        <p:txBody>
          <a:bodyPr wrap="square" lIns="0" tIns="0" rIns="0" bIns="0" rtlCol="0" anchor="ctr"/>
          <a:lstStyle/>
          <a:p>
            <a:pPr indent="0" marL="0">
              <a:buNone/>
            </a:pPr>
            <a:r>
              <a:rPr lang="en-US" sz="2600" b="1" dirty="0">
                <a:solidFill>
                  <a:schemeClr val="tx2"/>
                </a:solidFill>
              </a:rPr>
              <a:t>Focal Monitor</a:t>
            </a:r>
            <a:endParaRPr lang="en-US" sz="2600" dirty="0"/>
          </a:p>
        </p:txBody>
      </p:sp>
      <p:sp>
        <p:nvSpPr>
          <p:cNvPr id="19" name="Text 17"/>
          <p:cNvSpPr txBox="1"/>
          <p:nvPr/>
        </p:nvSpPr>
        <p:spPr>
          <a:xfrm>
            <a:off x="4585716" y="4754880"/>
            <a:ext cx="3063240" cy="960120"/>
          </a:xfrm>
          <a:prstGeom prst="rect">
            <a:avLst/>
          </a:prstGeom>
          <a:noFill/>
          <a:ln/>
        </p:spPr>
        <p:txBody>
          <a:bodyPr wrap="square" lIns="0" tIns="0" rIns="0" bIns="0" rtlCol="0" anchor="t"/>
          <a:lstStyle/>
          <a:p>
            <a:pPr indent="0" marL="0">
              <a:buNone/>
            </a:pPr>
            <a:r>
              <a:rPr lang="en-US" sz="1600" dirty="0">
                <a:solidFill>
                  <a:schemeClr val="tx1"/>
                </a:solidFill>
              </a:rPr>
              <a:t>You read the trend. Focal shows the change.</a:t>
            </a:r>
            <a:endParaRPr lang="en-US" sz="1600" dirty="0"/>
          </a:p>
        </p:txBody>
      </p:sp>
      <p:sp>
        <p:nvSpPr>
          <p:cNvPr id="20" name="Card"/>
          <p:cNvSpPr/>
          <p:nvPr/>
        </p:nvSpPr>
        <p:spPr>
          <a:xfrm>
            <a:off x="8074152" y="3200400"/>
            <a:ext cx="3566160" cy="2697480"/>
          </a:xfrm>
          <a:prstGeom prst="roundRect">
            <a:avLst>
              <a:gd name="adj" fmla="val 2712"/>
            </a:avLst>
          </a:prstGeom>
          <a:solidFill>
            <a:schemeClr val="bg1"/>
          </a:solidFill>
          <a:ln/>
          <a:effectLst>
            <a:outerShdw sx="100000" sy="100000" kx="0" ky="0" algn="bl" rotWithShape="0" blurRad="101600" dist="25400" dir="5400000">
              <a:srgbClr val="10265F">
                <a:alpha val="10000"/>
              </a:srgbClr>
            </a:outerShdw>
          </a:effectLst>
        </p:spPr>
      </p:sp>
      <p:sp>
        <p:nvSpPr>
          <p:cNvPr id="21" name="Badge C"/>
          <p:cNvSpPr/>
          <p:nvPr/>
        </p:nvSpPr>
        <p:spPr>
          <a:xfrm>
            <a:off x="8348472" y="3429000"/>
            <a:ext cx="548640" cy="548640"/>
          </a:xfrm>
          <a:prstGeom prst="ellipse">
            <a:avLst/>
          </a:prstGeom>
          <a:solidFill>
            <a:schemeClr val="accent4"/>
          </a:solidFill>
          <a:ln/>
        </p:spPr>
      </p:sp>
      <p:sp>
        <p:nvSpPr>
          <p:cNvPr id="22" name="Badge letter C"/>
          <p:cNvSpPr txBox="1"/>
          <p:nvPr/>
        </p:nvSpPr>
        <p:spPr>
          <a:xfrm>
            <a:off x="8348472" y="34290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C</a:t>
            </a:r>
            <a:endParaRPr lang="en-US" sz="2200" dirty="0"/>
          </a:p>
        </p:txBody>
      </p:sp>
      <p:sp>
        <p:nvSpPr>
          <p:cNvPr id="23" name="Text 21"/>
          <p:cNvSpPr txBox="1"/>
          <p:nvPr/>
        </p:nvSpPr>
        <p:spPr>
          <a:xfrm>
            <a:off x="9079992" y="3474720"/>
            <a:ext cx="2377440" cy="457200"/>
          </a:xfrm>
          <a:prstGeom prst="rect">
            <a:avLst/>
          </a:prstGeom>
          <a:noFill/>
          <a:ln/>
        </p:spPr>
        <p:txBody>
          <a:bodyPr wrap="square" lIns="0" tIns="0" rIns="0" bIns="0" rtlCol="0" anchor="ctr"/>
          <a:lstStyle/>
          <a:p>
            <a:pPr indent="0" marL="0">
              <a:buNone/>
            </a:pPr>
            <a:r>
              <a:rPr lang="en-US" sz="1200" b="1" spc="150" kern="0" dirty="0">
                <a:solidFill>
                  <a:schemeClr val="accent5"/>
                </a:solidFill>
              </a:rPr>
              <a:t>ALEX</a:t>
            </a:r>
            <a:endParaRPr lang="en-US" sz="1200" dirty="0"/>
          </a:p>
        </p:txBody>
      </p:sp>
      <p:sp>
        <p:nvSpPr>
          <p:cNvPr id="24" name="Text 22"/>
          <p:cNvSpPr txBox="1"/>
          <p:nvPr/>
        </p:nvSpPr>
        <p:spPr>
          <a:xfrm>
            <a:off x="8348472" y="4206240"/>
            <a:ext cx="3108960" cy="457200"/>
          </a:xfrm>
          <a:prstGeom prst="rect">
            <a:avLst/>
          </a:prstGeom>
          <a:noFill/>
          <a:ln/>
        </p:spPr>
        <p:txBody>
          <a:bodyPr wrap="square" lIns="0" tIns="0" rIns="0" bIns="0" rtlCol="0" anchor="ctr"/>
          <a:lstStyle/>
          <a:p>
            <a:pPr indent="0" marL="0">
              <a:buNone/>
            </a:pPr>
            <a:r>
              <a:rPr lang="en-US" sz="2600" b="1" dirty="0">
                <a:solidFill>
                  <a:schemeClr val="tx2"/>
                </a:solidFill>
              </a:rPr>
              <a:t>DMV Pre-Check</a:t>
            </a:r>
            <a:endParaRPr lang="en-US" sz="2600" dirty="0"/>
          </a:p>
        </p:txBody>
      </p:sp>
      <p:sp>
        <p:nvSpPr>
          <p:cNvPr id="25" name="Text 23"/>
          <p:cNvSpPr txBox="1"/>
          <p:nvPr/>
        </p:nvSpPr>
        <p:spPr>
          <a:xfrm>
            <a:off x="8348472" y="4754880"/>
            <a:ext cx="3063240" cy="960120"/>
          </a:xfrm>
          <a:prstGeom prst="rect">
            <a:avLst/>
          </a:prstGeom>
          <a:noFill/>
          <a:ln/>
        </p:spPr>
        <p:txBody>
          <a:bodyPr wrap="square" lIns="0" tIns="0" rIns="0" bIns="0" rtlCol="0" anchor="t"/>
          <a:lstStyle/>
          <a:p>
            <a:pPr indent="0" marL="0">
              <a:buNone/>
            </a:pPr>
            <a:r>
              <a:rPr lang="en-US" sz="1600" dirty="0">
                <a:solidFill>
                  <a:schemeClr val="tx1"/>
                </a:solidFill>
              </a:rPr>
              <a:t>Focal gives a verdict against a real rule.</a:t>
            </a:r>
            <a:endParaRPr lang="en-US" sz="16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PROTOTYPE A · ROUTINE-CHECK RILEY</a:t>
            </a:r>
            <a:endParaRPr lang="en-US" sz="1200" dirty="0"/>
          </a:p>
        </p:txBody>
      </p:sp>
      <p:sp>
        <p:nvSpPr>
          <p:cNvPr id="3" name="Text 1"/>
          <p:cNvSpPr/>
          <p:nvPr>
            <p:ph idx="102"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tx2"/>
                </a:solidFill>
              </a:rPr>
              <a:t>Focal Monitor</a:t>
            </a:r>
            <a:endParaRPr lang="en-US" sz="3600" dirty="0"/>
          </a:p>
        </p:txBody>
      </p:sp>
      <p:sp>
        <p:nvSpPr>
          <p:cNvPr id="4" name="Text 2"/>
          <p:cNvSpPr txBox="1"/>
          <p:nvPr/>
        </p:nvSpPr>
        <p:spPr>
          <a:xfrm>
            <a:off x="548640" y="1188720"/>
            <a:ext cx="10972800" cy="274320"/>
          </a:xfrm>
          <a:prstGeom prst="rect">
            <a:avLst/>
          </a:prstGeom>
          <a:noFill/>
          <a:ln/>
        </p:spPr>
        <p:txBody>
          <a:bodyPr wrap="square" lIns="0" tIns="0" rIns="0" bIns="0" rtlCol="0" anchor="ctr"/>
          <a:lstStyle/>
          <a:p>
            <a:pPr indent="0" marL="0">
              <a:buNone/>
            </a:pPr>
            <a:r>
              <a:rPr lang="en-US" sz="1400" dirty="0">
                <a:solidFill>
                  <a:schemeClr val="accent5"/>
                </a:solidFill>
              </a:rPr>
              <a:t>Trigger: a prescription about to expire  ·  Built by Qingyi and Fan</a:t>
            </a:r>
            <a:endParaRPr lang="en-US" sz="1400" dirty="0"/>
          </a:p>
        </p:txBody>
      </p:sp>
      <p:sp>
        <p:nvSpPr>
          <p:cNvPr id="5" name="Card"/>
          <p:cNvSpPr/>
          <p:nvPr/>
        </p:nvSpPr>
        <p:spPr>
          <a:xfrm>
            <a:off x="548640" y="1645920"/>
            <a:ext cx="5760720" cy="1600200"/>
          </a:xfrm>
          <a:prstGeom prst="roundRect">
            <a:avLst>
              <a:gd name="adj" fmla="val 4571"/>
            </a:avLst>
          </a:prstGeom>
          <a:solidFill>
            <a:schemeClr val="bg1"/>
          </a:solidFill>
          <a:ln/>
          <a:effectLst>
            <a:outerShdw sx="100000" sy="100000" kx="0" ky="0" algn="bl" rotWithShape="0" blurRad="101600" dist="25400" dir="5400000">
              <a:srgbClr val="10265F">
                <a:alpha val="10000"/>
              </a:srgbClr>
            </a:outerShdw>
          </a:effectLst>
        </p:spPr>
      </p:sp>
      <p:sp>
        <p:nvSpPr>
          <p:cNvPr id="6" name="Badge A"/>
          <p:cNvSpPr/>
          <p:nvPr/>
        </p:nvSpPr>
        <p:spPr>
          <a:xfrm>
            <a:off x="731520" y="1783080"/>
            <a:ext cx="457200" cy="457200"/>
          </a:xfrm>
          <a:prstGeom prst="ellipse">
            <a:avLst/>
          </a:prstGeom>
          <a:solidFill>
            <a:schemeClr val="accent2"/>
          </a:solidFill>
          <a:ln/>
        </p:spPr>
      </p:sp>
      <p:sp>
        <p:nvSpPr>
          <p:cNvPr id="7" name="Badge letter A"/>
          <p:cNvSpPr txBox="1"/>
          <p:nvPr/>
        </p:nvSpPr>
        <p:spPr>
          <a:xfrm>
            <a:off x="731520" y="17830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8" name="Label"/>
          <p:cNvSpPr txBox="1"/>
          <p:nvPr/>
        </p:nvSpPr>
        <p:spPr>
          <a:xfrm>
            <a:off x="1371600" y="1892808"/>
            <a:ext cx="27432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HYPOTHESIS</a:t>
            </a:r>
            <a:endParaRPr lang="en-US" sz="1100" dirty="0"/>
          </a:p>
        </p:txBody>
      </p:sp>
      <p:sp>
        <p:nvSpPr>
          <p:cNvPr id="9" name="Text 7"/>
          <p:cNvSpPr txBox="1"/>
          <p:nvPr/>
        </p:nvSpPr>
        <p:spPr>
          <a:xfrm>
            <a:off x="777240" y="2331720"/>
            <a:ext cx="5303520" cy="868680"/>
          </a:xfrm>
          <a:prstGeom prst="rect">
            <a:avLst/>
          </a:prstGeom>
          <a:noFill/>
          <a:ln/>
        </p:spPr>
        <p:txBody>
          <a:bodyPr wrap="square" lIns="0" tIns="0" rIns="0" bIns="0" rtlCol="0" anchor="t"/>
          <a:lstStyle/>
          <a:p>
            <a:pPr indent="0" marL="0">
              <a:buNone/>
            </a:pPr>
            <a:r>
              <a:rPr lang="en-US" sz="1600" dirty="0">
                <a:solidFill>
                  <a:schemeClr val="tx1"/>
                </a:solidFill>
              </a:rPr>
              <a:t>Adults concerned about changes in their vision will find ongoing tracking more useful than a single test result.</a:t>
            </a:r>
            <a:endParaRPr lang="en-US" sz="1600" dirty="0"/>
          </a:p>
        </p:txBody>
      </p:sp>
      <p:sp>
        <p:nvSpPr>
          <p:cNvPr id="10" name="Label"/>
          <p:cNvSpPr txBox="1"/>
          <p:nvPr/>
        </p:nvSpPr>
        <p:spPr>
          <a:xfrm>
            <a:off x="548640" y="3456432"/>
            <a:ext cx="3657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THE CORE FLOW</a:t>
            </a:r>
            <a:endParaRPr lang="en-US" sz="1100" dirty="0"/>
          </a:p>
        </p:txBody>
      </p:sp>
      <p:sp>
        <p:nvSpPr>
          <p:cNvPr id="11" name="Step dot"/>
          <p:cNvSpPr/>
          <p:nvPr/>
        </p:nvSpPr>
        <p:spPr>
          <a:xfrm>
            <a:off x="548640" y="3794760"/>
            <a:ext cx="274320" cy="274320"/>
          </a:xfrm>
          <a:prstGeom prst="ellipse">
            <a:avLst/>
          </a:prstGeom>
          <a:solidFill>
            <a:schemeClr val="tx2"/>
          </a:solidFill>
          <a:ln/>
        </p:spPr>
      </p:sp>
      <p:sp>
        <p:nvSpPr>
          <p:cNvPr id="12" name="Text 10"/>
          <p:cNvSpPr txBox="1"/>
          <p:nvPr/>
        </p:nvSpPr>
        <p:spPr>
          <a:xfrm>
            <a:off x="548640" y="379476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3" name="Text 11"/>
          <p:cNvSpPr txBox="1"/>
          <p:nvPr/>
        </p:nvSpPr>
        <p:spPr>
          <a:xfrm>
            <a:off x="960120" y="3767328"/>
            <a:ext cx="5349240" cy="329184"/>
          </a:xfrm>
          <a:prstGeom prst="rect">
            <a:avLst/>
          </a:prstGeom>
          <a:noFill/>
          <a:ln/>
        </p:spPr>
        <p:txBody>
          <a:bodyPr wrap="square" lIns="0" tIns="0" rIns="0" bIns="0" rtlCol="0" anchor="ctr"/>
          <a:lstStyle/>
          <a:p>
            <a:pPr indent="0" marL="0">
              <a:buNone/>
            </a:pPr>
            <a:r>
              <a:rPr lang="en-US" sz="1400" dirty="0">
                <a:solidFill>
                  <a:schemeClr val="tx1"/>
                </a:solidFill>
              </a:rPr>
              <a:t>An eight-letter tumbling-E check</a:t>
            </a:r>
            <a:endParaRPr lang="en-US" sz="1400" dirty="0"/>
          </a:p>
        </p:txBody>
      </p:sp>
      <p:sp>
        <p:nvSpPr>
          <p:cNvPr id="14" name="Step dot"/>
          <p:cNvSpPr/>
          <p:nvPr/>
        </p:nvSpPr>
        <p:spPr>
          <a:xfrm>
            <a:off x="548640" y="4160520"/>
            <a:ext cx="274320" cy="274320"/>
          </a:xfrm>
          <a:prstGeom prst="ellipse">
            <a:avLst/>
          </a:prstGeom>
          <a:solidFill>
            <a:schemeClr val="tx2"/>
          </a:solidFill>
          <a:ln/>
        </p:spPr>
      </p:sp>
      <p:sp>
        <p:nvSpPr>
          <p:cNvPr id="15" name="Text 13"/>
          <p:cNvSpPr txBox="1"/>
          <p:nvPr/>
        </p:nvSpPr>
        <p:spPr>
          <a:xfrm>
            <a:off x="548640" y="416052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4"/>
          <p:cNvSpPr txBox="1"/>
          <p:nvPr/>
        </p:nvSpPr>
        <p:spPr>
          <a:xfrm>
            <a:off x="960120" y="4133088"/>
            <a:ext cx="5349240" cy="329184"/>
          </a:xfrm>
          <a:prstGeom prst="rect">
            <a:avLst/>
          </a:prstGeom>
          <a:noFill/>
          <a:ln/>
        </p:spPr>
        <p:txBody>
          <a:bodyPr wrap="square" lIns="0" tIns="0" rIns="0" bIns="0" rtlCol="0" anchor="ctr"/>
          <a:lstStyle/>
          <a:p>
            <a:pPr indent="0" marL="0">
              <a:buNone/>
            </a:pPr>
            <a:r>
              <a:rPr lang="en-US" sz="1400" dirty="0">
                <a:solidFill>
                  <a:schemeClr val="tx1"/>
                </a:solidFill>
              </a:rPr>
              <a:t>Today's result, shown on its own</a:t>
            </a:r>
            <a:endParaRPr lang="en-US" sz="1400" dirty="0"/>
          </a:p>
        </p:txBody>
      </p:sp>
      <p:sp>
        <p:nvSpPr>
          <p:cNvPr id="17" name="Step dot"/>
          <p:cNvSpPr/>
          <p:nvPr/>
        </p:nvSpPr>
        <p:spPr>
          <a:xfrm>
            <a:off x="548640" y="4526280"/>
            <a:ext cx="274320" cy="274320"/>
          </a:xfrm>
          <a:prstGeom prst="ellipse">
            <a:avLst/>
          </a:prstGeom>
          <a:solidFill>
            <a:schemeClr val="tx2"/>
          </a:solidFill>
          <a:ln/>
        </p:spPr>
      </p:sp>
      <p:sp>
        <p:nvSpPr>
          <p:cNvPr id="18" name="Text 16"/>
          <p:cNvSpPr txBox="1"/>
          <p:nvPr/>
        </p:nvSpPr>
        <p:spPr>
          <a:xfrm>
            <a:off x="548640" y="452628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17"/>
          <p:cNvSpPr txBox="1"/>
          <p:nvPr/>
        </p:nvSpPr>
        <p:spPr>
          <a:xfrm>
            <a:off x="960120" y="4498848"/>
            <a:ext cx="5349240" cy="329184"/>
          </a:xfrm>
          <a:prstGeom prst="rect">
            <a:avLst/>
          </a:prstGeom>
          <a:noFill/>
          <a:ln/>
        </p:spPr>
        <p:txBody>
          <a:bodyPr wrap="square" lIns="0" tIns="0" rIns="0" bIns="0" rtlCol="0" anchor="ctr"/>
          <a:lstStyle/>
          <a:p>
            <a:pPr indent="0" marL="0">
              <a:buNone/>
            </a:pPr>
            <a:r>
              <a:rPr lang="en-US" sz="1400" dirty="0">
                <a:solidFill>
                  <a:schemeClr val="tx1"/>
                </a:solidFill>
              </a:rPr>
              <a:t>The same result on a seven-week trend (illustrative history)</a:t>
            </a:r>
            <a:endParaRPr lang="en-US" sz="1400" dirty="0"/>
          </a:p>
        </p:txBody>
      </p:sp>
      <p:sp>
        <p:nvSpPr>
          <p:cNvPr id="20" name="Step dot"/>
          <p:cNvSpPr/>
          <p:nvPr/>
        </p:nvSpPr>
        <p:spPr>
          <a:xfrm>
            <a:off x="548640" y="4892040"/>
            <a:ext cx="274320" cy="274320"/>
          </a:xfrm>
          <a:prstGeom prst="ellipse">
            <a:avLst/>
          </a:prstGeom>
          <a:solidFill>
            <a:schemeClr val="tx2"/>
          </a:solidFill>
          <a:ln/>
        </p:spPr>
      </p:sp>
      <p:sp>
        <p:nvSpPr>
          <p:cNvPr id="21" name="Text 19"/>
          <p:cNvSpPr txBox="1"/>
          <p:nvPr/>
        </p:nvSpPr>
        <p:spPr>
          <a:xfrm>
            <a:off x="548640" y="489204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2" name="Text 20"/>
          <p:cNvSpPr txBox="1"/>
          <p:nvPr/>
        </p:nvSpPr>
        <p:spPr>
          <a:xfrm>
            <a:off x="960120" y="4864608"/>
            <a:ext cx="5349240" cy="329184"/>
          </a:xfrm>
          <a:prstGeom prst="rect">
            <a:avLst/>
          </a:prstGeom>
          <a:noFill/>
          <a:ln/>
        </p:spPr>
        <p:txBody>
          <a:bodyPr wrap="square" lIns="0" tIns="0" rIns="0" bIns="0" rtlCol="0" anchor="ctr"/>
          <a:lstStyle/>
          <a:p>
            <a:pPr indent="0" marL="0">
              <a:buNone/>
            </a:pPr>
            <a:r>
              <a:rPr lang="en-US" sz="1400" dirty="0">
                <a:solidFill>
                  <a:schemeClr val="tx1"/>
                </a:solidFill>
              </a:rPr>
              <a:t>Neutral feedback: which view helped?</a:t>
            </a:r>
            <a:endParaRPr lang="en-US" sz="1400" dirty="0"/>
          </a:p>
        </p:txBody>
      </p:sp>
      <p:sp>
        <p:nvSpPr>
          <p:cNvPr id="23" name="Card"/>
          <p:cNvSpPr/>
          <p:nvPr/>
        </p:nvSpPr>
        <p:spPr>
          <a:xfrm>
            <a:off x="548640" y="5349240"/>
            <a:ext cx="5760720" cy="822960"/>
          </a:xfrm>
          <a:prstGeom prst="roundRect">
            <a:avLst>
              <a:gd name="adj" fmla="val 8889"/>
            </a:avLst>
          </a:prstGeom>
          <a:solidFill>
            <a:schemeClr val="bg1"/>
          </a:solidFill>
          <a:ln w="9525">
            <a:solidFill>
              <a:schemeClr val="accent6"/>
            </a:solidFill>
            <a:prstDash val="solid"/>
          </a:ln>
        </p:spPr>
      </p:sp>
      <p:sp>
        <p:nvSpPr>
          <p:cNvPr id="24" name="Text 22"/>
          <p:cNvSpPr txBox="1"/>
          <p:nvPr/>
        </p:nvSpPr>
        <p:spPr>
          <a:xfrm>
            <a:off x="731520" y="5349240"/>
            <a:ext cx="5394960" cy="822960"/>
          </a:xfrm>
          <a:prstGeom prst="rect">
            <a:avLst/>
          </a:prstGeom>
          <a:noFill/>
          <a:ln/>
        </p:spPr>
        <p:txBody>
          <a:bodyPr wrap="square" lIns="0" tIns="0" rIns="0" bIns="0" rtlCol="0" anchor="ctr"/>
          <a:lstStyle/>
          <a:p>
            <a:pPr indent="0" marL="0">
              <a:buNone/>
            </a:pPr>
            <a:r>
              <a:rPr lang="en-US" sz="1000" b="1" spc="100" kern="0" dirty="0">
                <a:solidFill>
                  <a:schemeClr val="accent1"/>
                </a:solidFill>
              </a:rPr>
              <a:t>PROPOSED SUCCESS SIGNAL  </a:t>
            </a:r>
            <a:pPr indent="0" marL="0">
              <a:buNone/>
            </a:pPr>
            <a:r>
              <a:rPr lang="en-US" sz="1400" dirty="0">
                <a:solidFill>
                  <a:schemeClr val="tx1"/>
                </a:solidFill>
              </a:rPr>
              <a:t>At least 3 of 5 Riley-like testers state a format preference and explain why.</a:t>
            </a:r>
            <a:endParaRPr lang="en-US" sz="1000" dirty="0"/>
          </a:p>
        </p:txBody>
      </p:sp>
      <p:pic>
        <p:nvPicPr>
          <p:cNvPr id="25" name="Image 0" descr="Screenshot of Prototype A">    </p:cNvPr>
          <p:cNvPicPr>
            <a:picLocks noChangeAspect="1"/>
          </p:cNvPicPr>
          <p:nvPr/>
        </p:nvPicPr>
        <p:blipFill>
          <a:blip r:embed="rId1"/>
          <a:stretch>
            <a:fillRect/>
          </a:stretch>
        </p:blipFill>
        <p:spPr>
          <a:xfrm>
            <a:off x="6780276" y="1645920"/>
            <a:ext cx="4572000" cy="2276856"/>
          </a:xfrm>
          <a:prstGeom prst="rect">
            <a:avLst/>
          </a:prstGeom>
          <a:effectLst>
            <a:outerShdw sx="100000" sy="100000" kx="0" ky="0" algn="bl" rotWithShape="0" blurRad="101600" dist="25400" dir="5400000">
              <a:srgbClr val="10265F">
                <a:alpha val="10000"/>
              </a:srgbClr>
            </a:outerShdw>
          </a:effectLst>
        </p:spPr>
      </p:pic>
      <p:sp>
        <p:nvSpPr>
          <p:cNvPr id="26" name="Text 23"/>
          <p:cNvSpPr txBox="1"/>
          <p:nvPr/>
        </p:nvSpPr>
        <p:spPr>
          <a:xfrm>
            <a:off x="6492240" y="3977640"/>
            <a:ext cx="5148072" cy="256032"/>
          </a:xfrm>
          <a:prstGeom prst="rect">
            <a:avLst/>
          </a:prstGeom>
          <a:noFill/>
          <a:ln/>
        </p:spPr>
        <p:txBody>
          <a:bodyPr wrap="square" lIns="0" tIns="0" rIns="0" bIns="0" rtlCol="0" anchor="ctr"/>
          <a:lstStyle/>
          <a:p>
            <a:pPr indent="0" marL="0">
              <a:buNone/>
            </a:pPr>
            <a:r>
              <a:rPr lang="en-US" sz="1000" i="1" dirty="0">
                <a:solidFill>
                  <a:schemeClr val="accent5"/>
                </a:solidFill>
              </a:rPr>
              <a:t>Trend view on the public demo. The history is illustrative, not real data.</a:t>
            </a:r>
            <a:endParaRPr lang="en-US" sz="1000" dirty="0"/>
          </a:p>
        </p:txBody>
      </p:sp>
      <p:sp>
        <p:nvSpPr>
          <p:cNvPr id="27" name="Card"/>
          <p:cNvSpPr/>
          <p:nvPr/>
        </p:nvSpPr>
        <p:spPr>
          <a:xfrm>
            <a:off x="6492240" y="4343400"/>
            <a:ext cx="5148072" cy="841248"/>
          </a:xfrm>
          <a:prstGeom prst="roundRect">
            <a:avLst>
              <a:gd name="adj" fmla="val 8696"/>
            </a:avLst>
          </a:prstGeom>
          <a:solidFill>
            <a:schemeClr val="bg1"/>
          </a:solidFill>
          <a:ln/>
          <a:effectLst>
            <a:outerShdw sx="100000" sy="100000" kx="0" ky="0" algn="bl" rotWithShape="0" blurRad="101600" dist="25400" dir="5400000">
              <a:srgbClr val="10265F">
                <a:alpha val="10000"/>
              </a:srgbClr>
            </a:outerShdw>
          </a:effectLst>
        </p:spPr>
      </p:sp>
      <p:sp>
        <p:nvSpPr>
          <p:cNvPr id="28" name="Text 25"/>
          <p:cNvSpPr txBox="1"/>
          <p:nvPr/>
        </p:nvSpPr>
        <p:spPr>
          <a:xfrm>
            <a:off x="6675120" y="4343400"/>
            <a:ext cx="4800600" cy="841248"/>
          </a:xfrm>
          <a:prstGeom prst="rect">
            <a:avLst/>
          </a:prstGeom>
          <a:noFill/>
          <a:ln/>
        </p:spPr>
        <p:txBody>
          <a:bodyPr wrap="square" lIns="0" tIns="0" rIns="0" bIns="0" rtlCol="0" anchor="ctr"/>
          <a:lstStyle/>
          <a:p>
            <a:pPr indent="0" marL="0">
              <a:buNone/>
            </a:pPr>
            <a:r>
              <a:rPr lang="en-US" sz="1000" b="1" spc="100" kern="0" dirty="0">
                <a:solidFill>
                  <a:schemeClr val="accent1"/>
                </a:solidFill>
              </a:rPr>
              <a:t>WHAT WE HEARD   </a:t>
            </a:r>
            <a:endParaRPr lang="en-US" sz="1000" dirty="0"/>
          </a:p>
          <a:p>
            <a:pPr indent="0" marL="0">
              <a:buNone/>
            </a:pPr>
            <a:r>
              <a:rPr lang="en-US" sz="1500" i="1" dirty="0">
                <a:solidFill>
                  <a:schemeClr val="tx2"/>
                </a:solidFill>
              </a:rPr>
              <a:t>“There's no baseline to compare against.”</a:t>
            </a:r>
            <a:pPr indent="0" marL="0">
              <a:buNone/>
            </a:pPr>
            <a:r>
              <a:rPr lang="en-US" sz="1100" dirty="0">
                <a:solidFill>
                  <a:schemeClr val="accent5"/>
                </a:solidFill>
              </a:rPr>
              <a:t>  Riley, virtual interview</a:t>
            </a:r>
            <a:endParaRPr lang="en-US" sz="1000" dirty="0"/>
          </a:p>
        </p:txBody>
      </p:sp>
      <p:sp>
        <p:nvSpPr>
          <p:cNvPr id="29" name="Card"/>
          <p:cNvSpPr/>
          <p:nvPr/>
        </p:nvSpPr>
        <p:spPr>
          <a:xfrm>
            <a:off x="6492240" y="5276088"/>
            <a:ext cx="5148072" cy="896112"/>
          </a:xfrm>
          <a:prstGeom prst="roundRect">
            <a:avLst>
              <a:gd name="adj" fmla="val 8163"/>
            </a:avLst>
          </a:prstGeom>
          <a:solidFill>
            <a:schemeClr val="bg1"/>
          </a:solidFill>
          <a:ln w="9525">
            <a:solidFill>
              <a:schemeClr val="accent6"/>
            </a:solidFill>
            <a:prstDash val="solid"/>
          </a:ln>
        </p:spPr>
      </p:sp>
      <p:sp>
        <p:nvSpPr>
          <p:cNvPr id="30" name="Label"/>
          <p:cNvSpPr txBox="1"/>
          <p:nvPr/>
        </p:nvSpPr>
        <p:spPr>
          <a:xfrm>
            <a:off x="6675120" y="5349240"/>
            <a:ext cx="4114800" cy="237744"/>
          </a:xfrm>
          <a:prstGeom prst="rect">
            <a:avLst/>
          </a:prstGeom>
          <a:noFill/>
          <a:ln/>
        </p:spPr>
        <p:txBody>
          <a:bodyPr wrap="square" lIns="0" tIns="0" rIns="0" bIns="0" rtlCol="0" anchor="ctr"/>
          <a:lstStyle/>
          <a:p>
            <a:pPr indent="0" marL="0">
              <a:buNone/>
            </a:pPr>
            <a:r>
              <a:rPr lang="en-US" sz="1100" b="1" spc="150" kern="0" dirty="0">
                <a:solidFill>
                  <a:schemeClr val="accent4"/>
                </a:solidFill>
              </a:rPr>
              <a:t>WHAT WOULD CHALLENGE IT</a:t>
            </a:r>
            <a:endParaRPr lang="en-US" sz="1100" dirty="0"/>
          </a:p>
        </p:txBody>
      </p:sp>
      <p:sp>
        <p:nvSpPr>
          <p:cNvPr id="31" name="Text 28"/>
          <p:cNvSpPr txBox="1"/>
          <p:nvPr/>
        </p:nvSpPr>
        <p:spPr>
          <a:xfrm>
            <a:off x="6675120" y="5605272"/>
            <a:ext cx="4800600" cy="530352"/>
          </a:xfrm>
          <a:prstGeom prst="rect">
            <a:avLst/>
          </a:prstGeom>
          <a:noFill/>
          <a:ln/>
        </p:spPr>
        <p:txBody>
          <a:bodyPr wrap="square" lIns="0" tIns="0" rIns="0" bIns="0" rtlCol="0" anchor="t"/>
          <a:lstStyle/>
          <a:p>
            <a:pPr indent="0" marL="0">
              <a:buNone/>
            </a:pPr>
            <a:r>
              <a:rPr lang="en-US" sz="1300" dirty="0">
                <a:solidFill>
                  <a:schemeClr val="tx1"/>
                </a:solidFill>
              </a:rPr>
              <a:t>A flat preference, mixing up the illustrative history with today's result, or a preference for the single result.</a:t>
            </a:r>
            <a:endParaRPr lang="en-US" sz="13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PROTOTYPE B · PARENT PAT</a:t>
            </a:r>
            <a:endParaRPr lang="en-US" sz="1200" dirty="0"/>
          </a:p>
        </p:txBody>
      </p:sp>
      <p:sp>
        <p:nvSpPr>
          <p:cNvPr id="3" name="Text 1"/>
          <p:cNvSpPr/>
          <p:nvPr>
            <p:ph idx="102"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tx2"/>
                </a:solidFill>
              </a:rPr>
              <a:t>Focal Family</a:t>
            </a:r>
            <a:endParaRPr lang="en-US" sz="3600" dirty="0"/>
          </a:p>
        </p:txBody>
      </p:sp>
      <p:sp>
        <p:nvSpPr>
          <p:cNvPr id="4" name="Text 2"/>
          <p:cNvSpPr txBox="1"/>
          <p:nvPr/>
        </p:nvSpPr>
        <p:spPr>
          <a:xfrm>
            <a:off x="548640" y="1188720"/>
            <a:ext cx="10972800" cy="274320"/>
          </a:xfrm>
          <a:prstGeom prst="rect">
            <a:avLst/>
          </a:prstGeom>
          <a:noFill/>
          <a:ln/>
        </p:spPr>
        <p:txBody>
          <a:bodyPr wrap="square" lIns="0" tIns="0" rIns="0" bIns="0" rtlCol="0" anchor="ctr"/>
          <a:lstStyle/>
          <a:p>
            <a:pPr indent="0" marL="0">
              <a:buNone/>
            </a:pPr>
            <a:r>
              <a:rPr lang="en-US" sz="1400" dirty="0">
                <a:solidFill>
                  <a:schemeClr val="accent5"/>
                </a:solidFill>
              </a:rPr>
              <a:t>Trigger: a school screening letter  ·  Built by Haydn</a:t>
            </a:r>
            <a:endParaRPr lang="en-US" sz="1400" dirty="0"/>
          </a:p>
        </p:txBody>
      </p:sp>
      <p:sp>
        <p:nvSpPr>
          <p:cNvPr id="5" name="Card"/>
          <p:cNvSpPr/>
          <p:nvPr/>
        </p:nvSpPr>
        <p:spPr>
          <a:xfrm>
            <a:off x="548640" y="1645920"/>
            <a:ext cx="5760720" cy="1600200"/>
          </a:xfrm>
          <a:prstGeom prst="roundRect">
            <a:avLst>
              <a:gd name="adj" fmla="val 4571"/>
            </a:avLst>
          </a:prstGeom>
          <a:solidFill>
            <a:schemeClr val="bg1"/>
          </a:solidFill>
          <a:ln/>
          <a:effectLst>
            <a:outerShdw sx="100000" sy="100000" kx="0" ky="0" algn="bl" rotWithShape="0" blurRad="101600" dist="25400" dir="5400000">
              <a:srgbClr val="10265F">
                <a:alpha val="10000"/>
              </a:srgbClr>
            </a:outerShdw>
          </a:effectLst>
        </p:spPr>
      </p:sp>
      <p:sp>
        <p:nvSpPr>
          <p:cNvPr id="6" name="Badge B"/>
          <p:cNvSpPr/>
          <p:nvPr/>
        </p:nvSpPr>
        <p:spPr>
          <a:xfrm>
            <a:off x="731520" y="1783080"/>
            <a:ext cx="457200" cy="457200"/>
          </a:xfrm>
          <a:prstGeom prst="ellipse">
            <a:avLst/>
          </a:prstGeom>
          <a:solidFill>
            <a:schemeClr val="accent3"/>
          </a:solidFill>
          <a:ln/>
        </p:spPr>
      </p:sp>
      <p:sp>
        <p:nvSpPr>
          <p:cNvPr id="7" name="Badge letter B"/>
          <p:cNvSpPr txBox="1"/>
          <p:nvPr/>
        </p:nvSpPr>
        <p:spPr>
          <a:xfrm>
            <a:off x="731520" y="17830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8" name="Label"/>
          <p:cNvSpPr txBox="1"/>
          <p:nvPr/>
        </p:nvSpPr>
        <p:spPr>
          <a:xfrm>
            <a:off x="1371600" y="1892808"/>
            <a:ext cx="27432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HYPOTHESIS</a:t>
            </a:r>
            <a:endParaRPr lang="en-US" sz="1100" dirty="0"/>
          </a:p>
        </p:txBody>
      </p:sp>
      <p:sp>
        <p:nvSpPr>
          <p:cNvPr id="9" name="Text 7"/>
          <p:cNvSpPr txBox="1"/>
          <p:nvPr/>
        </p:nvSpPr>
        <p:spPr>
          <a:xfrm>
            <a:off x="777240" y="2331720"/>
            <a:ext cx="5303520" cy="868680"/>
          </a:xfrm>
          <a:prstGeom prst="rect">
            <a:avLst/>
          </a:prstGeom>
          <a:noFill/>
          <a:ln/>
        </p:spPr>
        <p:txBody>
          <a:bodyPr wrap="square" lIns="0" tIns="0" rIns="0" bIns="0" rtlCol="0" anchor="t"/>
          <a:lstStyle/>
          <a:p>
            <a:pPr indent="0" marL="0">
              <a:buNone/>
            </a:pPr>
            <a:r>
              <a:rPr lang="en-US" sz="1600" dirty="0">
                <a:solidFill>
                  <a:schemeClr val="tx1"/>
                </a:solidFill>
              </a:rPr>
              <a:t>Parents will finish a short picture game with their child, then use what they noticed to pick a concrete next step.</a:t>
            </a:r>
            <a:endParaRPr lang="en-US" sz="1600" dirty="0"/>
          </a:p>
        </p:txBody>
      </p:sp>
      <p:sp>
        <p:nvSpPr>
          <p:cNvPr id="10" name="Label"/>
          <p:cNvSpPr txBox="1"/>
          <p:nvPr/>
        </p:nvSpPr>
        <p:spPr>
          <a:xfrm>
            <a:off x="548640" y="3456432"/>
            <a:ext cx="3657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THE CORE FLOW</a:t>
            </a:r>
            <a:endParaRPr lang="en-US" sz="1100" dirty="0"/>
          </a:p>
        </p:txBody>
      </p:sp>
      <p:sp>
        <p:nvSpPr>
          <p:cNvPr id="11" name="Step dot"/>
          <p:cNvSpPr/>
          <p:nvPr/>
        </p:nvSpPr>
        <p:spPr>
          <a:xfrm>
            <a:off x="548640" y="3794760"/>
            <a:ext cx="274320" cy="274320"/>
          </a:xfrm>
          <a:prstGeom prst="ellipse">
            <a:avLst/>
          </a:prstGeom>
          <a:solidFill>
            <a:schemeClr val="tx2"/>
          </a:solidFill>
          <a:ln/>
        </p:spPr>
      </p:sp>
      <p:sp>
        <p:nvSpPr>
          <p:cNvPr id="12" name="Text 10"/>
          <p:cNvSpPr txBox="1"/>
          <p:nvPr/>
        </p:nvSpPr>
        <p:spPr>
          <a:xfrm>
            <a:off x="548640" y="379476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3" name="Text 11"/>
          <p:cNvSpPr txBox="1"/>
          <p:nvPr/>
        </p:nvSpPr>
        <p:spPr>
          <a:xfrm>
            <a:off x="960120" y="3767328"/>
            <a:ext cx="5349240" cy="329184"/>
          </a:xfrm>
          <a:prstGeom prst="rect">
            <a:avLst/>
          </a:prstGeom>
          <a:noFill/>
          <a:ln/>
        </p:spPr>
        <p:txBody>
          <a:bodyPr wrap="square" lIns="0" tIns="0" rIns="0" bIns="0" rtlCol="0" anchor="ctr"/>
          <a:lstStyle/>
          <a:p>
            <a:pPr indent="0" marL="0">
              <a:buNone/>
            </a:pPr>
            <a:r>
              <a:rPr lang="en-US" sz="1400" dirty="0">
                <a:solidFill>
                  <a:schemeClr val="tx1"/>
                </a:solidFill>
              </a:rPr>
              <a:t>Practice, then six large matching pictures</a:t>
            </a:r>
            <a:endParaRPr lang="en-US" sz="1400" dirty="0"/>
          </a:p>
        </p:txBody>
      </p:sp>
      <p:sp>
        <p:nvSpPr>
          <p:cNvPr id="14" name="Step dot"/>
          <p:cNvSpPr/>
          <p:nvPr/>
        </p:nvSpPr>
        <p:spPr>
          <a:xfrm>
            <a:off x="548640" y="4160520"/>
            <a:ext cx="274320" cy="274320"/>
          </a:xfrm>
          <a:prstGeom prst="ellipse">
            <a:avLst/>
          </a:prstGeom>
          <a:solidFill>
            <a:schemeClr val="tx2"/>
          </a:solidFill>
          <a:ln/>
        </p:spPr>
      </p:sp>
      <p:sp>
        <p:nvSpPr>
          <p:cNvPr id="15" name="Text 13"/>
          <p:cNvSpPr txBox="1"/>
          <p:nvPr/>
        </p:nvSpPr>
        <p:spPr>
          <a:xfrm>
            <a:off x="548640" y="416052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4"/>
          <p:cNvSpPr txBox="1"/>
          <p:nvPr/>
        </p:nvSpPr>
        <p:spPr>
          <a:xfrm>
            <a:off x="960120" y="4133088"/>
            <a:ext cx="5349240" cy="329184"/>
          </a:xfrm>
          <a:prstGeom prst="rect">
            <a:avLst/>
          </a:prstGeom>
          <a:noFill/>
          <a:ln/>
        </p:spPr>
        <p:txBody>
          <a:bodyPr wrap="square" lIns="0" tIns="0" rIns="0" bIns="0" rtlCol="0" anchor="ctr"/>
          <a:lstStyle/>
          <a:p>
            <a:pPr indent="0" marL="0">
              <a:buNone/>
            </a:pPr>
            <a:r>
              <a:rPr lang="en-US" sz="1400" dirty="0">
                <a:solidFill>
                  <a:schemeClr val="tx1"/>
                </a:solidFill>
              </a:rPr>
              <a:t>The parent notes what they've noticed</a:t>
            </a:r>
            <a:endParaRPr lang="en-US" sz="1400" dirty="0"/>
          </a:p>
        </p:txBody>
      </p:sp>
      <p:sp>
        <p:nvSpPr>
          <p:cNvPr id="17" name="Step dot"/>
          <p:cNvSpPr/>
          <p:nvPr/>
        </p:nvSpPr>
        <p:spPr>
          <a:xfrm>
            <a:off x="548640" y="4526280"/>
            <a:ext cx="274320" cy="274320"/>
          </a:xfrm>
          <a:prstGeom prst="ellipse">
            <a:avLst/>
          </a:prstGeom>
          <a:solidFill>
            <a:schemeClr val="tx2"/>
          </a:solidFill>
          <a:ln/>
        </p:spPr>
      </p:sp>
      <p:sp>
        <p:nvSpPr>
          <p:cNvPr id="18" name="Text 16"/>
          <p:cNvSpPr txBox="1"/>
          <p:nvPr/>
        </p:nvSpPr>
        <p:spPr>
          <a:xfrm>
            <a:off x="548640" y="452628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17"/>
          <p:cNvSpPr txBox="1"/>
          <p:nvPr/>
        </p:nvSpPr>
        <p:spPr>
          <a:xfrm>
            <a:off x="960120" y="4498848"/>
            <a:ext cx="5349240" cy="329184"/>
          </a:xfrm>
          <a:prstGeom prst="rect">
            <a:avLst/>
          </a:prstGeom>
          <a:noFill/>
          <a:ln/>
        </p:spPr>
        <p:txBody>
          <a:bodyPr wrap="square" lIns="0" tIns="0" rIns="0" bIns="0" rtlCol="0" anchor="ctr"/>
          <a:lstStyle/>
          <a:p>
            <a:pPr indent="0" marL="0">
              <a:buNone/>
            </a:pPr>
            <a:r>
              <a:rPr lang="en-US" sz="1400" dirty="0">
                <a:solidFill>
                  <a:schemeClr val="tx1"/>
                </a:solidFill>
              </a:rPr>
              <a:t>The parent picks a next step and prepares questions</a:t>
            </a:r>
            <a:endParaRPr lang="en-US" sz="1400" dirty="0"/>
          </a:p>
        </p:txBody>
      </p:sp>
      <p:sp>
        <p:nvSpPr>
          <p:cNvPr id="20" name="Step dot"/>
          <p:cNvSpPr/>
          <p:nvPr/>
        </p:nvSpPr>
        <p:spPr>
          <a:xfrm>
            <a:off x="548640" y="4892040"/>
            <a:ext cx="274320" cy="274320"/>
          </a:xfrm>
          <a:prstGeom prst="ellipse">
            <a:avLst/>
          </a:prstGeom>
          <a:solidFill>
            <a:schemeClr val="tx2"/>
          </a:solidFill>
          <a:ln/>
        </p:spPr>
      </p:sp>
      <p:sp>
        <p:nvSpPr>
          <p:cNvPr id="21" name="Text 19"/>
          <p:cNvSpPr txBox="1"/>
          <p:nvPr/>
        </p:nvSpPr>
        <p:spPr>
          <a:xfrm>
            <a:off x="548640" y="489204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2" name="Text 20"/>
          <p:cNvSpPr txBox="1"/>
          <p:nvPr/>
        </p:nvSpPr>
        <p:spPr>
          <a:xfrm>
            <a:off x="960120" y="4864608"/>
            <a:ext cx="5349240" cy="329184"/>
          </a:xfrm>
          <a:prstGeom prst="rect">
            <a:avLst/>
          </a:prstGeom>
          <a:noFill/>
          <a:ln/>
        </p:spPr>
        <p:txBody>
          <a:bodyPr wrap="square" lIns="0" tIns="0" rIns="0" bIns="0" rtlCol="0" anchor="ctr"/>
          <a:lstStyle/>
          <a:p>
            <a:pPr indent="0" marL="0">
              <a:buNone/>
            </a:pPr>
            <a:r>
              <a:rPr lang="en-US" sz="1400" dirty="0">
                <a:solidFill>
                  <a:schemeClr val="tx1"/>
                </a:solidFill>
              </a:rPr>
              <a:t>A summary to bring along. No score, by design.</a:t>
            </a:r>
            <a:endParaRPr lang="en-US" sz="1400" dirty="0"/>
          </a:p>
        </p:txBody>
      </p:sp>
      <p:sp>
        <p:nvSpPr>
          <p:cNvPr id="23" name="Card"/>
          <p:cNvSpPr/>
          <p:nvPr/>
        </p:nvSpPr>
        <p:spPr>
          <a:xfrm>
            <a:off x="548640" y="5349240"/>
            <a:ext cx="5760720" cy="822960"/>
          </a:xfrm>
          <a:prstGeom prst="roundRect">
            <a:avLst>
              <a:gd name="adj" fmla="val 8889"/>
            </a:avLst>
          </a:prstGeom>
          <a:solidFill>
            <a:schemeClr val="bg1"/>
          </a:solidFill>
          <a:ln w="9525">
            <a:solidFill>
              <a:schemeClr val="accent6"/>
            </a:solidFill>
            <a:prstDash val="solid"/>
          </a:ln>
        </p:spPr>
      </p:sp>
      <p:sp>
        <p:nvSpPr>
          <p:cNvPr id="24" name="Text 22"/>
          <p:cNvSpPr txBox="1"/>
          <p:nvPr/>
        </p:nvSpPr>
        <p:spPr>
          <a:xfrm>
            <a:off x="731520" y="5349240"/>
            <a:ext cx="5394960" cy="822960"/>
          </a:xfrm>
          <a:prstGeom prst="rect">
            <a:avLst/>
          </a:prstGeom>
          <a:noFill/>
          <a:ln/>
        </p:spPr>
        <p:txBody>
          <a:bodyPr wrap="square" lIns="0" tIns="0" rIns="0" bIns="0" rtlCol="0" anchor="ctr"/>
          <a:lstStyle/>
          <a:p>
            <a:pPr indent="0" marL="0">
              <a:buNone/>
            </a:pPr>
            <a:r>
              <a:rPr lang="en-US" sz="1000" b="1" spc="100" kern="0" dirty="0">
                <a:solidFill>
                  <a:schemeClr val="accent1"/>
                </a:solidFill>
              </a:rPr>
              <a:t>PROPOSED SUCCESS SIGNAL  </a:t>
            </a:r>
            <a:pPr indent="0" marL="0">
              <a:buNone/>
            </a:pPr>
            <a:r>
              <a:rPr lang="en-US" sz="1400" dirty="0">
                <a:solidFill>
                  <a:schemeClr val="tx1"/>
                </a:solidFill>
              </a:rPr>
              <a:t>At least 4 of 5 parents finish unaided; at least 3 of 5 choose appointment or school-contact preparation.</a:t>
            </a:r>
            <a:endParaRPr lang="en-US" sz="1000" dirty="0"/>
          </a:p>
        </p:txBody>
      </p:sp>
      <p:pic>
        <p:nvPicPr>
          <p:cNvPr id="25" name="Image 0" descr="Screenshot of Prototype B">    </p:cNvPr>
          <p:cNvPicPr>
            <a:picLocks noChangeAspect="1"/>
          </p:cNvPicPr>
          <p:nvPr/>
        </p:nvPicPr>
        <p:blipFill>
          <a:blip r:embed="rId1"/>
          <a:stretch>
            <a:fillRect/>
          </a:stretch>
        </p:blipFill>
        <p:spPr>
          <a:xfrm>
            <a:off x="6780276" y="1645920"/>
            <a:ext cx="4572000" cy="2276856"/>
          </a:xfrm>
          <a:prstGeom prst="rect">
            <a:avLst/>
          </a:prstGeom>
          <a:effectLst>
            <a:outerShdw sx="100000" sy="100000" kx="0" ky="0" algn="bl" rotWithShape="0" blurRad="101600" dist="25400" dir="5400000">
              <a:srgbClr val="10265F">
                <a:alpha val="10000"/>
              </a:srgbClr>
            </a:outerShdw>
          </a:effectLst>
        </p:spPr>
      </p:pic>
      <p:sp>
        <p:nvSpPr>
          <p:cNvPr id="26" name="Text 23"/>
          <p:cNvSpPr txBox="1"/>
          <p:nvPr/>
        </p:nvSpPr>
        <p:spPr>
          <a:xfrm>
            <a:off x="6492240" y="3977640"/>
            <a:ext cx="5148072" cy="256032"/>
          </a:xfrm>
          <a:prstGeom prst="rect">
            <a:avLst/>
          </a:prstGeom>
          <a:noFill/>
          <a:ln/>
        </p:spPr>
        <p:txBody>
          <a:bodyPr wrap="square" lIns="0" tIns="0" rIns="0" bIns="0" rtlCol="0" anchor="ctr"/>
          <a:lstStyle/>
          <a:p>
            <a:pPr indent="0" marL="0">
              <a:buNone/>
            </a:pPr>
            <a:r>
              <a:rPr lang="en-US" sz="1000" i="1" dirty="0">
                <a:solidFill>
                  <a:schemeClr val="accent5"/>
                </a:solidFill>
              </a:rPr>
              <a:t>Summary screen, using the built-in fictional example (labeled in the app).</a:t>
            </a:r>
            <a:endParaRPr lang="en-US" sz="1000" dirty="0"/>
          </a:p>
        </p:txBody>
      </p:sp>
      <p:sp>
        <p:nvSpPr>
          <p:cNvPr id="27" name="Card"/>
          <p:cNvSpPr/>
          <p:nvPr/>
        </p:nvSpPr>
        <p:spPr>
          <a:xfrm>
            <a:off x="6492240" y="4343400"/>
            <a:ext cx="5148072" cy="841248"/>
          </a:xfrm>
          <a:prstGeom prst="roundRect">
            <a:avLst>
              <a:gd name="adj" fmla="val 8696"/>
            </a:avLst>
          </a:prstGeom>
          <a:solidFill>
            <a:schemeClr val="bg1"/>
          </a:solidFill>
          <a:ln/>
          <a:effectLst>
            <a:outerShdw sx="100000" sy="100000" kx="0" ky="0" algn="bl" rotWithShape="0" blurRad="101600" dist="25400" dir="5400000">
              <a:srgbClr val="10265F">
                <a:alpha val="10000"/>
              </a:srgbClr>
            </a:outerShdw>
          </a:effectLst>
        </p:spPr>
      </p:sp>
      <p:sp>
        <p:nvSpPr>
          <p:cNvPr id="28" name="Text 25"/>
          <p:cNvSpPr txBox="1"/>
          <p:nvPr/>
        </p:nvSpPr>
        <p:spPr>
          <a:xfrm>
            <a:off x="6675120" y="4343400"/>
            <a:ext cx="4800600" cy="841248"/>
          </a:xfrm>
          <a:prstGeom prst="rect">
            <a:avLst/>
          </a:prstGeom>
          <a:noFill/>
          <a:ln/>
        </p:spPr>
        <p:txBody>
          <a:bodyPr wrap="square" lIns="0" tIns="0" rIns="0" bIns="0" rtlCol="0" anchor="ctr"/>
          <a:lstStyle/>
          <a:p>
            <a:pPr indent="0" marL="0">
              <a:buNone/>
            </a:pPr>
            <a:r>
              <a:rPr lang="en-US" sz="1000" b="1" spc="100" kern="0" dirty="0">
                <a:solidFill>
                  <a:schemeClr val="accent1"/>
                </a:solidFill>
              </a:rPr>
              <a:t>WHAT WE HEARD   </a:t>
            </a:r>
            <a:endParaRPr lang="en-US" sz="1000" dirty="0"/>
          </a:p>
          <a:p>
            <a:pPr indent="0" marL="0">
              <a:buNone/>
            </a:pPr>
            <a:r>
              <a:rPr lang="en-US" sz="1500" i="1" dirty="0">
                <a:solidFill>
                  <a:schemeClr val="tx2"/>
                </a:solidFill>
              </a:rPr>
              <a:t>“I want to know when there is a reasonable reason to get it checked.”</a:t>
            </a:r>
            <a:pPr indent="0" marL="0">
              <a:buNone/>
            </a:pPr>
            <a:r>
              <a:rPr lang="en-US" sz="1100" dirty="0">
                <a:solidFill>
                  <a:schemeClr val="accent5"/>
                </a:solidFill>
              </a:rPr>
              <a:t>  Pat, virtual interview</a:t>
            </a:r>
            <a:endParaRPr lang="en-US" sz="1000" dirty="0"/>
          </a:p>
        </p:txBody>
      </p:sp>
      <p:sp>
        <p:nvSpPr>
          <p:cNvPr id="29" name="Card"/>
          <p:cNvSpPr/>
          <p:nvPr/>
        </p:nvSpPr>
        <p:spPr>
          <a:xfrm>
            <a:off x="6492240" y="5276088"/>
            <a:ext cx="5148072" cy="896112"/>
          </a:xfrm>
          <a:prstGeom prst="roundRect">
            <a:avLst>
              <a:gd name="adj" fmla="val 8163"/>
            </a:avLst>
          </a:prstGeom>
          <a:solidFill>
            <a:schemeClr val="bg1"/>
          </a:solidFill>
          <a:ln w="9525">
            <a:solidFill>
              <a:schemeClr val="accent6"/>
            </a:solidFill>
            <a:prstDash val="solid"/>
          </a:ln>
        </p:spPr>
      </p:sp>
      <p:sp>
        <p:nvSpPr>
          <p:cNvPr id="30" name="Label"/>
          <p:cNvSpPr txBox="1"/>
          <p:nvPr/>
        </p:nvSpPr>
        <p:spPr>
          <a:xfrm>
            <a:off x="6675120" y="5349240"/>
            <a:ext cx="4114800" cy="237744"/>
          </a:xfrm>
          <a:prstGeom prst="rect">
            <a:avLst/>
          </a:prstGeom>
          <a:noFill/>
          <a:ln/>
        </p:spPr>
        <p:txBody>
          <a:bodyPr wrap="square" lIns="0" tIns="0" rIns="0" bIns="0" rtlCol="0" anchor="ctr"/>
          <a:lstStyle/>
          <a:p>
            <a:pPr indent="0" marL="0">
              <a:buNone/>
            </a:pPr>
            <a:r>
              <a:rPr lang="en-US" sz="1100" b="1" spc="150" kern="0" dirty="0">
                <a:solidFill>
                  <a:schemeClr val="accent4"/>
                </a:solidFill>
              </a:rPr>
              <a:t>WHAT WOULD CHALLENGE IT</a:t>
            </a:r>
            <a:endParaRPr lang="en-US" sz="1100" dirty="0"/>
          </a:p>
        </p:txBody>
      </p:sp>
      <p:sp>
        <p:nvSpPr>
          <p:cNvPr id="31" name="Text 28"/>
          <p:cNvSpPr txBox="1"/>
          <p:nvPr/>
        </p:nvSpPr>
        <p:spPr>
          <a:xfrm>
            <a:off x="6675120" y="5605272"/>
            <a:ext cx="4800600" cy="530352"/>
          </a:xfrm>
          <a:prstGeom prst="rect">
            <a:avLst/>
          </a:prstGeom>
          <a:noFill/>
          <a:ln/>
        </p:spPr>
        <p:txBody>
          <a:bodyPr wrap="square" lIns="0" tIns="0" rIns="0" bIns="0" rtlCol="0" anchor="t"/>
          <a:lstStyle/>
          <a:p>
            <a:pPr indent="0" marL="0">
              <a:buNone/>
            </a:pPr>
            <a:r>
              <a:rPr lang="en-US" sz="1300" dirty="0">
                <a:solidFill>
                  <a:schemeClr val="tx1"/>
                </a:solidFill>
              </a:rPr>
              <a:t>Parents find the game irrelevant or the summary unhelpful. A download click shows a request, not follow-through.</a:t>
            </a:r>
            <a:endParaRPr lang="en-US" sz="13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PROTOTYPE C · ANXIOUS APPLICANT ALEX</a:t>
            </a:r>
            <a:endParaRPr lang="en-US" sz="1200" dirty="0"/>
          </a:p>
        </p:txBody>
      </p:sp>
      <p:sp>
        <p:nvSpPr>
          <p:cNvPr id="3" name="Text 1"/>
          <p:cNvSpPr/>
          <p:nvPr>
            <p:ph idx="102"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tx2"/>
                </a:solidFill>
              </a:rPr>
              <a:t>DMV Pre-Check</a:t>
            </a:r>
            <a:endParaRPr lang="en-US" sz="3600" dirty="0"/>
          </a:p>
        </p:txBody>
      </p:sp>
      <p:sp>
        <p:nvSpPr>
          <p:cNvPr id="4" name="Text 2"/>
          <p:cNvSpPr txBox="1"/>
          <p:nvPr/>
        </p:nvSpPr>
        <p:spPr>
          <a:xfrm>
            <a:off x="548640" y="1188720"/>
            <a:ext cx="10972800" cy="274320"/>
          </a:xfrm>
          <a:prstGeom prst="rect">
            <a:avLst/>
          </a:prstGeom>
          <a:noFill/>
          <a:ln/>
        </p:spPr>
        <p:txBody>
          <a:bodyPr wrap="square" lIns="0" tIns="0" rIns="0" bIns="0" rtlCol="0" anchor="ctr"/>
          <a:lstStyle/>
          <a:p>
            <a:pPr indent="0" marL="0">
              <a:buNone/>
            </a:pPr>
            <a:r>
              <a:rPr lang="en-US" sz="1400" dirty="0">
                <a:solidFill>
                  <a:schemeClr val="accent5"/>
                </a:solidFill>
              </a:rPr>
              <a:t>Trigger: a DMV vision screening coming up  ·  Built by Burak</a:t>
            </a:r>
            <a:endParaRPr lang="en-US" sz="1400" dirty="0"/>
          </a:p>
        </p:txBody>
      </p:sp>
      <p:sp>
        <p:nvSpPr>
          <p:cNvPr id="5" name="Card"/>
          <p:cNvSpPr/>
          <p:nvPr/>
        </p:nvSpPr>
        <p:spPr>
          <a:xfrm>
            <a:off x="548640" y="1645920"/>
            <a:ext cx="5760720" cy="1600200"/>
          </a:xfrm>
          <a:prstGeom prst="roundRect">
            <a:avLst>
              <a:gd name="adj" fmla="val 4571"/>
            </a:avLst>
          </a:prstGeom>
          <a:solidFill>
            <a:schemeClr val="bg1"/>
          </a:solidFill>
          <a:ln/>
          <a:effectLst>
            <a:outerShdw sx="100000" sy="100000" kx="0" ky="0" algn="bl" rotWithShape="0" blurRad="101600" dist="25400" dir="5400000">
              <a:srgbClr val="10265F">
                <a:alpha val="10000"/>
              </a:srgbClr>
            </a:outerShdw>
          </a:effectLst>
        </p:spPr>
      </p:sp>
      <p:sp>
        <p:nvSpPr>
          <p:cNvPr id="6" name="Badge C"/>
          <p:cNvSpPr/>
          <p:nvPr/>
        </p:nvSpPr>
        <p:spPr>
          <a:xfrm>
            <a:off x="731520" y="1783080"/>
            <a:ext cx="457200" cy="457200"/>
          </a:xfrm>
          <a:prstGeom prst="ellipse">
            <a:avLst/>
          </a:prstGeom>
          <a:solidFill>
            <a:schemeClr val="accent4"/>
          </a:solidFill>
          <a:ln/>
        </p:spPr>
      </p:sp>
      <p:sp>
        <p:nvSpPr>
          <p:cNvPr id="7" name="Badge letter C"/>
          <p:cNvSpPr txBox="1"/>
          <p:nvPr/>
        </p:nvSpPr>
        <p:spPr>
          <a:xfrm>
            <a:off x="731520" y="17830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8" name="Label"/>
          <p:cNvSpPr txBox="1"/>
          <p:nvPr/>
        </p:nvSpPr>
        <p:spPr>
          <a:xfrm>
            <a:off x="1371600" y="1892808"/>
            <a:ext cx="27432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HYPOTHESIS</a:t>
            </a:r>
            <a:endParaRPr lang="en-US" sz="1100" dirty="0"/>
          </a:p>
        </p:txBody>
      </p:sp>
      <p:sp>
        <p:nvSpPr>
          <p:cNvPr id="9" name="Text 7"/>
          <p:cNvSpPr txBox="1"/>
          <p:nvPr/>
        </p:nvSpPr>
        <p:spPr>
          <a:xfrm>
            <a:off x="777240" y="2331720"/>
            <a:ext cx="5303520" cy="868680"/>
          </a:xfrm>
          <a:prstGeom prst="rect">
            <a:avLst/>
          </a:prstGeom>
          <a:noFill/>
          <a:ln/>
        </p:spPr>
        <p:txBody>
          <a:bodyPr wrap="square" lIns="0" tIns="0" rIns="0" bIns="0" rtlCol="0" anchor="t"/>
          <a:lstStyle/>
          <a:p>
            <a:pPr indent="0" marL="0">
              <a:buNone/>
            </a:pPr>
            <a:r>
              <a:rPr lang="en-US" sz="1600" dirty="0">
                <a:solidFill>
                  <a:schemeClr val="tx1"/>
                </a:solidFill>
              </a:rPr>
              <a:t>People with a DMV vision screening coming up will prefer, and act on, a check that answers “Will I pass my state's test?” with a clear next step.</a:t>
            </a:r>
            <a:endParaRPr lang="en-US" sz="1600" dirty="0"/>
          </a:p>
        </p:txBody>
      </p:sp>
      <p:sp>
        <p:nvSpPr>
          <p:cNvPr id="10" name="Label"/>
          <p:cNvSpPr txBox="1"/>
          <p:nvPr/>
        </p:nvSpPr>
        <p:spPr>
          <a:xfrm>
            <a:off x="548640" y="3456432"/>
            <a:ext cx="3657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THE CORE FLOW</a:t>
            </a:r>
            <a:endParaRPr lang="en-US" sz="1100" dirty="0"/>
          </a:p>
        </p:txBody>
      </p:sp>
      <p:sp>
        <p:nvSpPr>
          <p:cNvPr id="11" name="Step dot"/>
          <p:cNvSpPr/>
          <p:nvPr/>
        </p:nvSpPr>
        <p:spPr>
          <a:xfrm>
            <a:off x="548640" y="3794760"/>
            <a:ext cx="274320" cy="274320"/>
          </a:xfrm>
          <a:prstGeom prst="ellipse">
            <a:avLst/>
          </a:prstGeom>
          <a:solidFill>
            <a:schemeClr val="tx2"/>
          </a:solidFill>
          <a:ln/>
        </p:spPr>
      </p:sp>
      <p:sp>
        <p:nvSpPr>
          <p:cNvPr id="12" name="Text 10"/>
          <p:cNvSpPr txBox="1"/>
          <p:nvPr/>
        </p:nvSpPr>
        <p:spPr>
          <a:xfrm>
            <a:off x="548640" y="379476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3" name="Text 11"/>
          <p:cNvSpPr txBox="1"/>
          <p:nvPr/>
        </p:nvSpPr>
        <p:spPr>
          <a:xfrm>
            <a:off x="960120" y="3767328"/>
            <a:ext cx="5349240" cy="329184"/>
          </a:xfrm>
          <a:prstGeom prst="rect">
            <a:avLst/>
          </a:prstGeom>
          <a:noFill/>
          <a:ln/>
        </p:spPr>
        <p:txBody>
          <a:bodyPr wrap="square" lIns="0" tIns="0" rIns="0" bIns="0" rtlCol="0" anchor="ctr"/>
          <a:lstStyle/>
          <a:p>
            <a:pPr indent="0" marL="0">
              <a:buNone/>
            </a:pPr>
            <a:r>
              <a:rPr lang="en-US" sz="1400" dirty="0">
                <a:solidFill>
                  <a:schemeClr val="tx1"/>
                </a:solidFill>
              </a:rPr>
              <a:t>Pick your state and see its real rule</a:t>
            </a:r>
            <a:endParaRPr lang="en-US" sz="1400" dirty="0"/>
          </a:p>
        </p:txBody>
      </p:sp>
      <p:sp>
        <p:nvSpPr>
          <p:cNvPr id="14" name="Step dot"/>
          <p:cNvSpPr/>
          <p:nvPr/>
        </p:nvSpPr>
        <p:spPr>
          <a:xfrm>
            <a:off x="548640" y="4160520"/>
            <a:ext cx="274320" cy="274320"/>
          </a:xfrm>
          <a:prstGeom prst="ellipse">
            <a:avLst/>
          </a:prstGeom>
          <a:solidFill>
            <a:schemeClr val="tx2"/>
          </a:solidFill>
          <a:ln/>
        </p:spPr>
      </p:sp>
      <p:sp>
        <p:nvSpPr>
          <p:cNvPr id="15" name="Text 13"/>
          <p:cNvSpPr txBox="1"/>
          <p:nvPr/>
        </p:nvSpPr>
        <p:spPr>
          <a:xfrm>
            <a:off x="548640" y="416052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4"/>
          <p:cNvSpPr txBox="1"/>
          <p:nvPr/>
        </p:nvSpPr>
        <p:spPr>
          <a:xfrm>
            <a:off x="960120" y="4133088"/>
            <a:ext cx="5349240" cy="329184"/>
          </a:xfrm>
          <a:prstGeom prst="rect">
            <a:avLst/>
          </a:prstGeom>
          <a:noFill/>
          <a:ln/>
        </p:spPr>
        <p:txBody>
          <a:bodyPr wrap="square" lIns="0" tIns="0" rIns="0" bIns="0" rtlCol="0" anchor="ctr"/>
          <a:lstStyle/>
          <a:p>
            <a:pPr indent="0" marL="0">
              <a:buNone/>
            </a:pPr>
            <a:r>
              <a:rPr lang="en-US" sz="1400" dirty="0">
                <a:solidFill>
                  <a:schemeClr val="tx1"/>
                </a:solidFill>
              </a:rPr>
              <a:t>Size the letters to your screen with any ID card</a:t>
            </a:r>
            <a:endParaRPr lang="en-US" sz="1400" dirty="0"/>
          </a:p>
        </p:txBody>
      </p:sp>
      <p:sp>
        <p:nvSpPr>
          <p:cNvPr id="17" name="Step dot"/>
          <p:cNvSpPr/>
          <p:nvPr/>
        </p:nvSpPr>
        <p:spPr>
          <a:xfrm>
            <a:off x="548640" y="4526280"/>
            <a:ext cx="274320" cy="274320"/>
          </a:xfrm>
          <a:prstGeom prst="ellipse">
            <a:avLst/>
          </a:prstGeom>
          <a:solidFill>
            <a:schemeClr val="tx2"/>
          </a:solidFill>
          <a:ln/>
        </p:spPr>
      </p:sp>
      <p:sp>
        <p:nvSpPr>
          <p:cNvPr id="18" name="Text 16"/>
          <p:cNvSpPr txBox="1"/>
          <p:nvPr/>
        </p:nvSpPr>
        <p:spPr>
          <a:xfrm>
            <a:off x="548640" y="452628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17"/>
          <p:cNvSpPr txBox="1"/>
          <p:nvPr/>
        </p:nvSpPr>
        <p:spPr>
          <a:xfrm>
            <a:off x="960120" y="4498848"/>
            <a:ext cx="5349240" cy="329184"/>
          </a:xfrm>
          <a:prstGeom prst="rect">
            <a:avLst/>
          </a:prstGeom>
          <a:noFill/>
          <a:ln/>
        </p:spPr>
        <p:txBody>
          <a:bodyPr wrap="square" lIns="0" tIns="0" rIns="0" bIns="0" rtlCol="0" anchor="ctr"/>
          <a:lstStyle/>
          <a:p>
            <a:pPr indent="0" marL="0">
              <a:buNone/>
            </a:pPr>
            <a:r>
              <a:rPr lang="en-US" sz="1400" dirty="0">
                <a:solidFill>
                  <a:schemeClr val="tx1"/>
                </a:solidFill>
              </a:rPr>
              <a:t>Read 14 letters, six at the line that decides</a:t>
            </a:r>
            <a:endParaRPr lang="en-US" sz="1400" dirty="0"/>
          </a:p>
        </p:txBody>
      </p:sp>
      <p:sp>
        <p:nvSpPr>
          <p:cNvPr id="20" name="Step dot"/>
          <p:cNvSpPr/>
          <p:nvPr/>
        </p:nvSpPr>
        <p:spPr>
          <a:xfrm>
            <a:off x="548640" y="4892040"/>
            <a:ext cx="274320" cy="274320"/>
          </a:xfrm>
          <a:prstGeom prst="ellipse">
            <a:avLst/>
          </a:prstGeom>
          <a:solidFill>
            <a:schemeClr val="tx2"/>
          </a:solidFill>
          <a:ln/>
        </p:spPr>
      </p:sp>
      <p:sp>
        <p:nvSpPr>
          <p:cNvPr id="21" name="Text 19"/>
          <p:cNvSpPr txBox="1"/>
          <p:nvPr/>
        </p:nvSpPr>
        <p:spPr>
          <a:xfrm>
            <a:off x="548640" y="489204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2" name="Text 20"/>
          <p:cNvSpPr txBox="1"/>
          <p:nvPr/>
        </p:nvSpPr>
        <p:spPr>
          <a:xfrm>
            <a:off x="960120" y="4864608"/>
            <a:ext cx="5349240" cy="329184"/>
          </a:xfrm>
          <a:prstGeom prst="rect">
            <a:avLst/>
          </a:prstGeom>
          <a:noFill/>
          <a:ln/>
        </p:spPr>
        <p:txBody>
          <a:bodyPr wrap="square" lIns="0" tIns="0" rIns="0" bIns="0" rtlCol="0" anchor="ctr"/>
          <a:lstStyle/>
          <a:p>
            <a:pPr indent="0" marL="0">
              <a:buNone/>
            </a:pPr>
            <a:r>
              <a:rPr lang="en-US" sz="1400" dirty="0">
                <a:solidFill>
                  <a:schemeClr val="tx1"/>
                </a:solidFill>
              </a:rPr>
              <a:t>Get a verdict and a next-step plan</a:t>
            </a:r>
            <a:endParaRPr lang="en-US" sz="1400" dirty="0"/>
          </a:p>
        </p:txBody>
      </p:sp>
      <p:sp>
        <p:nvSpPr>
          <p:cNvPr id="23" name="Card"/>
          <p:cNvSpPr/>
          <p:nvPr/>
        </p:nvSpPr>
        <p:spPr>
          <a:xfrm>
            <a:off x="548640" y="5349240"/>
            <a:ext cx="5760720" cy="822960"/>
          </a:xfrm>
          <a:prstGeom prst="roundRect">
            <a:avLst>
              <a:gd name="adj" fmla="val 8889"/>
            </a:avLst>
          </a:prstGeom>
          <a:solidFill>
            <a:schemeClr val="bg1"/>
          </a:solidFill>
          <a:ln w="9525">
            <a:solidFill>
              <a:schemeClr val="accent6"/>
            </a:solidFill>
            <a:prstDash val="solid"/>
          </a:ln>
        </p:spPr>
      </p:sp>
      <p:sp>
        <p:nvSpPr>
          <p:cNvPr id="24" name="Text 22"/>
          <p:cNvSpPr txBox="1"/>
          <p:nvPr/>
        </p:nvSpPr>
        <p:spPr>
          <a:xfrm>
            <a:off x="731520" y="5349240"/>
            <a:ext cx="5394960" cy="822960"/>
          </a:xfrm>
          <a:prstGeom prst="rect">
            <a:avLst/>
          </a:prstGeom>
          <a:noFill/>
          <a:ln/>
        </p:spPr>
        <p:txBody>
          <a:bodyPr wrap="square" lIns="0" tIns="0" rIns="0" bIns="0" rtlCol="0" anchor="ctr"/>
          <a:lstStyle/>
          <a:p>
            <a:pPr indent="0" marL="0">
              <a:buNone/>
            </a:pPr>
            <a:r>
              <a:rPr lang="en-US" sz="1000" b="1" spc="100" kern="0" dirty="0">
                <a:solidFill>
                  <a:schemeClr val="accent1"/>
                </a:solidFill>
              </a:rPr>
              <a:t>PROPOSED SUCCESS SIGNAL  </a:t>
            </a:r>
            <a:pPr indent="0" marL="0">
              <a:buNone/>
            </a:pPr>
            <a:r>
              <a:rPr lang="en-US" sz="1400" dirty="0">
                <a:solidFill>
                  <a:schemeClr val="tx1"/>
                </a:solidFill>
              </a:rPr>
              <a:t>60% would likely use it before a DMV visit; 70% knew if they would pass; 50% told to see a doctor would book first.</a:t>
            </a:r>
            <a:endParaRPr lang="en-US" sz="1000" dirty="0"/>
          </a:p>
        </p:txBody>
      </p:sp>
      <p:pic>
        <p:nvPicPr>
          <p:cNvPr id="25" name="Image 0" descr="Screenshot of Prototype C">    </p:cNvPr>
          <p:cNvPicPr>
            <a:picLocks noChangeAspect="1"/>
          </p:cNvPicPr>
          <p:nvPr/>
        </p:nvPicPr>
        <p:blipFill>
          <a:blip r:embed="rId1"/>
          <a:stretch>
            <a:fillRect/>
          </a:stretch>
        </p:blipFill>
        <p:spPr>
          <a:xfrm>
            <a:off x="6780276" y="1645920"/>
            <a:ext cx="4572000" cy="2276856"/>
          </a:xfrm>
          <a:prstGeom prst="rect">
            <a:avLst/>
          </a:prstGeom>
          <a:effectLst>
            <a:outerShdw sx="100000" sy="100000" kx="0" ky="0" algn="bl" rotWithShape="0" blurRad="101600" dist="25400" dir="5400000">
              <a:srgbClr val="10265F">
                <a:alpha val="10000"/>
              </a:srgbClr>
            </a:outerShdw>
          </a:effectLst>
        </p:spPr>
      </p:pic>
      <p:sp>
        <p:nvSpPr>
          <p:cNvPr id="26" name="Text 23"/>
          <p:cNvSpPr txBox="1"/>
          <p:nvPr/>
        </p:nvSpPr>
        <p:spPr>
          <a:xfrm>
            <a:off x="6492240" y="3977640"/>
            <a:ext cx="5148072" cy="256032"/>
          </a:xfrm>
          <a:prstGeom prst="rect">
            <a:avLst/>
          </a:prstGeom>
          <a:noFill/>
          <a:ln/>
        </p:spPr>
        <p:txBody>
          <a:bodyPr wrap="square" lIns="0" tIns="0" rIns="0" bIns="0" rtlCol="0" anchor="ctr"/>
          <a:lstStyle/>
          <a:p>
            <a:pPr indent="0" marL="0">
              <a:buNone/>
            </a:pPr>
            <a:r>
              <a:rPr lang="en-US" sz="1000" i="1" dirty="0">
                <a:solidFill>
                  <a:schemeClr val="accent5"/>
                </a:solidFill>
              </a:rPr>
              <a:t>Welcome page on the public demo.</a:t>
            </a:r>
            <a:endParaRPr lang="en-US" sz="1000" dirty="0"/>
          </a:p>
        </p:txBody>
      </p:sp>
      <p:sp>
        <p:nvSpPr>
          <p:cNvPr id="27" name="Card"/>
          <p:cNvSpPr/>
          <p:nvPr/>
        </p:nvSpPr>
        <p:spPr>
          <a:xfrm>
            <a:off x="6492240" y="4343400"/>
            <a:ext cx="5148072" cy="841248"/>
          </a:xfrm>
          <a:prstGeom prst="roundRect">
            <a:avLst>
              <a:gd name="adj" fmla="val 8696"/>
            </a:avLst>
          </a:prstGeom>
          <a:solidFill>
            <a:schemeClr val="bg1"/>
          </a:solidFill>
          <a:ln/>
          <a:effectLst>
            <a:outerShdw sx="100000" sy="100000" kx="0" ky="0" algn="bl" rotWithShape="0" blurRad="101600" dist="25400" dir="5400000">
              <a:srgbClr val="10265F">
                <a:alpha val="10000"/>
              </a:srgbClr>
            </a:outerShdw>
          </a:effectLst>
        </p:spPr>
      </p:sp>
      <p:sp>
        <p:nvSpPr>
          <p:cNvPr id="28" name="Text 25"/>
          <p:cNvSpPr txBox="1"/>
          <p:nvPr/>
        </p:nvSpPr>
        <p:spPr>
          <a:xfrm>
            <a:off x="6675120" y="4343400"/>
            <a:ext cx="4800600" cy="841248"/>
          </a:xfrm>
          <a:prstGeom prst="rect">
            <a:avLst/>
          </a:prstGeom>
          <a:noFill/>
          <a:ln/>
        </p:spPr>
        <p:txBody>
          <a:bodyPr wrap="square" lIns="0" tIns="0" rIns="0" bIns="0" rtlCol="0" anchor="ctr"/>
          <a:lstStyle/>
          <a:p>
            <a:pPr indent="0" marL="0">
              <a:buNone/>
            </a:pPr>
            <a:r>
              <a:rPr lang="en-US" sz="1000" b="1" spc="100" kern="0" dirty="0">
                <a:solidFill>
                  <a:schemeClr val="accent1"/>
                </a:solidFill>
              </a:rPr>
              <a:t>WHAT WE HEARD   </a:t>
            </a:r>
            <a:endParaRPr lang="en-US" sz="1000" dirty="0"/>
          </a:p>
          <a:p>
            <a:pPr indent="0" marL="0">
              <a:buNone/>
            </a:pPr>
            <a:r>
              <a:rPr lang="en-US" sz="1500" i="1" dirty="0">
                <a:solidFill>
                  <a:schemeClr val="tx2"/>
                </a:solidFill>
              </a:rPr>
              <a:t>“I didn't even know if that's a pass or a fail.”</a:t>
            </a:r>
            <a:pPr indent="0" marL="0">
              <a:buNone/>
            </a:pPr>
            <a:r>
              <a:rPr lang="en-US" sz="1100" dirty="0">
                <a:solidFill>
                  <a:schemeClr val="accent5"/>
                </a:solidFill>
              </a:rPr>
              <a:t>  Alex, virtual interview</a:t>
            </a:r>
            <a:endParaRPr lang="en-US" sz="1000" dirty="0"/>
          </a:p>
        </p:txBody>
      </p:sp>
      <p:sp>
        <p:nvSpPr>
          <p:cNvPr id="29" name="Card"/>
          <p:cNvSpPr/>
          <p:nvPr/>
        </p:nvSpPr>
        <p:spPr>
          <a:xfrm>
            <a:off x="6492240" y="5276088"/>
            <a:ext cx="5148072" cy="896112"/>
          </a:xfrm>
          <a:prstGeom prst="roundRect">
            <a:avLst>
              <a:gd name="adj" fmla="val 8163"/>
            </a:avLst>
          </a:prstGeom>
          <a:solidFill>
            <a:schemeClr val="bg1"/>
          </a:solidFill>
          <a:ln w="9525">
            <a:solidFill>
              <a:schemeClr val="accent6"/>
            </a:solidFill>
            <a:prstDash val="solid"/>
          </a:ln>
        </p:spPr>
      </p:sp>
      <p:sp>
        <p:nvSpPr>
          <p:cNvPr id="30" name="Label"/>
          <p:cNvSpPr txBox="1"/>
          <p:nvPr/>
        </p:nvSpPr>
        <p:spPr>
          <a:xfrm>
            <a:off x="6675120" y="5349240"/>
            <a:ext cx="4114800" cy="237744"/>
          </a:xfrm>
          <a:prstGeom prst="rect">
            <a:avLst/>
          </a:prstGeom>
          <a:noFill/>
          <a:ln/>
        </p:spPr>
        <p:txBody>
          <a:bodyPr wrap="square" lIns="0" tIns="0" rIns="0" bIns="0" rtlCol="0" anchor="ctr"/>
          <a:lstStyle/>
          <a:p>
            <a:pPr indent="0" marL="0">
              <a:buNone/>
            </a:pPr>
            <a:r>
              <a:rPr lang="en-US" sz="1100" b="1" spc="150" kern="0" dirty="0">
                <a:solidFill>
                  <a:schemeClr val="accent4"/>
                </a:solidFill>
              </a:rPr>
              <a:t>WHAT WOULD CHALLENGE IT</a:t>
            </a:r>
            <a:endParaRPr lang="en-US" sz="1100" dirty="0"/>
          </a:p>
        </p:txBody>
      </p:sp>
      <p:sp>
        <p:nvSpPr>
          <p:cNvPr id="31" name="Text 28"/>
          <p:cNvSpPr txBox="1"/>
          <p:nvPr/>
        </p:nvSpPr>
        <p:spPr>
          <a:xfrm>
            <a:off x="6675120" y="5605272"/>
            <a:ext cx="4800600" cy="530352"/>
          </a:xfrm>
          <a:prstGeom prst="rect">
            <a:avLst/>
          </a:prstGeom>
          <a:noFill/>
          <a:ln/>
        </p:spPr>
        <p:txBody>
          <a:bodyPr wrap="square" lIns="0" tIns="0" rIns="0" bIns="0" rtlCol="0" anchor="t"/>
          <a:lstStyle/>
          <a:p>
            <a:pPr indent="0" marL="0">
              <a:buNone/>
            </a:pPr>
            <a:r>
              <a:rPr lang="en-US" sz="1300" dirty="0">
                <a:solidFill>
                  <a:schemeClr val="tx1"/>
                </a:solidFill>
              </a:rPr>
              <a:t>Our riskiest assumption: a DMV visit isn't enough of a trigger. Alex said the road test worried him more than the vision screening.</a:t>
            </a:r>
            <a:endParaRPr lang="en-US" sz="13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LIVE DEMO</a:t>
            </a:r>
            <a:endParaRPr lang="en-US" sz="1200" dirty="0"/>
          </a:p>
        </p:txBody>
      </p:sp>
      <p:sp>
        <p:nvSpPr>
          <p:cNvPr id="3" name="Text 1"/>
          <p:cNvSpPr/>
          <p:nvPr>
            <p:ph idx="101"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bg1"/>
                </a:solidFill>
              </a:rPr>
              <a:t>See it work</a:t>
            </a:r>
            <a:endParaRPr lang="en-US" sz="3600" dirty="0"/>
          </a:p>
        </p:txBody>
      </p:sp>
      <p:sp>
        <p:nvSpPr>
          <p:cNvPr id="4" name="Demo card A"/>
          <p:cNvSpPr/>
          <p:nvPr/>
        </p:nvSpPr>
        <p:spPr>
          <a:xfrm>
            <a:off x="548640" y="1691640"/>
            <a:ext cx="3566160" cy="3429000"/>
          </a:xfrm>
          <a:prstGeom prst="roundRect">
            <a:avLst>
              <a:gd name="adj" fmla="val 2133"/>
            </a:avLst>
          </a:prstGeom>
          <a:solidFill>
            <a:schemeClr val="bg1">
              <a:alpha val="8000"/>
            </a:schemeClr>
          </a:solidFill>
          <a:ln w="9525">
            <a:solidFill>
              <a:schemeClr val="accent6">
                <a:alpha val="40000"/>
              </a:schemeClr>
            </a:solidFill>
            <a:prstDash val="solid"/>
          </a:ln>
        </p:spPr>
      </p:sp>
      <p:sp>
        <p:nvSpPr>
          <p:cNvPr id="5" name="Badge A"/>
          <p:cNvSpPr/>
          <p:nvPr/>
        </p:nvSpPr>
        <p:spPr>
          <a:xfrm>
            <a:off x="822960" y="1920240"/>
            <a:ext cx="594360" cy="594360"/>
          </a:xfrm>
          <a:prstGeom prst="ellipse">
            <a:avLst/>
          </a:prstGeom>
          <a:solidFill>
            <a:schemeClr val="accent2"/>
          </a:solidFill>
          <a:ln/>
        </p:spPr>
      </p:sp>
      <p:sp>
        <p:nvSpPr>
          <p:cNvPr id="6" name="Badge letter A"/>
          <p:cNvSpPr txBox="1"/>
          <p:nvPr/>
        </p:nvSpPr>
        <p:spPr>
          <a:xfrm>
            <a:off x="822960" y="1920240"/>
            <a:ext cx="594360" cy="594360"/>
          </a:xfrm>
          <a:prstGeom prst="rect">
            <a:avLst/>
          </a:prstGeom>
          <a:noFill/>
          <a:ln/>
        </p:spPr>
        <p:txBody>
          <a:bodyPr wrap="square" lIns="0" tIns="0" rIns="0" bIns="0" rtlCol="0" anchor="ctr"/>
          <a:lstStyle/>
          <a:p>
            <a:pPr algn="ctr" indent="0" marL="0">
              <a:buNone/>
            </a:pPr>
            <a:r>
              <a:rPr lang="en-US" sz="2300" b="1" dirty="0">
                <a:solidFill>
                  <a:schemeClr val="bg1"/>
                </a:solidFill>
              </a:rPr>
              <a:t>A</a:t>
            </a:r>
            <a:endParaRPr lang="en-US" sz="2300" dirty="0"/>
          </a:p>
        </p:txBody>
      </p:sp>
      <p:sp>
        <p:nvSpPr>
          <p:cNvPr id="7" name="Text 5"/>
          <p:cNvSpPr txBox="1"/>
          <p:nvPr/>
        </p:nvSpPr>
        <p:spPr>
          <a:xfrm>
            <a:off x="1508760" y="1920240"/>
            <a:ext cx="2468880" cy="594360"/>
          </a:xfrm>
          <a:prstGeom prst="rect">
            <a:avLst/>
          </a:prstGeom>
          <a:noFill/>
          <a:ln/>
        </p:spPr>
        <p:txBody>
          <a:bodyPr wrap="square" lIns="0" tIns="0" rIns="0" bIns="0" rtlCol="0" anchor="ctr"/>
          <a:lstStyle/>
          <a:p>
            <a:pPr indent="0" marL="0">
              <a:buNone/>
            </a:pPr>
            <a:r>
              <a:rPr lang="en-US" sz="2200" b="1" dirty="0">
                <a:solidFill>
                  <a:schemeClr val="bg1"/>
                </a:solidFill>
              </a:rPr>
              <a:t>Focal Monitor</a:t>
            </a:r>
            <a:endParaRPr lang="en-US" sz="2200" dirty="0"/>
          </a:p>
        </p:txBody>
      </p:sp>
      <p:sp>
        <p:nvSpPr>
          <p:cNvPr id="8" name="Text 6">
            <a:hlinkClick r:id="rId1" tooltip="Open Prototype A"/>
          </p:cNvPr>
          <p:cNvSpPr txBox="1"/>
          <p:nvPr/>
        </p:nvSpPr>
        <p:spPr>
          <a:xfrm>
            <a:off x="822960" y="2743200"/>
            <a:ext cx="3108960" cy="365760"/>
          </a:xfrm>
          <a:prstGeom prst="rect">
            <a:avLst/>
          </a:prstGeom>
          <a:noFill/>
          <a:ln/>
        </p:spPr>
        <p:txBody>
          <a:bodyPr wrap="square" lIns="0" tIns="0" rIns="0" bIns="0" rtlCol="0" anchor="ctr"/>
          <a:lstStyle/>
          <a:p>
            <a:pPr indent="0" marL="0">
              <a:buNone/>
            </a:pPr>
            <a:r>
              <a:rPr lang="en-US" sz="1400" u="sng" dirty="0">
                <a:solidFill>
                  <a:schemeClr val="accent6"/>
                </a:solidFill>
                <a:hlinkClick r:id="rId1" invalidUrl="" action="" tgtFrame="" tooltip="Open Prototype A" history="1" highlightClick="0" endSnd="0">
                  <a:extLst>
                    <a:ext uri="{A12FA001-AC4F-418D-AE19-62706E023703}">
                      <ahyp:hlinkClr xmlns:ahyp="http://schemas.microsoft.com/office/drawing/2018/hyperlinkcolor" val="tx"/>
                    </a:ext>
                  </a:extLst>
                </a:hlinkClick>
              </a:rPr>
              <a:t>focal-demo-a.streamlit.app</a:t>
            </a:r>
            <a:endParaRPr lang="en-US" sz="1400" dirty="0"/>
          </a:p>
        </p:txBody>
      </p:sp>
      <p:sp>
        <p:nvSpPr>
          <p:cNvPr id="9" name="Text 7"/>
          <p:cNvSpPr txBox="1"/>
          <p:nvPr/>
        </p:nvSpPr>
        <p:spPr>
          <a:xfrm>
            <a:off x="822960" y="3337560"/>
            <a:ext cx="3108960" cy="1645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rPr>
              <a:t>Eight responses</a:t>
            </a:r>
            <a:endParaRPr lang="en-US" sz="1600" dirty="0"/>
          </a:p>
          <a:p>
            <a:pPr marL="342900" indent="-342900">
              <a:spcAft>
                <a:spcPts val="1200"/>
              </a:spcAft>
              <a:buSzPct val="100000"/>
              <a:buChar char="•"/>
            </a:pPr>
            <a:r>
              <a:rPr lang="en-US" sz="1600" dirty="0">
                <a:solidFill>
                  <a:schemeClr val="bg1"/>
                </a:solidFill>
              </a:rPr>
              <a:t>Same result, two views</a:t>
            </a:r>
            <a:endParaRPr lang="en-US" sz="1600" dirty="0"/>
          </a:p>
          <a:p>
            <a:pPr marL="342900" indent="-342900">
              <a:spcAft>
                <a:spcPts val="1200"/>
              </a:spcAft>
              <a:buSzPct val="100000"/>
              <a:buChar char="•"/>
            </a:pPr>
            <a:r>
              <a:rPr lang="en-US" sz="1600" dirty="0">
                <a:solidFill>
                  <a:schemeClr val="bg1"/>
                </a:solidFill>
              </a:rPr>
              <a:t>Preference and reason</a:t>
            </a:r>
            <a:endParaRPr lang="en-US" sz="1600" dirty="0"/>
          </a:p>
        </p:txBody>
      </p:sp>
      <p:sp>
        <p:nvSpPr>
          <p:cNvPr id="10" name="Demo card B"/>
          <p:cNvSpPr/>
          <p:nvPr/>
        </p:nvSpPr>
        <p:spPr>
          <a:xfrm>
            <a:off x="4311396" y="1691640"/>
            <a:ext cx="3566160" cy="3429000"/>
          </a:xfrm>
          <a:prstGeom prst="roundRect">
            <a:avLst>
              <a:gd name="adj" fmla="val 2133"/>
            </a:avLst>
          </a:prstGeom>
          <a:solidFill>
            <a:schemeClr val="bg1">
              <a:alpha val="8000"/>
            </a:schemeClr>
          </a:solidFill>
          <a:ln w="9525">
            <a:solidFill>
              <a:schemeClr val="accent6">
                <a:alpha val="40000"/>
              </a:schemeClr>
            </a:solidFill>
            <a:prstDash val="solid"/>
          </a:ln>
        </p:spPr>
      </p:sp>
      <p:sp>
        <p:nvSpPr>
          <p:cNvPr id="11" name="Badge B"/>
          <p:cNvSpPr/>
          <p:nvPr/>
        </p:nvSpPr>
        <p:spPr>
          <a:xfrm>
            <a:off x="4585716" y="1920240"/>
            <a:ext cx="594360" cy="594360"/>
          </a:xfrm>
          <a:prstGeom prst="ellipse">
            <a:avLst/>
          </a:prstGeom>
          <a:solidFill>
            <a:schemeClr val="accent3"/>
          </a:solidFill>
          <a:ln/>
        </p:spPr>
      </p:sp>
      <p:sp>
        <p:nvSpPr>
          <p:cNvPr id="12" name="Badge letter B"/>
          <p:cNvSpPr txBox="1"/>
          <p:nvPr/>
        </p:nvSpPr>
        <p:spPr>
          <a:xfrm>
            <a:off x="4585716" y="1920240"/>
            <a:ext cx="594360" cy="594360"/>
          </a:xfrm>
          <a:prstGeom prst="rect">
            <a:avLst/>
          </a:prstGeom>
          <a:noFill/>
          <a:ln/>
        </p:spPr>
        <p:txBody>
          <a:bodyPr wrap="square" lIns="0" tIns="0" rIns="0" bIns="0" rtlCol="0" anchor="ctr"/>
          <a:lstStyle/>
          <a:p>
            <a:pPr algn="ctr" indent="0" marL="0">
              <a:buNone/>
            </a:pPr>
            <a:r>
              <a:rPr lang="en-US" sz="2300" b="1" dirty="0">
                <a:solidFill>
                  <a:schemeClr val="bg1"/>
                </a:solidFill>
              </a:rPr>
              <a:t>B</a:t>
            </a:r>
            <a:endParaRPr lang="en-US" sz="2300" dirty="0"/>
          </a:p>
        </p:txBody>
      </p:sp>
      <p:sp>
        <p:nvSpPr>
          <p:cNvPr id="13" name="Text 11"/>
          <p:cNvSpPr txBox="1"/>
          <p:nvPr/>
        </p:nvSpPr>
        <p:spPr>
          <a:xfrm>
            <a:off x="5271516" y="1920240"/>
            <a:ext cx="2468880" cy="594360"/>
          </a:xfrm>
          <a:prstGeom prst="rect">
            <a:avLst/>
          </a:prstGeom>
          <a:noFill/>
          <a:ln/>
        </p:spPr>
        <p:txBody>
          <a:bodyPr wrap="square" lIns="0" tIns="0" rIns="0" bIns="0" rtlCol="0" anchor="ctr"/>
          <a:lstStyle/>
          <a:p>
            <a:pPr indent="0" marL="0">
              <a:buNone/>
            </a:pPr>
            <a:r>
              <a:rPr lang="en-US" sz="2200" b="1" dirty="0">
                <a:solidFill>
                  <a:schemeClr val="bg1"/>
                </a:solidFill>
              </a:rPr>
              <a:t>Focal Family</a:t>
            </a:r>
            <a:endParaRPr lang="en-US" sz="2200" dirty="0"/>
          </a:p>
        </p:txBody>
      </p:sp>
      <p:sp>
        <p:nvSpPr>
          <p:cNvPr id="14" name="Text 12">
            <a:hlinkClick r:id="rId2" tooltip="Open Prototype B"/>
          </p:cNvPr>
          <p:cNvSpPr txBox="1"/>
          <p:nvPr/>
        </p:nvSpPr>
        <p:spPr>
          <a:xfrm>
            <a:off x="4585716" y="2743200"/>
            <a:ext cx="3108960" cy="365760"/>
          </a:xfrm>
          <a:prstGeom prst="rect">
            <a:avLst/>
          </a:prstGeom>
          <a:noFill/>
          <a:ln/>
        </p:spPr>
        <p:txBody>
          <a:bodyPr wrap="square" lIns="0" tIns="0" rIns="0" bIns="0" rtlCol="0" anchor="ctr"/>
          <a:lstStyle/>
          <a:p>
            <a:pPr indent="0" marL="0">
              <a:buNone/>
            </a:pPr>
            <a:r>
              <a:rPr lang="en-US" sz="1400" u="sng" dirty="0">
                <a:solidFill>
                  <a:schemeClr val="accent6"/>
                </a:solidFill>
                <a:hlinkClick r:id="rId2" invalidUrl="" action="" tgtFrame="" tooltip="Open Prototype B" history="1" highlightClick="0" endSnd="0">
                  <a:extLst>
                    <a:ext uri="{A12FA001-AC4F-418D-AE19-62706E023703}">
                      <ahyp:hlinkClr xmlns:ahyp="http://schemas.microsoft.com/office/drawing/2018/hyperlinkcolor" val="tx"/>
                    </a:ext>
                  </a:extLst>
                </a:hlinkClick>
              </a:rPr>
              <a:t>focal-demo-b.streamlit.app</a:t>
            </a:r>
            <a:endParaRPr lang="en-US" sz="1400" dirty="0"/>
          </a:p>
        </p:txBody>
      </p:sp>
      <p:sp>
        <p:nvSpPr>
          <p:cNvPr id="15" name="Text 13"/>
          <p:cNvSpPr txBox="1"/>
          <p:nvPr/>
        </p:nvSpPr>
        <p:spPr>
          <a:xfrm>
            <a:off x="4585716" y="3337560"/>
            <a:ext cx="3108960" cy="1645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rPr>
              <a:t>Practice and six pictures</a:t>
            </a:r>
            <a:endParaRPr lang="en-US" sz="1600" dirty="0"/>
          </a:p>
          <a:p>
            <a:pPr marL="342900" indent="-342900">
              <a:spcAft>
                <a:spcPts val="1200"/>
              </a:spcAft>
              <a:buSzPct val="100000"/>
              <a:buChar char="•"/>
            </a:pPr>
            <a:r>
              <a:rPr lang="en-US" sz="1600" dirty="0">
                <a:solidFill>
                  <a:schemeClr val="bg1"/>
                </a:solidFill>
              </a:rPr>
              <a:t>Observations and next step</a:t>
            </a:r>
            <a:endParaRPr lang="en-US" sz="1600" dirty="0"/>
          </a:p>
          <a:p>
            <a:pPr marL="342900" indent="-342900">
              <a:spcAft>
                <a:spcPts val="1200"/>
              </a:spcAft>
              <a:buSzPct val="100000"/>
              <a:buChar char="•"/>
            </a:pPr>
            <a:r>
              <a:rPr lang="en-US" sz="1600" dirty="0">
                <a:solidFill>
                  <a:schemeClr val="bg1"/>
                </a:solidFill>
              </a:rPr>
              <a:t>The take-home summary</a:t>
            </a:r>
            <a:endParaRPr lang="en-US" sz="1600" dirty="0"/>
          </a:p>
        </p:txBody>
      </p:sp>
      <p:sp>
        <p:nvSpPr>
          <p:cNvPr id="16" name="Demo card C"/>
          <p:cNvSpPr/>
          <p:nvPr/>
        </p:nvSpPr>
        <p:spPr>
          <a:xfrm>
            <a:off x="8074152" y="1691640"/>
            <a:ext cx="3566160" cy="3429000"/>
          </a:xfrm>
          <a:prstGeom prst="roundRect">
            <a:avLst>
              <a:gd name="adj" fmla="val 2133"/>
            </a:avLst>
          </a:prstGeom>
          <a:solidFill>
            <a:schemeClr val="bg1">
              <a:alpha val="8000"/>
            </a:schemeClr>
          </a:solidFill>
          <a:ln w="9525">
            <a:solidFill>
              <a:schemeClr val="accent6">
                <a:alpha val="40000"/>
              </a:schemeClr>
            </a:solidFill>
            <a:prstDash val="solid"/>
          </a:ln>
        </p:spPr>
      </p:sp>
      <p:sp>
        <p:nvSpPr>
          <p:cNvPr id="17" name="Badge C"/>
          <p:cNvSpPr/>
          <p:nvPr/>
        </p:nvSpPr>
        <p:spPr>
          <a:xfrm>
            <a:off x="8348472" y="1920240"/>
            <a:ext cx="594360" cy="594360"/>
          </a:xfrm>
          <a:prstGeom prst="ellipse">
            <a:avLst/>
          </a:prstGeom>
          <a:solidFill>
            <a:schemeClr val="accent4"/>
          </a:solidFill>
          <a:ln/>
        </p:spPr>
      </p:sp>
      <p:sp>
        <p:nvSpPr>
          <p:cNvPr id="18" name="Badge letter C"/>
          <p:cNvSpPr txBox="1"/>
          <p:nvPr/>
        </p:nvSpPr>
        <p:spPr>
          <a:xfrm>
            <a:off x="8348472" y="1920240"/>
            <a:ext cx="594360" cy="594360"/>
          </a:xfrm>
          <a:prstGeom prst="rect">
            <a:avLst/>
          </a:prstGeom>
          <a:noFill/>
          <a:ln/>
        </p:spPr>
        <p:txBody>
          <a:bodyPr wrap="square" lIns="0" tIns="0" rIns="0" bIns="0" rtlCol="0" anchor="ctr"/>
          <a:lstStyle/>
          <a:p>
            <a:pPr algn="ctr" indent="0" marL="0">
              <a:buNone/>
            </a:pPr>
            <a:r>
              <a:rPr lang="en-US" sz="2300" b="1" dirty="0">
                <a:solidFill>
                  <a:schemeClr val="bg1"/>
                </a:solidFill>
              </a:rPr>
              <a:t>C</a:t>
            </a:r>
            <a:endParaRPr lang="en-US" sz="2300" dirty="0"/>
          </a:p>
        </p:txBody>
      </p:sp>
      <p:sp>
        <p:nvSpPr>
          <p:cNvPr id="19" name="Text 17"/>
          <p:cNvSpPr txBox="1"/>
          <p:nvPr/>
        </p:nvSpPr>
        <p:spPr>
          <a:xfrm>
            <a:off x="9034272" y="1920240"/>
            <a:ext cx="2468880" cy="594360"/>
          </a:xfrm>
          <a:prstGeom prst="rect">
            <a:avLst/>
          </a:prstGeom>
          <a:noFill/>
          <a:ln/>
        </p:spPr>
        <p:txBody>
          <a:bodyPr wrap="square" lIns="0" tIns="0" rIns="0" bIns="0" rtlCol="0" anchor="ctr"/>
          <a:lstStyle/>
          <a:p>
            <a:pPr indent="0" marL="0">
              <a:buNone/>
            </a:pPr>
            <a:r>
              <a:rPr lang="en-US" sz="2200" b="1" dirty="0">
                <a:solidFill>
                  <a:schemeClr val="bg1"/>
                </a:solidFill>
              </a:rPr>
              <a:t>DMV Pre-Check</a:t>
            </a:r>
            <a:endParaRPr lang="en-US" sz="2200" dirty="0"/>
          </a:p>
        </p:txBody>
      </p:sp>
      <p:sp>
        <p:nvSpPr>
          <p:cNvPr id="20" name="Text 18">
            <a:hlinkClick r:id="rId3" tooltip="Open Prototype C"/>
          </p:cNvPr>
          <p:cNvSpPr txBox="1"/>
          <p:nvPr/>
        </p:nvSpPr>
        <p:spPr>
          <a:xfrm>
            <a:off x="8348472" y="2743200"/>
            <a:ext cx="3108960" cy="365760"/>
          </a:xfrm>
          <a:prstGeom prst="rect">
            <a:avLst/>
          </a:prstGeom>
          <a:noFill/>
          <a:ln/>
        </p:spPr>
        <p:txBody>
          <a:bodyPr wrap="square" lIns="0" tIns="0" rIns="0" bIns="0" rtlCol="0" anchor="ctr"/>
          <a:lstStyle/>
          <a:p>
            <a:pPr indent="0" marL="0">
              <a:buNone/>
            </a:pPr>
            <a:r>
              <a:rPr lang="en-US" sz="1400" u="sng" dirty="0">
                <a:solidFill>
                  <a:schemeClr val="accent6"/>
                </a:solidFill>
                <a:hlinkClick r:id="rId3" invalidUrl="" action="" tgtFrame="" tooltip="Open Prototype C" history="1" highlightClick="0" endSnd="0">
                  <a:extLst>
                    <a:ext uri="{A12FA001-AC4F-418D-AE19-62706E023703}">
                      <ahyp:hlinkClr xmlns:ahyp="http://schemas.microsoft.com/office/drawing/2018/hyperlinkcolor" val="tx"/>
                    </a:ext>
                  </a:extLst>
                </a:hlinkClick>
              </a:rPr>
              <a:t>focal-demo-c.streamlit.app</a:t>
            </a:r>
            <a:endParaRPr lang="en-US" sz="1400" dirty="0"/>
          </a:p>
        </p:txBody>
      </p:sp>
      <p:sp>
        <p:nvSpPr>
          <p:cNvPr id="21" name="Text 19"/>
          <p:cNvSpPr txBox="1"/>
          <p:nvPr/>
        </p:nvSpPr>
        <p:spPr>
          <a:xfrm>
            <a:off x="8348472" y="3337560"/>
            <a:ext cx="3108960" cy="1645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rPr>
              <a:t>State, rule and ID-card sizing</a:t>
            </a:r>
            <a:endParaRPr lang="en-US" sz="1600" dirty="0"/>
          </a:p>
          <a:p>
            <a:pPr marL="342900" indent="-342900">
              <a:spcAft>
                <a:spcPts val="1200"/>
              </a:spcAft>
              <a:buSzPct val="100000"/>
              <a:buChar char="•"/>
            </a:pPr>
            <a:r>
              <a:rPr lang="en-US" sz="1600" dirty="0">
                <a:solidFill>
                  <a:schemeClr val="bg1"/>
                </a:solidFill>
              </a:rPr>
              <a:t>Letters, with “Can't tell”</a:t>
            </a:r>
            <a:endParaRPr lang="en-US" sz="1600" dirty="0"/>
          </a:p>
          <a:p>
            <a:pPr marL="342900" indent="-342900">
              <a:spcAft>
                <a:spcPts val="1200"/>
              </a:spcAft>
              <a:buSzPct val="100000"/>
              <a:buChar char="•"/>
            </a:pPr>
            <a:r>
              <a:rPr lang="en-US" sz="1600" dirty="0">
                <a:solidFill>
                  <a:schemeClr val="bg1"/>
                </a:solidFill>
              </a:rPr>
              <a:t>Verdict and action plan</a:t>
            </a:r>
            <a:endParaRPr lang="en-US" sz="1600" dirty="0"/>
          </a:p>
        </p:txBody>
      </p:sp>
      <p:sp>
        <p:nvSpPr>
          <p:cNvPr id="22" name="Text 20"/>
          <p:cNvSpPr txBox="1"/>
          <p:nvPr/>
        </p:nvSpPr>
        <p:spPr>
          <a:xfrm>
            <a:off x="548640" y="5440680"/>
            <a:ext cx="11064240" cy="365760"/>
          </a:xfrm>
          <a:prstGeom prst="rect">
            <a:avLst/>
          </a:prstGeom>
          <a:noFill/>
          <a:ln/>
        </p:spPr>
        <p:txBody>
          <a:bodyPr wrap="square" lIns="0" tIns="0" rIns="0" bIns="0" rtlCol="0" anchor="ctr"/>
          <a:lstStyle/>
          <a:p>
            <a:pPr indent="0" marL="0">
              <a:buNone/>
            </a:pPr>
            <a:r>
              <a:rPr lang="en-US" sz="1300" i="1" dirty="0">
                <a:solidFill>
                  <a:schemeClr val="accent6"/>
                </a:solidFill>
              </a:rPr>
              <a:t>Open all three tabs before class: idle Streamlit apps go to sleep, and a cold start can take up to 20 seconds.</a:t>
            </a:r>
            <a:endParaRPr lang="en-US" sz="13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PRIORITIZATION · FEATURE SCOPE CARD</a:t>
            </a:r>
            <a:endParaRPr lang="en-US" sz="1200" dirty="0"/>
          </a:p>
        </p:txBody>
      </p:sp>
      <p:sp>
        <p:nvSpPr>
          <p:cNvPr id="3" name="Text 1"/>
          <p:cNvSpPr/>
          <p:nvPr>
            <p:ph idx="102"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tx2"/>
                </a:solidFill>
              </a:rPr>
              <a:t>Scoped to one decision each</a:t>
            </a:r>
            <a:endParaRPr lang="en-US" sz="3600" dirty="0"/>
          </a:p>
        </p:txBody>
      </p:sp>
      <p:graphicFrame>
        <p:nvGraphicFramePr>
          <p:cNvPr id="10" name="Scope card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554480"/>
                <a:gridCol w="2743200"/>
                <a:gridCol w="868680"/>
                <a:gridCol w="1188720"/>
                <a:gridCol w="1188720"/>
                <a:gridCol w="3547872"/>
              </a:tblGrid>
              <a:tr h="457200">
                <a:tc>
                  <a:txBody>
                    <a:bodyPr/>
                    <a:lstStyle/>
                    <a:p>
                      <a:pPr indent="0" marL="0">
                        <a:buNone/>
                      </a:pPr>
                      <a:r>
                        <a:rPr lang="en-US" sz="1300" b="1" dirty="0">
                          <a:solidFill>
                            <a:schemeClr val="bg1"/>
                          </a:solidFill>
                        </a:rPr>
                        <a:t>Version</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Core feature</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Value</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Effort</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Complexity</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Proposed success signal</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r>
              <a:tr h="868680">
                <a:tc>
                  <a:txBody>
                    <a:bodyPr/>
                    <a:lstStyle/>
                    <a:p>
                      <a:pPr indent="0" marL="0">
                        <a:buNone/>
                      </a:pPr>
                      <a:r>
                        <a:rPr lang="en-US" sz="1400" b="1" dirty="0">
                          <a:solidFill>
                            <a:schemeClr val="tx2"/>
                          </a:solidFill>
                        </a:rPr>
                        <a:t>A · Monitor</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result in two formats</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High</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Medium</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Medium</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 of 5 explain a format preference after viewing both</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r>
              <a:tr h="960120">
                <a:tc>
                  <a:txBody>
                    <a:bodyPr/>
                    <a:lstStyle/>
                    <a:p>
                      <a:pPr indent="0" marL="0">
                        <a:buNone/>
                      </a:pPr>
                      <a:r>
                        <a:rPr lang="en-US" sz="1400" b="1" dirty="0">
                          <a:solidFill>
                            <a:schemeClr val="tx2"/>
                          </a:solidFill>
                        </a:rPr>
                        <a:t>B · Family</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Parent observations and next-step preparation</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High</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Low to medium</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Low to medium</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 of 5 finish unaided; 3 of 5 choose appointment or school-contact preparation</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C · Pre-Check</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Deadline-specific check and action plan</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High</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Medium</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Medium</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70% understand the result; 60% would use it before a DMV visit</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029200"/>
            <a:ext cx="10972800" cy="274320"/>
          </a:xfrm>
          <a:prstGeom prst="rect">
            <a:avLst/>
          </a:prstGeom>
          <a:noFill/>
          <a:ln/>
        </p:spPr>
        <p:txBody>
          <a:bodyPr wrap="square" lIns="0" tIns="0" rIns="0" bIns="0" rtlCol="0" anchor="ctr"/>
          <a:lstStyle/>
          <a:p>
            <a:pPr indent="0" marL="0">
              <a:buNone/>
            </a:pPr>
            <a:r>
              <a:rPr lang="en-US" sz="1200" dirty="0">
                <a:solidFill>
                  <a:schemeClr val="accent5"/>
                </a:solidFill>
              </a:rPr>
              <a:t>Estimates apply to the scoped core flows. The success signals are proposed pilot targets for small samples, not findings.</a:t>
            </a:r>
            <a:endParaRPr lang="en-US" sz="1200" dirty="0"/>
          </a:p>
        </p:txBody>
      </p:sp>
      <p:sp>
        <p:nvSpPr>
          <p:cNvPr id="6" name="Text 3"/>
          <p:cNvSpPr txBox="1"/>
          <p:nvPr/>
        </p:nvSpPr>
        <p:spPr>
          <a:xfrm>
            <a:off x="548640" y="5349240"/>
            <a:ext cx="10972800" cy="274320"/>
          </a:xfrm>
          <a:prstGeom prst="rect">
            <a:avLst/>
          </a:prstGeom>
          <a:noFill/>
          <a:ln/>
        </p:spPr>
        <p:txBody>
          <a:bodyPr wrap="square" lIns="0" tIns="0" rIns="0" bIns="0" rtlCol="0" anchor="ctr"/>
          <a:lstStyle/>
          <a:p>
            <a:pPr indent="0" marL="0">
              <a:buNone/>
            </a:pPr>
            <a:r>
              <a:rPr lang="en-US" sz="1200" dirty="0">
                <a:solidFill>
                  <a:schemeClr val="accent5"/>
                </a:solidFill>
              </a:rPr>
              <a:t>Each prototype's README holds its full Feature Scope Card.</a:t>
            </a:r>
            <a:endParaRPr lang="en-US" sz="12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PRIORITIZATION</a:t>
            </a:r>
            <a:endParaRPr lang="en-US" sz="1200" dirty="0"/>
          </a:p>
        </p:txBody>
      </p:sp>
      <p:sp>
        <p:nvSpPr>
          <p:cNvPr id="3" name="Text 1"/>
          <p:cNvSpPr/>
          <p:nvPr>
            <p:ph idx="102"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tx2"/>
                </a:solidFill>
              </a:rPr>
              <a:t>What we kept, what we cut</a:t>
            </a:r>
            <a:endParaRPr lang="en-US" sz="3600" dirty="0"/>
          </a:p>
        </p:txBody>
      </p:sp>
      <p:graphicFrame>
        <p:nvGraphicFramePr>
          <p:cNvPr id="11" name="Cuts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737360"/>
                <a:gridCol w="2651760"/>
                <a:gridCol w="3291840"/>
                <a:gridCol w="3410712"/>
              </a:tblGrid>
              <a:tr h="457200">
                <a:tc>
                  <a:txBody>
                    <a:bodyPr/>
                    <a:lstStyle/>
                    <a:p>
                      <a:pPr indent="0" marL="0">
                        <a:buNone/>
                      </a:pPr>
                      <a:r>
                        <a:rPr lang="en-US" sz="1300" b="1" dirty="0">
                          <a:solidFill>
                            <a:schemeClr val="bg1"/>
                          </a:solidFill>
                        </a:rPr>
                        <a:t>Version</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Tests one thing</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Cut on purpose</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Right call?</a:t>
                      </a:r>
                      <a:endParaRPr lang="en-US" sz="13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tx2"/>
                    </a:solidFill>
                  </a:tcPr>
                </a:tc>
              </a:tr>
              <a:tr h="731520">
                <a:tc>
                  <a:txBody>
                    <a:bodyPr/>
                    <a:lstStyle/>
                    <a:p>
                      <a:pPr indent="0" marL="0">
                        <a:buNone/>
                      </a:pPr>
                      <a:r>
                        <a:rPr lang="en-US" sz="1400" b="1" dirty="0">
                          <a:solidFill>
                            <a:schemeClr val="tx2"/>
                          </a:solidFill>
                        </a:rPr>
                        <a:t>A · Monitor</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Single result vs. trend</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Real history, accounts, persistent data</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 for preference. It can't show return visits.</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B · Family</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Observations → next step</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Any score, camera, provider search</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 Open question: do parents want a number?</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C · Pre-Check</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Verdict vs. a general score</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Per-eye testing, 45 states, agency view</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Mostly. Per-eye testing matters in CA and TX.</a:t>
                      </a:r>
                      <a:endParaRPr lang="en-US" sz="1400" dirty="0"/>
                    </a:p>
                  </a:txBody>
                  <a:tcPr marL="109728" marR="109728" marT="54864" marB="54864" anchor="ctr">
                    <a:lnL w="9525" cap="flat" cmpd="sng" algn="ctr">
                      <a:solidFill>
                        <a:srgbClr val="D6DFEC"/>
                      </a:solidFill>
                      <a:prstDash val="solid"/>
                      <a:round/>
                      <a:headEnd type="none" w="med" len="med"/>
                      <a:tailEnd type="none" w="med" len="med"/>
                    </a:lnL>
                    <a:lnR w="9525" cap="flat" cmpd="sng" algn="ctr">
                      <a:solidFill>
                        <a:srgbClr val="D6DFEC"/>
                      </a:solidFill>
                      <a:prstDash val="solid"/>
                      <a:round/>
                      <a:headEnd type="none" w="med" len="med"/>
                      <a:tailEnd type="none" w="med" len="med"/>
                    </a:lnR>
                    <a:lnT w="9525" cap="flat" cmpd="sng" algn="ctr">
                      <a:solidFill>
                        <a:srgbClr val="D6DFEC"/>
                      </a:solidFill>
                      <a:prstDash val="solid"/>
                      <a:round/>
                      <a:headEnd type="none" w="med" len="med"/>
                      <a:tailEnd type="none" w="med" len="med"/>
                    </a:lnT>
                    <a:lnB w="9525" cap="flat" cmpd="sng" algn="ctr">
                      <a:solidFill>
                        <a:srgbClr val="D6DFEC"/>
                      </a:solidFill>
                      <a:prstDash val="solid"/>
                      <a:round/>
                      <a:headEnd type="none" w="med" len="med"/>
                      <a:tailEnd type="none" w="med" len="med"/>
                    </a:lnB>
                    <a:solidFill>
                      <a:schemeClr val="bg1"/>
                    </a:solidFill>
                  </a:tcPr>
                </a:tc>
              </a:tr>
            </a:tbl>
          </a:graphicData>
        </a:graphic>
      </p:graphicFrame>
      <p:sp>
        <p:nvSpPr>
          <p:cNvPr id="5" name="Card"/>
          <p:cNvSpPr/>
          <p:nvPr/>
        </p:nvSpPr>
        <p:spPr>
          <a:xfrm>
            <a:off x="548640" y="4572000"/>
            <a:ext cx="11091672" cy="1097280"/>
          </a:xfrm>
          <a:prstGeom prst="roundRect">
            <a:avLst>
              <a:gd name="adj" fmla="val 6667"/>
            </a:avLst>
          </a:prstGeom>
          <a:solidFill>
            <a:schemeClr val="bg1"/>
          </a:solidFill>
          <a:ln w="9525">
            <a:solidFill>
              <a:schemeClr val="accent6"/>
            </a:solidFill>
            <a:prstDash val="solid"/>
          </a:ln>
        </p:spPr>
      </p:sp>
      <p:sp>
        <p:nvSpPr>
          <p:cNvPr id="6" name="Icon circle"/>
          <p:cNvSpPr/>
          <p:nvPr/>
        </p:nvSpPr>
        <p:spPr>
          <a:xfrm>
            <a:off x="822960" y="4846320"/>
            <a:ext cx="548640" cy="548640"/>
          </a:xfrm>
          <a:prstGeom prst="ellipse">
            <a:avLst/>
          </a:prstGeom>
          <a:solidFill>
            <a:schemeClr val="accent4"/>
          </a:solidFill>
          <a:ln/>
        </p:spPr>
      </p:sp>
      <p:pic>
        <p:nvPicPr>
          <p:cNvPr id="7" name="Image 0" descr="icon">    </p:cNvPr>
          <p:cNvPicPr>
            <a:picLocks noChangeAspect="1"/>
          </p:cNvPicPr>
          <p:nvPr/>
        </p:nvPicPr>
        <p:blipFill>
          <a:blip r:embed="rId1"/>
          <a:stretch>
            <a:fillRect/>
          </a:stretch>
        </p:blipFill>
        <p:spPr>
          <a:xfrm>
            <a:off x="960120" y="4983480"/>
            <a:ext cx="274320" cy="274320"/>
          </a:xfrm>
          <a:prstGeom prst="rect">
            <a:avLst/>
          </a:prstGeom>
        </p:spPr>
      </p:pic>
      <p:sp>
        <p:nvSpPr>
          <p:cNvPr id="8" name="Text 4"/>
          <p:cNvSpPr txBox="1"/>
          <p:nvPr/>
        </p:nvSpPr>
        <p:spPr>
          <a:xfrm>
            <a:off x="1645920" y="4572000"/>
            <a:ext cx="9692640" cy="1097280"/>
          </a:xfrm>
          <a:prstGeom prst="rect">
            <a:avLst/>
          </a:prstGeom>
          <a:noFill/>
          <a:ln/>
        </p:spPr>
        <p:txBody>
          <a:bodyPr wrap="square" lIns="0" tIns="0" rIns="0" bIns="0" rtlCol="0" anchor="ctr"/>
          <a:lstStyle/>
          <a:p>
            <a:pPr indent="0" marL="0">
              <a:buNone/>
            </a:pPr>
            <a:r>
              <a:rPr lang="en-US" sz="1600" b="1" dirty="0">
                <a:solidFill>
                  <a:schemeClr val="tx2"/>
                </a:solidFill>
              </a:rPr>
              <a:t>Our biggest cut: no prototype for licensing agencies. </a:t>
            </a:r>
            <a:pPr indent="0" marL="0">
              <a:buNone/>
            </a:pPr>
            <a:r>
              <a:rPr lang="en-US" sz="1600" dirty="0">
                <a:solidFill>
                  <a:schemeClr val="tx1"/>
                </a:solidFill>
              </a:rPr>
              <a:t>The licensing supervisor's needs come only from AI-simulated interviews, so we test consumers first.</a:t>
            </a:r>
            <a:endParaRPr lang="en-US" sz="1600" dirty="0"/>
          </a:p>
        </p:txBody>
      </p:sp>
      <p:sp>
        <p:nvSpPr>
          <p:cNvPr id="9" name="Text 5"/>
          <p:cNvSpPr txBox="1"/>
          <p:nvPr/>
        </p:nvSpPr>
        <p:spPr>
          <a:xfrm>
            <a:off x="548640" y="5852160"/>
            <a:ext cx="10972800" cy="274320"/>
          </a:xfrm>
          <a:prstGeom prst="rect">
            <a:avLst/>
          </a:prstGeom>
          <a:noFill/>
          <a:ln/>
        </p:spPr>
        <p:txBody>
          <a:bodyPr wrap="square" lIns="0" tIns="0" rIns="0" bIns="0" rtlCol="0" anchor="ctr"/>
          <a:lstStyle/>
          <a:p>
            <a:pPr indent="0" marL="0">
              <a:buNone/>
            </a:pPr>
            <a:r>
              <a:rPr lang="en-US" sz="1200" dirty="0">
                <a:solidFill>
                  <a:schemeClr val="accent5"/>
                </a:solidFill>
              </a:rPr>
              <a:t>All three are non-clinical practice prototypes with no accounts, stored data or real booking. Our evidence: 10 interviews, half AI-simulated.</a:t>
            </a:r>
            <a:endParaRPr lang="en-US" sz="12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STRATEGY</a:t>
            </a:r>
            <a:endParaRPr lang="en-US" sz="1200" dirty="0"/>
          </a:p>
        </p:txBody>
      </p:sp>
      <p:sp>
        <p:nvSpPr>
          <p:cNvPr id="3" name="Text 1"/>
          <p:cNvSpPr/>
          <p:nvPr>
            <p:ph idx="102"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tx2"/>
                </a:solidFill>
              </a:rPr>
              <a:t>What three versions tell us</a:t>
            </a:r>
            <a:endParaRPr lang="en-US" sz="3600" dirty="0"/>
          </a:p>
        </p:txBody>
      </p:sp>
      <p:sp>
        <p:nvSpPr>
          <p:cNvPr id="4" name="Numeral 1"/>
          <p:cNvSpPr txBox="1"/>
          <p:nvPr/>
        </p:nvSpPr>
        <p:spPr>
          <a:xfrm>
            <a:off x="548640" y="1737360"/>
            <a:ext cx="731520" cy="914400"/>
          </a:xfrm>
          <a:prstGeom prst="rect">
            <a:avLst/>
          </a:prstGeom>
          <a:noFill/>
          <a:ln/>
        </p:spPr>
        <p:txBody>
          <a:bodyPr wrap="square" lIns="0" tIns="0" rIns="0" bIns="0" rtlCol="0" anchor="ctr"/>
          <a:lstStyle/>
          <a:p>
            <a:pPr indent="0" marL="0">
              <a:buNone/>
            </a:pPr>
            <a:r>
              <a:rPr lang="en-US" sz="5400" b="1" dirty="0">
                <a:solidFill>
                  <a:schemeClr val="accent2"/>
                </a:solidFill>
              </a:rPr>
              <a:t>1</a:t>
            </a:r>
            <a:endParaRPr lang="en-US" sz="5400" dirty="0"/>
          </a:p>
        </p:txBody>
      </p:sp>
      <p:sp>
        <p:nvSpPr>
          <p:cNvPr id="5" name="Text 3"/>
          <p:cNvSpPr txBox="1"/>
          <p:nvPr/>
        </p:nvSpPr>
        <p:spPr>
          <a:xfrm>
            <a:off x="1554480" y="1783080"/>
            <a:ext cx="9601200" cy="411480"/>
          </a:xfrm>
          <a:prstGeom prst="rect">
            <a:avLst/>
          </a:prstGeom>
          <a:noFill/>
          <a:ln/>
        </p:spPr>
        <p:txBody>
          <a:bodyPr wrap="square" lIns="0" tIns="0" rIns="0" bIns="0" rtlCol="0" anchor="ctr"/>
          <a:lstStyle/>
          <a:p>
            <a:pPr indent="0" marL="0">
              <a:buNone/>
            </a:pPr>
            <a:r>
              <a:rPr lang="en-US" sz="2200" b="1" dirty="0">
                <a:solidFill>
                  <a:schemeClr val="tx2"/>
                </a:solidFill>
              </a:rPr>
              <a:t>Trust and a next step are the product</a:t>
            </a:r>
            <a:endParaRPr lang="en-US" sz="2200" dirty="0"/>
          </a:p>
        </p:txBody>
      </p:sp>
      <p:sp>
        <p:nvSpPr>
          <p:cNvPr id="6" name="Text 4"/>
          <p:cNvSpPr txBox="1"/>
          <p:nvPr/>
        </p:nvSpPr>
        <p:spPr>
          <a:xfrm>
            <a:off x="1554480" y="2212848"/>
            <a:ext cx="9601200" cy="457200"/>
          </a:xfrm>
          <a:prstGeom prst="rect">
            <a:avLst/>
          </a:prstGeom>
          <a:noFill/>
          <a:ln/>
        </p:spPr>
        <p:txBody>
          <a:bodyPr wrap="square" lIns="0" tIns="0" rIns="0" bIns="0" rtlCol="0" anchor="t"/>
          <a:lstStyle/>
          <a:p>
            <a:pPr indent="0" marL="0">
              <a:buNone/>
            </a:pPr>
            <a:r>
              <a:rPr lang="en-US" sz="1600" dirty="0">
                <a:solidFill>
                  <a:schemeClr val="tx1"/>
                </a:solidFill>
              </a:rPr>
              <a:t>Every version ends in a concrete next step, not a bare score.</a:t>
            </a:r>
            <a:endParaRPr lang="en-US" sz="1600" dirty="0"/>
          </a:p>
        </p:txBody>
      </p:sp>
      <p:sp>
        <p:nvSpPr>
          <p:cNvPr id="7" name="Numeral 2"/>
          <p:cNvSpPr txBox="1"/>
          <p:nvPr/>
        </p:nvSpPr>
        <p:spPr>
          <a:xfrm>
            <a:off x="548640" y="3108960"/>
            <a:ext cx="731520" cy="914400"/>
          </a:xfrm>
          <a:prstGeom prst="rect">
            <a:avLst/>
          </a:prstGeom>
          <a:noFill/>
          <a:ln/>
        </p:spPr>
        <p:txBody>
          <a:bodyPr wrap="square" lIns="0" tIns="0" rIns="0" bIns="0" rtlCol="0" anchor="ctr"/>
          <a:lstStyle/>
          <a:p>
            <a:pPr indent="0" marL="0">
              <a:buNone/>
            </a:pPr>
            <a:r>
              <a:rPr lang="en-US" sz="5400" b="1" dirty="0">
                <a:solidFill>
                  <a:schemeClr val="accent2"/>
                </a:solidFill>
              </a:rPr>
              <a:t>2</a:t>
            </a:r>
            <a:endParaRPr lang="en-US" sz="5400" dirty="0"/>
          </a:p>
        </p:txBody>
      </p:sp>
      <p:sp>
        <p:nvSpPr>
          <p:cNvPr id="8" name="Text 6"/>
          <p:cNvSpPr txBox="1"/>
          <p:nvPr/>
        </p:nvSpPr>
        <p:spPr>
          <a:xfrm>
            <a:off x="1554480" y="3154680"/>
            <a:ext cx="9601200" cy="411480"/>
          </a:xfrm>
          <a:prstGeom prst="rect">
            <a:avLst/>
          </a:prstGeom>
          <a:noFill/>
          <a:ln/>
        </p:spPr>
        <p:txBody>
          <a:bodyPr wrap="square" lIns="0" tIns="0" rIns="0" bIns="0" rtlCol="0" anchor="ctr"/>
          <a:lstStyle/>
          <a:p>
            <a:pPr indent="0" marL="0">
              <a:buNone/>
            </a:pPr>
            <a:r>
              <a:rPr lang="en-US" sz="2200" b="1" dirty="0">
                <a:solidFill>
                  <a:schemeClr val="tx2"/>
                </a:solidFill>
              </a:rPr>
              <a:t>Real-world triggers bring people in</a:t>
            </a:r>
            <a:endParaRPr lang="en-US" sz="2200" dirty="0"/>
          </a:p>
        </p:txBody>
      </p:sp>
      <p:sp>
        <p:nvSpPr>
          <p:cNvPr id="9" name="Text 7"/>
          <p:cNvSpPr txBox="1"/>
          <p:nvPr/>
        </p:nvSpPr>
        <p:spPr>
          <a:xfrm>
            <a:off x="1554480" y="3584448"/>
            <a:ext cx="9601200" cy="457200"/>
          </a:xfrm>
          <a:prstGeom prst="rect">
            <a:avLst/>
          </a:prstGeom>
          <a:noFill/>
          <a:ln/>
        </p:spPr>
        <p:txBody>
          <a:bodyPr wrap="square" lIns="0" tIns="0" rIns="0" bIns="0" rtlCol="0" anchor="t"/>
          <a:lstStyle/>
          <a:p>
            <a:pPr indent="0" marL="0">
              <a:buNone/>
            </a:pPr>
            <a:r>
              <a:rPr lang="en-US" sz="1600" dirty="0">
                <a:solidFill>
                  <a:schemeClr val="tx1"/>
                </a:solidFill>
              </a:rPr>
              <a:t>Each version hooks onto a moment that already forces action: a prescription, a school letter, a DMV date.</a:t>
            </a:r>
            <a:endParaRPr lang="en-US" sz="1600" dirty="0"/>
          </a:p>
        </p:txBody>
      </p:sp>
      <p:sp>
        <p:nvSpPr>
          <p:cNvPr id="10" name="Numeral 3"/>
          <p:cNvSpPr txBox="1"/>
          <p:nvPr/>
        </p:nvSpPr>
        <p:spPr>
          <a:xfrm>
            <a:off x="548640" y="4480560"/>
            <a:ext cx="731520" cy="914400"/>
          </a:xfrm>
          <a:prstGeom prst="rect">
            <a:avLst/>
          </a:prstGeom>
          <a:noFill/>
          <a:ln/>
        </p:spPr>
        <p:txBody>
          <a:bodyPr wrap="square" lIns="0" tIns="0" rIns="0" bIns="0" rtlCol="0" anchor="ctr"/>
          <a:lstStyle/>
          <a:p>
            <a:pPr indent="0" marL="0">
              <a:buNone/>
            </a:pPr>
            <a:r>
              <a:rPr lang="en-US" sz="5400" b="1" dirty="0">
                <a:solidFill>
                  <a:schemeClr val="accent2"/>
                </a:solidFill>
              </a:rPr>
              <a:t>3</a:t>
            </a:r>
            <a:endParaRPr lang="en-US" sz="5400" dirty="0"/>
          </a:p>
        </p:txBody>
      </p:sp>
      <p:sp>
        <p:nvSpPr>
          <p:cNvPr id="11" name="Text 9"/>
          <p:cNvSpPr txBox="1"/>
          <p:nvPr/>
        </p:nvSpPr>
        <p:spPr>
          <a:xfrm>
            <a:off x="1554480" y="4526280"/>
            <a:ext cx="9601200" cy="411480"/>
          </a:xfrm>
          <a:prstGeom prst="rect">
            <a:avLst/>
          </a:prstGeom>
          <a:noFill/>
          <a:ln/>
        </p:spPr>
        <p:txBody>
          <a:bodyPr wrap="square" lIns="0" tIns="0" rIns="0" bIns="0" rtlCol="0" anchor="ctr"/>
          <a:lstStyle/>
          <a:p>
            <a:pPr indent="0" marL="0">
              <a:buNone/>
            </a:pPr>
            <a:r>
              <a:rPr lang="en-US" sz="2200" b="1" dirty="0">
                <a:solidFill>
                  <a:schemeClr val="tx2"/>
                </a:solidFill>
              </a:rPr>
              <a:t>One check, different front doors</a:t>
            </a:r>
            <a:endParaRPr lang="en-US" sz="2200" dirty="0"/>
          </a:p>
        </p:txBody>
      </p:sp>
      <p:sp>
        <p:nvSpPr>
          <p:cNvPr id="12" name="Text 10"/>
          <p:cNvSpPr txBox="1"/>
          <p:nvPr/>
        </p:nvSpPr>
        <p:spPr>
          <a:xfrm>
            <a:off x="1554480" y="4956048"/>
            <a:ext cx="9601200" cy="457200"/>
          </a:xfrm>
          <a:prstGeom prst="rect">
            <a:avLst/>
          </a:prstGeom>
          <a:noFill/>
          <a:ln/>
        </p:spPr>
        <p:txBody>
          <a:bodyPr wrap="square" lIns="0" tIns="0" rIns="0" bIns="0" rtlCol="0" anchor="t"/>
          <a:lstStyle/>
          <a:p>
            <a:pPr indent="0" marL="0">
              <a:buNone/>
            </a:pPr>
            <a:r>
              <a:rPr lang="en-US" sz="1600" dirty="0">
                <a:solidFill>
                  <a:schemeClr val="tx1"/>
                </a:solidFill>
              </a:rPr>
              <a:t>The check itself can be shared; the persona decides how the result is framed.</a:t>
            </a:r>
            <a:endParaRPr lang="en-US" sz="1600" dirty="0"/>
          </a:p>
        </p:txBody>
      </p:sp>
      <p:sp>
        <p:nvSpPr>
          <p:cNvPr id="13" name="Card"/>
          <p:cNvSpPr/>
          <p:nvPr/>
        </p:nvSpPr>
        <p:spPr>
          <a:xfrm>
            <a:off x="548640" y="5486400"/>
            <a:ext cx="11091672" cy="685800"/>
          </a:xfrm>
          <a:prstGeom prst="roundRect">
            <a:avLst>
              <a:gd name="adj" fmla="val 10667"/>
            </a:avLst>
          </a:prstGeom>
          <a:solidFill>
            <a:schemeClr val="bg1"/>
          </a:solidFill>
          <a:ln w="9525">
            <a:solidFill>
              <a:schemeClr val="accent6"/>
            </a:solidFill>
            <a:prstDash val="solid"/>
          </a:ln>
        </p:spPr>
      </p:sp>
      <p:sp>
        <p:nvSpPr>
          <p:cNvPr id="14" name="Text 12"/>
          <p:cNvSpPr txBox="1"/>
          <p:nvPr/>
        </p:nvSpPr>
        <p:spPr>
          <a:xfrm>
            <a:off x="822960" y="5486400"/>
            <a:ext cx="10515600" cy="685800"/>
          </a:xfrm>
          <a:prstGeom prst="rect">
            <a:avLst/>
          </a:prstGeom>
          <a:noFill/>
          <a:ln/>
        </p:spPr>
        <p:txBody>
          <a:bodyPr wrap="square" lIns="0" tIns="0" rIns="0" bIns="0" rtlCol="0" anchor="ctr"/>
          <a:lstStyle/>
          <a:p>
            <a:pPr indent="0" marL="0">
              <a:buNone/>
            </a:pPr>
            <a:r>
              <a:rPr lang="en-US" sz="1100" b="1" spc="150" kern="0" dirty="0">
                <a:solidFill>
                  <a:schemeClr val="accent1"/>
                </a:solidFill>
              </a:rPr>
              <a:t>DIRECTION   </a:t>
            </a:r>
            <a:pPr indent="0" marL="0">
              <a:buNone/>
            </a:pPr>
            <a:r>
              <a:rPr lang="en-US" sz="1600" dirty="0">
                <a:solidFill>
                  <a:schemeClr val="tx1"/>
                </a:solidFill>
              </a:rPr>
              <a:t>Build the shared check once; let the class vote and pilot feedback choose the front door.</a:t>
            </a:r>
            <a:endParaRPr lang="en-US" sz="11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YOUR TURN</a:t>
            </a:r>
            <a:endParaRPr lang="en-US" sz="1200" dirty="0"/>
          </a:p>
        </p:txBody>
      </p:sp>
      <p:sp>
        <p:nvSpPr>
          <p:cNvPr id="3" name="Text 1"/>
          <p:cNvSpPr/>
          <p:nvPr>
            <p:ph idx="101"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bg1"/>
                </a:solidFill>
              </a:rPr>
              <a:t>Which one would you actually use?</a:t>
            </a:r>
            <a:endParaRPr lang="en-US" sz="3600" dirty="0"/>
          </a:p>
        </p:txBody>
      </p:sp>
      <p:sp>
        <p:nvSpPr>
          <p:cNvPr id="4" name="Vote card A"/>
          <p:cNvSpPr/>
          <p:nvPr/>
        </p:nvSpPr>
        <p:spPr>
          <a:xfrm>
            <a:off x="548640" y="1691640"/>
            <a:ext cx="3566160" cy="4160520"/>
          </a:xfrm>
          <a:prstGeom prst="roundRect">
            <a:avLst>
              <a:gd name="adj" fmla="val 2051"/>
            </a:avLst>
          </a:prstGeom>
          <a:solidFill>
            <a:schemeClr val="bg1">
              <a:alpha val="8000"/>
            </a:schemeClr>
          </a:solidFill>
          <a:ln w="9525">
            <a:solidFill>
              <a:schemeClr val="accent6">
                <a:alpha val="40000"/>
              </a:schemeClr>
            </a:solidFill>
            <a:prstDash val="solid"/>
          </a:ln>
        </p:spPr>
      </p:sp>
      <p:sp>
        <p:nvSpPr>
          <p:cNvPr id="5" name="Badge A"/>
          <p:cNvSpPr/>
          <p:nvPr/>
        </p:nvSpPr>
        <p:spPr>
          <a:xfrm>
            <a:off x="822960" y="1920240"/>
            <a:ext cx="594360" cy="594360"/>
          </a:xfrm>
          <a:prstGeom prst="ellipse">
            <a:avLst/>
          </a:prstGeom>
          <a:solidFill>
            <a:schemeClr val="accent2"/>
          </a:solidFill>
          <a:ln/>
        </p:spPr>
      </p:sp>
      <p:sp>
        <p:nvSpPr>
          <p:cNvPr id="6" name="Badge letter A"/>
          <p:cNvSpPr txBox="1"/>
          <p:nvPr/>
        </p:nvSpPr>
        <p:spPr>
          <a:xfrm>
            <a:off x="822960" y="1920240"/>
            <a:ext cx="594360" cy="594360"/>
          </a:xfrm>
          <a:prstGeom prst="rect">
            <a:avLst/>
          </a:prstGeom>
          <a:noFill/>
          <a:ln/>
        </p:spPr>
        <p:txBody>
          <a:bodyPr wrap="square" lIns="0" tIns="0" rIns="0" bIns="0" rtlCol="0" anchor="ctr"/>
          <a:lstStyle/>
          <a:p>
            <a:pPr algn="ctr" indent="0" marL="0">
              <a:buNone/>
            </a:pPr>
            <a:r>
              <a:rPr lang="en-US" sz="2300" b="1" dirty="0">
                <a:solidFill>
                  <a:schemeClr val="bg1"/>
                </a:solidFill>
              </a:rPr>
              <a:t>A</a:t>
            </a:r>
            <a:endParaRPr lang="en-US" sz="2300" dirty="0"/>
          </a:p>
        </p:txBody>
      </p:sp>
      <p:sp>
        <p:nvSpPr>
          <p:cNvPr id="7" name="Text 5"/>
          <p:cNvSpPr txBox="1"/>
          <p:nvPr/>
        </p:nvSpPr>
        <p:spPr>
          <a:xfrm>
            <a:off x="1508760" y="1920240"/>
            <a:ext cx="2468880" cy="594360"/>
          </a:xfrm>
          <a:prstGeom prst="rect">
            <a:avLst/>
          </a:prstGeom>
          <a:noFill/>
          <a:ln/>
        </p:spPr>
        <p:txBody>
          <a:bodyPr wrap="square" lIns="0" tIns="0" rIns="0" bIns="0" rtlCol="0" anchor="ctr"/>
          <a:lstStyle/>
          <a:p>
            <a:pPr indent="0" marL="0">
              <a:buNone/>
            </a:pPr>
            <a:r>
              <a:rPr lang="en-US" sz="2200" b="1" dirty="0">
                <a:solidFill>
                  <a:schemeClr val="bg1"/>
                </a:solidFill>
              </a:rPr>
              <a:t>Focal Monitor</a:t>
            </a:r>
            <a:endParaRPr lang="en-US" sz="2200" dirty="0"/>
          </a:p>
        </p:txBody>
      </p:sp>
      <p:sp>
        <p:nvSpPr>
          <p:cNvPr id="8" name="Text 6"/>
          <p:cNvSpPr txBox="1"/>
          <p:nvPr/>
        </p:nvSpPr>
        <p:spPr>
          <a:xfrm>
            <a:off x="822960" y="2697480"/>
            <a:ext cx="3063240" cy="731520"/>
          </a:xfrm>
          <a:prstGeom prst="rect">
            <a:avLst/>
          </a:prstGeom>
          <a:noFill/>
          <a:ln/>
        </p:spPr>
        <p:txBody>
          <a:bodyPr wrap="square" lIns="0" tIns="0" rIns="0" bIns="0" rtlCol="0" anchor="t"/>
          <a:lstStyle/>
          <a:p>
            <a:pPr indent="0" marL="0">
              <a:buNone/>
            </a:pPr>
            <a:r>
              <a:rPr lang="en-US" sz="1500" dirty="0">
                <a:solidFill>
                  <a:schemeClr val="accent6"/>
                </a:solidFill>
              </a:rPr>
              <a:t>A result in the context of change over time</a:t>
            </a:r>
            <a:endParaRPr lang="en-US" sz="1500" dirty="0"/>
          </a:p>
        </p:txBody>
      </p:sp>
      <p:pic>
        <p:nvPicPr>
          <p:cNvPr id="9" name="Image 0" descr="QR code to open Prototype A">    </p:cNvPr>
          <p:cNvPicPr>
            <a:picLocks noChangeAspect="1"/>
          </p:cNvPicPr>
          <p:nvPr/>
        </p:nvPicPr>
        <p:blipFill>
          <a:blip r:embed="rId1"/>
          <a:stretch>
            <a:fillRect/>
          </a:stretch>
        </p:blipFill>
        <p:spPr>
          <a:xfrm>
            <a:off x="1463040" y="3520440"/>
            <a:ext cx="1737360" cy="1737360"/>
          </a:xfrm>
          <a:prstGeom prst="rect">
            <a:avLst/>
          </a:prstGeom>
        </p:spPr>
      </p:pic>
      <p:sp>
        <p:nvSpPr>
          <p:cNvPr id="10" name="Text 7">
            <a:hlinkClick r:id="rId2" tooltip=""/>
          </p:cNvPr>
          <p:cNvSpPr txBox="1"/>
          <p:nvPr/>
        </p:nvSpPr>
        <p:spPr>
          <a:xfrm>
            <a:off x="731520" y="5394960"/>
            <a:ext cx="3200400" cy="320040"/>
          </a:xfrm>
          <a:prstGeom prst="rect">
            <a:avLst/>
          </a:prstGeom>
          <a:noFill/>
          <a:ln/>
        </p:spPr>
        <p:txBody>
          <a:bodyPr wrap="square" lIns="0" tIns="0" rIns="0" bIns="0" rtlCol="0" anchor="ctr"/>
          <a:lstStyle/>
          <a:p>
            <a:pPr algn="ctr" indent="0" marL="0">
              <a:buNone/>
            </a:pPr>
            <a:r>
              <a:rPr lang="en-US" sz="1200" u="sng" dirty="0">
                <a:solidFill>
                  <a:schemeClr val="accent6"/>
                </a:solidFill>
                <a:hlinkClick r:id="rId2" invalidUrl="" action="" tgtFrame="" tooltip="" history="1" highlightClick="0" endSnd="0">
                  <a:extLst>
                    <a:ext uri="{A12FA001-AC4F-418D-AE19-62706E023703}">
                      <ahyp:hlinkClr xmlns:ahyp="http://schemas.microsoft.com/office/drawing/2018/hyperlinkcolor" val="tx"/>
                    </a:ext>
                  </a:extLst>
                </a:hlinkClick>
              </a:rPr>
              <a:t>focal-demo-a.streamlit.app</a:t>
            </a:r>
            <a:endParaRPr lang="en-US" sz="1200" dirty="0"/>
          </a:p>
        </p:txBody>
      </p:sp>
      <p:sp>
        <p:nvSpPr>
          <p:cNvPr id="11" name="Vote card B"/>
          <p:cNvSpPr/>
          <p:nvPr/>
        </p:nvSpPr>
        <p:spPr>
          <a:xfrm>
            <a:off x="4311396" y="1691640"/>
            <a:ext cx="3566160" cy="4160520"/>
          </a:xfrm>
          <a:prstGeom prst="roundRect">
            <a:avLst>
              <a:gd name="adj" fmla="val 2051"/>
            </a:avLst>
          </a:prstGeom>
          <a:solidFill>
            <a:schemeClr val="bg1">
              <a:alpha val="8000"/>
            </a:schemeClr>
          </a:solidFill>
          <a:ln w="9525">
            <a:solidFill>
              <a:schemeClr val="accent6">
                <a:alpha val="40000"/>
              </a:schemeClr>
            </a:solidFill>
            <a:prstDash val="solid"/>
          </a:ln>
        </p:spPr>
      </p:sp>
      <p:sp>
        <p:nvSpPr>
          <p:cNvPr id="12" name="Badge B"/>
          <p:cNvSpPr/>
          <p:nvPr/>
        </p:nvSpPr>
        <p:spPr>
          <a:xfrm>
            <a:off x="4585716" y="1920240"/>
            <a:ext cx="594360" cy="594360"/>
          </a:xfrm>
          <a:prstGeom prst="ellipse">
            <a:avLst/>
          </a:prstGeom>
          <a:solidFill>
            <a:schemeClr val="accent3"/>
          </a:solidFill>
          <a:ln/>
        </p:spPr>
      </p:sp>
      <p:sp>
        <p:nvSpPr>
          <p:cNvPr id="13" name="Badge letter B"/>
          <p:cNvSpPr txBox="1"/>
          <p:nvPr/>
        </p:nvSpPr>
        <p:spPr>
          <a:xfrm>
            <a:off x="4585716" y="1920240"/>
            <a:ext cx="594360" cy="594360"/>
          </a:xfrm>
          <a:prstGeom prst="rect">
            <a:avLst/>
          </a:prstGeom>
          <a:noFill/>
          <a:ln/>
        </p:spPr>
        <p:txBody>
          <a:bodyPr wrap="square" lIns="0" tIns="0" rIns="0" bIns="0" rtlCol="0" anchor="ctr"/>
          <a:lstStyle/>
          <a:p>
            <a:pPr algn="ctr" indent="0" marL="0">
              <a:buNone/>
            </a:pPr>
            <a:r>
              <a:rPr lang="en-US" sz="2300" b="1" dirty="0">
                <a:solidFill>
                  <a:schemeClr val="bg1"/>
                </a:solidFill>
              </a:rPr>
              <a:t>B</a:t>
            </a:r>
            <a:endParaRPr lang="en-US" sz="2300" dirty="0"/>
          </a:p>
        </p:txBody>
      </p:sp>
      <p:sp>
        <p:nvSpPr>
          <p:cNvPr id="14" name="Text 11"/>
          <p:cNvSpPr txBox="1"/>
          <p:nvPr/>
        </p:nvSpPr>
        <p:spPr>
          <a:xfrm>
            <a:off x="5271516" y="1920240"/>
            <a:ext cx="2468880" cy="594360"/>
          </a:xfrm>
          <a:prstGeom prst="rect">
            <a:avLst/>
          </a:prstGeom>
          <a:noFill/>
          <a:ln/>
        </p:spPr>
        <p:txBody>
          <a:bodyPr wrap="square" lIns="0" tIns="0" rIns="0" bIns="0" rtlCol="0" anchor="ctr"/>
          <a:lstStyle/>
          <a:p>
            <a:pPr indent="0" marL="0">
              <a:buNone/>
            </a:pPr>
            <a:r>
              <a:rPr lang="en-US" sz="2200" b="1" dirty="0">
                <a:solidFill>
                  <a:schemeClr val="bg1"/>
                </a:solidFill>
              </a:rPr>
              <a:t>Focal Family</a:t>
            </a:r>
            <a:endParaRPr lang="en-US" sz="2200" dirty="0"/>
          </a:p>
        </p:txBody>
      </p:sp>
      <p:sp>
        <p:nvSpPr>
          <p:cNvPr id="15" name="Text 12"/>
          <p:cNvSpPr txBox="1"/>
          <p:nvPr/>
        </p:nvSpPr>
        <p:spPr>
          <a:xfrm>
            <a:off x="4585716" y="2697480"/>
            <a:ext cx="3063240" cy="731520"/>
          </a:xfrm>
          <a:prstGeom prst="rect">
            <a:avLst/>
          </a:prstGeom>
          <a:noFill/>
          <a:ln/>
        </p:spPr>
        <p:txBody>
          <a:bodyPr wrap="square" lIns="0" tIns="0" rIns="0" bIns="0" rtlCol="0" anchor="t"/>
          <a:lstStyle/>
          <a:p>
            <a:pPr indent="0" marL="0">
              <a:buNone/>
            </a:pPr>
            <a:r>
              <a:rPr lang="en-US" sz="1500" dirty="0">
                <a:solidFill>
                  <a:schemeClr val="accent6"/>
                </a:solidFill>
              </a:rPr>
              <a:t>A shared activity and a prepared parent conversation</a:t>
            </a:r>
            <a:endParaRPr lang="en-US" sz="1500" dirty="0"/>
          </a:p>
        </p:txBody>
      </p:sp>
      <p:pic>
        <p:nvPicPr>
          <p:cNvPr id="16" name="Image 1" descr="QR code to open Prototype B">    </p:cNvPr>
          <p:cNvPicPr>
            <a:picLocks noChangeAspect="1"/>
          </p:cNvPicPr>
          <p:nvPr/>
        </p:nvPicPr>
        <p:blipFill>
          <a:blip r:embed="rId3"/>
          <a:stretch>
            <a:fillRect/>
          </a:stretch>
        </p:blipFill>
        <p:spPr>
          <a:xfrm>
            <a:off x="5225796" y="3520440"/>
            <a:ext cx="1737360" cy="1737360"/>
          </a:xfrm>
          <a:prstGeom prst="rect">
            <a:avLst/>
          </a:prstGeom>
        </p:spPr>
      </p:pic>
      <p:sp>
        <p:nvSpPr>
          <p:cNvPr id="17" name="Text 13">
            <a:hlinkClick r:id="rId4" tooltip=""/>
          </p:cNvPr>
          <p:cNvSpPr txBox="1"/>
          <p:nvPr/>
        </p:nvSpPr>
        <p:spPr>
          <a:xfrm>
            <a:off x="4494276" y="5394960"/>
            <a:ext cx="3200400" cy="320040"/>
          </a:xfrm>
          <a:prstGeom prst="rect">
            <a:avLst/>
          </a:prstGeom>
          <a:noFill/>
          <a:ln/>
        </p:spPr>
        <p:txBody>
          <a:bodyPr wrap="square" lIns="0" tIns="0" rIns="0" bIns="0" rtlCol="0" anchor="ctr"/>
          <a:lstStyle/>
          <a:p>
            <a:pPr algn="ctr" indent="0" marL="0">
              <a:buNone/>
            </a:pPr>
            <a:r>
              <a:rPr lang="en-US" sz="1200" u="sng" dirty="0">
                <a:solidFill>
                  <a:schemeClr val="accent6"/>
                </a:solidFill>
                <a:hlinkClick r:id="rId4" invalidUrl="" action="" tgtFrame="" tooltip="" history="1" highlightClick="0" endSnd="0">
                  <a:extLst>
                    <a:ext uri="{A12FA001-AC4F-418D-AE19-62706E023703}">
                      <ahyp:hlinkClr xmlns:ahyp="http://schemas.microsoft.com/office/drawing/2018/hyperlinkcolor" val="tx"/>
                    </a:ext>
                  </a:extLst>
                </a:hlinkClick>
              </a:rPr>
              <a:t>focal-demo-b.streamlit.app</a:t>
            </a:r>
            <a:endParaRPr lang="en-US" sz="1200" dirty="0"/>
          </a:p>
        </p:txBody>
      </p:sp>
      <p:sp>
        <p:nvSpPr>
          <p:cNvPr id="18" name="Vote card C"/>
          <p:cNvSpPr/>
          <p:nvPr/>
        </p:nvSpPr>
        <p:spPr>
          <a:xfrm>
            <a:off x="8074152" y="1691640"/>
            <a:ext cx="3566160" cy="4160520"/>
          </a:xfrm>
          <a:prstGeom prst="roundRect">
            <a:avLst>
              <a:gd name="adj" fmla="val 2051"/>
            </a:avLst>
          </a:prstGeom>
          <a:solidFill>
            <a:schemeClr val="bg1">
              <a:alpha val="8000"/>
            </a:schemeClr>
          </a:solidFill>
          <a:ln w="9525">
            <a:solidFill>
              <a:schemeClr val="accent6">
                <a:alpha val="40000"/>
              </a:schemeClr>
            </a:solidFill>
            <a:prstDash val="solid"/>
          </a:ln>
        </p:spPr>
      </p:sp>
      <p:sp>
        <p:nvSpPr>
          <p:cNvPr id="19" name="Badge C"/>
          <p:cNvSpPr/>
          <p:nvPr/>
        </p:nvSpPr>
        <p:spPr>
          <a:xfrm>
            <a:off x="8348472" y="1920240"/>
            <a:ext cx="594360" cy="594360"/>
          </a:xfrm>
          <a:prstGeom prst="ellipse">
            <a:avLst/>
          </a:prstGeom>
          <a:solidFill>
            <a:schemeClr val="accent4"/>
          </a:solidFill>
          <a:ln/>
        </p:spPr>
      </p:sp>
      <p:sp>
        <p:nvSpPr>
          <p:cNvPr id="20" name="Badge letter C"/>
          <p:cNvSpPr txBox="1"/>
          <p:nvPr/>
        </p:nvSpPr>
        <p:spPr>
          <a:xfrm>
            <a:off x="8348472" y="1920240"/>
            <a:ext cx="594360" cy="594360"/>
          </a:xfrm>
          <a:prstGeom prst="rect">
            <a:avLst/>
          </a:prstGeom>
          <a:noFill/>
          <a:ln/>
        </p:spPr>
        <p:txBody>
          <a:bodyPr wrap="square" lIns="0" tIns="0" rIns="0" bIns="0" rtlCol="0" anchor="ctr"/>
          <a:lstStyle/>
          <a:p>
            <a:pPr algn="ctr" indent="0" marL="0">
              <a:buNone/>
            </a:pPr>
            <a:r>
              <a:rPr lang="en-US" sz="2300" b="1" dirty="0">
                <a:solidFill>
                  <a:schemeClr val="bg1"/>
                </a:solidFill>
              </a:rPr>
              <a:t>C</a:t>
            </a:r>
            <a:endParaRPr lang="en-US" sz="2300" dirty="0"/>
          </a:p>
        </p:txBody>
      </p:sp>
      <p:sp>
        <p:nvSpPr>
          <p:cNvPr id="21" name="Text 17"/>
          <p:cNvSpPr txBox="1"/>
          <p:nvPr/>
        </p:nvSpPr>
        <p:spPr>
          <a:xfrm>
            <a:off x="9034272" y="1920240"/>
            <a:ext cx="2468880" cy="594360"/>
          </a:xfrm>
          <a:prstGeom prst="rect">
            <a:avLst/>
          </a:prstGeom>
          <a:noFill/>
          <a:ln/>
        </p:spPr>
        <p:txBody>
          <a:bodyPr wrap="square" lIns="0" tIns="0" rIns="0" bIns="0" rtlCol="0" anchor="ctr"/>
          <a:lstStyle/>
          <a:p>
            <a:pPr indent="0" marL="0">
              <a:buNone/>
            </a:pPr>
            <a:r>
              <a:rPr lang="en-US" sz="2200" b="1" dirty="0">
                <a:solidFill>
                  <a:schemeClr val="bg1"/>
                </a:solidFill>
              </a:rPr>
              <a:t>DMV Pre-Check</a:t>
            </a:r>
            <a:endParaRPr lang="en-US" sz="2200" dirty="0"/>
          </a:p>
        </p:txBody>
      </p:sp>
      <p:sp>
        <p:nvSpPr>
          <p:cNvPr id="22" name="Text 18"/>
          <p:cNvSpPr txBox="1"/>
          <p:nvPr/>
        </p:nvSpPr>
        <p:spPr>
          <a:xfrm>
            <a:off x="8348472" y="2697480"/>
            <a:ext cx="3063240" cy="731520"/>
          </a:xfrm>
          <a:prstGeom prst="rect">
            <a:avLst/>
          </a:prstGeom>
          <a:noFill/>
          <a:ln/>
        </p:spPr>
        <p:txBody>
          <a:bodyPr wrap="square" lIns="0" tIns="0" rIns="0" bIns="0" rtlCol="0" anchor="t"/>
          <a:lstStyle/>
          <a:p>
            <a:pPr indent="0" marL="0">
              <a:buNone/>
            </a:pPr>
            <a:r>
              <a:rPr lang="en-US" sz="1500" dirty="0">
                <a:solidFill>
                  <a:schemeClr val="accent6"/>
                </a:solidFill>
              </a:rPr>
              <a:t>A practice result before a specific deadline</a:t>
            </a:r>
            <a:endParaRPr lang="en-US" sz="1500" dirty="0"/>
          </a:p>
        </p:txBody>
      </p:sp>
      <p:pic>
        <p:nvPicPr>
          <p:cNvPr id="23" name="Image 2" descr="QR code to open Prototype C">    </p:cNvPr>
          <p:cNvPicPr>
            <a:picLocks noChangeAspect="1"/>
          </p:cNvPicPr>
          <p:nvPr/>
        </p:nvPicPr>
        <p:blipFill>
          <a:blip r:embed="rId5"/>
          <a:stretch>
            <a:fillRect/>
          </a:stretch>
        </p:blipFill>
        <p:spPr>
          <a:xfrm>
            <a:off x="8988552" y="3520440"/>
            <a:ext cx="1737360" cy="1737360"/>
          </a:xfrm>
          <a:prstGeom prst="rect">
            <a:avLst/>
          </a:prstGeom>
        </p:spPr>
      </p:pic>
      <p:sp>
        <p:nvSpPr>
          <p:cNvPr id="24" name="Text 19">
            <a:hlinkClick r:id="rId6" tooltip=""/>
          </p:cNvPr>
          <p:cNvSpPr txBox="1"/>
          <p:nvPr/>
        </p:nvSpPr>
        <p:spPr>
          <a:xfrm>
            <a:off x="8257032" y="5394960"/>
            <a:ext cx="3200400" cy="320040"/>
          </a:xfrm>
          <a:prstGeom prst="rect">
            <a:avLst/>
          </a:prstGeom>
          <a:noFill/>
          <a:ln/>
        </p:spPr>
        <p:txBody>
          <a:bodyPr wrap="square" lIns="0" tIns="0" rIns="0" bIns="0" rtlCol="0" anchor="ctr"/>
          <a:lstStyle/>
          <a:p>
            <a:pPr algn="ctr" indent="0" marL="0">
              <a:buNone/>
            </a:pPr>
            <a:r>
              <a:rPr lang="en-US" sz="1200" u="sng" dirty="0">
                <a:solidFill>
                  <a:schemeClr val="accent6"/>
                </a:solidFill>
                <a:hlinkClick r:id="rId6" invalidUrl="" action="" tgtFrame="" tooltip="" history="1" highlightClick="0" endSnd="0">
                  <a:extLst>
                    <a:ext uri="{A12FA001-AC4F-418D-AE19-62706E023703}">
                      <ahyp:hlinkClr xmlns:ahyp="http://schemas.microsoft.com/office/drawing/2018/hyperlinkcolor" val="tx"/>
                    </a:ext>
                  </a:extLst>
                </a:hlinkClick>
              </a:rPr>
              <a:t>focal-demo-c.streamlit.app</a:t>
            </a:r>
            <a:endParaRPr lang="en-US" sz="12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365760"/>
            <a:ext cx="100584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BACKUP · OUTSIDE THE MAIN TALK</a:t>
            </a:r>
            <a:endParaRPr lang="en-US" sz="1200" dirty="0"/>
          </a:p>
        </p:txBody>
      </p:sp>
      <p:sp>
        <p:nvSpPr>
          <p:cNvPr id="3" name="Text 1"/>
          <p:cNvSpPr/>
          <p:nvPr>
            <p:ph idx="101" type="title" hasCustomPrompt="1"/>
          </p:nvPr>
        </p:nvSpPr>
        <p:spPr>
          <a:xfrm>
            <a:off x="548640" y="676656"/>
            <a:ext cx="11064240" cy="713232"/>
          </a:xfrm>
          <a:prstGeom prst="rect">
            <a:avLst/>
          </a:prstGeom>
          <a:noFill/>
          <a:ln/>
        </p:spPr>
        <p:txBody>
          <a:bodyPr wrap="square" lIns="0" tIns="0" rIns="0" bIns="0" rtlCol="0" anchor="t"/>
          <a:lstStyle/>
          <a:p>
            <a:pPr algn="l" indent="0" marL="0">
              <a:buNone/>
            </a:pPr>
            <a:r>
              <a:rPr lang="en-US" sz="3600" b="1" dirty="0">
                <a:solidFill>
                  <a:schemeClr val="bg1"/>
                </a:solidFill>
              </a:rPr>
              <a:t>Links, repo and build log</a:t>
            </a:r>
            <a:endParaRPr lang="en-US" sz="3600" dirty="0"/>
          </a:p>
        </p:txBody>
      </p:sp>
      <p:sp>
        <p:nvSpPr>
          <p:cNvPr id="4" name="Text 2"/>
          <p:cNvSpPr txBox="1"/>
          <p:nvPr/>
        </p:nvSpPr>
        <p:spPr>
          <a:xfrm>
            <a:off x="548640" y="1691640"/>
            <a:ext cx="3840480" cy="548640"/>
          </a:xfrm>
          <a:prstGeom prst="rect">
            <a:avLst/>
          </a:prstGeom>
          <a:noFill/>
          <a:ln/>
        </p:spPr>
        <p:txBody>
          <a:bodyPr wrap="square" lIns="0" tIns="0" rIns="0" bIns="0" rtlCol="0" anchor="ctr"/>
          <a:lstStyle/>
          <a:p>
            <a:pPr indent="0" marL="0">
              <a:buNone/>
            </a:pPr>
            <a:r>
              <a:rPr lang="en-US" sz="1600" b="1" dirty="0">
                <a:solidFill>
                  <a:schemeClr val="bg1"/>
                </a:solidFill>
              </a:rPr>
              <a:t>Prototype A · Focal Monitor</a:t>
            </a:r>
            <a:endParaRPr lang="en-US" sz="1600" dirty="0"/>
          </a:p>
        </p:txBody>
      </p:sp>
      <p:sp>
        <p:nvSpPr>
          <p:cNvPr id="5" name="Text 3">
            <a:hlinkClick r:id="rId1" tooltip=""/>
          </p:cNvPr>
          <p:cNvSpPr txBox="1"/>
          <p:nvPr/>
        </p:nvSpPr>
        <p:spPr>
          <a:xfrm>
            <a:off x="4480560" y="1691640"/>
            <a:ext cx="7132320" cy="548640"/>
          </a:xfrm>
          <a:prstGeom prst="rect">
            <a:avLst/>
          </a:prstGeom>
          <a:noFill/>
          <a:ln/>
        </p:spPr>
        <p:txBody>
          <a:bodyPr wrap="square" lIns="0" tIns="0" rIns="0" bIns="0" rtlCol="0" anchor="ctr"/>
          <a:lstStyle/>
          <a:p>
            <a:pPr indent="0" marL="0">
              <a:buNone/>
            </a:pPr>
            <a:r>
              <a:rPr lang="en-US" sz="15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focal-demo-a.streamlit.app</a:t>
            </a:r>
            <a:endParaRPr lang="en-US" sz="1500" dirty="0"/>
          </a:p>
        </p:txBody>
      </p:sp>
      <p:sp>
        <p:nvSpPr>
          <p:cNvPr id="6" name="Text 4"/>
          <p:cNvSpPr txBox="1"/>
          <p:nvPr/>
        </p:nvSpPr>
        <p:spPr>
          <a:xfrm>
            <a:off x="548640" y="2404872"/>
            <a:ext cx="3840480" cy="548640"/>
          </a:xfrm>
          <a:prstGeom prst="rect">
            <a:avLst/>
          </a:prstGeom>
          <a:noFill/>
          <a:ln/>
        </p:spPr>
        <p:txBody>
          <a:bodyPr wrap="square" lIns="0" tIns="0" rIns="0" bIns="0" rtlCol="0" anchor="ctr"/>
          <a:lstStyle/>
          <a:p>
            <a:pPr indent="0" marL="0">
              <a:buNone/>
            </a:pPr>
            <a:r>
              <a:rPr lang="en-US" sz="1600" b="1" dirty="0">
                <a:solidFill>
                  <a:schemeClr val="bg1"/>
                </a:solidFill>
              </a:rPr>
              <a:t>Prototype B · Focal Family</a:t>
            </a:r>
            <a:endParaRPr lang="en-US" sz="1600" dirty="0"/>
          </a:p>
        </p:txBody>
      </p:sp>
      <p:sp>
        <p:nvSpPr>
          <p:cNvPr id="7" name="Text 5">
            <a:hlinkClick r:id="rId2" tooltip=""/>
          </p:cNvPr>
          <p:cNvSpPr txBox="1"/>
          <p:nvPr/>
        </p:nvSpPr>
        <p:spPr>
          <a:xfrm>
            <a:off x="4480560" y="2404872"/>
            <a:ext cx="7132320" cy="548640"/>
          </a:xfrm>
          <a:prstGeom prst="rect">
            <a:avLst/>
          </a:prstGeom>
          <a:noFill/>
          <a:ln/>
        </p:spPr>
        <p:txBody>
          <a:bodyPr wrap="square" lIns="0" tIns="0" rIns="0" bIns="0" rtlCol="0" anchor="ctr"/>
          <a:lstStyle/>
          <a:p>
            <a:pPr indent="0" marL="0">
              <a:buNone/>
            </a:pPr>
            <a:r>
              <a:rPr lang="en-US" sz="1500" u="sng" dirty="0">
                <a:solidFill>
                  <a:schemeClr val="accent6"/>
                </a:solidFill>
                <a:hlinkClick r:id="rId2" invalidUrl="" action="" tgtFrame="" tooltip="" history="1" highlightClick="0" endSnd="0">
                  <a:extLst>
                    <a:ext uri="{A12FA001-AC4F-418D-AE19-62706E023703}">
                      <ahyp:hlinkClr xmlns:ahyp="http://schemas.microsoft.com/office/drawing/2018/hyperlinkcolor" val="tx"/>
                    </a:ext>
                  </a:extLst>
                </a:hlinkClick>
              </a:rPr>
              <a:t>focal-demo-b.streamlit.app</a:t>
            </a:r>
            <a:endParaRPr lang="en-US" sz="1500" dirty="0"/>
          </a:p>
        </p:txBody>
      </p:sp>
      <p:sp>
        <p:nvSpPr>
          <p:cNvPr id="8" name="Text 6"/>
          <p:cNvSpPr txBox="1"/>
          <p:nvPr/>
        </p:nvSpPr>
        <p:spPr>
          <a:xfrm>
            <a:off x="548640" y="3118104"/>
            <a:ext cx="3840480" cy="548640"/>
          </a:xfrm>
          <a:prstGeom prst="rect">
            <a:avLst/>
          </a:prstGeom>
          <a:noFill/>
          <a:ln/>
        </p:spPr>
        <p:txBody>
          <a:bodyPr wrap="square" lIns="0" tIns="0" rIns="0" bIns="0" rtlCol="0" anchor="ctr"/>
          <a:lstStyle/>
          <a:p>
            <a:pPr indent="0" marL="0">
              <a:buNone/>
            </a:pPr>
            <a:r>
              <a:rPr lang="en-US" sz="1600" b="1" dirty="0">
                <a:solidFill>
                  <a:schemeClr val="bg1"/>
                </a:solidFill>
              </a:rPr>
              <a:t>Prototype C · DMV Pre-Check</a:t>
            </a:r>
            <a:endParaRPr lang="en-US" sz="1600" dirty="0"/>
          </a:p>
        </p:txBody>
      </p:sp>
      <p:sp>
        <p:nvSpPr>
          <p:cNvPr id="9" name="Text 7">
            <a:hlinkClick r:id="rId3" tooltip=""/>
          </p:cNvPr>
          <p:cNvSpPr txBox="1"/>
          <p:nvPr/>
        </p:nvSpPr>
        <p:spPr>
          <a:xfrm>
            <a:off x="4480560" y="3118104"/>
            <a:ext cx="7132320" cy="548640"/>
          </a:xfrm>
          <a:prstGeom prst="rect">
            <a:avLst/>
          </a:prstGeom>
          <a:noFill/>
          <a:ln/>
        </p:spPr>
        <p:txBody>
          <a:bodyPr wrap="square" lIns="0" tIns="0" rIns="0" bIns="0" rtlCol="0" anchor="ctr"/>
          <a:lstStyle/>
          <a:p>
            <a:pPr indent="0" marL="0">
              <a:buNone/>
            </a:pPr>
            <a:r>
              <a:rPr lang="en-US" sz="1500" u="sng" dirty="0">
                <a:solidFill>
                  <a:schemeClr val="accent6"/>
                </a:solidFill>
                <a:hlinkClick r:id="rId3" invalidUrl="" action="" tgtFrame="" tooltip="" history="1" highlightClick="0" endSnd="0">
                  <a:extLst>
                    <a:ext uri="{A12FA001-AC4F-418D-AE19-62706E023703}">
                      <ahyp:hlinkClr xmlns:ahyp="http://schemas.microsoft.com/office/drawing/2018/hyperlinkcolor" val="tx"/>
                    </a:ext>
                  </a:extLst>
                </a:hlinkClick>
              </a:rPr>
              <a:t>focal-demo-c.streamlit.app</a:t>
            </a:r>
            <a:endParaRPr lang="en-US" sz="1500" dirty="0"/>
          </a:p>
        </p:txBody>
      </p:sp>
      <p:sp>
        <p:nvSpPr>
          <p:cNvPr id="10" name="Text 8"/>
          <p:cNvSpPr txBox="1"/>
          <p:nvPr/>
        </p:nvSpPr>
        <p:spPr>
          <a:xfrm>
            <a:off x="548640" y="3831336"/>
            <a:ext cx="3840480" cy="548640"/>
          </a:xfrm>
          <a:prstGeom prst="rect">
            <a:avLst/>
          </a:prstGeom>
          <a:noFill/>
          <a:ln/>
        </p:spPr>
        <p:txBody>
          <a:bodyPr wrap="square" lIns="0" tIns="0" rIns="0" bIns="0" rtlCol="0" anchor="ctr"/>
          <a:lstStyle/>
          <a:p>
            <a:pPr indent="0" marL="0">
              <a:buNone/>
            </a:pPr>
            <a:r>
              <a:rPr lang="en-US" sz="1600" b="1" dirty="0">
                <a:solidFill>
                  <a:schemeClr val="bg1"/>
                </a:solidFill>
              </a:rPr>
              <a:t>Repository</a:t>
            </a:r>
            <a:endParaRPr lang="en-US" sz="1600" dirty="0"/>
          </a:p>
        </p:txBody>
      </p:sp>
      <p:sp>
        <p:nvSpPr>
          <p:cNvPr id="11" name="Text 9">
            <a:hlinkClick r:id="rId4" tooltip=""/>
          </p:cNvPr>
          <p:cNvSpPr txBox="1"/>
          <p:nvPr/>
        </p:nvSpPr>
        <p:spPr>
          <a:xfrm>
            <a:off x="4480560" y="3831336"/>
            <a:ext cx="7132320" cy="548640"/>
          </a:xfrm>
          <a:prstGeom prst="rect">
            <a:avLst/>
          </a:prstGeom>
          <a:noFill/>
          <a:ln/>
        </p:spPr>
        <p:txBody>
          <a:bodyPr wrap="square" lIns="0" tIns="0" rIns="0" bIns="0" rtlCol="0" anchor="ctr"/>
          <a:lstStyle/>
          <a:p>
            <a:pPr indent="0" marL="0">
              <a:buNone/>
            </a:pPr>
            <a:r>
              <a:rPr lang="en-US" sz="1500" u="sng" dirty="0">
                <a:solidFill>
                  <a:schemeClr val="accent6"/>
                </a:solidFill>
                <a:hlinkClick r:id="rId4" invalidUrl="" action="" tgtFrame="" tooltip="" history="1" highlightClick="0" endSnd="0">
                  <a:extLst>
                    <a:ext uri="{A12FA001-AC4F-418D-AE19-62706E023703}">
                      <ahyp:hlinkClr xmlns:ahyp="http://schemas.microsoft.com/office/drawing/2018/hyperlinkcolor" val="tx"/>
                    </a:ext>
                  </a:extLst>
                </a:hlinkClick>
              </a:rPr>
              <a:t>github.com/haydn-s/focal-technologies</a:t>
            </a:r>
            <a:endParaRPr lang="en-US" sz="1500" dirty="0"/>
          </a:p>
        </p:txBody>
      </p:sp>
      <p:sp>
        <p:nvSpPr>
          <p:cNvPr id="12" name="Text 10"/>
          <p:cNvSpPr txBox="1"/>
          <p:nvPr/>
        </p:nvSpPr>
        <p:spPr>
          <a:xfrm>
            <a:off x="548640" y="4544568"/>
            <a:ext cx="3840480" cy="548640"/>
          </a:xfrm>
          <a:prstGeom prst="rect">
            <a:avLst/>
          </a:prstGeom>
          <a:noFill/>
          <a:ln/>
        </p:spPr>
        <p:txBody>
          <a:bodyPr wrap="square" lIns="0" tIns="0" rIns="0" bIns="0" rtlCol="0" anchor="ctr"/>
          <a:lstStyle/>
          <a:p>
            <a:pPr indent="0" marL="0">
              <a:buNone/>
            </a:pPr>
            <a:r>
              <a:rPr lang="en-US" sz="1600" b="1" dirty="0">
                <a:solidFill>
                  <a:schemeClr val="bg1"/>
                </a:solidFill>
              </a:rPr>
              <a:t>Team prompt log</a:t>
            </a:r>
            <a:endParaRPr lang="en-US" sz="1600" dirty="0"/>
          </a:p>
        </p:txBody>
      </p:sp>
      <p:sp>
        <p:nvSpPr>
          <p:cNvPr id="13" name="Text 11">
            <a:hlinkClick r:id="rId5" tooltip=""/>
          </p:cNvPr>
          <p:cNvSpPr txBox="1"/>
          <p:nvPr/>
        </p:nvSpPr>
        <p:spPr>
          <a:xfrm>
            <a:off x="4480560" y="4544568"/>
            <a:ext cx="7132320" cy="548640"/>
          </a:xfrm>
          <a:prstGeom prst="rect">
            <a:avLst/>
          </a:prstGeom>
          <a:noFill/>
          <a:ln/>
        </p:spPr>
        <p:txBody>
          <a:bodyPr wrap="square" lIns="0" tIns="0" rIns="0" bIns="0" rtlCol="0" anchor="ctr"/>
          <a:lstStyle/>
          <a:p>
            <a:pPr indent="0" marL="0">
              <a:buNone/>
            </a:pPr>
            <a:r>
              <a:rPr lang="en-US" sz="1500" u="sng" dirty="0">
                <a:solidFill>
                  <a:schemeClr val="accent6"/>
                </a:solidFill>
                <a:hlinkClick r:id="rId5" invalidUrl="" action="" tgtFrame="" tooltip="" history="1" highlightClick="0" endSnd="0">
                  <a:extLst>
                    <a:ext uri="{A12FA001-AC4F-418D-AE19-62706E023703}">
                      <ahyp:hlinkClr xmlns:ahyp="http://schemas.microsoft.com/office/drawing/2018/hyperlinkcolor" val="tx"/>
                    </a:ext>
                  </a:extLst>
                </a:hlinkClick>
              </a:rPr>
              <a:t>github.com/haydn-s/focal-technologies/blob/main/prompts.md</a:t>
            </a:r>
            <a:endParaRPr lang="en-US" sz="1500" dirty="0"/>
          </a:p>
        </p:txBody>
      </p:sp>
      <p:sp>
        <p:nvSpPr>
          <p:cNvPr id="14" name="Text 12"/>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400" dirty="0">
                <a:solidFill>
                  <a:schemeClr val="accent6"/>
                </a:solidFill>
              </a:rPr>
              <a:t>Built with AI coding assistants; the prompt log (A1–A5, B1–B5, C1–C6) records each AI-assisted step. Each prototype's README holds its hypothesis, Feature Scope Card and deliberate cuts.</a:t>
            </a:r>
            <a:endParaRPr lang="en-US" sz="1400" dirty="0"/>
          </a:p>
        </p:txBody>
      </p:sp>
      <p:sp>
        <p:nvSpPr>
          <p:cNvPr id="25" name="Slide Number Placeholder 0"/>
          <p:cNvSpPr>
            <a:spLocks noGrp="1"/>
          </p:cNvSpPr>
          <p:nvPr>
            <p:ph type="sldNum" sz="quarter" idx="4294967295"/>
          </p:nvPr>
        </p:nvSpPr>
        <p:spPr>
          <a:xfrm>
            <a:off x="11155680" y="6336792"/>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ocal Team 5">
  <a:themeElements>
    <a:clrScheme name="Focal Team 5">
      <a:dk1>
        <a:srgbClr val="14213D"/>
      </a:dk1>
      <a:lt1>
        <a:srgbClr val="FFFFFF"/>
      </a:lt1>
      <a:dk2>
        <a:srgbClr val="10265F"/>
      </a:dk2>
      <a:lt2>
        <a:srgbClr val="F2F5FA"/>
      </a:lt2>
      <a:accent1>
        <a:srgbClr val="1F65A8"/>
      </a:accent1>
      <a:accent2>
        <a:srgbClr val="2F80C8"/>
      </a:accent2>
      <a:accent3>
        <a:srgbClr val="237A6F"/>
      </a:accent3>
      <a:accent4>
        <a:srgbClr val="C4513A"/>
      </a:accent4>
      <a:accent5>
        <a:srgbClr val="5B6882"/>
      </a:accent5>
      <a:accent6>
        <a:srgbClr val="D6DFEC"/>
      </a:accent6>
      <a:hlink>
        <a:srgbClr val="7DB8EA"/>
      </a:hlink>
      <a:folHlink>
        <a:srgbClr val="D6DFEC"/>
      </a:folHlink>
    </a:clrScheme>
    <a:fontScheme name="Focal Team 5">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Focal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Focal: three prototypes, three hypotheses</dc:title>
  <dc:subject>PptxGenJS Presentation</dc:subject>
  <dc:creator>Team 5 · MENG 570</dc:creator>
  <cp:lastModifiedBy>Team 5 · MENG 570</cp:lastModifiedBy>
  <cp:revision>1</cp:revision>
  <dcterms:created xsi:type="dcterms:W3CDTF">2026-10-22T03:39:45Z</dcterms:created>
  <dcterms:modified xsi:type="dcterms:W3CDTF">2026-10-22T03:39:45Z</dcterms:modified>
</cp:coreProperties>
</file>