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We looked at how people find out their vision has changed — and what stops them acting on it. Four personas, ten interviews: five with AI personas, five with real people. I'll cover who we talked to, what we assumed, what surprised us, and how the two interview types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Three consumer personas and one institutional buyer. Riley is the screen-heavy adult who lets exams lapse; Pat is the parent working off school screenings; Alex is the student facing a first DMV test. Lisa runs a licensing office. Note the last line — Lisa is the only persona we could not reach in person, which matters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Four hypotheses. Three are about individuals: effort, inability to notice change, and distrust of online tests. The fourth is institutional — that licensing screening is a slow, inconsistent, paper-driven bottleneck. Hold onto number four; it's the one that took the biggest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The biggest shift came from the licensing interviews. We assumed the vision test slowed the counter down — it takes about a minute and is roughly 5% of counter time. The cost is the failure: the transaction collapses and that person consumes a second slot later. Second, accuracy is not what the agency is buying; it's a chain of custody it can defend to a lawyer. Third, Lisa pushed back on more frequent testing — quadruple a crude test and you quadruple the false failures. Alex surprised us too: the road test scared him far more than the vision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Confirmed: the effort of an exam outweighs the payoff for a small change; parents can't interpret the signs; home charts get memorized. Narrowed: tracking isn't universally hard — one parent keeps detailed records. Distrust isn't universal either — Kevin would believe a result, he just sees no reason to test. And the DMV bottleneck hypothesis was wrong. Three things we never wrote down: emotional avoidance, absence of urgency, and the insurance handoff when young adults leave a parent's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Virtual gave us reach and speed — we got two deep interviews with a licensing supervisor we could never have booked, and the persona argued with us rather than agreeing. The limit is circularity: it can only reflect what we wrote into the persona, so it generates hypotheses, it doesn't validate them. In person gave us behavior — fear, inertia, people who didn't know online tests existed. The limit is sample size and no institutional access. Use virtual first to widen the space, in person to find out what actually moves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Three things we'd prototype against: what makes a digital result trustworthy, whether result framing changes avoidance, and what guidance converts a result into a booked appointment. And the honest gap — our entire institutional picture came from a simulated supervisor, so that segment gets validated with a real agency employee before we invest in it.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A33"/>
        </a:solidFill>
      </p:bgPr>
    </p:bg>
    <p:spTree>
      <p:nvGrpSpPr>
        <p:cNvPr id="1" name=""/>
        <p:cNvGrpSpPr/>
        <p:nvPr/>
      </p:nvGrpSpPr>
      <p:grpSpPr>
        <a:xfrm>
          <a:off x="0" y="0"/>
          <a:ext cx="0" cy="0"/>
          <a:chOff x="0" y="0"/>
          <a:chExt cx="0" cy="0"/>
        </a:xfrm>
      </p:grpSpPr>
      <p:sp>
        <p:nvSpPr>
          <p:cNvPr id="2" name="Shape 0"/>
          <p:cNvSpPr/>
          <p:nvPr/>
        </p:nvSpPr>
        <p:spPr>
          <a:xfrm>
            <a:off x="7543800" y="1280160"/>
            <a:ext cx="4572000" cy="4572000"/>
          </a:xfrm>
          <a:prstGeom prst="ellipse">
            <a:avLst/>
          </a:prstGeom>
          <a:solidFill>
            <a:srgbClr val="FFFFFF">
              <a:alpha val="0"/>
            </a:srgbClr>
          </a:solidFill>
          <a:ln w="25400">
            <a:solidFill>
              <a:srgbClr val="1B4552"/>
            </a:solidFill>
            <a:prstDash val="solid"/>
          </a:ln>
        </p:spPr>
      </p:sp>
      <p:sp>
        <p:nvSpPr>
          <p:cNvPr id="3" name="Shape 1"/>
          <p:cNvSpPr/>
          <p:nvPr/>
        </p:nvSpPr>
        <p:spPr>
          <a:xfrm>
            <a:off x="8183880" y="1920240"/>
            <a:ext cx="3291840" cy="3291840"/>
          </a:xfrm>
          <a:prstGeom prst="ellipse">
            <a:avLst/>
          </a:prstGeom>
          <a:solidFill>
            <a:srgbClr val="FFFFFF">
              <a:alpha val="0"/>
            </a:srgbClr>
          </a:solidFill>
          <a:ln w="31750">
            <a:solidFill>
              <a:srgbClr val="255A6B"/>
            </a:solidFill>
            <a:prstDash val="solid"/>
          </a:ln>
        </p:spPr>
      </p:sp>
      <p:sp>
        <p:nvSpPr>
          <p:cNvPr id="4" name="Shape 2"/>
          <p:cNvSpPr/>
          <p:nvPr/>
        </p:nvSpPr>
        <p:spPr>
          <a:xfrm>
            <a:off x="8778240" y="2514600"/>
            <a:ext cx="2103120" cy="2103120"/>
          </a:xfrm>
          <a:prstGeom prst="ellipse">
            <a:avLst/>
          </a:prstGeom>
          <a:solidFill>
            <a:srgbClr val="FFFFFF">
              <a:alpha val="0"/>
            </a:srgbClr>
          </a:solidFill>
          <a:ln w="38100">
            <a:solidFill>
              <a:srgbClr val="3E7C8C"/>
            </a:solidFill>
            <a:prstDash val="solid"/>
          </a:ln>
        </p:spPr>
      </p:sp>
      <p:sp>
        <p:nvSpPr>
          <p:cNvPr id="5" name="Shape 3"/>
          <p:cNvSpPr/>
          <p:nvPr/>
        </p:nvSpPr>
        <p:spPr>
          <a:xfrm>
            <a:off x="9372600" y="3108960"/>
            <a:ext cx="914400" cy="914400"/>
          </a:xfrm>
          <a:prstGeom prst="ellipse">
            <a:avLst/>
          </a:prstGeom>
          <a:solidFill>
            <a:srgbClr val="E4572E"/>
          </a:solidFill>
          <a:ln/>
        </p:spPr>
      </p:sp>
      <p:sp>
        <p:nvSpPr>
          <p:cNvPr id="6" name="Text 4"/>
          <p:cNvSpPr txBox="1"/>
          <p:nvPr/>
        </p:nvSpPr>
        <p:spPr>
          <a:xfrm>
            <a:off x="640080" y="1600200"/>
            <a:ext cx="7498080" cy="274320"/>
          </a:xfrm>
          <a:prstGeom prst="rect">
            <a:avLst/>
          </a:prstGeom>
          <a:noFill/>
          <a:ln/>
        </p:spPr>
        <p:txBody>
          <a:bodyPr wrap="square" lIns="0" tIns="0" rIns="0" bIns="0" rtlCol="0" anchor="ctr"/>
          <a:lstStyle/>
          <a:p>
            <a:pPr indent="0" marL="0">
              <a:buNone/>
            </a:pPr>
            <a:r>
              <a:rPr lang="en-US" sz="1200" b="1" spc="300" kern="0" dirty="0">
                <a:solidFill>
                  <a:srgbClr val="E4572E"/>
                </a:solidFill>
                <a:latin typeface="Calibri" pitchFamily="34" charset="0"/>
                <a:ea typeface="Calibri" pitchFamily="34" charset="-122"/>
                <a:cs typeface="Calibri" pitchFamily="34" charset="-120"/>
              </a:rPr>
              <a:t>CUSTOMER DISCOVERY  ·  TEAM 5</a:t>
            </a:r>
            <a:endParaRPr lang="en-US" sz="1200" dirty="0"/>
          </a:p>
        </p:txBody>
      </p:sp>
      <p:sp>
        <p:nvSpPr>
          <p:cNvPr id="7" name="Text 5"/>
          <p:cNvSpPr txBox="1"/>
          <p:nvPr/>
        </p:nvSpPr>
        <p:spPr>
          <a:xfrm>
            <a:off x="640080" y="2011680"/>
            <a:ext cx="768096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Can you tell when your</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vision has changed?</a:t>
            </a:r>
            <a:endParaRPr lang="en-US" sz="4000" dirty="0"/>
          </a:p>
        </p:txBody>
      </p:sp>
      <p:sp>
        <p:nvSpPr>
          <p:cNvPr id="8" name="Text 6"/>
          <p:cNvSpPr txBox="1"/>
          <p:nvPr/>
        </p:nvSpPr>
        <p:spPr>
          <a:xfrm>
            <a:off x="640080" y="3840480"/>
            <a:ext cx="7680960" cy="731520"/>
          </a:xfrm>
          <a:prstGeom prst="rect">
            <a:avLst/>
          </a:prstGeom>
          <a:noFill/>
          <a:ln/>
        </p:spPr>
        <p:txBody>
          <a:bodyPr wrap="square" lIns="0" tIns="0" rIns="0" bIns="0" rtlCol="0" anchor="ctr"/>
          <a:lstStyle/>
          <a:p>
            <a:pPr indent="0" marL="0">
              <a:buNone/>
            </a:pPr>
            <a:r>
              <a:rPr lang="en-US" sz="1500" dirty="0">
                <a:solidFill>
                  <a:srgbClr val="C9D8DB"/>
                </a:solidFill>
                <a:latin typeface="Calibri" pitchFamily="34" charset="0"/>
                <a:ea typeface="Calibri" pitchFamily="34" charset="-122"/>
                <a:cs typeface="Calibri" pitchFamily="34" charset="-120"/>
              </a:rPr>
              <a:t>Testing our pain-point hypotheses across 4 personas</a:t>
            </a:r>
            <a:endParaRPr lang="en-US" sz="1500" dirty="0"/>
          </a:p>
          <a:p>
            <a:pPr indent="0" marL="0">
              <a:buNone/>
            </a:pPr>
            <a:r>
              <a:rPr lang="en-US" sz="1500" dirty="0">
                <a:solidFill>
                  <a:srgbClr val="C9D8DB"/>
                </a:solidFill>
                <a:latin typeface="Calibri" pitchFamily="34" charset="0"/>
                <a:ea typeface="Calibri" pitchFamily="34" charset="-122"/>
                <a:cs typeface="Calibri" pitchFamily="34" charset="-120"/>
              </a:rPr>
              <a:t>and 10 interviews — 5 virtual, 5 in person.</a:t>
            </a:r>
            <a:endParaRPr lang="en-US" sz="1500" dirty="0"/>
          </a:p>
        </p:txBody>
      </p:sp>
      <p:sp>
        <p:nvSpPr>
          <p:cNvPr id="9" name="Text 7"/>
          <p:cNvSpPr txBox="1"/>
          <p:nvPr/>
        </p:nvSpPr>
        <p:spPr>
          <a:xfrm>
            <a:off x="640080" y="5897880"/>
            <a:ext cx="7315200" cy="274320"/>
          </a:xfrm>
          <a:prstGeom prst="rect">
            <a:avLst/>
          </a:prstGeom>
          <a:noFill/>
          <a:ln/>
        </p:spPr>
        <p:txBody>
          <a:bodyPr wrap="square" lIns="0" tIns="0" rIns="0" bIns="0" rtlCol="0" anchor="ctr"/>
          <a:lstStyle/>
          <a:p>
            <a:pPr indent="0" marL="0">
              <a:buNone/>
            </a:pPr>
            <a:r>
              <a:rPr lang="en-US" sz="1200" spc="100" kern="0" dirty="0">
                <a:solidFill>
                  <a:srgbClr val="3E7C8C"/>
                </a:solidFill>
                <a:latin typeface="Calibri" pitchFamily="34" charset="0"/>
                <a:ea typeface="Calibri" pitchFamily="34" charset="-122"/>
                <a:cs typeface="Calibri" pitchFamily="34" charset="-120"/>
              </a:rPr>
              <a:t>Fan  ·  Hadley  ·  Haydn  ·  Burak  ·  Qingyi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E4572E"/>
                </a:solidFill>
                <a:latin typeface="Calibri" pitchFamily="34" charset="0"/>
                <a:ea typeface="Calibri" pitchFamily="34" charset="-122"/>
                <a:cs typeface="Calibri" pitchFamily="34" charset="-120"/>
              </a:rPr>
              <a:t>WHO WE TALKED TO</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0C2A33"/>
                </a:solidFill>
                <a:latin typeface="Cambria" pitchFamily="34" charset="0"/>
                <a:ea typeface="Cambria" pitchFamily="34" charset="-122"/>
                <a:cs typeface="Cambria" pitchFamily="34" charset="-120"/>
              </a:rPr>
              <a:t>Four personas, two sides of the problem</a:t>
            </a:r>
            <a:endParaRPr lang="en-US" sz="3400" dirty="0"/>
          </a:p>
        </p:txBody>
      </p:sp>
      <p:sp>
        <p:nvSpPr>
          <p:cNvPr id="4" name="Shape 2"/>
          <p:cNvSpPr/>
          <p:nvPr/>
        </p:nvSpPr>
        <p:spPr>
          <a:xfrm>
            <a:off x="640080" y="1783080"/>
            <a:ext cx="5212080" cy="1965960"/>
          </a:xfrm>
          <a:prstGeom prst="roundRect">
            <a:avLst>
              <a:gd name="adj" fmla="val 3721"/>
            </a:avLst>
          </a:prstGeom>
          <a:solidFill>
            <a:srgbClr val="EDF2F2"/>
          </a:solidFill>
          <a:ln/>
        </p:spPr>
      </p:sp>
      <p:sp>
        <p:nvSpPr>
          <p:cNvPr id="5" name="Shape 3"/>
          <p:cNvSpPr/>
          <p:nvPr/>
        </p:nvSpPr>
        <p:spPr>
          <a:xfrm>
            <a:off x="932688" y="2093976"/>
            <a:ext cx="658368" cy="658368"/>
          </a:xfrm>
          <a:prstGeom prst="ellipse">
            <a:avLst/>
          </a:prstGeom>
          <a:solidFill>
            <a:srgbClr val="3E7C8C"/>
          </a:solidFill>
          <a:ln/>
        </p:spPr>
      </p:sp>
      <p:sp>
        <p:nvSpPr>
          <p:cNvPr id="6" name="Text 4"/>
          <p:cNvSpPr txBox="1"/>
          <p:nvPr/>
        </p:nvSpPr>
        <p:spPr>
          <a:xfrm>
            <a:off x="932688" y="209397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t>
            </a:r>
            <a:endParaRPr lang="en-US" sz="1800" dirty="0"/>
          </a:p>
        </p:txBody>
      </p:sp>
      <p:sp>
        <p:nvSpPr>
          <p:cNvPr id="7" name="Text 5"/>
          <p:cNvSpPr txBox="1"/>
          <p:nvPr/>
        </p:nvSpPr>
        <p:spPr>
          <a:xfrm>
            <a:off x="1783080" y="2057400"/>
            <a:ext cx="3840480" cy="365760"/>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Routine-Check Riley</a:t>
            </a:r>
            <a:endParaRPr lang="en-US" sz="1600" dirty="0"/>
          </a:p>
        </p:txBody>
      </p:sp>
      <p:sp>
        <p:nvSpPr>
          <p:cNvPr id="8" name="Text 6"/>
          <p:cNvSpPr txBox="1"/>
          <p:nvPr/>
        </p:nvSpPr>
        <p:spPr>
          <a:xfrm>
            <a:off x="1783080" y="2441448"/>
            <a:ext cx="3840480" cy="82296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Office worker, 25–40, on screens 9–10 hrs a day. Last exam 2+ years ago — went only because a prescription expired.</a:t>
            </a:r>
            <a:endParaRPr lang="en-US" sz="1150" dirty="0"/>
          </a:p>
        </p:txBody>
      </p:sp>
      <p:sp>
        <p:nvSpPr>
          <p:cNvPr id="9" name="Text 7"/>
          <p:cNvSpPr txBox="1"/>
          <p:nvPr/>
        </p:nvSpPr>
        <p:spPr>
          <a:xfrm>
            <a:off x="1783080" y="3300984"/>
            <a:ext cx="3840480" cy="256032"/>
          </a:xfrm>
          <a:prstGeom prst="rect">
            <a:avLst/>
          </a:prstGeom>
          <a:noFill/>
          <a:ln/>
        </p:spPr>
        <p:txBody>
          <a:bodyPr wrap="square" lIns="0" tIns="0" rIns="0" bIns="0" rtlCol="0" anchor="ctr"/>
          <a:lstStyle/>
          <a:p>
            <a:pPr indent="0" marL="0">
              <a:buNone/>
            </a:pPr>
            <a:r>
              <a:rPr lang="en-US" sz="1050" b="1" spc="100" kern="0" dirty="0">
                <a:solidFill>
                  <a:srgbClr val="3E7C8C"/>
                </a:solidFill>
                <a:latin typeface="Calibri" pitchFamily="34" charset="0"/>
                <a:ea typeface="Calibri" pitchFamily="34" charset="-122"/>
                <a:cs typeface="Calibri" pitchFamily="34" charset="-120"/>
              </a:rPr>
              <a:t>1 virtual  ·  3 in person</a:t>
            </a:r>
            <a:endParaRPr lang="en-US" sz="1050" dirty="0"/>
          </a:p>
        </p:txBody>
      </p:sp>
      <p:sp>
        <p:nvSpPr>
          <p:cNvPr id="10" name="Shape 8"/>
          <p:cNvSpPr/>
          <p:nvPr/>
        </p:nvSpPr>
        <p:spPr>
          <a:xfrm>
            <a:off x="6336792" y="1783080"/>
            <a:ext cx="5212080" cy="1965960"/>
          </a:xfrm>
          <a:prstGeom prst="roundRect">
            <a:avLst>
              <a:gd name="adj" fmla="val 3721"/>
            </a:avLst>
          </a:prstGeom>
          <a:solidFill>
            <a:srgbClr val="EDF2F2"/>
          </a:solidFill>
          <a:ln/>
        </p:spPr>
      </p:sp>
      <p:sp>
        <p:nvSpPr>
          <p:cNvPr id="11" name="Shape 9"/>
          <p:cNvSpPr/>
          <p:nvPr/>
        </p:nvSpPr>
        <p:spPr>
          <a:xfrm>
            <a:off x="6629400" y="2093976"/>
            <a:ext cx="658368" cy="658368"/>
          </a:xfrm>
          <a:prstGeom prst="ellipse">
            <a:avLst/>
          </a:prstGeom>
          <a:solidFill>
            <a:srgbClr val="3E7C8C"/>
          </a:solidFill>
          <a:ln/>
        </p:spPr>
      </p:sp>
      <p:sp>
        <p:nvSpPr>
          <p:cNvPr id="12" name="Text 10"/>
          <p:cNvSpPr txBox="1"/>
          <p:nvPr/>
        </p:nvSpPr>
        <p:spPr>
          <a:xfrm>
            <a:off x="6629400" y="209397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13" name="Text 11"/>
          <p:cNvSpPr txBox="1"/>
          <p:nvPr/>
        </p:nvSpPr>
        <p:spPr>
          <a:xfrm>
            <a:off x="7479792" y="2057400"/>
            <a:ext cx="3840480" cy="365760"/>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Parent Pat</a:t>
            </a:r>
            <a:endParaRPr lang="en-US" sz="1600" dirty="0"/>
          </a:p>
        </p:txBody>
      </p:sp>
      <p:sp>
        <p:nvSpPr>
          <p:cNvPr id="14" name="Text 12"/>
          <p:cNvSpPr txBox="1"/>
          <p:nvPr/>
        </p:nvSpPr>
        <p:spPr>
          <a:xfrm>
            <a:off x="7479792" y="2441448"/>
            <a:ext cx="3840480" cy="82296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Working parent of two. Relies on school and pediatrician screenings, unsure what to watch for in between.</a:t>
            </a:r>
            <a:endParaRPr lang="en-US" sz="1150" dirty="0"/>
          </a:p>
        </p:txBody>
      </p:sp>
      <p:sp>
        <p:nvSpPr>
          <p:cNvPr id="15" name="Text 13"/>
          <p:cNvSpPr txBox="1"/>
          <p:nvPr/>
        </p:nvSpPr>
        <p:spPr>
          <a:xfrm>
            <a:off x="7479792" y="3300984"/>
            <a:ext cx="3840480" cy="256032"/>
          </a:xfrm>
          <a:prstGeom prst="rect">
            <a:avLst/>
          </a:prstGeom>
          <a:noFill/>
          <a:ln/>
        </p:spPr>
        <p:txBody>
          <a:bodyPr wrap="square" lIns="0" tIns="0" rIns="0" bIns="0" rtlCol="0" anchor="ctr"/>
          <a:lstStyle/>
          <a:p>
            <a:pPr indent="0" marL="0">
              <a:buNone/>
            </a:pPr>
            <a:r>
              <a:rPr lang="en-US" sz="1050" b="1" spc="100" kern="0" dirty="0">
                <a:solidFill>
                  <a:srgbClr val="3E7C8C"/>
                </a:solidFill>
                <a:latin typeface="Calibri" pitchFamily="34" charset="0"/>
                <a:ea typeface="Calibri" pitchFamily="34" charset="-122"/>
                <a:cs typeface="Calibri" pitchFamily="34" charset="-120"/>
              </a:rPr>
              <a:t>1 virtual  ·  1 in person</a:t>
            </a:r>
            <a:endParaRPr lang="en-US" sz="1050" dirty="0"/>
          </a:p>
        </p:txBody>
      </p:sp>
      <p:sp>
        <p:nvSpPr>
          <p:cNvPr id="16" name="Shape 14"/>
          <p:cNvSpPr/>
          <p:nvPr/>
        </p:nvSpPr>
        <p:spPr>
          <a:xfrm>
            <a:off x="640080" y="4069080"/>
            <a:ext cx="5212080" cy="1965960"/>
          </a:xfrm>
          <a:prstGeom prst="roundRect">
            <a:avLst>
              <a:gd name="adj" fmla="val 3721"/>
            </a:avLst>
          </a:prstGeom>
          <a:solidFill>
            <a:srgbClr val="EDF2F2"/>
          </a:solidFill>
          <a:ln/>
        </p:spPr>
      </p:sp>
      <p:sp>
        <p:nvSpPr>
          <p:cNvPr id="17" name="Shape 15"/>
          <p:cNvSpPr/>
          <p:nvPr/>
        </p:nvSpPr>
        <p:spPr>
          <a:xfrm>
            <a:off x="932688" y="4379976"/>
            <a:ext cx="658368" cy="658368"/>
          </a:xfrm>
          <a:prstGeom prst="ellipse">
            <a:avLst/>
          </a:prstGeom>
          <a:solidFill>
            <a:srgbClr val="3E7C8C"/>
          </a:solidFill>
          <a:ln/>
        </p:spPr>
      </p:sp>
      <p:sp>
        <p:nvSpPr>
          <p:cNvPr id="18" name="Text 16"/>
          <p:cNvSpPr txBox="1"/>
          <p:nvPr/>
        </p:nvSpPr>
        <p:spPr>
          <a:xfrm>
            <a:off x="932688" y="437997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19" name="Text 17"/>
          <p:cNvSpPr txBox="1"/>
          <p:nvPr/>
        </p:nvSpPr>
        <p:spPr>
          <a:xfrm>
            <a:off x="1783080" y="4343400"/>
            <a:ext cx="3840480" cy="365760"/>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Anxious Applicant Alex</a:t>
            </a:r>
            <a:endParaRPr lang="en-US" sz="1600" dirty="0"/>
          </a:p>
        </p:txBody>
      </p:sp>
      <p:sp>
        <p:nvSpPr>
          <p:cNvPr id="20" name="Text 18"/>
          <p:cNvSpPr txBox="1"/>
          <p:nvPr/>
        </p:nvSpPr>
        <p:spPr>
          <a:xfrm>
            <a:off x="1783080" y="4727448"/>
            <a:ext cx="3840480" cy="82296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College student, first license. Parents both wear glasses; dreads failing the DMV screening in front of a full lobby.</a:t>
            </a:r>
            <a:endParaRPr lang="en-US" sz="1150" dirty="0"/>
          </a:p>
        </p:txBody>
      </p:sp>
      <p:sp>
        <p:nvSpPr>
          <p:cNvPr id="21" name="Text 19"/>
          <p:cNvSpPr txBox="1"/>
          <p:nvPr/>
        </p:nvSpPr>
        <p:spPr>
          <a:xfrm>
            <a:off x="1783080" y="5586984"/>
            <a:ext cx="3840480" cy="256032"/>
          </a:xfrm>
          <a:prstGeom prst="rect">
            <a:avLst/>
          </a:prstGeom>
          <a:noFill/>
          <a:ln/>
        </p:spPr>
        <p:txBody>
          <a:bodyPr wrap="square" lIns="0" tIns="0" rIns="0" bIns="0" rtlCol="0" anchor="ctr"/>
          <a:lstStyle/>
          <a:p>
            <a:pPr indent="0" marL="0">
              <a:buNone/>
            </a:pPr>
            <a:r>
              <a:rPr lang="en-US" sz="1050" b="1" spc="100" kern="0" dirty="0">
                <a:solidFill>
                  <a:srgbClr val="3E7C8C"/>
                </a:solidFill>
                <a:latin typeface="Calibri" pitchFamily="34" charset="0"/>
                <a:ea typeface="Calibri" pitchFamily="34" charset="-122"/>
                <a:cs typeface="Calibri" pitchFamily="34" charset="-120"/>
              </a:rPr>
              <a:t>1 virtual  ·  1 in person</a:t>
            </a:r>
            <a:endParaRPr lang="en-US" sz="1050" dirty="0"/>
          </a:p>
        </p:txBody>
      </p:sp>
      <p:sp>
        <p:nvSpPr>
          <p:cNvPr id="22" name="Shape 20"/>
          <p:cNvSpPr/>
          <p:nvPr/>
        </p:nvSpPr>
        <p:spPr>
          <a:xfrm>
            <a:off x="6336792" y="4069080"/>
            <a:ext cx="5212080" cy="1965960"/>
          </a:xfrm>
          <a:prstGeom prst="roundRect">
            <a:avLst>
              <a:gd name="adj" fmla="val 3721"/>
            </a:avLst>
          </a:prstGeom>
          <a:solidFill>
            <a:srgbClr val="EDF2F2"/>
          </a:solidFill>
          <a:ln/>
        </p:spPr>
      </p:sp>
      <p:sp>
        <p:nvSpPr>
          <p:cNvPr id="23" name="Shape 21"/>
          <p:cNvSpPr/>
          <p:nvPr/>
        </p:nvSpPr>
        <p:spPr>
          <a:xfrm>
            <a:off x="6629400" y="4379976"/>
            <a:ext cx="658368" cy="658368"/>
          </a:xfrm>
          <a:prstGeom prst="ellipse">
            <a:avLst/>
          </a:prstGeom>
          <a:solidFill>
            <a:srgbClr val="E4572E"/>
          </a:solidFill>
          <a:ln/>
        </p:spPr>
      </p:sp>
      <p:sp>
        <p:nvSpPr>
          <p:cNvPr id="24" name="Text 22"/>
          <p:cNvSpPr txBox="1"/>
          <p:nvPr/>
        </p:nvSpPr>
        <p:spPr>
          <a:xfrm>
            <a:off x="6629400" y="437997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a:t>
            </a:r>
            <a:endParaRPr lang="en-US" sz="1800" dirty="0"/>
          </a:p>
        </p:txBody>
      </p:sp>
      <p:sp>
        <p:nvSpPr>
          <p:cNvPr id="25" name="Text 23"/>
          <p:cNvSpPr txBox="1"/>
          <p:nvPr/>
        </p:nvSpPr>
        <p:spPr>
          <a:xfrm>
            <a:off x="7479792" y="4343400"/>
            <a:ext cx="3840480" cy="365760"/>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Licensing Supervisor Lisa</a:t>
            </a:r>
            <a:endParaRPr lang="en-US" sz="1600" dirty="0"/>
          </a:p>
        </p:txBody>
      </p:sp>
      <p:sp>
        <p:nvSpPr>
          <p:cNvPr id="26" name="Text 24"/>
          <p:cNvSpPr txBox="1"/>
          <p:nvPr/>
        </p:nvSpPr>
        <p:spPr>
          <a:xfrm>
            <a:off x="7479792" y="4727448"/>
            <a:ext cx="3840480" cy="82296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Runs a state driver-licensing floor. Owns vision screening for every new license and renewal — 350–450 transactions a day.</a:t>
            </a:r>
            <a:endParaRPr lang="en-US" sz="1150" dirty="0"/>
          </a:p>
        </p:txBody>
      </p:sp>
      <p:sp>
        <p:nvSpPr>
          <p:cNvPr id="27" name="Text 25"/>
          <p:cNvSpPr txBox="1"/>
          <p:nvPr/>
        </p:nvSpPr>
        <p:spPr>
          <a:xfrm>
            <a:off x="7479792" y="5586984"/>
            <a:ext cx="3840480" cy="256032"/>
          </a:xfrm>
          <a:prstGeom prst="rect">
            <a:avLst/>
          </a:prstGeom>
          <a:noFill/>
          <a:ln/>
        </p:spPr>
        <p:txBody>
          <a:bodyPr wrap="square" lIns="0" tIns="0" rIns="0" bIns="0" rtlCol="0" anchor="ctr"/>
          <a:lstStyle/>
          <a:p>
            <a:pPr indent="0" marL="0">
              <a:buNone/>
            </a:pPr>
            <a:r>
              <a:rPr lang="en-US" sz="1050" b="1" spc="100" kern="0" dirty="0">
                <a:solidFill>
                  <a:srgbClr val="E4572E"/>
                </a:solidFill>
                <a:latin typeface="Calibri" pitchFamily="34" charset="0"/>
                <a:ea typeface="Calibri" pitchFamily="34" charset="-122"/>
                <a:cs typeface="Calibri" pitchFamily="34" charset="-120"/>
              </a:rPr>
              <a:t>2 virtual  ·  0 in person</a:t>
            </a:r>
            <a:endParaRPr lang="en-US" sz="1050" dirty="0"/>
          </a:p>
        </p:txBody>
      </p:sp>
      <p:sp>
        <p:nvSpPr>
          <p:cNvPr id="28" name="Text 26"/>
          <p:cNvSpPr txBox="1"/>
          <p:nvPr/>
        </p:nvSpPr>
        <p:spPr>
          <a:xfrm>
            <a:off x="640080" y="6172200"/>
            <a:ext cx="10881360" cy="292608"/>
          </a:xfrm>
          <a:prstGeom prst="rect">
            <a:avLst/>
          </a:prstGeom>
          <a:noFill/>
          <a:ln/>
        </p:spPr>
        <p:txBody>
          <a:bodyPr wrap="square" lIns="0" tIns="0" rIns="0" bIns="0" rtlCol="0" anchor="ctr"/>
          <a:lstStyle/>
          <a:p>
            <a:pPr indent="0" marL="0">
              <a:buNone/>
            </a:pPr>
            <a:r>
              <a:rPr lang="en-US" sz="1200" i="1" dirty="0">
                <a:solidFill>
                  <a:srgbClr val="E4572E"/>
                </a:solidFill>
                <a:latin typeface="Calibri" pitchFamily="34" charset="0"/>
                <a:ea typeface="Calibri" pitchFamily="34" charset="-122"/>
                <a:cs typeface="Calibri" pitchFamily="34" charset="-120"/>
              </a:rPr>
              <a:t>Lisa is the gap: the only persona we could not reach in person.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E4572E"/>
                </a:solidFill>
                <a:latin typeface="Calibri" pitchFamily="34" charset="0"/>
                <a:ea typeface="Calibri" pitchFamily="34" charset="-122"/>
                <a:cs typeface="Calibri" pitchFamily="34" charset="-120"/>
              </a:rPr>
              <a:t>PAIN-POINT HYPOTHESES</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0C2A33"/>
                </a:solidFill>
                <a:latin typeface="Cambria" pitchFamily="34" charset="0"/>
                <a:ea typeface="Cambria" pitchFamily="34" charset="-122"/>
                <a:cs typeface="Cambria" pitchFamily="34" charset="-120"/>
              </a:rPr>
              <a:t>What we believed going in</a:t>
            </a:r>
            <a:endParaRPr lang="en-US" sz="3400" dirty="0"/>
          </a:p>
        </p:txBody>
      </p:sp>
      <p:sp>
        <p:nvSpPr>
          <p:cNvPr id="4" name="Shape 2"/>
          <p:cNvSpPr/>
          <p:nvPr/>
        </p:nvSpPr>
        <p:spPr>
          <a:xfrm>
            <a:off x="640080" y="1737360"/>
            <a:ext cx="548640" cy="548640"/>
          </a:xfrm>
          <a:prstGeom prst="ellipse">
            <a:avLst/>
          </a:prstGeom>
          <a:solidFill>
            <a:srgbClr val="3E7C8C"/>
          </a:solidFill>
          <a:ln/>
        </p:spPr>
      </p:sp>
      <p:sp>
        <p:nvSpPr>
          <p:cNvPr id="5" name="Text 3"/>
          <p:cNvSpPr txBox="1"/>
          <p:nvPr/>
        </p:nvSpPr>
        <p:spPr>
          <a:xfrm>
            <a:off x="6400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700784"/>
            <a:ext cx="6766560" cy="347472"/>
          </a:xfrm>
          <a:prstGeom prst="rect">
            <a:avLst/>
          </a:prstGeom>
          <a:noFill/>
          <a:ln/>
        </p:spPr>
        <p:txBody>
          <a:bodyPr wrap="square" lIns="0" tIns="0" rIns="0" bIns="0" rtlCol="0" anchor="ctr"/>
          <a:lstStyle/>
          <a:p>
            <a:pPr indent="0" marL="0">
              <a:buNone/>
            </a:pPr>
            <a:r>
              <a:rPr lang="en-US" sz="1700" b="1" dirty="0">
                <a:solidFill>
                  <a:srgbClr val="0C2A33"/>
                </a:solidFill>
                <a:latin typeface="Cambria" pitchFamily="34" charset="0"/>
                <a:ea typeface="Cambria" pitchFamily="34" charset="-122"/>
                <a:cs typeface="Cambria" pitchFamily="34" charset="-120"/>
              </a:rPr>
              <a:t>Booking an exam costs more than it's worth</a:t>
            </a:r>
            <a:endParaRPr lang="en-US" sz="1700" dirty="0"/>
          </a:p>
        </p:txBody>
      </p:sp>
      <p:sp>
        <p:nvSpPr>
          <p:cNvPr id="7" name="Text 5"/>
          <p:cNvSpPr txBox="1"/>
          <p:nvPr/>
        </p:nvSpPr>
        <p:spPr>
          <a:xfrm>
            <a:off x="1417320" y="2048256"/>
            <a:ext cx="67665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Finding a provider, checking insurance, waiting weeks, losing half a workday — the friction stacks up until people stop trying.</a:t>
            </a:r>
            <a:endParaRPr lang="en-US" sz="1200" dirty="0"/>
          </a:p>
        </p:txBody>
      </p:sp>
      <p:sp>
        <p:nvSpPr>
          <p:cNvPr id="8" name="Shape 6"/>
          <p:cNvSpPr/>
          <p:nvPr/>
        </p:nvSpPr>
        <p:spPr>
          <a:xfrm>
            <a:off x="640080" y="2852928"/>
            <a:ext cx="548640" cy="548640"/>
          </a:xfrm>
          <a:prstGeom prst="ellipse">
            <a:avLst/>
          </a:prstGeom>
          <a:solidFill>
            <a:srgbClr val="3E7C8C"/>
          </a:solidFill>
          <a:ln/>
        </p:spPr>
      </p:sp>
      <p:sp>
        <p:nvSpPr>
          <p:cNvPr id="9" name="Text 7"/>
          <p:cNvSpPr txBox="1"/>
          <p:nvPr/>
        </p:nvSpPr>
        <p:spPr>
          <a:xfrm>
            <a:off x="640080" y="28529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16352"/>
            <a:ext cx="6766560" cy="347472"/>
          </a:xfrm>
          <a:prstGeom prst="rect">
            <a:avLst/>
          </a:prstGeom>
          <a:noFill/>
          <a:ln/>
        </p:spPr>
        <p:txBody>
          <a:bodyPr wrap="square" lIns="0" tIns="0" rIns="0" bIns="0" rtlCol="0" anchor="ctr"/>
          <a:lstStyle/>
          <a:p>
            <a:pPr indent="0" marL="0">
              <a:buNone/>
            </a:pPr>
            <a:r>
              <a:rPr lang="en-US" sz="1700" b="1" dirty="0">
                <a:solidFill>
                  <a:srgbClr val="0C2A33"/>
                </a:solidFill>
                <a:latin typeface="Cambria" pitchFamily="34" charset="0"/>
                <a:ea typeface="Cambria" pitchFamily="34" charset="-122"/>
                <a:cs typeface="Cambria" pitchFamily="34" charset="-120"/>
              </a:rPr>
              <a:t>People can't tell when their vision changes</a:t>
            </a:r>
            <a:endParaRPr lang="en-US" sz="1700" dirty="0"/>
          </a:p>
        </p:txBody>
      </p:sp>
      <p:sp>
        <p:nvSpPr>
          <p:cNvPr id="11" name="Text 9"/>
          <p:cNvSpPr txBox="1"/>
          <p:nvPr/>
        </p:nvSpPr>
        <p:spPr>
          <a:xfrm>
            <a:off x="1417320" y="3163824"/>
            <a:ext cx="67665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No baseline and no record, so they go by feel and wait for something to force the issue.</a:t>
            </a:r>
            <a:endParaRPr lang="en-US" sz="1200" dirty="0"/>
          </a:p>
        </p:txBody>
      </p:sp>
      <p:sp>
        <p:nvSpPr>
          <p:cNvPr id="12" name="Shape 10"/>
          <p:cNvSpPr/>
          <p:nvPr/>
        </p:nvSpPr>
        <p:spPr>
          <a:xfrm>
            <a:off x="640080" y="3968496"/>
            <a:ext cx="548640" cy="548640"/>
          </a:xfrm>
          <a:prstGeom prst="ellipse">
            <a:avLst/>
          </a:prstGeom>
          <a:solidFill>
            <a:srgbClr val="3E7C8C"/>
          </a:solidFill>
          <a:ln/>
        </p:spPr>
      </p:sp>
      <p:sp>
        <p:nvSpPr>
          <p:cNvPr id="13" name="Text 11"/>
          <p:cNvSpPr txBox="1"/>
          <p:nvPr/>
        </p:nvSpPr>
        <p:spPr>
          <a:xfrm>
            <a:off x="640080" y="396849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417320" y="3931920"/>
            <a:ext cx="6766560" cy="347472"/>
          </a:xfrm>
          <a:prstGeom prst="rect">
            <a:avLst/>
          </a:prstGeom>
          <a:noFill/>
          <a:ln/>
        </p:spPr>
        <p:txBody>
          <a:bodyPr wrap="square" lIns="0" tIns="0" rIns="0" bIns="0" rtlCol="0" anchor="ctr"/>
          <a:lstStyle/>
          <a:p>
            <a:pPr indent="0" marL="0">
              <a:buNone/>
            </a:pPr>
            <a:r>
              <a:rPr lang="en-US" sz="1700" b="1" dirty="0">
                <a:solidFill>
                  <a:srgbClr val="0C2A33"/>
                </a:solidFill>
                <a:latin typeface="Cambria" pitchFamily="34" charset="0"/>
                <a:ea typeface="Cambria" pitchFamily="34" charset="-122"/>
                <a:cs typeface="Cambria" pitchFamily="34" charset="-120"/>
              </a:rPr>
              <a:t>Online vision tests aren't trusted enough to act on</a:t>
            </a:r>
            <a:endParaRPr lang="en-US" sz="1700" dirty="0"/>
          </a:p>
        </p:txBody>
      </p:sp>
      <p:sp>
        <p:nvSpPr>
          <p:cNvPr id="15" name="Text 13"/>
          <p:cNvSpPr txBox="1"/>
          <p:nvPr/>
        </p:nvSpPr>
        <p:spPr>
          <a:xfrm>
            <a:off x="1417320" y="4279392"/>
            <a:ext cx="67665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Unknown source, unverifiable conditions, and a number with no next step attached.</a:t>
            </a:r>
            <a:endParaRPr lang="en-US" sz="1200" dirty="0"/>
          </a:p>
        </p:txBody>
      </p:sp>
      <p:sp>
        <p:nvSpPr>
          <p:cNvPr id="16" name="Shape 14"/>
          <p:cNvSpPr/>
          <p:nvPr/>
        </p:nvSpPr>
        <p:spPr>
          <a:xfrm>
            <a:off x="640080" y="5084064"/>
            <a:ext cx="548640" cy="548640"/>
          </a:xfrm>
          <a:prstGeom prst="ellipse">
            <a:avLst/>
          </a:prstGeom>
          <a:solidFill>
            <a:srgbClr val="E4572E"/>
          </a:solidFill>
          <a:ln/>
        </p:spPr>
      </p:sp>
      <p:sp>
        <p:nvSpPr>
          <p:cNvPr id="17" name="Text 15"/>
          <p:cNvSpPr txBox="1"/>
          <p:nvPr/>
        </p:nvSpPr>
        <p:spPr>
          <a:xfrm>
            <a:off x="640080" y="508406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417320" y="5047488"/>
            <a:ext cx="6766560" cy="347472"/>
          </a:xfrm>
          <a:prstGeom prst="rect">
            <a:avLst/>
          </a:prstGeom>
          <a:noFill/>
          <a:ln/>
        </p:spPr>
        <p:txBody>
          <a:bodyPr wrap="square" lIns="0" tIns="0" rIns="0" bIns="0" rtlCol="0" anchor="ctr"/>
          <a:lstStyle/>
          <a:p>
            <a:pPr indent="0" marL="0">
              <a:buNone/>
            </a:pPr>
            <a:r>
              <a:rPr lang="en-US" sz="1700" b="1" dirty="0">
                <a:solidFill>
                  <a:srgbClr val="0C2A33"/>
                </a:solidFill>
                <a:latin typeface="Cambria" pitchFamily="34" charset="0"/>
                <a:ea typeface="Cambria" pitchFamily="34" charset="-122"/>
                <a:cs typeface="Cambria" pitchFamily="34" charset="-120"/>
              </a:rPr>
              <a:t>Licensing screening is slow, inconsistent and paper-bound</a:t>
            </a:r>
            <a:endParaRPr lang="en-US" sz="1700" dirty="0"/>
          </a:p>
        </p:txBody>
      </p:sp>
      <p:sp>
        <p:nvSpPr>
          <p:cNvPr id="19" name="Text 17"/>
          <p:cNvSpPr txBox="1"/>
          <p:nvPr/>
        </p:nvSpPr>
        <p:spPr>
          <a:xfrm>
            <a:off x="1417320" y="5394960"/>
            <a:ext cx="67665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Aging units, untrained clerks and signed paper forms that get lost in the mail.</a:t>
            </a:r>
            <a:endParaRPr lang="en-US" sz="1200" dirty="0"/>
          </a:p>
        </p:txBody>
      </p:sp>
      <p:sp>
        <p:nvSpPr>
          <p:cNvPr id="20" name="Shape 18"/>
          <p:cNvSpPr/>
          <p:nvPr/>
        </p:nvSpPr>
        <p:spPr>
          <a:xfrm>
            <a:off x="8549640" y="1737360"/>
            <a:ext cx="2999232" cy="4206240"/>
          </a:xfrm>
          <a:prstGeom prst="roundRect">
            <a:avLst>
              <a:gd name="adj" fmla="val 2439"/>
            </a:avLst>
          </a:prstGeom>
          <a:solidFill>
            <a:srgbClr val="EDF2F2"/>
          </a:solidFill>
          <a:ln/>
        </p:spPr>
      </p:sp>
      <p:sp>
        <p:nvSpPr>
          <p:cNvPr id="21" name="Shape 19"/>
          <p:cNvSpPr/>
          <p:nvPr/>
        </p:nvSpPr>
        <p:spPr>
          <a:xfrm>
            <a:off x="8860536" y="2048256"/>
            <a:ext cx="566928" cy="566928"/>
          </a:xfrm>
          <a:prstGeom prst="ellipse">
            <a:avLst/>
          </a:prstGeom>
          <a:solidFill>
            <a:srgbClr val="FFFFFF">
              <a:alpha val="0"/>
            </a:srgbClr>
          </a:solidFill>
          <a:ln w="25400">
            <a:solidFill>
              <a:srgbClr val="3E7C8C"/>
            </a:solidFill>
            <a:prstDash val="solid"/>
          </a:ln>
        </p:spPr>
      </p:sp>
      <p:sp>
        <p:nvSpPr>
          <p:cNvPr id="22" name="Shape 20"/>
          <p:cNvSpPr/>
          <p:nvPr/>
        </p:nvSpPr>
        <p:spPr>
          <a:xfrm>
            <a:off x="9034272" y="2221992"/>
            <a:ext cx="219456" cy="219456"/>
          </a:xfrm>
          <a:prstGeom prst="ellipse">
            <a:avLst/>
          </a:prstGeom>
          <a:solidFill>
            <a:srgbClr val="E4572E"/>
          </a:solidFill>
          <a:ln/>
        </p:spPr>
      </p:sp>
      <p:sp>
        <p:nvSpPr>
          <p:cNvPr id="23" name="Text 21"/>
          <p:cNvSpPr txBox="1"/>
          <p:nvPr/>
        </p:nvSpPr>
        <p:spPr>
          <a:xfrm>
            <a:off x="8869680" y="2880360"/>
            <a:ext cx="2377440" cy="237744"/>
          </a:xfrm>
          <a:prstGeom prst="rect">
            <a:avLst/>
          </a:prstGeom>
          <a:noFill/>
          <a:ln/>
        </p:spPr>
        <p:txBody>
          <a:bodyPr wrap="square" lIns="0" tIns="0" rIns="0" bIns="0" rtlCol="0" anchor="ctr"/>
          <a:lstStyle/>
          <a:p>
            <a:pPr indent="0" marL="0">
              <a:buNone/>
            </a:pPr>
            <a:r>
              <a:rPr lang="en-US" sz="1000" b="1" spc="200" kern="0" dirty="0">
                <a:solidFill>
                  <a:srgbClr val="56686D"/>
                </a:solidFill>
                <a:latin typeface="Calibri" pitchFamily="34" charset="0"/>
                <a:ea typeface="Calibri" pitchFamily="34" charset="-122"/>
                <a:cs typeface="Calibri" pitchFamily="34" charset="-120"/>
              </a:rPr>
              <a:t>THE JOB TO BE DONE</a:t>
            </a:r>
            <a:endParaRPr lang="en-US" sz="1000" dirty="0"/>
          </a:p>
        </p:txBody>
      </p:sp>
      <p:sp>
        <p:nvSpPr>
          <p:cNvPr id="24" name="Text 22"/>
          <p:cNvSpPr txBox="1"/>
          <p:nvPr/>
        </p:nvSpPr>
        <p:spPr>
          <a:xfrm>
            <a:off x="8869680" y="3200400"/>
            <a:ext cx="2377440" cy="1371600"/>
          </a:xfrm>
          <a:prstGeom prst="rect">
            <a:avLst/>
          </a:prstGeom>
          <a:noFill/>
          <a:ln/>
        </p:spPr>
        <p:txBody>
          <a:bodyPr wrap="square" lIns="0" tIns="0" rIns="0" bIns="0" rtlCol="0" anchor="t"/>
          <a:lstStyle/>
          <a:p>
            <a:pPr indent="0" marL="0">
              <a:lnSpc>
                <a:spcPts val="2000"/>
              </a:lnSpc>
              <a:buNone/>
            </a:pPr>
            <a:r>
              <a:rPr lang="en-US" sz="1500" i="1" dirty="0">
                <a:solidFill>
                  <a:srgbClr val="0C2A33"/>
                </a:solidFill>
                <a:latin typeface="Cambria" pitchFamily="34" charset="0"/>
                <a:ea typeface="Cambria" pitchFamily="34" charset="-122"/>
                <a:cs typeface="Cambria" pitchFamily="34" charset="-120"/>
              </a:rPr>
              <a:t>“Know whether my vision has changed — and whether I actually need to see an eye doctor.”</a:t>
            </a:r>
            <a:endParaRPr lang="en-US" sz="1500" dirty="0"/>
          </a:p>
        </p:txBody>
      </p:sp>
      <p:sp>
        <p:nvSpPr>
          <p:cNvPr id="25" name="Text 23"/>
          <p:cNvSpPr txBox="1"/>
          <p:nvPr/>
        </p:nvSpPr>
        <p:spPr>
          <a:xfrm>
            <a:off x="8869680" y="4754880"/>
            <a:ext cx="2377440" cy="914400"/>
          </a:xfrm>
          <a:prstGeom prst="rect">
            <a:avLst/>
          </a:prstGeom>
          <a:noFill/>
          <a:ln/>
        </p:spPr>
        <p:txBody>
          <a:bodyPr wrap="square" lIns="0" tIns="0" rIns="0" bIns="0" rtlCol="0" anchor="t"/>
          <a:lstStyle/>
          <a:p>
            <a:pPr indent="0" marL="0">
              <a:lnSpc>
                <a:spcPts val="1500"/>
              </a:lnSpc>
              <a:buNone/>
            </a:pPr>
            <a:r>
              <a:rPr lang="en-US" sz="1100" dirty="0">
                <a:solidFill>
                  <a:srgbClr val="56686D"/>
                </a:solidFill>
                <a:latin typeface="Calibri" pitchFamily="34" charset="0"/>
                <a:ea typeface="Calibri" pitchFamily="34" charset="-122"/>
                <a:cs typeface="Calibri" pitchFamily="34" charset="-120"/>
              </a:rPr>
              <a:t>The same job drives the licensing office — it just has to prove the answer.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E4572E"/>
                </a:solidFill>
                <a:latin typeface="Calibri" pitchFamily="34" charset="0"/>
                <a:ea typeface="Calibri" pitchFamily="34" charset="-122"/>
                <a:cs typeface="Calibri" pitchFamily="34" charset="-120"/>
              </a:rPr>
              <a:t>SURPRISES · VIRTUAL</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0C2A33"/>
                </a:solidFill>
                <a:latin typeface="Cambria" pitchFamily="34" charset="0"/>
                <a:ea typeface="Cambria" pitchFamily="34" charset="-122"/>
                <a:cs typeface="Cambria" pitchFamily="34" charset="-120"/>
              </a:rPr>
              <a:t>The virtual interviews moved the problem</a:t>
            </a:r>
            <a:endParaRPr lang="en-US" sz="3400" dirty="0"/>
          </a:p>
        </p:txBody>
      </p:sp>
      <p:sp>
        <p:nvSpPr>
          <p:cNvPr id="4" name="Shape 2"/>
          <p:cNvSpPr/>
          <p:nvPr/>
        </p:nvSpPr>
        <p:spPr>
          <a:xfrm>
            <a:off x="640080" y="1691640"/>
            <a:ext cx="3200400" cy="1783080"/>
          </a:xfrm>
          <a:prstGeom prst="roundRect">
            <a:avLst>
              <a:gd name="adj" fmla="val 4103"/>
            </a:avLst>
          </a:prstGeom>
          <a:solidFill>
            <a:srgbClr val="EDF2F2"/>
          </a:solidFill>
          <a:ln/>
        </p:spPr>
      </p:sp>
      <p:sp>
        <p:nvSpPr>
          <p:cNvPr id="5" name="Text 3"/>
          <p:cNvSpPr txBox="1"/>
          <p:nvPr/>
        </p:nvSpPr>
        <p:spPr>
          <a:xfrm>
            <a:off x="868680" y="1892808"/>
            <a:ext cx="2743200" cy="77724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~1 min</a:t>
            </a:r>
            <a:endParaRPr lang="en-US" sz="4400" dirty="0"/>
          </a:p>
        </p:txBody>
      </p:sp>
      <p:sp>
        <p:nvSpPr>
          <p:cNvPr id="6" name="Text 4"/>
          <p:cNvSpPr txBox="1"/>
          <p:nvPr/>
        </p:nvSpPr>
        <p:spPr>
          <a:xfrm>
            <a:off x="868680" y="2679192"/>
            <a:ext cx="2743200" cy="685800"/>
          </a:xfrm>
          <a:prstGeom prst="rect">
            <a:avLst/>
          </a:prstGeom>
          <a:noFill/>
          <a:ln/>
        </p:spPr>
        <p:txBody>
          <a:bodyPr wrap="square" lIns="0" tIns="0" rIns="0" bIns="0" rtlCol="0" anchor="ctr"/>
          <a:lstStyle/>
          <a:p>
            <a:pPr indent="0" marL="0">
              <a:lnSpc>
                <a:spcPts val="1400"/>
              </a:lnSpc>
              <a:buNone/>
            </a:pPr>
            <a:r>
              <a:rPr lang="en-US" sz="1100" dirty="0">
                <a:solidFill>
                  <a:srgbClr val="56686D"/>
                </a:solidFill>
                <a:latin typeface="Calibri" pitchFamily="34" charset="0"/>
                <a:ea typeface="Calibri" pitchFamily="34" charset="-122"/>
                <a:cs typeface="Calibri" pitchFamily="34" charset="-120"/>
              </a:rPr>
              <a:t>the actual vision screening at the counter — it is not what makes the line long</a:t>
            </a:r>
            <a:endParaRPr lang="en-US" sz="1100" dirty="0"/>
          </a:p>
        </p:txBody>
      </p:sp>
      <p:sp>
        <p:nvSpPr>
          <p:cNvPr id="7" name="Shape 5"/>
          <p:cNvSpPr/>
          <p:nvPr/>
        </p:nvSpPr>
        <p:spPr>
          <a:xfrm>
            <a:off x="640080" y="3703320"/>
            <a:ext cx="3200400" cy="1783080"/>
          </a:xfrm>
          <a:prstGeom prst="roundRect">
            <a:avLst>
              <a:gd name="adj" fmla="val 4103"/>
            </a:avLst>
          </a:prstGeom>
          <a:solidFill>
            <a:srgbClr val="EDF2F2"/>
          </a:solidFill>
          <a:ln/>
        </p:spPr>
      </p:sp>
      <p:sp>
        <p:nvSpPr>
          <p:cNvPr id="8" name="Text 6"/>
          <p:cNvSpPr txBox="1"/>
          <p:nvPr/>
        </p:nvSpPr>
        <p:spPr>
          <a:xfrm>
            <a:off x="868680" y="3904488"/>
            <a:ext cx="2743200" cy="77724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2×</a:t>
            </a:r>
            <a:endParaRPr lang="en-US" sz="4400" dirty="0"/>
          </a:p>
        </p:txBody>
      </p:sp>
      <p:sp>
        <p:nvSpPr>
          <p:cNvPr id="9" name="Text 7"/>
          <p:cNvSpPr txBox="1"/>
          <p:nvPr/>
        </p:nvSpPr>
        <p:spPr>
          <a:xfrm>
            <a:off x="868680" y="4690872"/>
            <a:ext cx="2743200" cy="685800"/>
          </a:xfrm>
          <a:prstGeom prst="rect">
            <a:avLst/>
          </a:prstGeom>
          <a:noFill/>
          <a:ln/>
        </p:spPr>
        <p:txBody>
          <a:bodyPr wrap="square" lIns="0" tIns="0" rIns="0" bIns="0" rtlCol="0" anchor="ctr"/>
          <a:lstStyle/>
          <a:p>
            <a:pPr indent="0" marL="0">
              <a:lnSpc>
                <a:spcPts val="1400"/>
              </a:lnSpc>
              <a:buNone/>
            </a:pPr>
            <a:r>
              <a:rPr lang="en-US" sz="1100" dirty="0">
                <a:solidFill>
                  <a:srgbClr val="56686D"/>
                </a:solidFill>
                <a:latin typeface="Calibri" pitchFamily="34" charset="0"/>
                <a:ea typeface="Calibri" pitchFamily="34" charset="-122"/>
                <a:cs typeface="Calibri" pitchFamily="34" charset="-120"/>
              </a:rPr>
              <a:t>transactions burned by a single failed screening, plus an angry lobby</a:t>
            </a:r>
            <a:endParaRPr lang="en-US" sz="1100" dirty="0"/>
          </a:p>
        </p:txBody>
      </p:sp>
      <p:sp>
        <p:nvSpPr>
          <p:cNvPr id="10" name="Shape 8"/>
          <p:cNvSpPr/>
          <p:nvPr/>
        </p:nvSpPr>
        <p:spPr>
          <a:xfrm>
            <a:off x="4160520" y="1773936"/>
            <a:ext cx="182880" cy="182880"/>
          </a:xfrm>
          <a:prstGeom prst="ellipse">
            <a:avLst/>
          </a:prstGeom>
          <a:solidFill>
            <a:srgbClr val="E4572E"/>
          </a:solidFill>
          <a:ln/>
        </p:spPr>
      </p:sp>
      <p:sp>
        <p:nvSpPr>
          <p:cNvPr id="11" name="Text 9"/>
          <p:cNvSpPr txBox="1"/>
          <p:nvPr/>
        </p:nvSpPr>
        <p:spPr>
          <a:xfrm>
            <a:off x="4526280" y="1691640"/>
            <a:ext cx="6995160" cy="347472"/>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The bottleneck is the failure path, not the test</a:t>
            </a:r>
            <a:endParaRPr lang="en-US" sz="1600" dirty="0"/>
          </a:p>
        </p:txBody>
      </p:sp>
      <p:sp>
        <p:nvSpPr>
          <p:cNvPr id="12" name="Text 10"/>
          <p:cNvSpPr txBox="1"/>
          <p:nvPr/>
        </p:nvSpPr>
        <p:spPr>
          <a:xfrm>
            <a:off x="4526280" y="2039112"/>
            <a:ext cx="69951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Document verification drives the wait. A failed screening collapses the transaction and buys a second trip weeks later.</a:t>
            </a:r>
            <a:endParaRPr lang="en-US" sz="1200" dirty="0"/>
          </a:p>
        </p:txBody>
      </p:sp>
      <p:sp>
        <p:nvSpPr>
          <p:cNvPr id="13" name="Shape 11"/>
          <p:cNvSpPr/>
          <p:nvPr/>
        </p:nvSpPr>
        <p:spPr>
          <a:xfrm>
            <a:off x="4160520" y="2990088"/>
            <a:ext cx="182880" cy="182880"/>
          </a:xfrm>
          <a:prstGeom prst="ellipse">
            <a:avLst/>
          </a:prstGeom>
          <a:solidFill>
            <a:srgbClr val="E4572E"/>
          </a:solidFill>
          <a:ln/>
        </p:spPr>
      </p:sp>
      <p:sp>
        <p:nvSpPr>
          <p:cNvPr id="14" name="Text 12"/>
          <p:cNvSpPr txBox="1"/>
          <p:nvPr/>
        </p:nvSpPr>
        <p:spPr>
          <a:xfrm>
            <a:off x="4526280" y="2907792"/>
            <a:ext cx="6995160" cy="347472"/>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Accuracy alone buys nothing</a:t>
            </a:r>
            <a:endParaRPr lang="en-US" sz="1600" dirty="0"/>
          </a:p>
        </p:txBody>
      </p:sp>
      <p:sp>
        <p:nvSpPr>
          <p:cNvPr id="15" name="Text 13"/>
          <p:cNvSpPr txBox="1"/>
          <p:nvPr/>
        </p:nvSpPr>
        <p:spPr>
          <a:xfrm>
            <a:off x="4526280" y="3255264"/>
            <a:ext cx="69951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Agencies need a defensible chain: who took it, when, under what conditions, and who is accountable for the result.</a:t>
            </a:r>
            <a:endParaRPr lang="en-US" sz="1200" dirty="0"/>
          </a:p>
        </p:txBody>
      </p:sp>
      <p:sp>
        <p:nvSpPr>
          <p:cNvPr id="16" name="Shape 14"/>
          <p:cNvSpPr/>
          <p:nvPr/>
        </p:nvSpPr>
        <p:spPr>
          <a:xfrm>
            <a:off x="4160520" y="4206240"/>
            <a:ext cx="182880" cy="182880"/>
          </a:xfrm>
          <a:prstGeom prst="ellipse">
            <a:avLst/>
          </a:prstGeom>
          <a:solidFill>
            <a:srgbClr val="E4572E"/>
          </a:solidFill>
          <a:ln/>
        </p:spPr>
      </p:sp>
      <p:sp>
        <p:nvSpPr>
          <p:cNvPr id="17" name="Text 15"/>
          <p:cNvSpPr txBox="1"/>
          <p:nvPr/>
        </p:nvSpPr>
        <p:spPr>
          <a:xfrm>
            <a:off x="4526280" y="4123944"/>
            <a:ext cx="6995160" cy="347472"/>
          </a:xfrm>
          <a:prstGeom prst="rect">
            <a:avLst/>
          </a:prstGeom>
          <a:noFill/>
          <a:ln/>
        </p:spPr>
        <p:txBody>
          <a:bodyPr wrap="square" lIns="0" tIns="0" rIns="0" bIns="0" rtlCol="0" anchor="ctr"/>
          <a:lstStyle/>
          <a:p>
            <a:pPr indent="0" marL="0">
              <a:buNone/>
            </a:pPr>
            <a:r>
              <a:rPr lang="en-US" sz="1600" b="1" dirty="0">
                <a:solidFill>
                  <a:srgbClr val="0C2A33"/>
                </a:solidFill>
                <a:latin typeface="Cambria" pitchFamily="34" charset="0"/>
                <a:ea typeface="Cambria" pitchFamily="34" charset="-122"/>
                <a:cs typeface="Cambria" pitchFamily="34" charset="-120"/>
              </a:rPr>
              <a:t>More frequent screening could make it worse</a:t>
            </a:r>
            <a:endParaRPr lang="en-US" sz="1600" dirty="0"/>
          </a:p>
        </p:txBody>
      </p:sp>
      <p:sp>
        <p:nvSpPr>
          <p:cNvPr id="18" name="Text 16"/>
          <p:cNvSpPr txBox="1"/>
          <p:nvPr/>
        </p:nvSpPr>
        <p:spPr>
          <a:xfrm>
            <a:off x="4526280" y="4471416"/>
            <a:ext cx="6995160" cy="658368"/>
          </a:xfrm>
          <a:prstGeom prst="rect">
            <a:avLst/>
          </a:prstGeom>
          <a:noFill/>
          <a:ln/>
        </p:spPr>
        <p:txBody>
          <a:bodyPr wrap="square" lIns="0" tIns="0" rIns="0" bIns="0" rtlCol="0" anchor="t"/>
          <a:lstStyle/>
          <a:p>
            <a:pPr indent="0" marL="0">
              <a:lnSpc>
                <a:spcPts val="1600"/>
              </a:lnSpc>
              <a:buNone/>
            </a:pPr>
            <a:r>
              <a:rPr lang="en-US" sz="1200" dirty="0">
                <a:solidFill>
                  <a:srgbClr val="56686D"/>
                </a:solidFill>
                <a:latin typeface="Calibri" pitchFamily="34" charset="0"/>
                <a:ea typeface="Calibri" pitchFamily="34" charset="-122"/>
                <a:cs typeface="Calibri" pitchFamily="34" charset="-120"/>
              </a:rPr>
              <a:t>Running a crude test four times as often multiplies false failures — and every false fail costs a citizen a day and $100.</a:t>
            </a:r>
            <a:endParaRPr lang="en-US" sz="1200" dirty="0"/>
          </a:p>
        </p:txBody>
      </p:sp>
      <p:sp>
        <p:nvSpPr>
          <p:cNvPr id="19" name="Shape 17"/>
          <p:cNvSpPr/>
          <p:nvPr/>
        </p:nvSpPr>
        <p:spPr>
          <a:xfrm>
            <a:off x="4160520" y="5394960"/>
            <a:ext cx="7388352" cy="868680"/>
          </a:xfrm>
          <a:prstGeom prst="roundRect">
            <a:avLst>
              <a:gd name="adj" fmla="val 8421"/>
            </a:avLst>
          </a:prstGeom>
          <a:solidFill>
            <a:srgbClr val="0C2A33"/>
          </a:solidFill>
          <a:ln/>
        </p:spPr>
      </p:sp>
      <p:sp>
        <p:nvSpPr>
          <p:cNvPr id="20" name="Text 18"/>
          <p:cNvSpPr txBox="1"/>
          <p:nvPr/>
        </p:nvSpPr>
        <p:spPr>
          <a:xfrm>
            <a:off x="4389120" y="5394960"/>
            <a:ext cx="6949440" cy="8686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“If I can't put a face to the result, it's not evidence, it's a claim.”</a:t>
            </a:r>
            <a:pPr indent="0" marL="0">
              <a:buNone/>
            </a:pPr>
            <a:r>
              <a:rPr lang="en-US" sz="1100" dirty="0">
                <a:solidFill>
                  <a:srgbClr val="3E7C8C"/>
                </a:solidFill>
                <a:latin typeface="Calibri" pitchFamily="34" charset="0"/>
                <a:ea typeface="Calibri" pitchFamily="34" charset="-122"/>
                <a:cs typeface="Calibri" pitchFamily="34" charset="-120"/>
              </a:rPr>
              <a:t>   — Lisa, licensing supervisor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E4572E"/>
                </a:solidFill>
                <a:latin typeface="Calibri" pitchFamily="34" charset="0"/>
                <a:ea typeface="Calibri" pitchFamily="34" charset="-122"/>
                <a:cs typeface="Calibri" pitchFamily="34" charset="-120"/>
              </a:rPr>
              <a:t>WHAT HELD UP</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0C2A33"/>
                </a:solidFill>
                <a:latin typeface="Cambria" pitchFamily="34" charset="0"/>
                <a:ea typeface="Cambria" pitchFamily="34" charset="-122"/>
                <a:cs typeface="Cambria" pitchFamily="34" charset="-120"/>
              </a:rPr>
              <a:t>Confirmed, narrowed, and new</a:t>
            </a:r>
            <a:endParaRPr lang="en-US" sz="3400" dirty="0"/>
          </a:p>
        </p:txBody>
      </p:sp>
      <p:sp>
        <p:nvSpPr>
          <p:cNvPr id="4" name="Shape 2"/>
          <p:cNvSpPr/>
          <p:nvPr/>
        </p:nvSpPr>
        <p:spPr>
          <a:xfrm>
            <a:off x="640080" y="1719072"/>
            <a:ext cx="237744" cy="237744"/>
          </a:xfrm>
          <a:prstGeom prst="ellipse">
            <a:avLst/>
          </a:prstGeom>
          <a:solidFill>
            <a:srgbClr val="3E7C8C"/>
          </a:solidFill>
          <a:ln/>
        </p:spPr>
      </p:sp>
      <p:sp>
        <p:nvSpPr>
          <p:cNvPr id="5" name="Text 3"/>
          <p:cNvSpPr txBox="1"/>
          <p:nvPr/>
        </p:nvSpPr>
        <p:spPr>
          <a:xfrm>
            <a:off x="1024128" y="1645920"/>
            <a:ext cx="3017520" cy="365760"/>
          </a:xfrm>
          <a:prstGeom prst="rect">
            <a:avLst/>
          </a:prstGeom>
          <a:noFill/>
          <a:ln/>
        </p:spPr>
        <p:txBody>
          <a:bodyPr wrap="square" lIns="0" tIns="0" rIns="0" bIns="0" rtlCol="0" anchor="ctr"/>
          <a:lstStyle/>
          <a:p>
            <a:pPr indent="0" marL="0">
              <a:buNone/>
            </a:pPr>
            <a:r>
              <a:rPr lang="en-US" sz="1800" b="1" dirty="0">
                <a:solidFill>
                  <a:srgbClr val="3E7C8C"/>
                </a:solidFill>
                <a:latin typeface="Cambria" pitchFamily="34" charset="0"/>
                <a:ea typeface="Cambria" pitchFamily="34" charset="-122"/>
                <a:cs typeface="Cambria" pitchFamily="34" charset="-120"/>
              </a:rPr>
              <a:t>Confirmed</a:t>
            </a:r>
            <a:endParaRPr lang="en-US" sz="1800" dirty="0"/>
          </a:p>
        </p:txBody>
      </p:sp>
      <p:sp>
        <p:nvSpPr>
          <p:cNvPr id="6" name="Text 4"/>
          <p:cNvSpPr txBox="1"/>
          <p:nvPr/>
        </p:nvSpPr>
        <p:spPr>
          <a:xfrm>
            <a:off x="640080" y="2304288"/>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Effort outweighs the payoff</a:t>
            </a:r>
            <a:endParaRPr lang="en-US" sz="1350" dirty="0"/>
          </a:p>
        </p:txBody>
      </p:sp>
      <p:sp>
        <p:nvSpPr>
          <p:cNvPr id="7" name="Text 5"/>
          <p:cNvSpPr txBox="1"/>
          <p:nvPr/>
        </p:nvSpPr>
        <p:spPr>
          <a:xfrm>
            <a:off x="640080" y="2578608"/>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Anna waits 2–4 months with a slipping prescription — rebooking isn't worth it.</a:t>
            </a:r>
            <a:endParaRPr lang="en-US" sz="1150" dirty="0"/>
          </a:p>
        </p:txBody>
      </p:sp>
      <p:sp>
        <p:nvSpPr>
          <p:cNvPr id="8" name="Text 6"/>
          <p:cNvSpPr txBox="1"/>
          <p:nvPr/>
        </p:nvSpPr>
        <p:spPr>
          <a:xfrm>
            <a:off x="640080" y="3602736"/>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Parents can't read the signs</a:t>
            </a:r>
            <a:endParaRPr lang="en-US" sz="1350" dirty="0"/>
          </a:p>
        </p:txBody>
      </p:sp>
      <p:sp>
        <p:nvSpPr>
          <p:cNvPr id="9" name="Text 7"/>
          <p:cNvSpPr txBox="1"/>
          <p:nvPr/>
        </p:nvSpPr>
        <p:spPr>
          <a:xfrm>
            <a:off x="640080" y="3877056"/>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Squinting and sitting close are ambiguous; a school letter is what triggers action.</a:t>
            </a:r>
            <a:endParaRPr lang="en-US" sz="1150" dirty="0"/>
          </a:p>
        </p:txBody>
      </p:sp>
      <p:sp>
        <p:nvSpPr>
          <p:cNvPr id="10" name="Text 8"/>
          <p:cNvSpPr txBox="1"/>
          <p:nvPr/>
        </p:nvSpPr>
        <p:spPr>
          <a:xfrm>
            <a:off x="640080" y="4901184"/>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Home charts break down</a:t>
            </a:r>
            <a:endParaRPr lang="en-US" sz="1350" dirty="0"/>
          </a:p>
        </p:txBody>
      </p:sp>
      <p:sp>
        <p:nvSpPr>
          <p:cNvPr id="11" name="Text 9"/>
          <p:cNvSpPr txBox="1"/>
          <p:nvPr/>
        </p:nvSpPr>
        <p:spPr>
          <a:xfrm>
            <a:off x="640080" y="5175504"/>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Children memorize the letters, so repeat testing stops telling you anything.</a:t>
            </a:r>
            <a:endParaRPr lang="en-US" sz="1150" dirty="0"/>
          </a:p>
        </p:txBody>
      </p:sp>
      <p:sp>
        <p:nvSpPr>
          <p:cNvPr id="12" name="Shape 10"/>
          <p:cNvSpPr/>
          <p:nvPr/>
        </p:nvSpPr>
        <p:spPr>
          <a:xfrm>
            <a:off x="4398264" y="1719072"/>
            <a:ext cx="237744" cy="237744"/>
          </a:xfrm>
          <a:prstGeom prst="ellipse">
            <a:avLst/>
          </a:prstGeom>
          <a:solidFill>
            <a:srgbClr val="E4572E"/>
          </a:solidFill>
          <a:ln/>
        </p:spPr>
      </p:sp>
      <p:sp>
        <p:nvSpPr>
          <p:cNvPr id="13" name="Text 11"/>
          <p:cNvSpPr txBox="1"/>
          <p:nvPr/>
        </p:nvSpPr>
        <p:spPr>
          <a:xfrm>
            <a:off x="4782312" y="1645920"/>
            <a:ext cx="3017520" cy="36576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Narrowed or refuted</a:t>
            </a:r>
            <a:endParaRPr lang="en-US" sz="1800" dirty="0"/>
          </a:p>
        </p:txBody>
      </p:sp>
      <p:sp>
        <p:nvSpPr>
          <p:cNvPr id="14" name="Text 12"/>
          <p:cNvSpPr txBox="1"/>
          <p:nvPr/>
        </p:nvSpPr>
        <p:spPr>
          <a:xfrm>
            <a:off x="4398264" y="2304288"/>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Tracking isn't universally hard</a:t>
            </a:r>
            <a:endParaRPr lang="en-US" sz="1350" dirty="0"/>
          </a:p>
        </p:txBody>
      </p:sp>
      <p:sp>
        <p:nvSpPr>
          <p:cNvPr id="15" name="Text 13"/>
          <p:cNvSpPr txBox="1"/>
          <p:nvPr/>
        </p:nvSpPr>
        <p:spPr>
          <a:xfrm>
            <a:off x="4398264" y="2578608"/>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One parent keeps full exam records and compares them year over year.</a:t>
            </a:r>
            <a:endParaRPr lang="en-US" sz="1150" dirty="0"/>
          </a:p>
        </p:txBody>
      </p:sp>
      <p:sp>
        <p:nvSpPr>
          <p:cNvPr id="16" name="Text 14"/>
          <p:cNvSpPr txBox="1"/>
          <p:nvPr/>
        </p:nvSpPr>
        <p:spPr>
          <a:xfrm>
            <a:off x="4398264" y="3602736"/>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Distrust isn't the blocker</a:t>
            </a:r>
            <a:endParaRPr lang="en-US" sz="1350" dirty="0"/>
          </a:p>
        </p:txBody>
      </p:sp>
      <p:sp>
        <p:nvSpPr>
          <p:cNvPr id="17" name="Text 15"/>
          <p:cNvSpPr txBox="1"/>
          <p:nvPr/>
        </p:nvSpPr>
        <p:spPr>
          <a:xfrm>
            <a:off x="4398264" y="3877056"/>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Kevin would believe most results — he just has no reason to test. “Don't fix it if it ain't broke.”</a:t>
            </a:r>
            <a:endParaRPr lang="en-US" sz="1150" dirty="0"/>
          </a:p>
        </p:txBody>
      </p:sp>
      <p:sp>
        <p:nvSpPr>
          <p:cNvPr id="18" name="Text 16"/>
          <p:cNvSpPr txBox="1"/>
          <p:nvPr/>
        </p:nvSpPr>
        <p:spPr>
          <a:xfrm>
            <a:off x="4398264" y="4901184"/>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Screening isn't the DMV bottleneck</a:t>
            </a:r>
            <a:endParaRPr lang="en-US" sz="1350" dirty="0"/>
          </a:p>
        </p:txBody>
      </p:sp>
      <p:sp>
        <p:nvSpPr>
          <p:cNvPr id="19" name="Text 17"/>
          <p:cNvSpPr txBox="1"/>
          <p:nvPr/>
        </p:nvSpPr>
        <p:spPr>
          <a:xfrm>
            <a:off x="4398264" y="5175504"/>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Document verification is. The vision test is a blip in a 10–20 minute transaction.</a:t>
            </a:r>
            <a:endParaRPr lang="en-US" sz="1150" dirty="0"/>
          </a:p>
        </p:txBody>
      </p:sp>
      <p:sp>
        <p:nvSpPr>
          <p:cNvPr id="20" name="Shape 18"/>
          <p:cNvSpPr/>
          <p:nvPr/>
        </p:nvSpPr>
        <p:spPr>
          <a:xfrm>
            <a:off x="8156448" y="1719072"/>
            <a:ext cx="237744" cy="237744"/>
          </a:xfrm>
          <a:prstGeom prst="ellipse">
            <a:avLst/>
          </a:prstGeom>
          <a:solidFill>
            <a:srgbClr val="0C2A33"/>
          </a:solidFill>
          <a:ln/>
        </p:spPr>
      </p:sp>
      <p:sp>
        <p:nvSpPr>
          <p:cNvPr id="21" name="Text 19"/>
          <p:cNvSpPr txBox="1"/>
          <p:nvPr/>
        </p:nvSpPr>
        <p:spPr>
          <a:xfrm>
            <a:off x="8540496" y="1645920"/>
            <a:ext cx="3017520" cy="365760"/>
          </a:xfrm>
          <a:prstGeom prst="rect">
            <a:avLst/>
          </a:prstGeom>
          <a:noFill/>
          <a:ln/>
        </p:spPr>
        <p:txBody>
          <a:bodyPr wrap="square" lIns="0" tIns="0" rIns="0" bIns="0" rtlCol="0" anchor="ctr"/>
          <a:lstStyle/>
          <a:p>
            <a:pPr indent="0" marL="0">
              <a:buNone/>
            </a:pPr>
            <a:r>
              <a:rPr lang="en-US" sz="1800" b="1" dirty="0">
                <a:solidFill>
                  <a:srgbClr val="0C2A33"/>
                </a:solidFill>
                <a:latin typeface="Cambria" pitchFamily="34" charset="0"/>
                <a:ea typeface="Cambria" pitchFamily="34" charset="-122"/>
                <a:cs typeface="Cambria" pitchFamily="34" charset="-120"/>
              </a:rPr>
              <a:t>Didn't see coming</a:t>
            </a:r>
            <a:endParaRPr lang="en-US" sz="1800" dirty="0"/>
          </a:p>
        </p:txBody>
      </p:sp>
      <p:sp>
        <p:nvSpPr>
          <p:cNvPr id="22" name="Text 20"/>
          <p:cNvSpPr txBox="1"/>
          <p:nvPr/>
        </p:nvSpPr>
        <p:spPr>
          <a:xfrm>
            <a:off x="8156448" y="2304288"/>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Fear of the answer</a:t>
            </a:r>
            <a:endParaRPr lang="en-US" sz="1350" dirty="0"/>
          </a:p>
        </p:txBody>
      </p:sp>
      <p:sp>
        <p:nvSpPr>
          <p:cNvPr id="23" name="Text 21"/>
          <p:cNvSpPr txBox="1"/>
          <p:nvPr/>
        </p:nvSpPr>
        <p:spPr>
          <a:xfrm>
            <a:off x="8156448" y="2578608"/>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People avoid the result, not the appointment — “maybe I'm fine” is comfortable.</a:t>
            </a:r>
            <a:endParaRPr lang="en-US" sz="1150" dirty="0"/>
          </a:p>
        </p:txBody>
      </p:sp>
      <p:sp>
        <p:nvSpPr>
          <p:cNvPr id="24" name="Text 22"/>
          <p:cNvSpPr txBox="1"/>
          <p:nvPr/>
        </p:nvSpPr>
        <p:spPr>
          <a:xfrm>
            <a:off x="8156448" y="3602736"/>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No perceived urgency</a:t>
            </a:r>
            <a:endParaRPr lang="en-US" sz="1350" dirty="0"/>
          </a:p>
        </p:txBody>
      </p:sp>
      <p:sp>
        <p:nvSpPr>
          <p:cNvPr id="25" name="Text 23"/>
          <p:cNvSpPr txBox="1"/>
          <p:nvPr/>
        </p:nvSpPr>
        <p:spPr>
          <a:xfrm>
            <a:off x="8156448" y="3877056"/>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A stronger brake than cost or convenience for people with no symptoms.</a:t>
            </a:r>
            <a:endParaRPr lang="en-US" sz="1150" dirty="0"/>
          </a:p>
        </p:txBody>
      </p:sp>
      <p:sp>
        <p:nvSpPr>
          <p:cNvPr id="26" name="Text 24"/>
          <p:cNvSpPr txBox="1"/>
          <p:nvPr/>
        </p:nvSpPr>
        <p:spPr>
          <a:xfrm>
            <a:off x="8156448" y="4901184"/>
            <a:ext cx="3392424" cy="274320"/>
          </a:xfrm>
          <a:prstGeom prst="rect">
            <a:avLst/>
          </a:prstGeom>
          <a:noFill/>
          <a:ln/>
        </p:spPr>
        <p:txBody>
          <a:bodyPr wrap="square" lIns="0" tIns="0" rIns="0" bIns="0" rtlCol="0" anchor="ctr"/>
          <a:lstStyle/>
          <a:p>
            <a:pPr indent="0" marL="0">
              <a:buNone/>
            </a:pPr>
            <a:r>
              <a:rPr lang="en-US" sz="1350" b="1" dirty="0">
                <a:solidFill>
                  <a:srgbClr val="0C2A33"/>
                </a:solidFill>
                <a:latin typeface="Calibri" pitchFamily="34" charset="0"/>
                <a:ea typeface="Calibri" pitchFamily="34" charset="-122"/>
                <a:cs typeface="Calibri" pitchFamily="34" charset="-120"/>
              </a:rPr>
              <a:t>The insurance handoff</a:t>
            </a:r>
            <a:endParaRPr lang="en-US" sz="1350" dirty="0"/>
          </a:p>
        </p:txBody>
      </p:sp>
      <p:sp>
        <p:nvSpPr>
          <p:cNvPr id="27" name="Text 25"/>
          <p:cNvSpPr txBox="1"/>
          <p:nvPr/>
        </p:nvSpPr>
        <p:spPr>
          <a:xfrm>
            <a:off x="8156448" y="5175504"/>
            <a:ext cx="3392424" cy="914400"/>
          </a:xfrm>
          <a:prstGeom prst="rect">
            <a:avLst/>
          </a:prstGeom>
          <a:noFill/>
          <a:ln/>
        </p:spPr>
        <p:txBody>
          <a:bodyPr wrap="square" lIns="0" tIns="0" rIns="0" bIns="0" rtlCol="0" anchor="t"/>
          <a:lstStyle/>
          <a:p>
            <a:pPr indent="0" marL="0">
              <a:lnSpc>
                <a:spcPts val="1500"/>
              </a:lnSpc>
              <a:buNone/>
            </a:pPr>
            <a:r>
              <a:rPr lang="en-US" sz="1150" dirty="0">
                <a:solidFill>
                  <a:srgbClr val="56686D"/>
                </a:solidFill>
                <a:latin typeface="Calibri" pitchFamily="34" charset="0"/>
                <a:ea typeface="Calibri" pitchFamily="34" charset="-122"/>
                <a:cs typeface="Calibri" pitchFamily="34" charset="-120"/>
              </a:rPr>
              <a:t>Young adults stall the moment a parent stops booking and paying.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E4572E"/>
                </a:solidFill>
                <a:latin typeface="Calibri" pitchFamily="34" charset="0"/>
                <a:ea typeface="Calibri" pitchFamily="34" charset="-122"/>
                <a:cs typeface="Calibri" pitchFamily="34" charset="-120"/>
              </a:rPr>
              <a:t>OUR EXPERIENCE WITH BOTH</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0C2A33"/>
                </a:solidFill>
                <a:latin typeface="Cambria" pitchFamily="34" charset="0"/>
                <a:ea typeface="Cambria" pitchFamily="34" charset="-122"/>
                <a:cs typeface="Cambria" pitchFamily="34" charset="-120"/>
              </a:rPr>
              <a:t>Virtual vs. in person</a:t>
            </a:r>
            <a:endParaRPr lang="en-US" sz="3400" dirty="0"/>
          </a:p>
        </p:txBody>
      </p:sp>
      <p:sp>
        <p:nvSpPr>
          <p:cNvPr id="4" name="Shape 2"/>
          <p:cNvSpPr/>
          <p:nvPr/>
        </p:nvSpPr>
        <p:spPr>
          <a:xfrm>
            <a:off x="640080" y="1645920"/>
            <a:ext cx="5212080" cy="3520440"/>
          </a:xfrm>
          <a:prstGeom prst="roundRect">
            <a:avLst>
              <a:gd name="adj" fmla="val 2078"/>
            </a:avLst>
          </a:prstGeom>
          <a:solidFill>
            <a:srgbClr val="EDF2F2"/>
          </a:solidFill>
          <a:ln/>
        </p:spPr>
      </p:sp>
      <p:sp>
        <p:nvSpPr>
          <p:cNvPr id="5" name="Text 3"/>
          <p:cNvSpPr txBox="1"/>
          <p:nvPr/>
        </p:nvSpPr>
        <p:spPr>
          <a:xfrm>
            <a:off x="960120" y="1828800"/>
            <a:ext cx="4572000" cy="365760"/>
          </a:xfrm>
          <a:prstGeom prst="rect">
            <a:avLst/>
          </a:prstGeom>
          <a:noFill/>
          <a:ln/>
        </p:spPr>
        <p:txBody>
          <a:bodyPr wrap="square" lIns="0" tIns="0" rIns="0" bIns="0" rtlCol="0" anchor="ctr"/>
          <a:lstStyle/>
          <a:p>
            <a:pPr indent="0" marL="0">
              <a:buNone/>
            </a:pPr>
            <a:r>
              <a:rPr lang="en-US" sz="1800" b="1" dirty="0">
                <a:solidFill>
                  <a:srgbClr val="3E7C8C"/>
                </a:solidFill>
                <a:latin typeface="Cambria" pitchFamily="34" charset="0"/>
                <a:ea typeface="Cambria" pitchFamily="34" charset="-122"/>
                <a:cs typeface="Cambria" pitchFamily="34" charset="-120"/>
              </a:rPr>
              <a:t>Virtual  ·  5 interviews</a:t>
            </a:r>
            <a:endParaRPr lang="en-US" sz="1800" dirty="0"/>
          </a:p>
        </p:txBody>
      </p:sp>
      <p:sp>
        <p:nvSpPr>
          <p:cNvPr id="6" name="Text 4"/>
          <p:cNvSpPr txBox="1"/>
          <p:nvPr/>
        </p:nvSpPr>
        <p:spPr>
          <a:xfrm>
            <a:off x="960120" y="2286000"/>
            <a:ext cx="4572000" cy="237744"/>
          </a:xfrm>
          <a:prstGeom prst="rect">
            <a:avLst/>
          </a:prstGeom>
          <a:noFill/>
          <a:ln/>
        </p:spPr>
        <p:txBody>
          <a:bodyPr wrap="square" lIns="0" tIns="0" rIns="0" bIns="0" rtlCol="0" anchor="ctr"/>
          <a:lstStyle/>
          <a:p>
            <a:pPr indent="0" marL="0">
              <a:buNone/>
            </a:pPr>
            <a:r>
              <a:rPr lang="en-US" sz="1000" b="1" spc="200" kern="0" dirty="0">
                <a:solidFill>
                  <a:srgbClr val="56686D"/>
                </a:solidFill>
                <a:latin typeface="Calibri" pitchFamily="34" charset="0"/>
                <a:ea typeface="Calibri" pitchFamily="34" charset="-122"/>
                <a:cs typeface="Calibri" pitchFamily="34" charset="-120"/>
              </a:rPr>
              <a:t>WHAT IT GAVE US</a:t>
            </a:r>
            <a:endParaRPr lang="en-US" sz="1000" dirty="0"/>
          </a:p>
        </p:txBody>
      </p:sp>
      <p:sp>
        <p:nvSpPr>
          <p:cNvPr id="7" name="Text 5"/>
          <p:cNvSpPr txBox="1"/>
          <p:nvPr/>
        </p:nvSpPr>
        <p:spPr>
          <a:xfrm>
            <a:off x="960120" y="2542032"/>
            <a:ext cx="4572000" cy="114300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Reached a role we had no access to — a licensing supervisor, in depth</a:t>
            </a:r>
            <a:endParaRPr lang="en-US" sz="1150" dirty="0"/>
          </a:p>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Cheap to run, so we could stress-test questions before using them on people</a:t>
            </a:r>
            <a:endParaRPr lang="en-US" sz="1150" dirty="0"/>
          </a:p>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Pushed back on our framing instead of agreeing with it</a:t>
            </a:r>
            <a:endParaRPr lang="en-US" sz="1150" dirty="0"/>
          </a:p>
        </p:txBody>
      </p:sp>
      <p:sp>
        <p:nvSpPr>
          <p:cNvPr id="8" name="Text 6"/>
          <p:cNvSpPr txBox="1"/>
          <p:nvPr/>
        </p:nvSpPr>
        <p:spPr>
          <a:xfrm>
            <a:off x="960120" y="3977640"/>
            <a:ext cx="4572000" cy="237744"/>
          </a:xfrm>
          <a:prstGeom prst="rect">
            <a:avLst/>
          </a:prstGeom>
          <a:noFill/>
          <a:ln/>
        </p:spPr>
        <p:txBody>
          <a:bodyPr wrap="square" lIns="0" tIns="0" rIns="0" bIns="0" rtlCol="0" anchor="ctr"/>
          <a:lstStyle/>
          <a:p>
            <a:pPr indent="0" marL="0">
              <a:buNone/>
            </a:pPr>
            <a:r>
              <a:rPr lang="en-US" sz="1000" b="1" spc="200" kern="0" dirty="0">
                <a:solidFill>
                  <a:srgbClr val="56686D"/>
                </a:solidFill>
                <a:latin typeface="Calibri" pitchFamily="34" charset="0"/>
                <a:ea typeface="Calibri" pitchFamily="34" charset="-122"/>
                <a:cs typeface="Calibri" pitchFamily="34" charset="-120"/>
              </a:rPr>
              <a:t>WHERE IT FELL SHORT</a:t>
            </a:r>
            <a:endParaRPr lang="en-US" sz="1000" dirty="0"/>
          </a:p>
        </p:txBody>
      </p:sp>
      <p:sp>
        <p:nvSpPr>
          <p:cNvPr id="9" name="Text 7"/>
          <p:cNvSpPr txBox="1"/>
          <p:nvPr/>
        </p:nvSpPr>
        <p:spPr>
          <a:xfrm>
            <a:off x="960120" y="4233672"/>
            <a:ext cx="4572000" cy="91440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6686D"/>
                </a:solidFill>
                <a:latin typeface="Calibri" pitchFamily="34" charset="0"/>
                <a:ea typeface="Calibri" pitchFamily="34" charset="-122"/>
                <a:cs typeface="Calibri" pitchFamily="34" charset="-120"/>
              </a:rPr>
              <a:t>Answers tracked the assumptions we wrote into the persona</a:t>
            </a:r>
            <a:endParaRPr lang="en-US" sz="1150" dirty="0"/>
          </a:p>
          <a:p>
            <a:pPr marL="342900" indent="-342900">
              <a:lnSpc>
                <a:spcPts val="1500"/>
              </a:lnSpc>
              <a:spcAft>
                <a:spcPts val="500"/>
              </a:spcAft>
              <a:buSzPct val="100000"/>
              <a:buChar char="•"/>
            </a:pPr>
            <a:r>
              <a:rPr lang="en-US" sz="1150" dirty="0">
                <a:solidFill>
                  <a:srgbClr val="56686D"/>
                </a:solidFill>
                <a:latin typeface="Calibri" pitchFamily="34" charset="0"/>
                <a:ea typeface="Calibri" pitchFamily="34" charset="-122"/>
                <a:cs typeface="Calibri" pitchFamily="34" charset="-120"/>
              </a:rPr>
              <a:t>Stays a hypothesis until a real agency employee confirms it</a:t>
            </a:r>
            <a:endParaRPr lang="en-US" sz="1150" dirty="0"/>
          </a:p>
        </p:txBody>
      </p:sp>
      <p:sp>
        <p:nvSpPr>
          <p:cNvPr id="10" name="Shape 8"/>
          <p:cNvSpPr/>
          <p:nvPr/>
        </p:nvSpPr>
        <p:spPr>
          <a:xfrm>
            <a:off x="6336792" y="1645920"/>
            <a:ext cx="5212080" cy="3520440"/>
          </a:xfrm>
          <a:prstGeom prst="roundRect">
            <a:avLst>
              <a:gd name="adj" fmla="val 2078"/>
            </a:avLst>
          </a:prstGeom>
          <a:solidFill>
            <a:srgbClr val="EDF2F2"/>
          </a:solidFill>
          <a:ln/>
        </p:spPr>
      </p:sp>
      <p:sp>
        <p:nvSpPr>
          <p:cNvPr id="11" name="Text 9"/>
          <p:cNvSpPr txBox="1"/>
          <p:nvPr/>
        </p:nvSpPr>
        <p:spPr>
          <a:xfrm>
            <a:off x="6656832" y="1828800"/>
            <a:ext cx="4572000" cy="36576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In person  ·  5 interviews</a:t>
            </a:r>
            <a:endParaRPr lang="en-US" sz="1800" dirty="0"/>
          </a:p>
        </p:txBody>
      </p:sp>
      <p:sp>
        <p:nvSpPr>
          <p:cNvPr id="12" name="Text 10"/>
          <p:cNvSpPr txBox="1"/>
          <p:nvPr/>
        </p:nvSpPr>
        <p:spPr>
          <a:xfrm>
            <a:off x="6656832" y="2286000"/>
            <a:ext cx="4572000" cy="237744"/>
          </a:xfrm>
          <a:prstGeom prst="rect">
            <a:avLst/>
          </a:prstGeom>
          <a:noFill/>
          <a:ln/>
        </p:spPr>
        <p:txBody>
          <a:bodyPr wrap="square" lIns="0" tIns="0" rIns="0" bIns="0" rtlCol="0" anchor="ctr"/>
          <a:lstStyle/>
          <a:p>
            <a:pPr indent="0" marL="0">
              <a:buNone/>
            </a:pPr>
            <a:r>
              <a:rPr lang="en-US" sz="1000" b="1" spc="200" kern="0" dirty="0">
                <a:solidFill>
                  <a:srgbClr val="56686D"/>
                </a:solidFill>
                <a:latin typeface="Calibri" pitchFamily="34" charset="0"/>
                <a:ea typeface="Calibri" pitchFamily="34" charset="-122"/>
                <a:cs typeface="Calibri" pitchFamily="34" charset="-120"/>
              </a:rPr>
              <a:t>WHAT IT GAVE US</a:t>
            </a:r>
            <a:endParaRPr lang="en-US" sz="1000" dirty="0"/>
          </a:p>
        </p:txBody>
      </p:sp>
      <p:sp>
        <p:nvSpPr>
          <p:cNvPr id="13" name="Text 11"/>
          <p:cNvSpPr txBox="1"/>
          <p:nvPr/>
        </p:nvSpPr>
        <p:spPr>
          <a:xfrm>
            <a:off x="6656832" y="2542032"/>
            <a:ext cx="4572000" cy="114300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Real behavior: avoidance, apathy and contradiction, not tidy reasoning</a:t>
            </a:r>
            <a:endParaRPr lang="en-US" sz="1150" dirty="0"/>
          </a:p>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Surfaced barriers we never hypothesized — fear, inertia, insurance confusion</a:t>
            </a:r>
            <a:endParaRPr lang="en-US" sz="1150" dirty="0"/>
          </a:p>
          <a:p>
            <a:pPr marL="342900" indent="-342900">
              <a:lnSpc>
                <a:spcPts val="1500"/>
              </a:lnSpc>
              <a:spcAft>
                <a:spcPts val="500"/>
              </a:spcAft>
              <a:buSzPct val="100000"/>
              <a:buChar char="•"/>
            </a:pPr>
            <a:r>
              <a:rPr lang="en-US" sz="1150" dirty="0">
                <a:solidFill>
                  <a:srgbClr val="0C2A33"/>
                </a:solidFill>
                <a:latin typeface="Calibri" pitchFamily="34" charset="0"/>
                <a:ea typeface="Calibri" pitchFamily="34" charset="-122"/>
                <a:cs typeface="Calibri" pitchFamily="34" charset="-120"/>
              </a:rPr>
              <a:t>People who didn't know online tests existed at all</a:t>
            </a:r>
            <a:endParaRPr lang="en-US" sz="1150" dirty="0"/>
          </a:p>
        </p:txBody>
      </p:sp>
      <p:sp>
        <p:nvSpPr>
          <p:cNvPr id="14" name="Text 12"/>
          <p:cNvSpPr txBox="1"/>
          <p:nvPr/>
        </p:nvSpPr>
        <p:spPr>
          <a:xfrm>
            <a:off x="6656832" y="3977640"/>
            <a:ext cx="4572000" cy="237744"/>
          </a:xfrm>
          <a:prstGeom prst="rect">
            <a:avLst/>
          </a:prstGeom>
          <a:noFill/>
          <a:ln/>
        </p:spPr>
        <p:txBody>
          <a:bodyPr wrap="square" lIns="0" tIns="0" rIns="0" bIns="0" rtlCol="0" anchor="ctr"/>
          <a:lstStyle/>
          <a:p>
            <a:pPr indent="0" marL="0">
              <a:buNone/>
            </a:pPr>
            <a:r>
              <a:rPr lang="en-US" sz="1000" b="1" spc="200" kern="0" dirty="0">
                <a:solidFill>
                  <a:srgbClr val="56686D"/>
                </a:solidFill>
                <a:latin typeface="Calibri" pitchFamily="34" charset="0"/>
                <a:ea typeface="Calibri" pitchFamily="34" charset="-122"/>
                <a:cs typeface="Calibri" pitchFamily="34" charset="-120"/>
              </a:rPr>
              <a:t>WHERE IT FELL SHORT</a:t>
            </a:r>
            <a:endParaRPr lang="en-US" sz="1000" dirty="0"/>
          </a:p>
        </p:txBody>
      </p:sp>
      <p:sp>
        <p:nvSpPr>
          <p:cNvPr id="15" name="Text 13"/>
          <p:cNvSpPr txBox="1"/>
          <p:nvPr/>
        </p:nvSpPr>
        <p:spPr>
          <a:xfrm>
            <a:off x="6656832" y="4233672"/>
            <a:ext cx="4572000" cy="91440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6686D"/>
                </a:solidFill>
                <a:latin typeface="Calibri" pitchFamily="34" charset="0"/>
                <a:ea typeface="Calibri" pitchFamily="34" charset="-122"/>
                <a:cs typeface="Calibri" pitchFamily="34" charset="-120"/>
              </a:rPr>
              <a:t>Small, convenience-sampled, and skewed toward one persona</a:t>
            </a:r>
            <a:endParaRPr lang="en-US" sz="1150" dirty="0"/>
          </a:p>
          <a:p>
            <a:pPr marL="342900" indent="-342900">
              <a:lnSpc>
                <a:spcPts val="1500"/>
              </a:lnSpc>
              <a:spcAft>
                <a:spcPts val="500"/>
              </a:spcAft>
              <a:buSzPct val="100000"/>
              <a:buChar char="•"/>
            </a:pPr>
            <a:r>
              <a:rPr lang="en-US" sz="1150" dirty="0">
                <a:solidFill>
                  <a:srgbClr val="56686D"/>
                </a:solidFill>
                <a:latin typeface="Calibri" pitchFamily="34" charset="0"/>
                <a:ea typeface="Calibri" pitchFamily="34" charset="-122"/>
                <a:cs typeface="Calibri" pitchFamily="34" charset="-120"/>
              </a:rPr>
              <a:t>No route to institutional roles at all</a:t>
            </a:r>
            <a:endParaRPr lang="en-US" sz="1150" dirty="0"/>
          </a:p>
        </p:txBody>
      </p:sp>
      <p:sp>
        <p:nvSpPr>
          <p:cNvPr id="16" name="Shape 14"/>
          <p:cNvSpPr/>
          <p:nvPr/>
        </p:nvSpPr>
        <p:spPr>
          <a:xfrm>
            <a:off x="640080" y="5440680"/>
            <a:ext cx="10908792" cy="822960"/>
          </a:xfrm>
          <a:prstGeom prst="roundRect">
            <a:avLst>
              <a:gd name="adj" fmla="val 8889"/>
            </a:avLst>
          </a:prstGeom>
          <a:solidFill>
            <a:srgbClr val="0C2A33"/>
          </a:solidFill>
          <a:ln/>
        </p:spPr>
      </p:sp>
      <p:sp>
        <p:nvSpPr>
          <p:cNvPr id="17" name="Text 15"/>
          <p:cNvSpPr txBox="1"/>
          <p:nvPr/>
        </p:nvSpPr>
        <p:spPr>
          <a:xfrm>
            <a:off x="960120" y="5440680"/>
            <a:ext cx="10241280" cy="82296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Virtual interviews widened the problem. In-person interviews told us which parts of it actually change behavior.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2A33"/>
        </a:solidFill>
      </p:bgPr>
    </p:bg>
    <p:spTree>
      <p:nvGrpSpPr>
        <p:cNvPr id="1" name=""/>
        <p:cNvGrpSpPr/>
        <p:nvPr/>
      </p:nvGrpSpPr>
      <p:grpSpPr>
        <a:xfrm>
          <a:off x="0" y="0"/>
          <a:ext cx="0" cy="0"/>
          <a:chOff x="0" y="0"/>
          <a:chExt cx="0" cy="0"/>
        </a:xfrm>
      </p:grpSpPr>
      <p:sp>
        <p:nvSpPr>
          <p:cNvPr id="2" name="Shape 0"/>
          <p:cNvSpPr/>
          <p:nvPr/>
        </p:nvSpPr>
        <p:spPr>
          <a:xfrm>
            <a:off x="9875520" y="-548640"/>
            <a:ext cx="2926080" cy="2926080"/>
          </a:xfrm>
          <a:prstGeom prst="ellipse">
            <a:avLst/>
          </a:prstGeom>
          <a:solidFill>
            <a:srgbClr val="FFFFFF">
              <a:alpha val="0"/>
            </a:srgbClr>
          </a:solidFill>
          <a:ln w="25400">
            <a:solidFill>
              <a:srgbClr val="123C49"/>
            </a:solidFill>
            <a:prstDash val="solid"/>
          </a:ln>
        </p:spPr>
      </p:sp>
      <p:sp>
        <p:nvSpPr>
          <p:cNvPr id="3" name="Shape 1"/>
          <p:cNvSpPr/>
          <p:nvPr/>
        </p:nvSpPr>
        <p:spPr>
          <a:xfrm>
            <a:off x="10424160" y="0"/>
            <a:ext cx="1828800" cy="1828800"/>
          </a:xfrm>
          <a:prstGeom prst="ellipse">
            <a:avLst/>
          </a:prstGeom>
          <a:solidFill>
            <a:srgbClr val="FFFFFF">
              <a:alpha val="0"/>
            </a:srgbClr>
          </a:solidFill>
          <a:ln w="31750">
            <a:solidFill>
              <a:srgbClr val="1E4F5E"/>
            </a:solidFill>
            <a:prstDash val="solid"/>
          </a:ln>
        </p:spPr>
      </p:sp>
      <p:sp>
        <p:nvSpPr>
          <p:cNvPr id="4" name="Text 2"/>
          <p:cNvSpPr txBox="1"/>
          <p:nvPr/>
        </p:nvSpPr>
        <p:spPr>
          <a:xfrm>
            <a:off x="640080" y="822960"/>
            <a:ext cx="82296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alibri" pitchFamily="34" charset="0"/>
                <a:ea typeface="Calibri" pitchFamily="34" charset="-122"/>
                <a:cs typeface="Calibri" pitchFamily="34" charset="-120"/>
              </a:rPr>
              <a:t>WHAT WE TEST NEXT</a:t>
            </a:r>
            <a:endParaRPr lang="en-US" sz="1100" dirty="0"/>
          </a:p>
        </p:txBody>
      </p:sp>
      <p:sp>
        <p:nvSpPr>
          <p:cNvPr id="5" name="Text 3"/>
          <p:cNvSpPr txBox="1"/>
          <p:nvPr/>
        </p:nvSpPr>
        <p:spPr>
          <a:xfrm>
            <a:off x="640080" y="1143000"/>
            <a:ext cx="8686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assumptions, one gap</a:t>
            </a:r>
            <a:endParaRPr lang="en-US" sz="3400" dirty="0"/>
          </a:p>
        </p:txBody>
      </p:sp>
      <p:sp>
        <p:nvSpPr>
          <p:cNvPr id="6" name="Shape 4"/>
          <p:cNvSpPr/>
          <p:nvPr/>
        </p:nvSpPr>
        <p:spPr>
          <a:xfrm>
            <a:off x="640080" y="2331720"/>
            <a:ext cx="566928" cy="566928"/>
          </a:xfrm>
          <a:prstGeom prst="ellipse">
            <a:avLst/>
          </a:prstGeom>
          <a:solidFill>
            <a:srgbClr val="E4572E"/>
          </a:solidFill>
          <a:ln/>
        </p:spPr>
      </p:sp>
      <p:sp>
        <p:nvSpPr>
          <p:cNvPr id="7" name="Text 5"/>
          <p:cNvSpPr txBox="1"/>
          <p:nvPr/>
        </p:nvSpPr>
        <p:spPr>
          <a:xfrm>
            <a:off x="640080" y="23317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640080" y="3063240"/>
            <a:ext cx="33832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Trust</a:t>
            </a:r>
            <a:endParaRPr lang="en-US" sz="2000" dirty="0"/>
          </a:p>
        </p:txBody>
      </p:sp>
      <p:sp>
        <p:nvSpPr>
          <p:cNvPr id="9" name="Text 7"/>
          <p:cNvSpPr txBox="1"/>
          <p:nvPr/>
        </p:nvSpPr>
        <p:spPr>
          <a:xfrm>
            <a:off x="640080" y="3474720"/>
            <a:ext cx="3383280" cy="1005840"/>
          </a:xfrm>
          <a:prstGeom prst="rect">
            <a:avLst/>
          </a:prstGeom>
          <a:noFill/>
          <a:ln/>
        </p:spPr>
        <p:txBody>
          <a:bodyPr wrap="square" lIns="0" tIns="0" rIns="0" bIns="0" rtlCol="0" anchor="t"/>
          <a:lstStyle/>
          <a:p>
            <a:pPr indent="0" marL="0">
              <a:lnSpc>
                <a:spcPts val="1700"/>
              </a:lnSpc>
              <a:buNone/>
            </a:pPr>
            <a:r>
              <a:rPr lang="en-US" sz="1250" dirty="0">
                <a:solidFill>
                  <a:srgbClr val="C9D8DB"/>
                </a:solidFill>
                <a:latin typeface="Calibri" pitchFamily="34" charset="0"/>
                <a:ea typeface="Calibri" pitchFamily="34" charset="-122"/>
                <a:cs typeface="Calibri" pitchFamily="34" charset="-120"/>
              </a:rPr>
              <a:t>What credential or validation makes a digital result credible enough to act on?</a:t>
            </a:r>
            <a:endParaRPr lang="en-US" sz="1250" dirty="0"/>
          </a:p>
        </p:txBody>
      </p:sp>
      <p:sp>
        <p:nvSpPr>
          <p:cNvPr id="10" name="Shape 8"/>
          <p:cNvSpPr/>
          <p:nvPr/>
        </p:nvSpPr>
        <p:spPr>
          <a:xfrm>
            <a:off x="4398264" y="2331720"/>
            <a:ext cx="566928" cy="566928"/>
          </a:xfrm>
          <a:prstGeom prst="ellipse">
            <a:avLst/>
          </a:prstGeom>
          <a:solidFill>
            <a:srgbClr val="E4572E"/>
          </a:solidFill>
          <a:ln/>
        </p:spPr>
      </p:sp>
      <p:sp>
        <p:nvSpPr>
          <p:cNvPr id="11" name="Text 9"/>
          <p:cNvSpPr txBox="1"/>
          <p:nvPr/>
        </p:nvSpPr>
        <p:spPr>
          <a:xfrm>
            <a:off x="4398264" y="23317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398264" y="3063240"/>
            <a:ext cx="33832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Framing</a:t>
            </a:r>
            <a:endParaRPr lang="en-US" sz="2000" dirty="0"/>
          </a:p>
        </p:txBody>
      </p:sp>
      <p:sp>
        <p:nvSpPr>
          <p:cNvPr id="13" name="Text 11"/>
          <p:cNvSpPr txBox="1"/>
          <p:nvPr/>
        </p:nvSpPr>
        <p:spPr>
          <a:xfrm>
            <a:off x="4398264" y="3474720"/>
            <a:ext cx="3383280" cy="1005840"/>
          </a:xfrm>
          <a:prstGeom prst="rect">
            <a:avLst/>
          </a:prstGeom>
          <a:noFill/>
          <a:ln/>
        </p:spPr>
        <p:txBody>
          <a:bodyPr wrap="square" lIns="0" tIns="0" rIns="0" bIns="0" rtlCol="0" anchor="t"/>
          <a:lstStyle/>
          <a:p>
            <a:pPr indent="0" marL="0">
              <a:lnSpc>
                <a:spcPts val="1700"/>
              </a:lnSpc>
              <a:buNone/>
            </a:pPr>
            <a:r>
              <a:rPr lang="en-US" sz="1250" dirty="0">
                <a:solidFill>
                  <a:srgbClr val="C9D8DB"/>
                </a:solidFill>
                <a:latin typeface="Calibri" pitchFamily="34" charset="0"/>
                <a:ea typeface="Calibri" pitchFamily="34" charset="-122"/>
                <a:cs typeface="Calibri" pitchFamily="34" charset="-120"/>
              </a:rPr>
              <a:t>Does how we deliver a bad result change whether someone avoids it?</a:t>
            </a:r>
            <a:endParaRPr lang="en-US" sz="1250" dirty="0"/>
          </a:p>
        </p:txBody>
      </p:sp>
      <p:sp>
        <p:nvSpPr>
          <p:cNvPr id="14" name="Shape 12"/>
          <p:cNvSpPr/>
          <p:nvPr/>
        </p:nvSpPr>
        <p:spPr>
          <a:xfrm>
            <a:off x="8156448" y="2331720"/>
            <a:ext cx="566928" cy="566928"/>
          </a:xfrm>
          <a:prstGeom prst="ellipse">
            <a:avLst/>
          </a:prstGeom>
          <a:solidFill>
            <a:srgbClr val="E4572E"/>
          </a:solidFill>
          <a:ln/>
        </p:spPr>
      </p:sp>
      <p:sp>
        <p:nvSpPr>
          <p:cNvPr id="15" name="Text 13"/>
          <p:cNvSpPr txBox="1"/>
          <p:nvPr/>
        </p:nvSpPr>
        <p:spPr>
          <a:xfrm>
            <a:off x="8156448" y="23317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8156448" y="3063240"/>
            <a:ext cx="33832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Guidance</a:t>
            </a:r>
            <a:endParaRPr lang="en-US" sz="2000" dirty="0"/>
          </a:p>
        </p:txBody>
      </p:sp>
      <p:sp>
        <p:nvSpPr>
          <p:cNvPr id="17" name="Text 15"/>
          <p:cNvSpPr txBox="1"/>
          <p:nvPr/>
        </p:nvSpPr>
        <p:spPr>
          <a:xfrm>
            <a:off x="8156448" y="3474720"/>
            <a:ext cx="3383280" cy="1005840"/>
          </a:xfrm>
          <a:prstGeom prst="rect">
            <a:avLst/>
          </a:prstGeom>
          <a:noFill/>
          <a:ln/>
        </p:spPr>
        <p:txBody>
          <a:bodyPr wrap="square" lIns="0" tIns="0" rIns="0" bIns="0" rtlCol="0" anchor="t"/>
          <a:lstStyle/>
          <a:p>
            <a:pPr indent="0" marL="0">
              <a:lnSpc>
                <a:spcPts val="1700"/>
              </a:lnSpc>
              <a:buNone/>
            </a:pPr>
            <a:r>
              <a:rPr lang="en-US" sz="1250" dirty="0">
                <a:solidFill>
                  <a:srgbClr val="C9D8DB"/>
                </a:solidFill>
                <a:latin typeface="Calibri" pitchFamily="34" charset="0"/>
                <a:ea typeface="Calibri" pitchFamily="34" charset="-122"/>
                <a:cs typeface="Calibri" pitchFamily="34" charset="-120"/>
              </a:rPr>
              <a:t>What next-step instruction actually gets a person to book the appointment?</a:t>
            </a:r>
            <a:endParaRPr lang="en-US" sz="1250" dirty="0"/>
          </a:p>
        </p:txBody>
      </p:sp>
      <p:sp>
        <p:nvSpPr>
          <p:cNvPr id="18" name="Shape 16"/>
          <p:cNvSpPr/>
          <p:nvPr/>
        </p:nvSpPr>
        <p:spPr>
          <a:xfrm>
            <a:off x="640080" y="4892040"/>
            <a:ext cx="10908792" cy="914400"/>
          </a:xfrm>
          <a:prstGeom prst="roundRect">
            <a:avLst>
              <a:gd name="adj" fmla="val 8000"/>
            </a:avLst>
          </a:prstGeom>
          <a:solidFill>
            <a:srgbClr val="123C49"/>
          </a:solidFill>
          <a:ln/>
        </p:spPr>
      </p:sp>
      <p:sp>
        <p:nvSpPr>
          <p:cNvPr id="19" name="Text 17"/>
          <p:cNvSpPr txBox="1"/>
          <p:nvPr/>
        </p:nvSpPr>
        <p:spPr>
          <a:xfrm>
            <a:off x="960120" y="4892040"/>
            <a:ext cx="10241280" cy="914400"/>
          </a:xfrm>
          <a:prstGeom prst="rect">
            <a:avLst/>
          </a:prstGeom>
          <a:noFill/>
          <a:ln/>
        </p:spPr>
        <p:txBody>
          <a:bodyPr wrap="square" lIns="0" tIns="0" rIns="0" bIns="0" rtlCol="0" anchor="ctr"/>
          <a:lstStyle/>
          <a:p>
            <a:pPr indent="0" marL="0">
              <a:buNone/>
            </a:pPr>
            <a:r>
              <a:rPr lang="en-US" sz="1400" b="1" dirty="0">
                <a:solidFill>
                  <a:srgbClr val="E4572E"/>
                </a:solidFill>
                <a:latin typeface="Calibri" pitchFamily="34" charset="0"/>
                <a:ea typeface="Calibri" pitchFamily="34" charset="-122"/>
                <a:cs typeface="Calibri" pitchFamily="34" charset="-120"/>
              </a:rPr>
              <a:t>The gap:  </a:t>
            </a:r>
            <a:pPr indent="0" marL="0">
              <a:buNone/>
            </a:pPr>
            <a:r>
              <a:rPr lang="en-US" sz="1400" dirty="0">
                <a:solidFill>
                  <a:srgbClr val="FFFFFF"/>
                </a:solidFill>
                <a:latin typeface="Calibri" pitchFamily="34" charset="0"/>
                <a:ea typeface="Calibri" pitchFamily="34" charset="-122"/>
                <a:cs typeface="Calibri" pitchFamily="34" charset="-120"/>
              </a:rPr>
              <a:t>every institutional finding we have comes from a simulated supervisor. We validate the licensing use case with a real agency employee before we build for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Discovery — Vision Testing</dc:title>
  <dc:subject>PptxGenJS Presentation</dc:subject>
  <dc:creator>Team 5</dc:creator>
  <cp:lastModifiedBy>Team 5</cp:lastModifiedBy>
  <cp:revision>1</cp:revision>
  <dcterms:created xsi:type="dcterms:W3CDTF">2026-10-01T03:33:21Z</dcterms:created>
  <dcterms:modified xsi:type="dcterms:W3CDTF">2026-10-01T03:33:21Z</dcterms:modified>
</cp:coreProperties>
</file>