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Technologies — competitive landscape analysis for vision testing. Mission (from our Lean Canvas): creating simple and interpretable technology for wellness. The deck follows the workbook: the problem and jobs to be done (Part 1), competitors and fact-checks (Part 2), the leaders quadrant (Part 3), SWOTs (Part 4), Harvey balls (Part 5), and our learning narrative, AI reflection, and updated Lean Canvas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1A and 1B. Problem: vision testing can be inconvenient, expensive, and limited — people may need a clinic visit even when they only need basic screening, regular monitoring, or an initial indication of whether they need professional care. Who: individuals, parents monitoring children's vision, and organizations such as licensing agencies, airlines, and schools that need reliable screening. Today: clinic exams are comprehensive but require appointments, trained professionals, and equipment; simple charts and many remote tests are easier but focus mainly on basic visual acuity. Gap: current options force a tradeoff between convenience and depth, and may not support broader assessment, longitudinal tracking, different testing standards for different use cases, or consistent testing that organizations can rely on. Jobs to be done: functional (check vision without a clinic visit), monitoring (compare results over time), qualification (a trustworthy result an organization can accept), more complete assessment (beyond basic acuity), and emotional (a simple way to decide whether I need professional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2A plus our pre-work. OUR LIST = competitors we listed before using any AI: Snellen chart, the traditional comprehensive eye exam, Visibly, EyeQue, Peek Acuity, and WHOeyes. FROM AI = new names the AI's Stage-1 list surfaced: school screening programs, licensing-agency vision tests, employer/work qualification testing, and airline vision qualification testing. AI MISSED = Spot Vision Screener, a handheld automated screener used by clinics and schools that we added during fact-checking (2B). The AI's expanded view described product, segment, and approach for each; business models were not specified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2B, feeds Slide 1. We fact-checked the AI's descriptions against company websites and recent news. Visibly: offers an FDA-cleared digital vision test by phone or computer so eye-care professionals can remotely review results and renew prescriptions — the AI missed that it cannot replace a comprehensive clinical exam or diagnose ocular disease such as glaucoma or macular degeneration, and is limited to routine renewals for eligible patients. EyeQue: smartphone-attached optical hardware (refractometers) and apps for at-home refractive testing — the AI omitted that the hardware accessories add cost and friction compared with pure software or telehealth. Peek Acuity: a mobile app for rapid acuity screening in low-resource communities and schools — the AI failed to say it is strictly a screening and referral tool that cannot issue prescriptions. Spot Vision Screener (added): a handheld device clinics and schools use to screen for risk factors like amblyopia, myopia, and astigmatism — it requires expensive hardware and trained staff and lacks direct-to-consumer accessibility. Summary: none of these can replace a true diagnostic tool; required hardware strips away convenience; and none offers personalized testing with AI — Focal provides personalized testing and eye-health predictions, giving users a custom examination and a personal measure of their optical health and its trajectory.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3A and 3B. Our starting point (no AI): we placed competitors on accessibility (cost, time, equipment, need for a professional, ability to test remotely) and comprehensiveness (how many aspects of vision the test measures beyond basic acuity). The traditional exam sat top-left: most comprehensive, can detect eye disease, but needs an appointment, a professional, and clinic equipment. EyeQue and Visibly sat mid upper-right: at-home and slightly beyond a basic chart. Peek Acuity sat lower-right: free and quick but acuity-only. Snellen sat lower-left: acuity-only and usually in person. The AI's draft used Accessibility and Efficiency (x) and Assessment Capability and Depth (y), positioned all 11 competitors, and called EyeQue the closest consumer option to the upper-right.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3C, feeds Slide 2 (graded version). We kept the AI's axes — Accessibility and Efficiency (x) and Assessment Capability and Depth (y) — because they match the dimensions we drafted in pre-work and reflect the convenience-versus-depth tradeoff from 3A. We kept all 10 AI-identified competitors plus Spot Vision Screener, and made three moves. EyeQue moved down and slightly left: EyeQue states its products do not include any form of eye health exam, and it is registered with the FDA as a Class I device exempt from 510(k) review rather than cleared through it; it measures only acuity and refractive error, and the phone-mounted hardware users must buy lowers accessibility. Visibly moved left and down a little: it received FDA 510(k) clearance in 2022 as the first online visual acuity test, but that clearance limits it to adults 22 to 40, it is meant for renewing existing prescriptions, and some states restrict online eye exams; we placed it below EyeQue on depth because it only offers a self-administered acuity test. The Snellen chart moved right: printed charts are inexpensive, widely available, and need no appointment or special equipment, while depth stays low because it only measures acuity. Finally, we added Focal's target position in the top right. No current competitor is both highly accessible and comprehensive — the gap Focal aims to fill through app-based, dynamic testing — and most at-home tools aren't designed for the standardized, organization-ready testing that licensing agencies, airlines, and rental companies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4A — the AI-generated SWOT (unedited content, condensed for the slide). The AI chose EyeQue as the leader. Strengths: combines at-home access with acuity testing and refractive-error estimation; more depth than WHOeyes and Peek Acuity; self-administered testing addresses unnecessary clinic visits. Weaknesses: specialized phone-mounted hardware adds cost and setup friction; less comprehensive than an in-person exam and doesn't solve the disease-diagnosis gap; less evidence of institutional or regulatory acceptance than Visibly or traditional qualification testing. Opportunities: broader measures beyond acuity and refractive error; stronger longitudinal tracking; standardized workflows for organizations. Threats: Visibly can compete on remote convenience with clinician review and stronger regulatory credibility; comprehensive exams remain the reference; Spot and institutional programs may be preferred where organizations value dedicated hardware and controlled workflows. AI's view: EyeQue reduces access friction without collapsing to acuity alone, but its depth comes from added hardware rather than a fully software-based, institution-ready workflow. Our corrections (4B): we chose Visibly for our own SWOT; FDA approval is not an all-encompassing umbrella — Visibly's clearance is limited to ages 22 to 40, a sweet spot where eye-related issues are least common, so it is less groundbreaking than total clearance; and the AI did not mention the pushback services like Visibly and EyeQue are getting from optometry specialists around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4B — our own SWOT (no AI for the judgments), competitor: Visibly. Strengths: a remote, convenient, FDA-cleared acuity test and a nationwide network of licensed eye-care providers. Weaknesses: test scope limited mainly to acuity and prescription renewal; needs clinician review; FDA-cleared only for adults in the 22 to 40 range; at-home conditions may differ from test to test; reliant on retail and licensed-provider partners. Opportunities: broader vision testing, tracking over time, regulated screening; partnerships with retailers, contact-lens sellers, employers, and insurers; expansion of in-store testing that does not require professional staff. Threats: Visibly expands into broader testing; large eye-care companies build similar digital tools; clinics or regulators don't trust remote results; privacy or cybersecurity issues with stored sensitive healthcare data; opposition from optometry specialists and lobbyists (BigOpto). Items marked 'AI missed' are the two corrections we called out against the AI's SWOT.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direction from the SWOT, assembled from our own materials. Visibly today: a remote acuity test with clinician-reviewed prescription renewal, cleared for adults 22 to 40 with an existing prescription, acuity-only (the FDA states it does not screen for or diagnose eye disease), reliant on retail and licensed-provider partners, with a nationwide provider network. Focal's plan (Lean Canvas and SWOT opportunities): accessible routine testing, dynamic testing to reduce false positives, and personalized testing with curated predictions of visual health; early adopters are insurance providers, individual users, vehicle-renting agencies, and pediatric development; broader vision testing and tracking over time; a testing pipeline with compliance checks for licensing agencies and their constituents; channels through pilot medical examiners and airline safety teams, school nurses and pediatric offices, insurer member apps and auto telematics programs, a free 'Will I pass my DMV eye test?' checker, and rental-app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5C, feeds Slide 6 (graded version). Four categories: Access and service delivery, Cost and time, Assessment and monitoring, and Institutional and market fit. Cost and time is new relative to the AI's matrix: Affordability and Turnaround time come from our own starting attributes (5A), and Speed/convenience moved there from the AI's access category. Orange rings mark the 18 scores we changed from the AI's draft — evidence on the next slide. Licensing-agency and employer/work-qualification tests were removed because they are testing contexts rather than distinct products or service providers, and their procedures commonly use tools already in the matrix, such as acuity charts or professionally administered exams. No criteria were removed. Affordability and turnaround time for school-screening and airline-certification programs vary by jurisdiction and implementation, so treat those scores as approximate, program-dependent judgments.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5C — what we changed from the AI, with sources. Visibly: its FDA-cleared product assesses visual acuity and categorizes each eye as consistent or not with normal vision; the FDA states it does not screen for or diagnose eye disease (broader screening to none; depth to low). Regulatory readiness is scored for the overall platform: only the Visibly Digital Acuity Product is clinically tested and FDA-cleared, other products are not, and full refraction is still 'coming soon'. VDAP is intended for adults 22–40 and the consumer service requires an existing prescription, so it is unsuitable for school screening. Sources: FDA 510(k) summary, Visibly product information. EyeQue: VERAI requires a compatible smartphone and proprietary hardware and costs $129; measurement takes about 15 minutes, but a licensed provider must review before a prescription is issued; it measures refraction, acuity, pupillary distance, color vision, and contrast sensitivity, but does not evaluate glaucoma, cataracts, retinal disease, or ocular health. Sources: EyeQue VERAI and product overview. Peek Acuity: no licensed professional needed, but another person must administer it; the standalone app measures distance acuity only, displays but does not record results (Peek's separate organizational platform can collect data), is Android-only, and does not replace assessment by an eye-care professional. Sources: Peek Acuity, Peek validation evidence. WHOeyes: standardized tumbling-E test evaluated in three accuracy studies against ETDRS; distance control is automated on iOS but manual on Android; it does not detect peripheral defects or replace professional care. Sources: WHOeyes and its information sheet. School screening programs: vary by jurisdiction, equipment, screener training, and referral process; WHO flags false positives and negatives when training or equipment is inadequate; screening identifies children for referral, not diagnosis. Source: WHO vision-screening handbook. Airline qualification: FAA testing checks corrected or uncorrected acuity thresholds and does not perform refraction; it does include distance, near, intermediate, and color-vision standards. Source: FAA medical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6A — our learning and critical analysis (no AI). The vision-testing market is much more competitive and fragmented than we initially thought: traditional tests provide the greatest depth, while digital tools such as WHOeyes, Peek Acuity, Visibly, and EyeQue improve accessibility but vary significantly in capability, hardware requirements, and intended use. Some AI descriptions were too general — for example, EyeQue requires additional optical hardware rather than being purely software-based — and the AI initially missed Spot Vision Screener, an important hardware competitor. Insights: the market still involves a clear tradeoff between accessibility and assessment depth; reliability and standardization become more important when the customer is an organization; and a future product cannot compete only on convenience — it needs broader assessment, repeatable testing, and evidence that results are trustworthy. Before, we viewed the opportunity mainly as making vision testing easier to access remotely; now the stronger opportunity may be combining accessibility with broader assessment and longitudinal monitoring while maintaining standardized testing conditions. That changed how we think about differentiation and the target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6C — reflection on AI collaboration (no AI). What the AI lacked most is context: it brought up interesting points about competitors but didn't always recognize their significance — the primary example is that it didn't recognize the backlash competitors face from optometrists. Our Lean Canvas now identifies some of the hangups competitors have faced; instead of facing those head on, we can navigate a path that has already been cleared, so we have an easier barrier to entry. We also identified customers and channels competitors have not yet targeted, where we can claim share because no competitor is pursuing them. Using AI helped uncover the broader scope of our competition; with manual review, AI agents expedite initial research, letting us vet competitors and make market-entry decisions in a much more timely manner.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Parts 3A and 3C: our final quadrant shows that no current competitor is both highly accessible and comprehensive, which is the gap Focal aims to fill through app-based, dynamic testing. Most existing at-home tools aren't designed for the standardized, organization-ready testing that customers like licensing agencies, airlines, and rental companies need — a central part of our value proposition.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6B — our updated Lean Canvas (no AI), submitted as a separate file and reproduced here as written. Key metrics, cost structure, and revenue streams are still blank in the source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slideLayout" Target="../slideLayouts/slideLayout1.xml"/><Relationship Id="rId2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D"/>
        </a:solidFill>
      </p:bgPr>
    </p:bg>
    <p:spTree>
      <p:nvGrpSpPr>
        <p:cNvPr id="1" name=""/>
        <p:cNvGrpSpPr/>
        <p:nvPr/>
      </p:nvGrpSpPr>
      <p:grpSpPr>
        <a:xfrm>
          <a:off x="0" y="0"/>
          <a:ext cx="0" cy="0"/>
          <a:chOff x="0" y="0"/>
          <a:chExt cx="0" cy="0"/>
        </a:xfrm>
      </p:grpSpPr>
      <p:pic>
        <p:nvPicPr>
          <p:cNvPr id="2" name="Image 0" descr="Focal logo">    </p:cNvPr>
          <p:cNvPicPr>
            <a:picLocks noChangeAspect="1"/>
          </p:cNvPicPr>
          <p:nvPr/>
        </p:nvPicPr>
        <p:blipFill>
          <a:blip r:embed="rId1"/>
          <a:srcRect l="0" r="0" t="0" b="0"/>
          <a:stretch/>
        </p:blipFill>
        <p:spPr>
          <a:xfrm>
            <a:off x="812800" y="1333550"/>
            <a:ext cx="762000" cy="762000"/>
          </a:xfrm>
          <a:prstGeom prst="rect">
            <a:avLst/>
          </a:prstGeom>
        </p:spPr>
      </p:pic>
      <p:sp>
        <p:nvSpPr>
          <p:cNvPr id="3" name="Text 0"/>
          <p:cNvSpPr/>
          <p:nvPr/>
        </p:nvSpPr>
        <p:spPr>
          <a:xfrm>
            <a:off x="812800" y="2273350"/>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E9BE0"/>
                </a:solidFill>
                <a:latin typeface="IBM Plex Sans" pitchFamily="34" charset="0"/>
                <a:ea typeface="IBM Plex Sans" pitchFamily="34" charset="-122"/>
                <a:cs typeface="IBM Plex Sans" pitchFamily="34" charset="-120"/>
              </a:rPr>
              <a:t>COMPETITIVE LANDSCAPE ANALYSIS</a:t>
            </a:r>
            <a:endParaRPr lang="en-US" sz="1200" dirty="0"/>
          </a:p>
        </p:txBody>
      </p:sp>
      <p:sp>
        <p:nvSpPr>
          <p:cNvPr id="4" name="Text 1"/>
          <p:cNvSpPr/>
          <p:nvPr/>
        </p:nvSpPr>
        <p:spPr>
          <a:xfrm>
            <a:off x="812800" y="2588270"/>
            <a:ext cx="6540500" cy="1549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EEF2F8"/>
                </a:solidFill>
                <a:latin typeface="Space Grotesk" pitchFamily="34" charset="0"/>
                <a:ea typeface="Space Grotesk" pitchFamily="34" charset="-122"/>
                <a:cs typeface="Space Grotesk" pitchFamily="34" charset="-120"/>
              </a:rPr>
              <a:t>Focal</a:t>
            </a:r>
            <a:endParaRPr lang="en-US" sz="6000" dirty="0"/>
          </a:p>
          <a:p>
            <a:pPr algn="l" indent="0" marL="0">
              <a:lnSpc>
                <a:spcPts val="6000"/>
              </a:lnSpc>
              <a:buNone/>
            </a:pPr>
            <a:r>
              <a:rPr lang="en-US" sz="6000" b="1" spc="-150" kern="0" dirty="0">
                <a:solidFill>
                  <a:srgbClr val="EEF2F8"/>
                </a:solidFill>
                <a:latin typeface="Space Grotesk" pitchFamily="34" charset="0"/>
                <a:ea typeface="Space Grotesk" pitchFamily="34" charset="-122"/>
                <a:cs typeface="Space Grotesk" pitchFamily="34" charset="-120"/>
              </a:rPr>
              <a:t>Technologies</a:t>
            </a:r>
            <a:endParaRPr lang="en-US" sz="6000" dirty="0"/>
          </a:p>
        </p:txBody>
      </p:sp>
      <p:sp>
        <p:nvSpPr>
          <p:cNvPr id="5" name="Text 2"/>
          <p:cNvSpPr/>
          <p:nvPr/>
        </p:nvSpPr>
        <p:spPr>
          <a:xfrm>
            <a:off x="812800" y="4213870"/>
            <a:ext cx="65405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B5CB"/>
                </a:solidFill>
                <a:latin typeface="IBM Plex Sans" pitchFamily="34" charset="0"/>
                <a:ea typeface="IBM Plex Sans" pitchFamily="34" charset="-122"/>
                <a:cs typeface="IBM Plex Sans" pitchFamily="34" charset="-120"/>
              </a:rPr>
              <a:t>Vision testing: competitors, positioning, SWOT, and Harvey ball analysis</a:t>
            </a:r>
            <a:endParaRPr lang="en-US" sz="1400" dirty="0"/>
          </a:p>
        </p:txBody>
      </p:sp>
      <p:sp>
        <p:nvSpPr>
          <p:cNvPr id="6" name="Text 3"/>
          <p:cNvSpPr/>
          <p:nvPr/>
        </p:nvSpPr>
        <p:spPr>
          <a:xfrm>
            <a:off x="812800" y="4640560"/>
            <a:ext cx="6540500" cy="27429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EEF2F8"/>
                </a:solidFill>
                <a:latin typeface="IBM Plex Sans" pitchFamily="34" charset="0"/>
                <a:ea typeface="IBM Plex Sans" pitchFamily="34" charset="-122"/>
                <a:cs typeface="IBM Plex Sans" pitchFamily="34" charset="-120"/>
              </a:rPr>
              <a:t>“Creating simple and interpretable technology for wellness.”</a:t>
            </a:r>
            <a:endParaRPr lang="en-US" sz="1400" dirty="0"/>
          </a:p>
        </p:txBody>
      </p:sp>
      <p:sp>
        <p:nvSpPr>
          <p:cNvPr id="7" name="Text 4"/>
          <p:cNvSpPr/>
          <p:nvPr/>
        </p:nvSpPr>
        <p:spPr>
          <a:xfrm>
            <a:off x="812800" y="5067250"/>
            <a:ext cx="65405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8B5CB"/>
                </a:solidFill>
                <a:latin typeface="IBM Plex Sans" pitchFamily="34" charset="0"/>
                <a:ea typeface="IBM Plex Sans" pitchFamily="34" charset="-122"/>
                <a:cs typeface="IBM Plex Sans" pitchFamily="34" charset="-120"/>
              </a:rPr>
              <a:t>Haydn Stucker, CEO · Burak Donbekci, CTO · Hadley McCormack, CFO · Fan, CCO · Qingyi, CPO</a:t>
            </a:r>
            <a:endParaRPr lang="en-US" sz="1200" dirty="0"/>
          </a:p>
        </p:txBody>
      </p:sp>
      <p:sp>
        <p:nvSpPr>
          <p:cNvPr id="8" name="Text 5"/>
          <p:cNvSpPr/>
          <p:nvPr/>
        </p:nvSpPr>
        <p:spPr>
          <a:xfrm>
            <a:off x="7434707" y="952500"/>
            <a:ext cx="4002786" cy="1295400"/>
          </a:xfrm>
          <a:prstGeom prst="rect">
            <a:avLst/>
          </a:prstGeom>
          <a:noFill/>
          <a:ln/>
        </p:spPr>
        <p:txBody>
          <a:bodyPr wrap="none" lIns="0" tIns="0" rIns="0" bIns="0" rtlCol="0" anchor="t">
            <a:normAutofit/>
          </a:bodyPr>
          <a:lstStyle/>
          <a:p>
            <a:pPr algn="ctr" indent="0" marL="0">
              <a:lnSpc>
                <a:spcPts val="10000"/>
              </a:lnSpc>
              <a:buNone/>
            </a:pPr>
            <a:r>
              <a:rPr lang="en-US" sz="10000" b="1" spc="1000" kern="0" dirty="0">
                <a:solidFill>
                  <a:srgbClr val="EEF2F8"/>
                </a:solidFill>
                <a:latin typeface="Space Grotesk" pitchFamily="34" charset="0"/>
                <a:ea typeface="Space Grotesk" pitchFamily="34" charset="-122"/>
                <a:cs typeface="Space Grotesk" pitchFamily="34" charset="-120"/>
              </a:rPr>
              <a:t>E</a:t>
            </a:r>
            <a:endParaRPr lang="en-US" sz="10000" dirty="0"/>
          </a:p>
        </p:txBody>
      </p:sp>
      <p:sp>
        <p:nvSpPr>
          <p:cNvPr id="9" name="Text 6"/>
          <p:cNvSpPr/>
          <p:nvPr/>
        </p:nvSpPr>
        <p:spPr>
          <a:xfrm>
            <a:off x="7434707" y="2324100"/>
            <a:ext cx="4002786" cy="889000"/>
          </a:xfrm>
          <a:prstGeom prst="rect">
            <a:avLst/>
          </a:prstGeom>
          <a:noFill/>
          <a:ln/>
        </p:spPr>
        <p:txBody>
          <a:bodyPr wrap="none" lIns="0" tIns="0" rIns="0" bIns="0" rtlCol="0" anchor="t">
            <a:normAutofit/>
          </a:bodyPr>
          <a:lstStyle/>
          <a:p>
            <a:pPr algn="ctr" indent="0" marL="0">
              <a:lnSpc>
                <a:spcPts val="6800"/>
              </a:lnSpc>
              <a:buNone/>
            </a:pPr>
            <a:r>
              <a:rPr lang="en-US" sz="6800" b="1" spc="650" kern="0" dirty="0">
                <a:solidFill>
                  <a:srgbClr val="EEF2F8">
                    <a:alpha val="95000"/>
                  </a:srgbClr>
                </a:solidFill>
                <a:latin typeface="Space Grotesk" pitchFamily="34" charset="0"/>
                <a:ea typeface="Space Grotesk" pitchFamily="34" charset="-122"/>
                <a:cs typeface="Space Grotesk" pitchFamily="34" charset="-120"/>
              </a:rPr>
              <a:t>F P</a:t>
            </a:r>
            <a:endParaRPr lang="en-US" sz="6800" dirty="0"/>
          </a:p>
        </p:txBody>
      </p:sp>
      <p:sp>
        <p:nvSpPr>
          <p:cNvPr id="10" name="Text 7"/>
          <p:cNvSpPr/>
          <p:nvPr/>
        </p:nvSpPr>
        <p:spPr>
          <a:xfrm>
            <a:off x="7434707" y="3289300"/>
            <a:ext cx="4002786" cy="660400"/>
          </a:xfrm>
          <a:prstGeom prst="rect">
            <a:avLst/>
          </a:prstGeom>
          <a:noFill/>
          <a:ln/>
        </p:spPr>
        <p:txBody>
          <a:bodyPr wrap="none" lIns="0" tIns="0" rIns="0" bIns="0" rtlCol="0" anchor="t">
            <a:normAutofit/>
          </a:bodyPr>
          <a:lstStyle/>
          <a:p>
            <a:pPr algn="ctr" indent="0" marL="0">
              <a:lnSpc>
                <a:spcPts val="5000"/>
              </a:lnSpc>
              <a:buNone/>
            </a:pPr>
            <a:r>
              <a:rPr lang="en-US" sz="5000" b="1" spc="500" kern="0" dirty="0">
                <a:solidFill>
                  <a:srgbClr val="EEF2F8">
                    <a:alpha val="90000"/>
                  </a:srgbClr>
                </a:solidFill>
                <a:latin typeface="Space Grotesk" pitchFamily="34" charset="0"/>
                <a:ea typeface="Space Grotesk" pitchFamily="34" charset="-122"/>
                <a:cs typeface="Space Grotesk" pitchFamily="34" charset="-120"/>
              </a:rPr>
              <a:t>T O Z</a:t>
            </a:r>
            <a:endParaRPr lang="en-US" sz="5000" dirty="0"/>
          </a:p>
        </p:txBody>
      </p:sp>
      <p:sp>
        <p:nvSpPr>
          <p:cNvPr id="11" name="Text 8"/>
          <p:cNvSpPr/>
          <p:nvPr/>
        </p:nvSpPr>
        <p:spPr>
          <a:xfrm>
            <a:off x="7434707" y="4025900"/>
            <a:ext cx="4002786" cy="508000"/>
          </a:xfrm>
          <a:prstGeom prst="rect">
            <a:avLst/>
          </a:prstGeom>
          <a:noFill/>
          <a:ln/>
        </p:spPr>
        <p:txBody>
          <a:bodyPr wrap="none" lIns="0" tIns="0" rIns="0" bIns="0" rtlCol="0" anchor="t">
            <a:normAutofit/>
          </a:bodyPr>
          <a:lstStyle/>
          <a:p>
            <a:pPr algn="ctr" indent="0" marL="0">
              <a:lnSpc>
                <a:spcPts val="3800"/>
              </a:lnSpc>
              <a:buNone/>
            </a:pPr>
            <a:r>
              <a:rPr lang="en-US" sz="3800" b="1" spc="350" kern="0" dirty="0">
                <a:solidFill>
                  <a:srgbClr val="EEF2F8">
                    <a:alpha val="80000"/>
                  </a:srgbClr>
                </a:solidFill>
                <a:latin typeface="Space Grotesk" pitchFamily="34" charset="0"/>
                <a:ea typeface="Space Grotesk" pitchFamily="34" charset="-122"/>
                <a:cs typeface="Space Grotesk" pitchFamily="34" charset="-120"/>
              </a:rPr>
              <a:t>L P E D</a:t>
            </a:r>
            <a:endParaRPr lang="en-US" sz="3800" dirty="0"/>
          </a:p>
        </p:txBody>
      </p:sp>
      <p:sp>
        <p:nvSpPr>
          <p:cNvPr id="12" name="Text 9"/>
          <p:cNvSpPr/>
          <p:nvPr/>
        </p:nvSpPr>
        <p:spPr>
          <a:xfrm>
            <a:off x="7434707" y="4610100"/>
            <a:ext cx="4002786" cy="381000"/>
          </a:xfrm>
          <a:prstGeom prst="rect">
            <a:avLst/>
          </a:prstGeom>
          <a:noFill/>
          <a:ln/>
        </p:spPr>
        <p:txBody>
          <a:bodyPr wrap="none" lIns="0" tIns="0" rIns="0" bIns="0" rtlCol="0" anchor="t">
            <a:normAutofit/>
          </a:bodyPr>
          <a:lstStyle/>
          <a:p>
            <a:pPr algn="ctr" indent="0" marL="0">
              <a:lnSpc>
                <a:spcPts val="2800"/>
              </a:lnSpc>
              <a:buNone/>
            </a:pPr>
            <a:r>
              <a:rPr lang="en-US" sz="2800" b="1" spc="250" kern="0" dirty="0">
                <a:solidFill>
                  <a:srgbClr val="EEF2F8">
                    <a:alpha val="70000"/>
                  </a:srgbClr>
                </a:solidFill>
                <a:latin typeface="Space Grotesk" pitchFamily="34" charset="0"/>
                <a:ea typeface="Space Grotesk" pitchFamily="34" charset="-122"/>
                <a:cs typeface="Space Grotesk" pitchFamily="34" charset="-120"/>
              </a:rPr>
              <a:t>P E C F D</a:t>
            </a:r>
            <a:endParaRPr lang="en-US" sz="2800" dirty="0"/>
          </a:p>
        </p:txBody>
      </p:sp>
      <p:sp>
        <p:nvSpPr>
          <p:cNvPr id="13" name="Text 10"/>
          <p:cNvSpPr/>
          <p:nvPr/>
        </p:nvSpPr>
        <p:spPr>
          <a:xfrm>
            <a:off x="7434707" y="5067300"/>
            <a:ext cx="4002786" cy="304800"/>
          </a:xfrm>
          <a:prstGeom prst="rect">
            <a:avLst/>
          </a:prstGeom>
          <a:noFill/>
          <a:ln/>
        </p:spPr>
        <p:txBody>
          <a:bodyPr wrap="none" lIns="0" tIns="0" rIns="0" bIns="0" rtlCol="0" anchor="t">
            <a:normAutofit/>
          </a:bodyPr>
          <a:lstStyle/>
          <a:p>
            <a:pPr algn="ctr" indent="0" marL="0">
              <a:lnSpc>
                <a:spcPts val="2200"/>
              </a:lnSpc>
              <a:buNone/>
            </a:pPr>
            <a:r>
              <a:rPr lang="en-US" sz="2200" b="1" spc="200" kern="0" dirty="0">
                <a:solidFill>
                  <a:srgbClr val="EEF2F8">
                    <a:alpha val="60000"/>
                  </a:srgbClr>
                </a:solidFill>
                <a:latin typeface="Space Grotesk" pitchFamily="34" charset="0"/>
                <a:ea typeface="Space Grotesk" pitchFamily="34" charset="-122"/>
                <a:cs typeface="Space Grotesk" pitchFamily="34" charset="-120"/>
              </a:rPr>
              <a:t>E D F C Z P</a:t>
            </a:r>
            <a:endParaRPr lang="en-US" sz="2200" dirty="0"/>
          </a:p>
        </p:txBody>
      </p:sp>
      <p:sp>
        <p:nvSpPr>
          <p:cNvPr id="14" name="Text 11"/>
          <p:cNvSpPr/>
          <p:nvPr/>
        </p:nvSpPr>
        <p:spPr>
          <a:xfrm>
            <a:off x="7434707" y="5448300"/>
            <a:ext cx="4002786" cy="241300"/>
          </a:xfrm>
          <a:prstGeom prst="rect">
            <a:avLst/>
          </a:prstGeom>
          <a:noFill/>
          <a:ln/>
        </p:spPr>
        <p:txBody>
          <a:bodyPr wrap="none" lIns="0" tIns="0" rIns="0" bIns="0" rtlCol="0" anchor="t">
            <a:normAutofit/>
          </a:bodyPr>
          <a:lstStyle/>
          <a:p>
            <a:pPr algn="ctr" indent="0" marL="0">
              <a:lnSpc>
                <a:spcPts val="1700"/>
              </a:lnSpc>
              <a:buNone/>
            </a:pPr>
            <a:r>
              <a:rPr lang="en-US" sz="1700" b="1" spc="150" kern="0" dirty="0">
                <a:solidFill>
                  <a:srgbClr val="EEF2F8">
                    <a:alpha val="50000"/>
                  </a:srgbClr>
                </a:solidFill>
                <a:latin typeface="Space Grotesk" pitchFamily="34" charset="0"/>
                <a:ea typeface="Space Grotesk" pitchFamily="34" charset="-122"/>
                <a:cs typeface="Space Grotesk" pitchFamily="34" charset="-120"/>
              </a:rPr>
              <a:t>F E L O P Z D</a:t>
            </a:r>
            <a:endParaRPr lang="en-US" sz="1700" dirty="0"/>
          </a:p>
        </p:txBody>
      </p:sp>
      <p:sp>
        <p:nvSpPr>
          <p:cNvPr id="15" name="Text 12"/>
          <p:cNvSpPr/>
          <p:nvPr/>
        </p:nvSpPr>
        <p:spPr>
          <a:xfrm>
            <a:off x="7434707" y="5765800"/>
            <a:ext cx="4002786" cy="190500"/>
          </a:xfrm>
          <a:prstGeom prst="rect">
            <a:avLst/>
          </a:prstGeom>
          <a:noFill/>
          <a:ln/>
        </p:spPr>
        <p:txBody>
          <a:bodyPr wrap="none" lIns="0" tIns="0" rIns="0" bIns="0" rtlCol="0" anchor="t">
            <a:normAutofit/>
          </a:bodyPr>
          <a:lstStyle/>
          <a:p>
            <a:pPr algn="ctr" indent="0" marL="0">
              <a:lnSpc>
                <a:spcPts val="1300"/>
              </a:lnSpc>
              <a:buNone/>
            </a:pPr>
            <a:r>
              <a:rPr lang="en-US" sz="1300" b="1" spc="100" kern="0" dirty="0">
                <a:solidFill>
                  <a:srgbClr val="EEF2F8">
                    <a:alpha val="42000"/>
                  </a:srgbClr>
                </a:solidFill>
                <a:latin typeface="Space Grotesk" pitchFamily="34" charset="0"/>
                <a:ea typeface="Space Grotesk" pitchFamily="34" charset="-122"/>
                <a:cs typeface="Space Grotesk" pitchFamily="34" charset="-120"/>
              </a:rPr>
              <a:t>D E F P O T E 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Vision testing forces a tradeoff between convenience and depth</a:t>
            </a:r>
            <a:endParaRPr lang="en-US" sz="3000" dirty="0"/>
          </a:p>
        </p:txBody>
      </p:sp>
      <p:sp>
        <p:nvSpPr>
          <p:cNvPr id="3" name="Text 1"/>
          <p:cNvSpPr/>
          <p:nvPr/>
        </p:nvSpPr>
        <p:spPr>
          <a:xfrm>
            <a:off x="812800" y="1905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AAE"/>
                </a:solidFill>
                <a:latin typeface="IBM Plex Sans" pitchFamily="34" charset="0"/>
                <a:ea typeface="IBM Plex Sans" pitchFamily="34" charset="-122"/>
                <a:cs typeface="IBM Plex Sans" pitchFamily="34" charset="-120"/>
              </a:rPr>
              <a:t>WHO HAS THE PROBLEM</a:t>
            </a:r>
            <a:endParaRPr lang="en-US" sz="1200" dirty="0"/>
          </a:p>
        </p:txBody>
      </p:sp>
      <p:sp>
        <p:nvSpPr>
          <p:cNvPr id="4" name="Text 2"/>
          <p:cNvSpPr/>
          <p:nvPr/>
        </p:nvSpPr>
        <p:spPr>
          <a:xfrm>
            <a:off x="812800" y="2169120"/>
            <a:ext cx="497078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Individuals, parents monitoring their children’s vision, and organizations — licensing agencies, airlines, schools — that need reliable screening.</a:t>
            </a:r>
            <a:endParaRPr lang="en-US" sz="1400" dirty="0"/>
          </a:p>
        </p:txBody>
      </p:sp>
      <p:sp>
        <p:nvSpPr>
          <p:cNvPr id="5" name="Text 3"/>
          <p:cNvSpPr/>
          <p:nvPr/>
        </p:nvSpPr>
        <p:spPr>
          <a:xfrm>
            <a:off x="812800" y="309235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AAE"/>
                </a:solidFill>
                <a:latin typeface="IBM Plex Sans" pitchFamily="34" charset="0"/>
                <a:ea typeface="IBM Plex Sans" pitchFamily="34" charset="-122"/>
                <a:cs typeface="IBM Plex Sans" pitchFamily="34" charset="-120"/>
              </a:rPr>
              <a:t>HOW IT’S SOLVED TODAY</a:t>
            </a:r>
            <a:endParaRPr lang="en-US" sz="1200" dirty="0"/>
          </a:p>
        </p:txBody>
      </p:sp>
      <p:sp>
        <p:nvSpPr>
          <p:cNvPr id="6" name="Text 4"/>
          <p:cNvSpPr/>
          <p:nvPr/>
        </p:nvSpPr>
        <p:spPr>
          <a:xfrm>
            <a:off x="812800" y="3356471"/>
            <a:ext cx="497078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Clinic exams are comprehensive but need appointments, trained professionals, and equipment. Charts and remote tests are easier, but mostly check basic acuity.</a:t>
            </a:r>
            <a:endParaRPr lang="en-US" sz="1400" dirty="0"/>
          </a:p>
        </p:txBody>
      </p:sp>
      <p:sp>
        <p:nvSpPr>
          <p:cNvPr id="7" name="Text 5"/>
          <p:cNvSpPr/>
          <p:nvPr/>
        </p:nvSpPr>
        <p:spPr>
          <a:xfrm>
            <a:off x="812800" y="4279702"/>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AAE"/>
                </a:solidFill>
                <a:latin typeface="IBM Plex Sans" pitchFamily="34" charset="0"/>
                <a:ea typeface="IBM Plex Sans" pitchFamily="34" charset="-122"/>
                <a:cs typeface="IBM Plex Sans" pitchFamily="34" charset="-120"/>
              </a:rPr>
              <a:t>WHAT’S MISSING</a:t>
            </a:r>
            <a:endParaRPr lang="en-US" sz="1200" dirty="0"/>
          </a:p>
        </p:txBody>
      </p:sp>
      <p:sp>
        <p:nvSpPr>
          <p:cNvPr id="8" name="Text 6"/>
          <p:cNvSpPr/>
          <p:nvPr/>
        </p:nvSpPr>
        <p:spPr>
          <a:xfrm>
            <a:off x="812800" y="4543822"/>
            <a:ext cx="497078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Broader assessment, repeated tracking over time, testing standards for different use cases, and consistent results organizations can rely on.</a:t>
            </a:r>
            <a:endParaRPr lang="en-US" sz="1400" dirty="0"/>
          </a:p>
        </p:txBody>
      </p:sp>
      <p:sp>
        <p:nvSpPr>
          <p:cNvPr id="9" name="Text 7"/>
          <p:cNvSpPr/>
          <p:nvPr/>
        </p:nvSpPr>
        <p:spPr>
          <a:xfrm>
            <a:off x="6045200" y="19050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AAE"/>
                </a:solidFill>
                <a:latin typeface="IBM Plex Sans" pitchFamily="34" charset="0"/>
                <a:ea typeface="IBM Plex Sans" pitchFamily="34" charset="-122"/>
                <a:cs typeface="IBM Plex Sans" pitchFamily="34" charset="-120"/>
              </a:rPr>
              <a:t>JOBS TO BE DONE</a:t>
            </a:r>
            <a:endParaRPr lang="en-US" sz="1200" dirty="0"/>
          </a:p>
        </p:txBody>
      </p:sp>
      <p:sp>
        <p:nvSpPr>
          <p:cNvPr id="10" name="Shape 8"/>
          <p:cNvSpPr/>
          <p:nvPr/>
        </p:nvSpPr>
        <p:spPr>
          <a:xfrm>
            <a:off x="6048375" y="2197695"/>
            <a:ext cx="5327650" cy="621010"/>
          </a:xfrm>
          <a:prstGeom prst="roundRect">
            <a:avLst>
              <a:gd name="adj" fmla="val 13804"/>
            </a:avLst>
          </a:prstGeom>
          <a:solidFill>
            <a:srgbClr val="FBFCFE"/>
          </a:solidFill>
          <a:ln w="6350">
            <a:solidFill>
              <a:srgbClr val="D9DFEA"/>
            </a:solidFill>
            <a:prstDash val="solid"/>
          </a:ln>
        </p:spPr>
      </p:sp>
      <p:sp>
        <p:nvSpPr>
          <p:cNvPr id="11" name="Text 9"/>
          <p:cNvSpPr/>
          <p:nvPr/>
        </p:nvSpPr>
        <p:spPr>
          <a:xfrm>
            <a:off x="6203950" y="2412950"/>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Functional</a:t>
            </a:r>
            <a:endParaRPr lang="en-US" sz="1200" dirty="0"/>
          </a:p>
        </p:txBody>
      </p:sp>
      <p:sp>
        <p:nvSpPr>
          <p:cNvPr id="12" name="Text 10"/>
          <p:cNvSpPr/>
          <p:nvPr/>
        </p:nvSpPr>
        <p:spPr>
          <a:xfrm>
            <a:off x="7753350" y="2302470"/>
            <a:ext cx="357111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See how well I can see without a clinic visit, travel, or an appointment.</a:t>
            </a:r>
            <a:endParaRPr lang="en-US" sz="1200" dirty="0"/>
          </a:p>
        </p:txBody>
      </p:sp>
      <p:sp>
        <p:nvSpPr>
          <p:cNvPr id="13" name="Shape 11"/>
          <p:cNvSpPr/>
          <p:nvPr/>
        </p:nvSpPr>
        <p:spPr>
          <a:xfrm>
            <a:off x="6048375" y="2901255"/>
            <a:ext cx="5327650" cy="621010"/>
          </a:xfrm>
          <a:prstGeom prst="roundRect">
            <a:avLst>
              <a:gd name="adj" fmla="val 13804"/>
            </a:avLst>
          </a:prstGeom>
          <a:solidFill>
            <a:srgbClr val="FBFCFE"/>
          </a:solidFill>
          <a:ln w="6350">
            <a:solidFill>
              <a:srgbClr val="D9DFEA"/>
            </a:solidFill>
            <a:prstDash val="solid"/>
          </a:ln>
        </p:spPr>
      </p:sp>
      <p:sp>
        <p:nvSpPr>
          <p:cNvPr id="14" name="Text 12"/>
          <p:cNvSpPr/>
          <p:nvPr/>
        </p:nvSpPr>
        <p:spPr>
          <a:xfrm>
            <a:off x="6203950" y="3116511"/>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Monitoring</a:t>
            </a:r>
            <a:endParaRPr lang="en-US" sz="1200" dirty="0"/>
          </a:p>
        </p:txBody>
      </p:sp>
      <p:sp>
        <p:nvSpPr>
          <p:cNvPr id="15" name="Text 13"/>
          <p:cNvSpPr/>
          <p:nvPr/>
        </p:nvSpPr>
        <p:spPr>
          <a:xfrm>
            <a:off x="7753350" y="3006030"/>
            <a:ext cx="357111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Compare results over time so I notice problems early.</a:t>
            </a:r>
            <a:endParaRPr lang="en-US" sz="1200" dirty="0"/>
          </a:p>
        </p:txBody>
      </p:sp>
      <p:sp>
        <p:nvSpPr>
          <p:cNvPr id="16" name="Shape 14"/>
          <p:cNvSpPr/>
          <p:nvPr/>
        </p:nvSpPr>
        <p:spPr>
          <a:xfrm>
            <a:off x="6048375" y="3604816"/>
            <a:ext cx="5327650" cy="621010"/>
          </a:xfrm>
          <a:prstGeom prst="roundRect">
            <a:avLst>
              <a:gd name="adj" fmla="val 13804"/>
            </a:avLst>
          </a:prstGeom>
          <a:solidFill>
            <a:srgbClr val="FBFCFE"/>
          </a:solidFill>
          <a:ln w="6350">
            <a:solidFill>
              <a:srgbClr val="D9DFEA"/>
            </a:solidFill>
            <a:prstDash val="solid"/>
          </a:ln>
        </p:spPr>
      </p:sp>
      <p:sp>
        <p:nvSpPr>
          <p:cNvPr id="17" name="Text 15"/>
          <p:cNvSpPr/>
          <p:nvPr/>
        </p:nvSpPr>
        <p:spPr>
          <a:xfrm>
            <a:off x="6203950" y="3820071"/>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Qualification</a:t>
            </a:r>
            <a:endParaRPr lang="en-US" sz="1200" dirty="0"/>
          </a:p>
        </p:txBody>
      </p:sp>
      <p:sp>
        <p:nvSpPr>
          <p:cNvPr id="18" name="Text 16"/>
          <p:cNvSpPr/>
          <p:nvPr/>
        </p:nvSpPr>
        <p:spPr>
          <a:xfrm>
            <a:off x="7753350" y="3709591"/>
            <a:ext cx="357111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Prove I meet a vision standard with a result the organization will accept.</a:t>
            </a:r>
            <a:endParaRPr lang="en-US" sz="1200" dirty="0"/>
          </a:p>
        </p:txBody>
      </p:sp>
      <p:sp>
        <p:nvSpPr>
          <p:cNvPr id="19" name="Shape 17"/>
          <p:cNvSpPr/>
          <p:nvPr/>
        </p:nvSpPr>
        <p:spPr>
          <a:xfrm>
            <a:off x="6048375" y="4308376"/>
            <a:ext cx="5327650" cy="590550"/>
          </a:xfrm>
          <a:prstGeom prst="roundRect">
            <a:avLst>
              <a:gd name="adj" fmla="val 14516"/>
            </a:avLst>
          </a:prstGeom>
          <a:solidFill>
            <a:srgbClr val="FBFCFE"/>
          </a:solidFill>
          <a:ln w="6350">
            <a:solidFill>
              <a:srgbClr val="D9DFEA"/>
            </a:solidFill>
            <a:prstDash val="solid"/>
          </a:ln>
        </p:spPr>
      </p:sp>
      <p:sp>
        <p:nvSpPr>
          <p:cNvPr id="20" name="Text 18"/>
          <p:cNvSpPr/>
          <p:nvPr/>
        </p:nvSpPr>
        <p:spPr>
          <a:xfrm>
            <a:off x="6203950" y="4413151"/>
            <a:ext cx="14478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More complete assessment</a:t>
            </a:r>
            <a:endParaRPr lang="en-US" sz="1200" dirty="0"/>
          </a:p>
        </p:txBody>
      </p:sp>
      <p:sp>
        <p:nvSpPr>
          <p:cNvPr id="21" name="Text 19"/>
          <p:cNvSpPr/>
          <p:nvPr/>
        </p:nvSpPr>
        <p:spPr>
          <a:xfrm>
            <a:off x="7753350" y="4500761"/>
            <a:ext cx="3571113"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Understand parts of my vision beyond basic acuity.</a:t>
            </a:r>
            <a:endParaRPr lang="en-US" sz="1200" dirty="0"/>
          </a:p>
        </p:txBody>
      </p:sp>
      <p:sp>
        <p:nvSpPr>
          <p:cNvPr id="22" name="Shape 20"/>
          <p:cNvSpPr/>
          <p:nvPr/>
        </p:nvSpPr>
        <p:spPr>
          <a:xfrm>
            <a:off x="6048375" y="4981476"/>
            <a:ext cx="5327650" cy="621010"/>
          </a:xfrm>
          <a:prstGeom prst="roundRect">
            <a:avLst>
              <a:gd name="adj" fmla="val 13804"/>
            </a:avLst>
          </a:prstGeom>
          <a:solidFill>
            <a:srgbClr val="FBFCFE"/>
          </a:solidFill>
          <a:ln w="6350">
            <a:solidFill>
              <a:srgbClr val="D9DFEA"/>
            </a:solidFill>
            <a:prstDash val="solid"/>
          </a:ln>
        </p:spPr>
      </p:sp>
      <p:sp>
        <p:nvSpPr>
          <p:cNvPr id="23" name="Text 21"/>
          <p:cNvSpPr/>
          <p:nvPr/>
        </p:nvSpPr>
        <p:spPr>
          <a:xfrm>
            <a:off x="6203950" y="5196731"/>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Emotional</a:t>
            </a:r>
            <a:endParaRPr lang="en-US" sz="1200" dirty="0"/>
          </a:p>
        </p:txBody>
      </p:sp>
      <p:sp>
        <p:nvSpPr>
          <p:cNvPr id="24" name="Text 22"/>
          <p:cNvSpPr/>
          <p:nvPr/>
        </p:nvSpPr>
        <p:spPr>
          <a:xfrm>
            <a:off x="7753350" y="5086251"/>
            <a:ext cx="357111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A simple check to decide whether I need professional care.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Eleven competitors: six from our own research, four from the AI, one it missed</a:t>
            </a:r>
            <a:endParaRPr lang="en-US" sz="3000" dirty="0"/>
          </a:p>
        </p:txBody>
      </p:sp>
      <p:sp>
        <p:nvSpPr>
          <p:cNvPr id="3" name="Text 1"/>
          <p:cNvSpPr/>
          <p:nvPr/>
        </p:nvSpPr>
        <p:spPr>
          <a:xfrm>
            <a:off x="812800" y="1905000"/>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A82"/>
                </a:solidFill>
                <a:latin typeface="IBM Plex Sans" pitchFamily="34" charset="0"/>
                <a:ea typeface="IBM Plex Sans" pitchFamily="34" charset="-122"/>
                <a:cs typeface="IBM Plex Sans" pitchFamily="34" charset="-120"/>
              </a:rPr>
              <a:t>CLINICAL &amp; IN-PERSON</a:t>
            </a:r>
            <a:endParaRPr lang="en-US" sz="1200" dirty="0"/>
          </a:p>
        </p:txBody>
      </p:sp>
      <p:sp>
        <p:nvSpPr>
          <p:cNvPr id="4" name="Shape 2"/>
          <p:cNvSpPr/>
          <p:nvPr/>
        </p:nvSpPr>
        <p:spPr>
          <a:xfrm>
            <a:off x="815975" y="2210395"/>
            <a:ext cx="3380284" cy="872381"/>
          </a:xfrm>
          <a:prstGeom prst="roundRect">
            <a:avLst>
              <a:gd name="adj" fmla="val 9827"/>
            </a:avLst>
          </a:prstGeom>
          <a:solidFill>
            <a:srgbClr val="FBFCFE"/>
          </a:solidFill>
          <a:ln w="6350">
            <a:solidFill>
              <a:srgbClr val="D9DFEA"/>
            </a:solidFill>
            <a:prstDash val="solid"/>
          </a:ln>
        </p:spPr>
      </p:sp>
      <p:sp>
        <p:nvSpPr>
          <p:cNvPr id="5" name="Text 3"/>
          <p:cNvSpPr/>
          <p:nvPr/>
        </p:nvSpPr>
        <p:spPr>
          <a:xfrm>
            <a:off x="958850" y="2315170"/>
            <a:ext cx="2206192"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Comprehensive eye exam</a:t>
            </a:r>
            <a:endParaRPr lang="en-US" sz="1400" dirty="0"/>
          </a:p>
        </p:txBody>
      </p:sp>
      <p:sp>
        <p:nvSpPr>
          <p:cNvPr id="6" name="Shape 4"/>
          <p:cNvSpPr/>
          <p:nvPr/>
        </p:nvSpPr>
        <p:spPr>
          <a:xfrm>
            <a:off x="3176984" y="2315170"/>
            <a:ext cx="876399" cy="238720"/>
          </a:xfrm>
          <a:prstGeom prst="roundRect">
            <a:avLst>
              <a:gd name="adj" fmla="val 21280"/>
            </a:avLst>
          </a:prstGeom>
          <a:solidFill>
            <a:srgbClr val="10265F"/>
          </a:solidFill>
          <a:ln/>
        </p:spPr>
      </p:sp>
      <p:sp>
        <p:nvSpPr>
          <p:cNvPr id="7" name="Text 5"/>
          <p:cNvSpPr/>
          <p:nvPr/>
        </p:nvSpPr>
        <p:spPr>
          <a:xfrm>
            <a:off x="3253184" y="2327870"/>
            <a:ext cx="774799"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OUR LIST</a:t>
            </a:r>
            <a:endParaRPr lang="en-US" sz="1200" dirty="0"/>
          </a:p>
        </p:txBody>
      </p:sp>
      <p:sp>
        <p:nvSpPr>
          <p:cNvPr id="8" name="Text 6"/>
          <p:cNvSpPr/>
          <p:nvPr/>
        </p:nvSpPr>
        <p:spPr>
          <a:xfrm>
            <a:off x="958850" y="2779911"/>
            <a:ext cx="31873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In-person, multi-test clinical exam</a:t>
            </a:r>
            <a:endParaRPr lang="en-US" sz="1200" dirty="0"/>
          </a:p>
        </p:txBody>
      </p:sp>
      <p:sp>
        <p:nvSpPr>
          <p:cNvPr id="9" name="Shape 7"/>
          <p:cNvSpPr/>
          <p:nvPr/>
        </p:nvSpPr>
        <p:spPr>
          <a:xfrm>
            <a:off x="815975" y="3178026"/>
            <a:ext cx="3380284" cy="684461"/>
          </a:xfrm>
          <a:prstGeom prst="roundRect">
            <a:avLst>
              <a:gd name="adj" fmla="val 12524"/>
            </a:avLst>
          </a:prstGeom>
          <a:solidFill>
            <a:srgbClr val="FBFCFE"/>
          </a:solidFill>
          <a:ln w="6350">
            <a:solidFill>
              <a:srgbClr val="D9DFEA"/>
            </a:solidFill>
            <a:prstDash val="solid"/>
          </a:ln>
        </p:spPr>
      </p:sp>
      <p:sp>
        <p:nvSpPr>
          <p:cNvPr id="10" name="Text 8"/>
          <p:cNvSpPr/>
          <p:nvPr/>
        </p:nvSpPr>
        <p:spPr>
          <a:xfrm>
            <a:off x="958850" y="3282801"/>
            <a:ext cx="22061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Snellen chart</a:t>
            </a:r>
            <a:endParaRPr lang="en-US" sz="1400" dirty="0"/>
          </a:p>
        </p:txBody>
      </p:sp>
      <p:sp>
        <p:nvSpPr>
          <p:cNvPr id="11" name="Shape 9"/>
          <p:cNvSpPr/>
          <p:nvPr/>
        </p:nvSpPr>
        <p:spPr>
          <a:xfrm>
            <a:off x="3176984" y="3282801"/>
            <a:ext cx="876399" cy="238720"/>
          </a:xfrm>
          <a:prstGeom prst="roundRect">
            <a:avLst>
              <a:gd name="adj" fmla="val 21280"/>
            </a:avLst>
          </a:prstGeom>
          <a:solidFill>
            <a:srgbClr val="10265F"/>
          </a:solidFill>
          <a:ln/>
        </p:spPr>
      </p:sp>
      <p:sp>
        <p:nvSpPr>
          <p:cNvPr id="12" name="Text 10"/>
          <p:cNvSpPr/>
          <p:nvPr/>
        </p:nvSpPr>
        <p:spPr>
          <a:xfrm>
            <a:off x="3253184" y="3295501"/>
            <a:ext cx="774799"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OUR LIST</a:t>
            </a:r>
            <a:endParaRPr lang="en-US" sz="1200" dirty="0"/>
          </a:p>
        </p:txBody>
      </p:sp>
      <p:sp>
        <p:nvSpPr>
          <p:cNvPr id="13" name="Text 11"/>
          <p:cNvSpPr/>
          <p:nvPr/>
        </p:nvSpPr>
        <p:spPr>
          <a:xfrm>
            <a:off x="958850" y="3559621"/>
            <a:ext cx="31873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Wall chart in clinics, DMVs, schools</a:t>
            </a:r>
            <a:endParaRPr lang="en-US" sz="1200" dirty="0"/>
          </a:p>
        </p:txBody>
      </p:sp>
      <p:sp>
        <p:nvSpPr>
          <p:cNvPr id="14" name="Shape 12"/>
          <p:cNvSpPr/>
          <p:nvPr/>
        </p:nvSpPr>
        <p:spPr>
          <a:xfrm>
            <a:off x="815975" y="3957737"/>
            <a:ext cx="3380284" cy="684461"/>
          </a:xfrm>
          <a:prstGeom prst="roundRect">
            <a:avLst>
              <a:gd name="adj" fmla="val 12524"/>
            </a:avLst>
          </a:prstGeom>
          <a:solidFill>
            <a:srgbClr val="FBFCFE"/>
          </a:solidFill>
          <a:ln w="6350">
            <a:solidFill>
              <a:srgbClr val="D9DFEA"/>
            </a:solidFill>
            <a:prstDash val="solid"/>
          </a:ln>
        </p:spPr>
      </p:sp>
      <p:sp>
        <p:nvSpPr>
          <p:cNvPr id="15" name="Text 13"/>
          <p:cNvSpPr/>
          <p:nvPr/>
        </p:nvSpPr>
        <p:spPr>
          <a:xfrm>
            <a:off x="958850" y="4062512"/>
            <a:ext cx="209730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Spot Vision Screener</a:t>
            </a:r>
            <a:endParaRPr lang="en-US" sz="1400" dirty="0"/>
          </a:p>
        </p:txBody>
      </p:sp>
      <p:sp>
        <p:nvSpPr>
          <p:cNvPr id="16" name="Shape 14"/>
          <p:cNvSpPr/>
          <p:nvPr/>
        </p:nvSpPr>
        <p:spPr>
          <a:xfrm>
            <a:off x="3071267" y="4062512"/>
            <a:ext cx="982117" cy="238720"/>
          </a:xfrm>
          <a:prstGeom prst="roundRect">
            <a:avLst>
              <a:gd name="adj" fmla="val 21280"/>
            </a:avLst>
          </a:prstGeom>
          <a:solidFill>
            <a:srgbClr val="B0521A"/>
          </a:solidFill>
          <a:ln/>
        </p:spPr>
      </p:sp>
      <p:sp>
        <p:nvSpPr>
          <p:cNvPr id="17" name="Text 15"/>
          <p:cNvSpPr/>
          <p:nvPr/>
        </p:nvSpPr>
        <p:spPr>
          <a:xfrm>
            <a:off x="3147467" y="4075212"/>
            <a:ext cx="880517"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AI MISSED</a:t>
            </a:r>
            <a:endParaRPr lang="en-US" sz="1200" dirty="0"/>
          </a:p>
        </p:txBody>
      </p:sp>
      <p:sp>
        <p:nvSpPr>
          <p:cNvPr id="18" name="Text 16"/>
          <p:cNvSpPr/>
          <p:nvPr/>
        </p:nvSpPr>
        <p:spPr>
          <a:xfrm>
            <a:off x="958850" y="4339332"/>
            <a:ext cx="31873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Handheld automated screening device</a:t>
            </a:r>
            <a:endParaRPr lang="en-US" sz="1200" dirty="0"/>
          </a:p>
        </p:txBody>
      </p:sp>
      <p:sp>
        <p:nvSpPr>
          <p:cNvPr id="19" name="Text 17"/>
          <p:cNvSpPr/>
          <p:nvPr/>
        </p:nvSpPr>
        <p:spPr>
          <a:xfrm>
            <a:off x="4402634" y="1905000"/>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A82"/>
                </a:solidFill>
                <a:latin typeface="IBM Plex Sans" pitchFamily="34" charset="0"/>
                <a:ea typeface="IBM Plex Sans" pitchFamily="34" charset="-122"/>
                <a:cs typeface="IBM Plex Sans" pitchFamily="34" charset="-120"/>
              </a:rPr>
              <a:t>AT-HOME &amp; DIGITAL</a:t>
            </a:r>
            <a:endParaRPr lang="en-US" sz="1200" dirty="0"/>
          </a:p>
        </p:txBody>
      </p:sp>
      <p:sp>
        <p:nvSpPr>
          <p:cNvPr id="20" name="Shape 18"/>
          <p:cNvSpPr/>
          <p:nvPr/>
        </p:nvSpPr>
        <p:spPr>
          <a:xfrm>
            <a:off x="4405809" y="2210395"/>
            <a:ext cx="3380333" cy="684461"/>
          </a:xfrm>
          <a:prstGeom prst="roundRect">
            <a:avLst>
              <a:gd name="adj" fmla="val 12524"/>
            </a:avLst>
          </a:prstGeom>
          <a:solidFill>
            <a:srgbClr val="FBFCFE"/>
          </a:solidFill>
          <a:ln w="6350">
            <a:solidFill>
              <a:srgbClr val="D9DFEA"/>
            </a:solidFill>
            <a:prstDash val="solid"/>
          </a:ln>
        </p:spPr>
      </p:sp>
      <p:sp>
        <p:nvSpPr>
          <p:cNvPr id="21" name="Text 19"/>
          <p:cNvSpPr/>
          <p:nvPr/>
        </p:nvSpPr>
        <p:spPr>
          <a:xfrm>
            <a:off x="4548684" y="2315170"/>
            <a:ext cx="220624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Visibly</a:t>
            </a:r>
            <a:endParaRPr lang="en-US" sz="1400" dirty="0"/>
          </a:p>
        </p:txBody>
      </p:sp>
      <p:sp>
        <p:nvSpPr>
          <p:cNvPr id="22" name="Shape 20"/>
          <p:cNvSpPr/>
          <p:nvPr/>
        </p:nvSpPr>
        <p:spPr>
          <a:xfrm>
            <a:off x="6766868" y="2315170"/>
            <a:ext cx="876399" cy="238720"/>
          </a:xfrm>
          <a:prstGeom prst="roundRect">
            <a:avLst>
              <a:gd name="adj" fmla="val 21280"/>
            </a:avLst>
          </a:prstGeom>
          <a:solidFill>
            <a:srgbClr val="10265F"/>
          </a:solidFill>
          <a:ln/>
        </p:spPr>
      </p:sp>
      <p:sp>
        <p:nvSpPr>
          <p:cNvPr id="23" name="Text 21"/>
          <p:cNvSpPr/>
          <p:nvPr/>
        </p:nvSpPr>
        <p:spPr>
          <a:xfrm>
            <a:off x="6843068" y="2327870"/>
            <a:ext cx="774799"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OUR LIST</a:t>
            </a:r>
            <a:endParaRPr lang="en-US" sz="1200" dirty="0"/>
          </a:p>
        </p:txBody>
      </p:sp>
      <p:sp>
        <p:nvSpPr>
          <p:cNvPr id="24" name="Text 22"/>
          <p:cNvSpPr/>
          <p:nvPr/>
        </p:nvSpPr>
        <p:spPr>
          <a:xfrm>
            <a:off x="4548684" y="2591991"/>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Remote acuity test for Rx renewal</a:t>
            </a:r>
            <a:endParaRPr lang="en-US" sz="1200" dirty="0"/>
          </a:p>
        </p:txBody>
      </p:sp>
      <p:sp>
        <p:nvSpPr>
          <p:cNvPr id="25" name="Shape 23"/>
          <p:cNvSpPr/>
          <p:nvPr/>
        </p:nvSpPr>
        <p:spPr>
          <a:xfrm>
            <a:off x="4405809" y="2990106"/>
            <a:ext cx="3380333" cy="684461"/>
          </a:xfrm>
          <a:prstGeom prst="roundRect">
            <a:avLst>
              <a:gd name="adj" fmla="val 12524"/>
            </a:avLst>
          </a:prstGeom>
          <a:solidFill>
            <a:srgbClr val="FBFCFE"/>
          </a:solidFill>
          <a:ln w="6350">
            <a:solidFill>
              <a:srgbClr val="D9DFEA"/>
            </a:solidFill>
            <a:prstDash val="solid"/>
          </a:ln>
        </p:spPr>
      </p:sp>
      <p:sp>
        <p:nvSpPr>
          <p:cNvPr id="26" name="Text 24"/>
          <p:cNvSpPr/>
          <p:nvPr/>
        </p:nvSpPr>
        <p:spPr>
          <a:xfrm>
            <a:off x="4548684" y="3094881"/>
            <a:ext cx="220624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EyeQue</a:t>
            </a:r>
            <a:endParaRPr lang="en-US" sz="1400" dirty="0"/>
          </a:p>
        </p:txBody>
      </p:sp>
      <p:sp>
        <p:nvSpPr>
          <p:cNvPr id="27" name="Shape 25"/>
          <p:cNvSpPr/>
          <p:nvPr/>
        </p:nvSpPr>
        <p:spPr>
          <a:xfrm>
            <a:off x="6766868" y="3094881"/>
            <a:ext cx="876399" cy="238720"/>
          </a:xfrm>
          <a:prstGeom prst="roundRect">
            <a:avLst>
              <a:gd name="adj" fmla="val 21280"/>
            </a:avLst>
          </a:prstGeom>
          <a:solidFill>
            <a:srgbClr val="10265F"/>
          </a:solidFill>
          <a:ln/>
        </p:spPr>
      </p:sp>
      <p:sp>
        <p:nvSpPr>
          <p:cNvPr id="28" name="Text 26"/>
          <p:cNvSpPr/>
          <p:nvPr/>
        </p:nvSpPr>
        <p:spPr>
          <a:xfrm>
            <a:off x="6843068" y="3107581"/>
            <a:ext cx="774799"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OUR LIST</a:t>
            </a:r>
            <a:endParaRPr lang="en-US" sz="1200" dirty="0"/>
          </a:p>
        </p:txBody>
      </p:sp>
      <p:sp>
        <p:nvSpPr>
          <p:cNvPr id="29" name="Text 27"/>
          <p:cNvSpPr/>
          <p:nvPr/>
        </p:nvSpPr>
        <p:spPr>
          <a:xfrm>
            <a:off x="4548684" y="3371701"/>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Phone tests plus optical add-ons</a:t>
            </a:r>
            <a:endParaRPr lang="en-US" sz="1200" dirty="0"/>
          </a:p>
        </p:txBody>
      </p:sp>
      <p:sp>
        <p:nvSpPr>
          <p:cNvPr id="30" name="Shape 28"/>
          <p:cNvSpPr/>
          <p:nvPr/>
        </p:nvSpPr>
        <p:spPr>
          <a:xfrm>
            <a:off x="4405809" y="3769816"/>
            <a:ext cx="3380333" cy="684461"/>
          </a:xfrm>
          <a:prstGeom prst="roundRect">
            <a:avLst>
              <a:gd name="adj" fmla="val 12524"/>
            </a:avLst>
          </a:prstGeom>
          <a:solidFill>
            <a:srgbClr val="FBFCFE"/>
          </a:solidFill>
          <a:ln w="6350">
            <a:solidFill>
              <a:srgbClr val="D9DFEA"/>
            </a:solidFill>
            <a:prstDash val="solid"/>
          </a:ln>
        </p:spPr>
      </p:sp>
      <p:sp>
        <p:nvSpPr>
          <p:cNvPr id="31" name="Text 29"/>
          <p:cNvSpPr/>
          <p:nvPr/>
        </p:nvSpPr>
        <p:spPr>
          <a:xfrm>
            <a:off x="4548684" y="3874591"/>
            <a:ext cx="220624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Peek Acuity</a:t>
            </a:r>
            <a:endParaRPr lang="en-US" sz="1400" dirty="0"/>
          </a:p>
        </p:txBody>
      </p:sp>
      <p:sp>
        <p:nvSpPr>
          <p:cNvPr id="32" name="Shape 30"/>
          <p:cNvSpPr/>
          <p:nvPr/>
        </p:nvSpPr>
        <p:spPr>
          <a:xfrm>
            <a:off x="6766868" y="3874591"/>
            <a:ext cx="876399" cy="238720"/>
          </a:xfrm>
          <a:prstGeom prst="roundRect">
            <a:avLst>
              <a:gd name="adj" fmla="val 21280"/>
            </a:avLst>
          </a:prstGeom>
          <a:solidFill>
            <a:srgbClr val="10265F"/>
          </a:solidFill>
          <a:ln/>
        </p:spPr>
      </p:sp>
      <p:sp>
        <p:nvSpPr>
          <p:cNvPr id="33" name="Text 31"/>
          <p:cNvSpPr/>
          <p:nvPr/>
        </p:nvSpPr>
        <p:spPr>
          <a:xfrm>
            <a:off x="6843068" y="3887291"/>
            <a:ext cx="774799"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OUR LIST</a:t>
            </a:r>
            <a:endParaRPr lang="en-US" sz="1200" dirty="0"/>
          </a:p>
        </p:txBody>
      </p:sp>
      <p:sp>
        <p:nvSpPr>
          <p:cNvPr id="34" name="Text 32"/>
          <p:cNvSpPr/>
          <p:nvPr/>
        </p:nvSpPr>
        <p:spPr>
          <a:xfrm>
            <a:off x="4548684" y="4151412"/>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Smartphone acuity screening</a:t>
            </a:r>
            <a:endParaRPr lang="en-US" sz="1200" dirty="0"/>
          </a:p>
        </p:txBody>
      </p:sp>
      <p:sp>
        <p:nvSpPr>
          <p:cNvPr id="35" name="Shape 33"/>
          <p:cNvSpPr/>
          <p:nvPr/>
        </p:nvSpPr>
        <p:spPr>
          <a:xfrm>
            <a:off x="4405809" y="4549527"/>
            <a:ext cx="3380333" cy="684461"/>
          </a:xfrm>
          <a:prstGeom prst="roundRect">
            <a:avLst>
              <a:gd name="adj" fmla="val 12524"/>
            </a:avLst>
          </a:prstGeom>
          <a:solidFill>
            <a:srgbClr val="FBFCFE"/>
          </a:solidFill>
          <a:ln w="6350">
            <a:solidFill>
              <a:srgbClr val="D9DFEA"/>
            </a:solidFill>
            <a:prstDash val="solid"/>
          </a:ln>
        </p:spPr>
      </p:sp>
      <p:sp>
        <p:nvSpPr>
          <p:cNvPr id="36" name="Text 34"/>
          <p:cNvSpPr/>
          <p:nvPr/>
        </p:nvSpPr>
        <p:spPr>
          <a:xfrm>
            <a:off x="4548684" y="4654302"/>
            <a:ext cx="220624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WHOeyes</a:t>
            </a:r>
            <a:endParaRPr lang="en-US" sz="1400" dirty="0"/>
          </a:p>
        </p:txBody>
      </p:sp>
      <p:sp>
        <p:nvSpPr>
          <p:cNvPr id="37" name="Shape 35"/>
          <p:cNvSpPr/>
          <p:nvPr/>
        </p:nvSpPr>
        <p:spPr>
          <a:xfrm>
            <a:off x="6766868" y="4654302"/>
            <a:ext cx="876399" cy="238720"/>
          </a:xfrm>
          <a:prstGeom prst="roundRect">
            <a:avLst>
              <a:gd name="adj" fmla="val 21280"/>
            </a:avLst>
          </a:prstGeom>
          <a:solidFill>
            <a:srgbClr val="10265F"/>
          </a:solidFill>
          <a:ln/>
        </p:spPr>
      </p:sp>
      <p:sp>
        <p:nvSpPr>
          <p:cNvPr id="38" name="Text 36"/>
          <p:cNvSpPr/>
          <p:nvPr/>
        </p:nvSpPr>
        <p:spPr>
          <a:xfrm>
            <a:off x="6843068" y="4667002"/>
            <a:ext cx="774799"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OUR LIST</a:t>
            </a:r>
            <a:endParaRPr lang="en-US" sz="1200" dirty="0"/>
          </a:p>
        </p:txBody>
      </p:sp>
      <p:sp>
        <p:nvSpPr>
          <p:cNvPr id="39" name="Text 37"/>
          <p:cNvSpPr/>
          <p:nvPr/>
        </p:nvSpPr>
        <p:spPr>
          <a:xfrm>
            <a:off x="4548684" y="4931122"/>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Free WHO acuity self-check app</a:t>
            </a:r>
            <a:endParaRPr lang="en-US" sz="1200" dirty="0"/>
          </a:p>
        </p:txBody>
      </p:sp>
      <p:sp>
        <p:nvSpPr>
          <p:cNvPr id="40" name="Text 38"/>
          <p:cNvSpPr/>
          <p:nvPr/>
        </p:nvSpPr>
        <p:spPr>
          <a:xfrm>
            <a:off x="7992517" y="1905000"/>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A82"/>
                </a:solidFill>
                <a:latin typeface="IBM Plex Sans" pitchFamily="34" charset="0"/>
                <a:ea typeface="IBM Plex Sans" pitchFamily="34" charset="-122"/>
                <a:cs typeface="IBM Plex Sans" pitchFamily="34" charset="-120"/>
              </a:rPr>
              <a:t>INSTITUTIONAL SCREENING</a:t>
            </a:r>
            <a:endParaRPr lang="en-US" sz="1200" dirty="0"/>
          </a:p>
        </p:txBody>
      </p:sp>
      <p:sp>
        <p:nvSpPr>
          <p:cNvPr id="41" name="Shape 39"/>
          <p:cNvSpPr/>
          <p:nvPr/>
        </p:nvSpPr>
        <p:spPr>
          <a:xfrm>
            <a:off x="7995692" y="2210395"/>
            <a:ext cx="3380333" cy="872381"/>
          </a:xfrm>
          <a:prstGeom prst="roundRect">
            <a:avLst>
              <a:gd name="adj" fmla="val 9827"/>
            </a:avLst>
          </a:prstGeom>
          <a:solidFill>
            <a:srgbClr val="FBFCFE"/>
          </a:solidFill>
          <a:ln w="6350">
            <a:solidFill>
              <a:srgbClr val="D9DFEA"/>
            </a:solidFill>
            <a:prstDash val="solid"/>
          </a:ln>
        </p:spPr>
      </p:sp>
      <p:sp>
        <p:nvSpPr>
          <p:cNvPr id="42" name="Text 40"/>
          <p:cNvSpPr/>
          <p:nvPr/>
        </p:nvSpPr>
        <p:spPr>
          <a:xfrm>
            <a:off x="8138567" y="2315170"/>
            <a:ext cx="2263984"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School screening programs</a:t>
            </a:r>
            <a:endParaRPr lang="en-US" sz="1400" dirty="0"/>
          </a:p>
        </p:txBody>
      </p:sp>
      <p:sp>
        <p:nvSpPr>
          <p:cNvPr id="43" name="Shape 41"/>
          <p:cNvSpPr/>
          <p:nvPr/>
        </p:nvSpPr>
        <p:spPr>
          <a:xfrm>
            <a:off x="10412809" y="2315170"/>
            <a:ext cx="820341" cy="238720"/>
          </a:xfrm>
          <a:prstGeom prst="roundRect">
            <a:avLst>
              <a:gd name="adj" fmla="val 21280"/>
            </a:avLst>
          </a:prstGeom>
          <a:solidFill>
            <a:srgbClr val="5B6B86"/>
          </a:solidFill>
          <a:ln/>
        </p:spPr>
      </p:sp>
      <p:sp>
        <p:nvSpPr>
          <p:cNvPr id="44" name="Text 42"/>
          <p:cNvSpPr/>
          <p:nvPr/>
        </p:nvSpPr>
        <p:spPr>
          <a:xfrm>
            <a:off x="10489009" y="2327870"/>
            <a:ext cx="718741"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FROM AI</a:t>
            </a:r>
            <a:endParaRPr lang="en-US" sz="1200" dirty="0"/>
          </a:p>
        </p:txBody>
      </p:sp>
      <p:sp>
        <p:nvSpPr>
          <p:cNvPr id="45" name="Text 43"/>
          <p:cNvSpPr/>
          <p:nvPr/>
        </p:nvSpPr>
        <p:spPr>
          <a:xfrm>
            <a:off x="8138567" y="2779911"/>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Screening delivered in schools</a:t>
            </a:r>
            <a:endParaRPr lang="en-US" sz="1200" dirty="0"/>
          </a:p>
        </p:txBody>
      </p:sp>
      <p:sp>
        <p:nvSpPr>
          <p:cNvPr id="46" name="Shape 44"/>
          <p:cNvSpPr/>
          <p:nvPr/>
        </p:nvSpPr>
        <p:spPr>
          <a:xfrm>
            <a:off x="7995692" y="3178026"/>
            <a:ext cx="3380333" cy="684461"/>
          </a:xfrm>
          <a:prstGeom prst="roundRect">
            <a:avLst>
              <a:gd name="adj" fmla="val 12524"/>
            </a:avLst>
          </a:prstGeom>
          <a:solidFill>
            <a:srgbClr val="FBFCFE"/>
          </a:solidFill>
          <a:ln w="6350">
            <a:solidFill>
              <a:srgbClr val="D9DFEA"/>
            </a:solidFill>
            <a:prstDash val="solid"/>
          </a:ln>
        </p:spPr>
      </p:sp>
      <p:sp>
        <p:nvSpPr>
          <p:cNvPr id="47" name="Text 45"/>
          <p:cNvSpPr/>
          <p:nvPr/>
        </p:nvSpPr>
        <p:spPr>
          <a:xfrm>
            <a:off x="8138567" y="3282801"/>
            <a:ext cx="22639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Licensing-agency tests</a:t>
            </a:r>
            <a:endParaRPr lang="en-US" sz="1400" dirty="0"/>
          </a:p>
        </p:txBody>
      </p:sp>
      <p:sp>
        <p:nvSpPr>
          <p:cNvPr id="48" name="Shape 46"/>
          <p:cNvSpPr/>
          <p:nvPr/>
        </p:nvSpPr>
        <p:spPr>
          <a:xfrm>
            <a:off x="10412809" y="3282801"/>
            <a:ext cx="820341" cy="238720"/>
          </a:xfrm>
          <a:prstGeom prst="roundRect">
            <a:avLst>
              <a:gd name="adj" fmla="val 21280"/>
            </a:avLst>
          </a:prstGeom>
          <a:solidFill>
            <a:srgbClr val="5B6B86"/>
          </a:solidFill>
          <a:ln/>
        </p:spPr>
      </p:sp>
      <p:sp>
        <p:nvSpPr>
          <p:cNvPr id="49" name="Text 47"/>
          <p:cNvSpPr/>
          <p:nvPr/>
        </p:nvSpPr>
        <p:spPr>
          <a:xfrm>
            <a:off x="10489009" y="3295501"/>
            <a:ext cx="718741"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FROM AI</a:t>
            </a:r>
            <a:endParaRPr lang="en-US" sz="1200" dirty="0"/>
          </a:p>
        </p:txBody>
      </p:sp>
      <p:sp>
        <p:nvSpPr>
          <p:cNvPr id="50" name="Text 48"/>
          <p:cNvSpPr/>
          <p:nvPr/>
        </p:nvSpPr>
        <p:spPr>
          <a:xfrm>
            <a:off x="8138567" y="3559621"/>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Vision checks for driver licensing</a:t>
            </a:r>
            <a:endParaRPr lang="en-US" sz="1200" dirty="0"/>
          </a:p>
        </p:txBody>
      </p:sp>
      <p:sp>
        <p:nvSpPr>
          <p:cNvPr id="51" name="Shape 49"/>
          <p:cNvSpPr/>
          <p:nvPr/>
        </p:nvSpPr>
        <p:spPr>
          <a:xfrm>
            <a:off x="7995692" y="3957737"/>
            <a:ext cx="3380333" cy="872381"/>
          </a:xfrm>
          <a:prstGeom prst="roundRect">
            <a:avLst>
              <a:gd name="adj" fmla="val 9827"/>
            </a:avLst>
          </a:prstGeom>
          <a:solidFill>
            <a:srgbClr val="FBFCFE"/>
          </a:solidFill>
          <a:ln w="6350">
            <a:solidFill>
              <a:srgbClr val="D9DFEA"/>
            </a:solidFill>
            <a:prstDash val="solid"/>
          </a:ln>
        </p:spPr>
      </p:sp>
      <p:sp>
        <p:nvSpPr>
          <p:cNvPr id="52" name="Text 50"/>
          <p:cNvSpPr/>
          <p:nvPr/>
        </p:nvSpPr>
        <p:spPr>
          <a:xfrm>
            <a:off x="8138567" y="4062512"/>
            <a:ext cx="2263984"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Employer / work qualification</a:t>
            </a:r>
            <a:endParaRPr lang="en-US" sz="1400" dirty="0"/>
          </a:p>
        </p:txBody>
      </p:sp>
      <p:sp>
        <p:nvSpPr>
          <p:cNvPr id="53" name="Shape 51"/>
          <p:cNvSpPr/>
          <p:nvPr/>
        </p:nvSpPr>
        <p:spPr>
          <a:xfrm>
            <a:off x="10412809" y="4062512"/>
            <a:ext cx="820341" cy="238720"/>
          </a:xfrm>
          <a:prstGeom prst="roundRect">
            <a:avLst>
              <a:gd name="adj" fmla="val 21280"/>
            </a:avLst>
          </a:prstGeom>
          <a:solidFill>
            <a:srgbClr val="5B6B86"/>
          </a:solidFill>
          <a:ln/>
        </p:spPr>
      </p:sp>
      <p:sp>
        <p:nvSpPr>
          <p:cNvPr id="54" name="Text 52"/>
          <p:cNvSpPr/>
          <p:nvPr/>
        </p:nvSpPr>
        <p:spPr>
          <a:xfrm>
            <a:off x="10489009" y="4075212"/>
            <a:ext cx="718741"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FROM AI</a:t>
            </a:r>
            <a:endParaRPr lang="en-US" sz="1200" dirty="0"/>
          </a:p>
        </p:txBody>
      </p:sp>
      <p:sp>
        <p:nvSpPr>
          <p:cNvPr id="55" name="Text 53"/>
          <p:cNvSpPr/>
          <p:nvPr/>
        </p:nvSpPr>
        <p:spPr>
          <a:xfrm>
            <a:off x="8138567" y="4527252"/>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Occupational vision screening</a:t>
            </a:r>
            <a:endParaRPr lang="en-US" sz="1200" dirty="0"/>
          </a:p>
        </p:txBody>
      </p:sp>
      <p:sp>
        <p:nvSpPr>
          <p:cNvPr id="56" name="Shape 54"/>
          <p:cNvSpPr/>
          <p:nvPr/>
        </p:nvSpPr>
        <p:spPr>
          <a:xfrm>
            <a:off x="7995692" y="4925368"/>
            <a:ext cx="3380333" cy="684461"/>
          </a:xfrm>
          <a:prstGeom prst="roundRect">
            <a:avLst>
              <a:gd name="adj" fmla="val 12524"/>
            </a:avLst>
          </a:prstGeom>
          <a:solidFill>
            <a:srgbClr val="FBFCFE"/>
          </a:solidFill>
          <a:ln w="6350">
            <a:solidFill>
              <a:srgbClr val="D9DFEA"/>
            </a:solidFill>
            <a:prstDash val="solid"/>
          </a:ln>
        </p:spPr>
      </p:sp>
      <p:sp>
        <p:nvSpPr>
          <p:cNvPr id="57" name="Text 55"/>
          <p:cNvSpPr/>
          <p:nvPr/>
        </p:nvSpPr>
        <p:spPr>
          <a:xfrm>
            <a:off x="8138567" y="5030143"/>
            <a:ext cx="22639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Airline qualification tests</a:t>
            </a:r>
            <a:endParaRPr lang="en-US" sz="1400" dirty="0"/>
          </a:p>
        </p:txBody>
      </p:sp>
      <p:sp>
        <p:nvSpPr>
          <p:cNvPr id="58" name="Shape 56"/>
          <p:cNvSpPr/>
          <p:nvPr/>
        </p:nvSpPr>
        <p:spPr>
          <a:xfrm>
            <a:off x="10412809" y="5030143"/>
            <a:ext cx="820341" cy="238720"/>
          </a:xfrm>
          <a:prstGeom prst="roundRect">
            <a:avLst>
              <a:gd name="adj" fmla="val 21280"/>
            </a:avLst>
          </a:prstGeom>
          <a:solidFill>
            <a:srgbClr val="5B6B86"/>
          </a:solidFill>
          <a:ln/>
        </p:spPr>
      </p:sp>
      <p:sp>
        <p:nvSpPr>
          <p:cNvPr id="59" name="Text 57"/>
          <p:cNvSpPr/>
          <p:nvPr/>
        </p:nvSpPr>
        <p:spPr>
          <a:xfrm>
            <a:off x="10489009" y="5042843"/>
            <a:ext cx="718741"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FROM AI</a:t>
            </a:r>
            <a:endParaRPr lang="en-US" sz="1200" dirty="0"/>
          </a:p>
        </p:txBody>
      </p:sp>
      <p:sp>
        <p:nvSpPr>
          <p:cNvPr id="60" name="Text 58"/>
          <p:cNvSpPr/>
          <p:nvPr/>
        </p:nvSpPr>
        <p:spPr>
          <a:xfrm>
            <a:off x="8138567" y="5306963"/>
            <a:ext cx="318742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Aviation vision screening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Fact-checking the AI: what it missed</a:t>
            </a:r>
            <a:endParaRPr lang="en-US" sz="3000" dirty="0"/>
          </a:p>
        </p:txBody>
      </p:sp>
      <p:sp>
        <p:nvSpPr>
          <p:cNvPr id="3" name="Shape 1"/>
          <p:cNvSpPr/>
          <p:nvPr/>
        </p:nvSpPr>
        <p:spPr>
          <a:xfrm>
            <a:off x="815975" y="1489075"/>
            <a:ext cx="6699250" cy="877540"/>
          </a:xfrm>
          <a:prstGeom prst="roundRect">
            <a:avLst>
              <a:gd name="adj" fmla="val 9769"/>
            </a:avLst>
          </a:prstGeom>
          <a:solidFill>
            <a:srgbClr val="FBFCFE"/>
          </a:solidFill>
          <a:ln w="6350">
            <a:solidFill>
              <a:srgbClr val="D9DFEA"/>
            </a:solidFill>
            <a:prstDash val="solid"/>
          </a:ln>
        </p:spPr>
      </p:sp>
      <p:sp>
        <p:nvSpPr>
          <p:cNvPr id="4" name="Text 2"/>
          <p:cNvSpPr/>
          <p:nvPr/>
        </p:nvSpPr>
        <p:spPr>
          <a:xfrm>
            <a:off x="971550" y="1670050"/>
            <a:ext cx="6161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Visibly</a:t>
            </a:r>
            <a:endParaRPr lang="en-US" sz="1400" dirty="0"/>
          </a:p>
        </p:txBody>
      </p:sp>
      <p:sp>
        <p:nvSpPr>
          <p:cNvPr id="5" name="Shape 3"/>
          <p:cNvSpPr/>
          <p:nvPr/>
        </p:nvSpPr>
        <p:spPr>
          <a:xfrm>
            <a:off x="971550" y="1946870"/>
            <a:ext cx="1090613" cy="238720"/>
          </a:xfrm>
          <a:prstGeom prst="roundRect">
            <a:avLst>
              <a:gd name="adj" fmla="val 21280"/>
            </a:avLst>
          </a:prstGeom>
          <a:solidFill>
            <a:srgbClr val="5B6B86"/>
          </a:solidFill>
          <a:ln/>
        </p:spPr>
      </p:sp>
      <p:sp>
        <p:nvSpPr>
          <p:cNvPr id="6" name="Text 4"/>
          <p:cNvSpPr/>
          <p:nvPr/>
        </p:nvSpPr>
        <p:spPr>
          <a:xfrm>
            <a:off x="1047750" y="1959570"/>
            <a:ext cx="989013"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CORRECTED</a:t>
            </a:r>
            <a:endParaRPr lang="en-US" sz="1200" dirty="0"/>
          </a:p>
        </p:txBody>
      </p:sp>
      <p:sp>
        <p:nvSpPr>
          <p:cNvPr id="7" name="Text 5"/>
          <p:cNvSpPr/>
          <p:nvPr/>
        </p:nvSpPr>
        <p:spPr>
          <a:xfrm>
            <a:off x="3028950" y="1619250"/>
            <a:ext cx="446062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Can’t replace a comprehensive exam or diagnose ocular disease (e.g., glaucoma, macular degeneration) — strictly routine prescription renewals for eligible patients.</a:t>
            </a:r>
            <a:endParaRPr lang="en-US" sz="1200" dirty="0"/>
          </a:p>
        </p:txBody>
      </p:sp>
      <p:sp>
        <p:nvSpPr>
          <p:cNvPr id="8" name="Shape 6"/>
          <p:cNvSpPr/>
          <p:nvPr/>
        </p:nvSpPr>
        <p:spPr>
          <a:xfrm>
            <a:off x="815975" y="2474565"/>
            <a:ext cx="6699250" cy="775891"/>
          </a:xfrm>
          <a:prstGeom prst="roundRect">
            <a:avLst>
              <a:gd name="adj" fmla="val 11049"/>
            </a:avLst>
          </a:prstGeom>
          <a:solidFill>
            <a:srgbClr val="FBFCFE"/>
          </a:solidFill>
          <a:ln w="6350">
            <a:solidFill>
              <a:srgbClr val="D9DFEA"/>
            </a:solidFill>
            <a:prstDash val="solid"/>
          </a:ln>
        </p:spPr>
      </p:sp>
      <p:sp>
        <p:nvSpPr>
          <p:cNvPr id="9" name="Text 7"/>
          <p:cNvSpPr/>
          <p:nvPr/>
        </p:nvSpPr>
        <p:spPr>
          <a:xfrm>
            <a:off x="971550" y="2604740"/>
            <a:ext cx="69482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EyeQue</a:t>
            </a:r>
            <a:endParaRPr lang="en-US" sz="1400" dirty="0"/>
          </a:p>
        </p:txBody>
      </p:sp>
      <p:sp>
        <p:nvSpPr>
          <p:cNvPr id="10" name="Shape 8"/>
          <p:cNvSpPr/>
          <p:nvPr/>
        </p:nvSpPr>
        <p:spPr>
          <a:xfrm>
            <a:off x="971550" y="2881561"/>
            <a:ext cx="1090613" cy="238720"/>
          </a:xfrm>
          <a:prstGeom prst="roundRect">
            <a:avLst>
              <a:gd name="adj" fmla="val 21280"/>
            </a:avLst>
          </a:prstGeom>
          <a:solidFill>
            <a:srgbClr val="5B6B86"/>
          </a:solidFill>
          <a:ln/>
        </p:spPr>
      </p:sp>
      <p:sp>
        <p:nvSpPr>
          <p:cNvPr id="11" name="Text 9"/>
          <p:cNvSpPr/>
          <p:nvPr/>
        </p:nvSpPr>
        <p:spPr>
          <a:xfrm>
            <a:off x="1047750" y="2894261"/>
            <a:ext cx="989013"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CORRECTED</a:t>
            </a:r>
            <a:endParaRPr lang="en-US" sz="1200" dirty="0"/>
          </a:p>
        </p:txBody>
      </p:sp>
      <p:sp>
        <p:nvSpPr>
          <p:cNvPr id="12" name="Text 10"/>
          <p:cNvSpPr/>
          <p:nvPr/>
        </p:nvSpPr>
        <p:spPr>
          <a:xfrm>
            <a:off x="3028950" y="2656780"/>
            <a:ext cx="446062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Needs specialized optical hardware mounted on the phone — higher cost and more friction than pure software or telehealth.</a:t>
            </a:r>
            <a:endParaRPr lang="en-US" sz="1200" dirty="0"/>
          </a:p>
        </p:txBody>
      </p:sp>
      <p:sp>
        <p:nvSpPr>
          <p:cNvPr id="13" name="Shape 11"/>
          <p:cNvSpPr/>
          <p:nvPr/>
        </p:nvSpPr>
        <p:spPr>
          <a:xfrm>
            <a:off x="815975" y="3358406"/>
            <a:ext cx="6699250" cy="775891"/>
          </a:xfrm>
          <a:prstGeom prst="roundRect">
            <a:avLst>
              <a:gd name="adj" fmla="val 11049"/>
            </a:avLst>
          </a:prstGeom>
          <a:solidFill>
            <a:srgbClr val="FBFCFE"/>
          </a:solidFill>
          <a:ln w="6350">
            <a:solidFill>
              <a:srgbClr val="D9DFEA"/>
            </a:solidFill>
            <a:prstDash val="solid"/>
          </a:ln>
        </p:spPr>
      </p:sp>
      <p:sp>
        <p:nvSpPr>
          <p:cNvPr id="14" name="Text 12"/>
          <p:cNvSpPr/>
          <p:nvPr/>
        </p:nvSpPr>
        <p:spPr>
          <a:xfrm>
            <a:off x="971550" y="3488581"/>
            <a:ext cx="10680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Peek Acuity</a:t>
            </a:r>
            <a:endParaRPr lang="en-US" sz="1400" dirty="0"/>
          </a:p>
        </p:txBody>
      </p:sp>
      <p:sp>
        <p:nvSpPr>
          <p:cNvPr id="15" name="Shape 13"/>
          <p:cNvSpPr/>
          <p:nvPr/>
        </p:nvSpPr>
        <p:spPr>
          <a:xfrm>
            <a:off x="971550" y="3765401"/>
            <a:ext cx="1090613" cy="238720"/>
          </a:xfrm>
          <a:prstGeom prst="roundRect">
            <a:avLst>
              <a:gd name="adj" fmla="val 21280"/>
            </a:avLst>
          </a:prstGeom>
          <a:solidFill>
            <a:srgbClr val="5B6B86"/>
          </a:solidFill>
          <a:ln/>
        </p:spPr>
      </p:sp>
      <p:sp>
        <p:nvSpPr>
          <p:cNvPr id="16" name="Text 14"/>
          <p:cNvSpPr/>
          <p:nvPr/>
        </p:nvSpPr>
        <p:spPr>
          <a:xfrm>
            <a:off x="1047750" y="3778101"/>
            <a:ext cx="989013"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CORRECTED</a:t>
            </a:r>
            <a:endParaRPr lang="en-US" sz="1200" dirty="0"/>
          </a:p>
        </p:txBody>
      </p:sp>
      <p:sp>
        <p:nvSpPr>
          <p:cNvPr id="17" name="Text 15"/>
          <p:cNvSpPr/>
          <p:nvPr/>
        </p:nvSpPr>
        <p:spPr>
          <a:xfrm>
            <a:off x="3028950" y="3540621"/>
            <a:ext cx="446062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Strictly a screening and referral tool — not diagnostic, and it can’t issue corrective-lens prescriptions.</a:t>
            </a:r>
            <a:endParaRPr lang="en-US" sz="1200" dirty="0"/>
          </a:p>
        </p:txBody>
      </p:sp>
      <p:sp>
        <p:nvSpPr>
          <p:cNvPr id="18" name="Shape 16"/>
          <p:cNvSpPr/>
          <p:nvPr/>
        </p:nvSpPr>
        <p:spPr>
          <a:xfrm>
            <a:off x="815975" y="4242246"/>
            <a:ext cx="6699250" cy="877540"/>
          </a:xfrm>
          <a:prstGeom prst="roundRect">
            <a:avLst>
              <a:gd name="adj" fmla="val 9769"/>
            </a:avLst>
          </a:prstGeom>
          <a:solidFill>
            <a:srgbClr val="FBFCFE"/>
          </a:solidFill>
          <a:ln w="6350">
            <a:solidFill>
              <a:srgbClr val="D9DFEA"/>
            </a:solidFill>
            <a:prstDash val="solid"/>
          </a:ln>
        </p:spPr>
      </p:sp>
      <p:sp>
        <p:nvSpPr>
          <p:cNvPr id="19" name="Text 17"/>
          <p:cNvSpPr/>
          <p:nvPr/>
        </p:nvSpPr>
        <p:spPr>
          <a:xfrm>
            <a:off x="971550" y="4423221"/>
            <a:ext cx="183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Spot Vision Screener</a:t>
            </a:r>
            <a:endParaRPr lang="en-US" sz="1400" dirty="0"/>
          </a:p>
        </p:txBody>
      </p:sp>
      <p:sp>
        <p:nvSpPr>
          <p:cNvPr id="20" name="Shape 18"/>
          <p:cNvSpPr/>
          <p:nvPr/>
        </p:nvSpPr>
        <p:spPr>
          <a:xfrm>
            <a:off x="971550" y="4700042"/>
            <a:ext cx="982117" cy="238720"/>
          </a:xfrm>
          <a:prstGeom prst="roundRect">
            <a:avLst>
              <a:gd name="adj" fmla="val 21280"/>
            </a:avLst>
          </a:prstGeom>
          <a:solidFill>
            <a:srgbClr val="B0521A"/>
          </a:solidFill>
          <a:ln/>
        </p:spPr>
      </p:sp>
      <p:sp>
        <p:nvSpPr>
          <p:cNvPr id="21" name="Text 19"/>
          <p:cNvSpPr/>
          <p:nvPr/>
        </p:nvSpPr>
        <p:spPr>
          <a:xfrm>
            <a:off x="1047750" y="4712742"/>
            <a:ext cx="880517" cy="238720"/>
          </a:xfrm>
          <a:prstGeom prst="rect">
            <a:avLst/>
          </a:prstGeom>
          <a:noFill/>
          <a:ln/>
        </p:spPr>
        <p:txBody>
          <a:bodyPr wrap="none" lIns="0" tIns="0" rIns="0" bIns="0" rtlCol="0" anchor="t">
            <a:normAutofit/>
          </a:bodyPr>
          <a:lstStyle/>
          <a:p>
            <a:pPr algn="l" indent="0" marL="0">
              <a:lnSpc>
                <a:spcPts val="1680"/>
              </a:lnSpc>
              <a:buNone/>
            </a:pPr>
            <a:r>
              <a:rPr lang="en-US" sz="1200" b="1" spc="50" kern="0" dirty="0">
                <a:solidFill>
                  <a:srgbClr val="FBFCFE"/>
                </a:solidFill>
                <a:latin typeface="IBM Plex Sans" pitchFamily="34" charset="0"/>
                <a:ea typeface="IBM Plex Sans" pitchFamily="34" charset="-122"/>
                <a:cs typeface="IBM Plex Sans" pitchFamily="34" charset="-120"/>
              </a:rPr>
              <a:t>AI MISSED</a:t>
            </a:r>
            <a:endParaRPr lang="en-US" sz="1200" dirty="0"/>
          </a:p>
        </p:txBody>
      </p:sp>
      <p:sp>
        <p:nvSpPr>
          <p:cNvPr id="22" name="Text 20"/>
          <p:cNvSpPr/>
          <p:nvPr/>
        </p:nvSpPr>
        <p:spPr>
          <a:xfrm>
            <a:off x="3028950" y="4372421"/>
            <a:ext cx="446062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Handheld automated screener for amblyopia, myopia, and astigmatism risk factors — but it needs expensive clinical hardware and trained staff, with no direct-to-consumer access.</a:t>
            </a:r>
            <a:endParaRPr lang="en-US" sz="1200" dirty="0"/>
          </a:p>
        </p:txBody>
      </p:sp>
      <p:sp>
        <p:nvSpPr>
          <p:cNvPr id="23" name="Shape 21"/>
          <p:cNvSpPr/>
          <p:nvPr/>
        </p:nvSpPr>
        <p:spPr>
          <a:xfrm>
            <a:off x="7823200" y="1485900"/>
            <a:ext cx="3556000" cy="3560812"/>
          </a:xfrm>
          <a:prstGeom prst="roundRect">
            <a:avLst>
              <a:gd name="adj" fmla="val 3571"/>
            </a:avLst>
          </a:prstGeom>
          <a:solidFill>
            <a:srgbClr val="0E1B3D"/>
          </a:solidFill>
          <a:ln/>
        </p:spPr>
      </p:sp>
      <p:sp>
        <p:nvSpPr>
          <p:cNvPr id="24" name="Text 22"/>
          <p:cNvSpPr/>
          <p:nvPr/>
        </p:nvSpPr>
        <p:spPr>
          <a:xfrm>
            <a:off x="8026400" y="1689100"/>
            <a:ext cx="3244088"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E9BE0"/>
                </a:solidFill>
                <a:latin typeface="IBM Plex Sans" pitchFamily="34" charset="0"/>
                <a:ea typeface="IBM Plex Sans" pitchFamily="34" charset="-122"/>
                <a:cs typeface="IBM Plex Sans" pitchFamily="34" charset="-120"/>
              </a:rPr>
              <a:t>HOW WELL DO THEY SOLVE THE PROBLEM?</a:t>
            </a:r>
            <a:endParaRPr lang="en-US" sz="1200" dirty="0"/>
          </a:p>
        </p:txBody>
      </p:sp>
      <p:sp>
        <p:nvSpPr>
          <p:cNvPr id="25" name="Text 23"/>
          <p:cNvSpPr/>
          <p:nvPr/>
        </p:nvSpPr>
        <p:spPr>
          <a:xfrm>
            <a:off x="8026400" y="2293541"/>
            <a:ext cx="32440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No diagnostic replacement</a:t>
            </a:r>
            <a:endParaRPr lang="en-US" sz="1400" dirty="0"/>
          </a:p>
        </p:txBody>
      </p:sp>
      <p:sp>
        <p:nvSpPr>
          <p:cNvPr id="26" name="Text 24"/>
          <p:cNvSpPr/>
          <p:nvPr/>
        </p:nvSpPr>
        <p:spPr>
          <a:xfrm>
            <a:off x="8026400" y="2544961"/>
            <a:ext cx="324408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B5CB"/>
                </a:solidFill>
                <a:latin typeface="IBM Plex Sans" pitchFamily="34" charset="0"/>
                <a:ea typeface="IBM Plex Sans" pitchFamily="34" charset="-122"/>
                <a:cs typeface="IBM Plex Sans" pitchFamily="34" charset="-120"/>
              </a:rPr>
              <a:t>Results are a point of reference, not something more meaningful.</a:t>
            </a:r>
            <a:endParaRPr lang="en-US" sz="1200" dirty="0"/>
          </a:p>
        </p:txBody>
      </p:sp>
      <p:sp>
        <p:nvSpPr>
          <p:cNvPr id="27" name="Text 25"/>
          <p:cNvSpPr/>
          <p:nvPr/>
        </p:nvSpPr>
        <p:spPr>
          <a:xfrm>
            <a:off x="8026400" y="3134221"/>
            <a:ext cx="32440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Hardware erodes convenience</a:t>
            </a:r>
            <a:endParaRPr lang="en-US" sz="1400" dirty="0"/>
          </a:p>
        </p:txBody>
      </p:sp>
      <p:sp>
        <p:nvSpPr>
          <p:cNvPr id="28" name="Text 26"/>
          <p:cNvSpPr/>
          <p:nvPr/>
        </p:nvSpPr>
        <p:spPr>
          <a:xfrm>
            <a:off x="8026400" y="3385641"/>
            <a:ext cx="324408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B5CB"/>
                </a:solidFill>
                <a:latin typeface="IBM Plex Sans" pitchFamily="34" charset="0"/>
                <a:ea typeface="IBM Plex Sans" pitchFamily="34" charset="-122"/>
                <a:cs typeface="IBM Plex Sans" pitchFamily="34" charset="-120"/>
              </a:rPr>
              <a:t>EyeQue’s add-on optics mean users need more assets at their disposal.</a:t>
            </a:r>
            <a:endParaRPr lang="en-US" sz="1200" dirty="0"/>
          </a:p>
        </p:txBody>
      </p:sp>
      <p:sp>
        <p:nvSpPr>
          <p:cNvPr id="29" name="Text 27"/>
          <p:cNvSpPr/>
          <p:nvPr/>
        </p:nvSpPr>
        <p:spPr>
          <a:xfrm>
            <a:off x="8026400" y="3974902"/>
            <a:ext cx="32440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Nobody personalizes the test</a:t>
            </a:r>
            <a:endParaRPr lang="en-US" sz="1400" dirty="0"/>
          </a:p>
        </p:txBody>
      </p:sp>
      <p:sp>
        <p:nvSpPr>
          <p:cNvPr id="30" name="Text 28"/>
          <p:cNvSpPr/>
          <p:nvPr/>
        </p:nvSpPr>
        <p:spPr>
          <a:xfrm>
            <a:off x="8026400" y="4226322"/>
            <a:ext cx="324408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B5CB"/>
                </a:solidFill>
                <a:latin typeface="IBM Plex Sans" pitchFamily="34" charset="0"/>
                <a:ea typeface="IBM Plex Sans" pitchFamily="34" charset="-122"/>
                <a:cs typeface="IBM Plex Sans" pitchFamily="34" charset="-120"/>
              </a:rPr>
              <a:t>Each tool mimics a conventional exam. Focal’s opening: AI-personalized testing plus eye-health predictions and trajectory.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Our quadrant began as a sketch, then became an AI draft</a:t>
            </a:r>
            <a:endParaRPr lang="en-US" sz="3000" dirty="0"/>
          </a:p>
        </p:txBody>
      </p:sp>
      <p:sp>
        <p:nvSpPr>
          <p:cNvPr id="3" name="Shape 1"/>
          <p:cNvSpPr/>
          <p:nvPr/>
        </p:nvSpPr>
        <p:spPr>
          <a:xfrm>
            <a:off x="815975" y="1489075"/>
            <a:ext cx="5124450" cy="3948361"/>
          </a:xfrm>
          <a:prstGeom prst="roundRect">
            <a:avLst>
              <a:gd name="adj" fmla="val 2493"/>
            </a:avLst>
          </a:prstGeom>
          <a:solidFill>
            <a:srgbClr val="FBFCFE"/>
          </a:solidFill>
          <a:ln w="6350">
            <a:solidFill>
              <a:srgbClr val="D9DFEA"/>
            </a:solidFill>
            <a:prstDash val="solid"/>
          </a:ln>
        </p:spPr>
      </p:sp>
      <p:sp>
        <p:nvSpPr>
          <p:cNvPr id="4" name="Text 2"/>
          <p:cNvSpPr/>
          <p:nvPr/>
        </p:nvSpPr>
        <p:spPr>
          <a:xfrm>
            <a:off x="971550" y="1644650"/>
            <a:ext cx="49576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AAE"/>
                </a:solidFill>
                <a:latin typeface="IBM Plex Sans" pitchFamily="34" charset="0"/>
                <a:ea typeface="IBM Plex Sans" pitchFamily="34" charset="-122"/>
                <a:cs typeface="IBM Plex Sans" pitchFamily="34" charset="-120"/>
              </a:rPr>
              <a:t>3A · OUR SKETCH, BEFORE ANY AI</a:t>
            </a:r>
            <a:endParaRPr lang="en-US" sz="1200" dirty="0"/>
          </a:p>
        </p:txBody>
      </p:sp>
      <p:pic>
        <p:nvPicPr>
          <p:cNvPr id="5" name="Image 0" descr="Hand-drawn quadrant: more accessible vs. more comprehensive, with eye exam, EyeQue/Visibly, Snellen, and Peek placed">    </p:cNvPr>
          <p:cNvPicPr>
            <a:picLocks noChangeAspect="1"/>
          </p:cNvPicPr>
          <p:nvPr/>
        </p:nvPicPr>
        <p:blipFill>
          <a:blip r:embed="rId1"/>
          <a:stretch>
            <a:fillRect/>
          </a:stretch>
        </p:blipFill>
        <p:spPr>
          <a:xfrm>
            <a:off x="1218050" y="1965920"/>
            <a:ext cx="4333000" cy="2590800"/>
          </a:xfrm>
          <a:prstGeom prst="rect">
            <a:avLst/>
          </a:prstGeom>
        </p:spPr>
      </p:pic>
      <p:sp>
        <p:nvSpPr>
          <p:cNvPr id="6" name="Shape 3"/>
          <p:cNvSpPr/>
          <p:nvPr/>
        </p:nvSpPr>
        <p:spPr>
          <a:xfrm>
            <a:off x="974725" y="1962745"/>
            <a:ext cx="4819650" cy="2597150"/>
          </a:xfrm>
          <a:prstGeom prst="roundRect">
            <a:avLst>
              <a:gd name="adj" fmla="val 2323"/>
            </a:avLst>
          </a:prstGeom>
          <a:noFill/>
          <a:ln w="6350">
            <a:solidFill>
              <a:srgbClr val="D9DFEA"/>
            </a:solidFill>
            <a:prstDash val="solid"/>
          </a:ln>
        </p:spPr>
      </p:sp>
      <p:sp>
        <p:nvSpPr>
          <p:cNvPr id="7" name="Text 4"/>
          <p:cNvSpPr/>
          <p:nvPr/>
        </p:nvSpPr>
        <p:spPr>
          <a:xfrm>
            <a:off x="971550" y="4664670"/>
            <a:ext cx="4957699"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Accessibility × comprehensiveness. Even our rough placements showed the tradeoff: nothing was both highly accessible and comprehensive.</a:t>
            </a:r>
            <a:endParaRPr lang="en-US" sz="1200" dirty="0"/>
          </a:p>
        </p:txBody>
      </p:sp>
      <p:sp>
        <p:nvSpPr>
          <p:cNvPr id="8" name="Shape 5"/>
          <p:cNvSpPr/>
          <p:nvPr/>
        </p:nvSpPr>
        <p:spPr>
          <a:xfrm>
            <a:off x="6251575" y="1489075"/>
            <a:ext cx="5124450" cy="3948361"/>
          </a:xfrm>
          <a:prstGeom prst="roundRect">
            <a:avLst>
              <a:gd name="adj" fmla="val 2493"/>
            </a:avLst>
          </a:prstGeom>
          <a:solidFill>
            <a:srgbClr val="FBFCFE"/>
          </a:solidFill>
          <a:ln w="6350">
            <a:solidFill>
              <a:srgbClr val="D9DFEA"/>
            </a:solidFill>
            <a:prstDash val="solid"/>
          </a:ln>
        </p:spPr>
      </p:sp>
      <p:sp>
        <p:nvSpPr>
          <p:cNvPr id="9" name="Text 6"/>
          <p:cNvSpPr/>
          <p:nvPr/>
        </p:nvSpPr>
        <p:spPr>
          <a:xfrm>
            <a:off x="6407150" y="1644650"/>
            <a:ext cx="49576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AAE"/>
                </a:solidFill>
                <a:latin typeface="IBM Plex Sans" pitchFamily="34" charset="0"/>
                <a:ea typeface="IBM Plex Sans" pitchFamily="34" charset="-122"/>
                <a:cs typeface="IBM Plex Sans" pitchFamily="34" charset="-120"/>
              </a:rPr>
              <a:t>3B · THE AI’S DRAFT</a:t>
            </a:r>
            <a:endParaRPr lang="en-US" sz="1200" dirty="0"/>
          </a:p>
        </p:txBody>
      </p:sp>
      <p:pic>
        <p:nvPicPr>
          <p:cNvPr id="10" name="Image 1" descr="AI-generated leaders quadrant plotting 11 vision-testing alternatives on accessibility vs. assessment depth">    </p:cNvPr>
          <p:cNvPicPr>
            <a:picLocks noChangeAspect="1"/>
          </p:cNvPicPr>
          <p:nvPr/>
        </p:nvPicPr>
        <p:blipFill>
          <a:blip r:embed="rId2"/>
          <a:stretch>
            <a:fillRect/>
          </a:stretch>
        </p:blipFill>
        <p:spPr>
          <a:xfrm>
            <a:off x="6521318" y="1965920"/>
            <a:ext cx="4597663" cy="2590800"/>
          </a:xfrm>
          <a:prstGeom prst="rect">
            <a:avLst/>
          </a:prstGeom>
        </p:spPr>
      </p:pic>
      <p:sp>
        <p:nvSpPr>
          <p:cNvPr id="11" name="Shape 7"/>
          <p:cNvSpPr/>
          <p:nvPr/>
        </p:nvSpPr>
        <p:spPr>
          <a:xfrm>
            <a:off x="6410325" y="1962745"/>
            <a:ext cx="4819650" cy="2597150"/>
          </a:xfrm>
          <a:prstGeom prst="roundRect">
            <a:avLst>
              <a:gd name="adj" fmla="val 2323"/>
            </a:avLst>
          </a:prstGeom>
          <a:noFill/>
          <a:ln w="6350">
            <a:solidFill>
              <a:srgbClr val="D9DFEA"/>
            </a:solidFill>
            <a:prstDash val="solid"/>
          </a:ln>
        </p:spPr>
      </p:sp>
      <p:sp>
        <p:nvSpPr>
          <p:cNvPr id="12" name="Text 8"/>
          <p:cNvSpPr/>
          <p:nvPr/>
        </p:nvSpPr>
        <p:spPr>
          <a:xfrm>
            <a:off x="6407150" y="4664670"/>
            <a:ext cx="4957699"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60"/>
                </a:solidFill>
                <a:latin typeface="IBM Plex Sans" pitchFamily="34" charset="0"/>
                <a:ea typeface="IBM Plex Sans" pitchFamily="34" charset="-122"/>
                <a:cs typeface="IBM Plex Sans" pitchFamily="34" charset="-120"/>
              </a:rPr>
              <a:t>Same two dimensions, all 11 competitors. The AI put EyeQue closest to the upper-right. We kept its axes — they match our pre-work dimensions.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Final quadrant: the upper-right is still open</a:t>
            </a:r>
            <a:endParaRPr lang="en-US" sz="3000" dirty="0"/>
          </a:p>
        </p:txBody>
      </p:sp>
      <p:pic>
        <p:nvPicPr>
          <p:cNvPr id="3" name="Image 0" descr="Final leaders quadrant: accessibility and efficiency (x) versus assessment capability and depth (y). No competitor sits in the high-access, high-depth quadrant; Focal targets it.">    </p:cNvPr>
          <p:cNvPicPr>
            <a:picLocks noChangeAspect="1"/>
          </p:cNvPicPr>
          <p:nvPr/>
        </p:nvPicPr>
        <p:blipFill>
          <a:blip r:embed="rId1"/>
          <a:srcRect l="0" r="0" t="-17" b="-17"/>
          <a:stretch/>
        </p:blipFill>
        <p:spPr>
          <a:xfrm>
            <a:off x="812800" y="1435100"/>
            <a:ext cx="6731000" cy="4445000"/>
          </a:xfrm>
          <a:prstGeom prst="rect">
            <a:avLst/>
          </a:prstGeom>
        </p:spPr>
      </p:pic>
      <p:sp>
        <p:nvSpPr>
          <p:cNvPr id="4" name="Text 1"/>
          <p:cNvSpPr/>
          <p:nvPr/>
        </p:nvSpPr>
        <p:spPr>
          <a:xfrm>
            <a:off x="2032000" y="2222500"/>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Comprehensive eye exam</a:t>
            </a:r>
            <a:endParaRPr lang="en-US" sz="1200" dirty="0"/>
          </a:p>
        </p:txBody>
      </p:sp>
      <p:sp>
        <p:nvSpPr>
          <p:cNvPr id="5" name="Text 2"/>
          <p:cNvSpPr/>
          <p:nvPr/>
        </p:nvSpPr>
        <p:spPr>
          <a:xfrm>
            <a:off x="1540510" y="323215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Spot Vision Screener</a:t>
            </a:r>
            <a:endParaRPr lang="en-US" sz="1200" dirty="0"/>
          </a:p>
        </p:txBody>
      </p:sp>
      <p:sp>
        <p:nvSpPr>
          <p:cNvPr id="6" name="Text 3"/>
          <p:cNvSpPr/>
          <p:nvPr/>
        </p:nvSpPr>
        <p:spPr>
          <a:xfrm>
            <a:off x="1539875" y="3803650"/>
            <a:ext cx="196215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Airline qualification</a:t>
            </a:r>
            <a:endParaRPr lang="en-US" sz="1200" dirty="0"/>
          </a:p>
          <a:p>
            <a:pPr algn="ct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tests</a:t>
            </a:r>
            <a:endParaRPr lang="en-US" sz="1200" dirty="0"/>
          </a:p>
        </p:txBody>
      </p:sp>
      <p:sp>
        <p:nvSpPr>
          <p:cNvPr id="7" name="Text 4"/>
          <p:cNvSpPr/>
          <p:nvPr/>
        </p:nvSpPr>
        <p:spPr>
          <a:xfrm>
            <a:off x="4978400" y="3175000"/>
            <a:ext cx="6604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EyeQue</a:t>
            </a:r>
            <a:endParaRPr lang="en-US" sz="1200" dirty="0"/>
          </a:p>
        </p:txBody>
      </p:sp>
      <p:sp>
        <p:nvSpPr>
          <p:cNvPr id="8" name="Text 5"/>
          <p:cNvSpPr/>
          <p:nvPr/>
        </p:nvSpPr>
        <p:spPr>
          <a:xfrm>
            <a:off x="4730750" y="3549650"/>
            <a:ext cx="6858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Visibly</a:t>
            </a:r>
            <a:endParaRPr lang="en-US" sz="1200" dirty="0"/>
          </a:p>
        </p:txBody>
      </p:sp>
      <p:sp>
        <p:nvSpPr>
          <p:cNvPr id="9" name="Text 6"/>
          <p:cNvSpPr/>
          <p:nvPr/>
        </p:nvSpPr>
        <p:spPr>
          <a:xfrm>
            <a:off x="5416550" y="4318000"/>
            <a:ext cx="10668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Peek Acuity</a:t>
            </a:r>
            <a:endParaRPr lang="en-US" sz="1200" dirty="0"/>
          </a:p>
        </p:txBody>
      </p:sp>
      <p:sp>
        <p:nvSpPr>
          <p:cNvPr id="10" name="Text 7"/>
          <p:cNvSpPr/>
          <p:nvPr/>
        </p:nvSpPr>
        <p:spPr>
          <a:xfrm>
            <a:off x="6121400" y="4679950"/>
            <a:ext cx="8128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WHOeyes</a:t>
            </a:r>
            <a:endParaRPr lang="en-US" sz="1200" dirty="0"/>
          </a:p>
        </p:txBody>
      </p:sp>
      <p:sp>
        <p:nvSpPr>
          <p:cNvPr id="11" name="Text 8"/>
          <p:cNvSpPr/>
          <p:nvPr/>
        </p:nvSpPr>
        <p:spPr>
          <a:xfrm>
            <a:off x="3905250" y="410845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School screening</a:t>
            </a:r>
            <a:endParaRPr lang="en-US" sz="1200" dirty="0"/>
          </a:p>
          <a:p>
            <a:pPr algn="l"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programs</a:t>
            </a:r>
            <a:endParaRPr lang="en-US" sz="1200" dirty="0"/>
          </a:p>
        </p:txBody>
      </p:sp>
      <p:sp>
        <p:nvSpPr>
          <p:cNvPr id="12" name="Text 9"/>
          <p:cNvSpPr/>
          <p:nvPr/>
        </p:nvSpPr>
        <p:spPr>
          <a:xfrm>
            <a:off x="3498850" y="4584700"/>
            <a:ext cx="241998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Employer qualification tests</a:t>
            </a:r>
            <a:endParaRPr lang="en-US" sz="1200" dirty="0"/>
          </a:p>
        </p:txBody>
      </p:sp>
      <p:sp>
        <p:nvSpPr>
          <p:cNvPr id="13" name="Text 10"/>
          <p:cNvSpPr/>
          <p:nvPr/>
        </p:nvSpPr>
        <p:spPr>
          <a:xfrm>
            <a:off x="884555" y="4616450"/>
            <a:ext cx="1896745"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Licensing-agency tests</a:t>
            </a:r>
            <a:endParaRPr lang="en-US" sz="1200" dirty="0"/>
          </a:p>
        </p:txBody>
      </p:sp>
      <p:sp>
        <p:nvSpPr>
          <p:cNvPr id="14" name="Text 11"/>
          <p:cNvSpPr/>
          <p:nvPr/>
        </p:nvSpPr>
        <p:spPr>
          <a:xfrm>
            <a:off x="3683000" y="4864100"/>
            <a:ext cx="1193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E1B3D"/>
                </a:solidFill>
                <a:latin typeface="IBM Plex Sans" pitchFamily="34" charset="0"/>
                <a:ea typeface="IBM Plex Sans" pitchFamily="34" charset="-122"/>
                <a:cs typeface="IBM Plex Sans" pitchFamily="34" charset="-120"/>
              </a:rPr>
              <a:t>Snellen chart</a:t>
            </a:r>
            <a:endParaRPr lang="en-US" sz="1200" dirty="0"/>
          </a:p>
        </p:txBody>
      </p:sp>
      <p:sp>
        <p:nvSpPr>
          <p:cNvPr id="15" name="Text 12"/>
          <p:cNvSpPr/>
          <p:nvPr/>
        </p:nvSpPr>
        <p:spPr>
          <a:xfrm>
            <a:off x="4089400" y="2374900"/>
            <a:ext cx="170180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D6AAE"/>
                </a:solidFill>
                <a:latin typeface="IBM Plex Sans" pitchFamily="34" charset="0"/>
                <a:ea typeface="IBM Plex Sans" pitchFamily="34" charset="-122"/>
                <a:cs typeface="IBM Plex Sans" pitchFamily="34" charset="-120"/>
              </a:rPr>
              <a:t>Focal — our target</a:t>
            </a:r>
            <a:endParaRPr lang="en-US" sz="1200" dirty="0"/>
          </a:p>
        </p:txBody>
      </p:sp>
      <p:sp>
        <p:nvSpPr>
          <p:cNvPr id="16" name="Text 13"/>
          <p:cNvSpPr/>
          <p:nvPr/>
        </p:nvSpPr>
        <p:spPr>
          <a:xfrm>
            <a:off x="990600" y="1803400"/>
            <a:ext cx="2223770" cy="215900"/>
          </a:xfrm>
          <a:prstGeom prst="rect">
            <a:avLst/>
          </a:prstGeom>
          <a:noFill/>
          <a:ln/>
        </p:spPr>
        <p:txBody>
          <a:bodyPr wrap="square" lIns="0" tIns="0" rIns="0" bIns="0" rtlCol="0" anchor="t">
            <a:normAutofit/>
          </a:bodyPr>
          <a:lstStyle/>
          <a:p>
            <a:pPr algn="l" indent="0" marL="0">
              <a:lnSpc>
                <a:spcPts val="1500"/>
              </a:lnSpc>
              <a:buNone/>
            </a:pPr>
            <a:r>
              <a:rPr lang="en-US" sz="1200" b="1" spc="50" kern="0" dirty="0">
                <a:solidFill>
                  <a:srgbClr val="5E6A82"/>
                </a:solidFill>
                <a:latin typeface="IBM Plex Sans" pitchFamily="34" charset="0"/>
                <a:ea typeface="IBM Plex Sans" pitchFamily="34" charset="-122"/>
                <a:cs typeface="IBM Plex Sans" pitchFamily="34" charset="-120"/>
              </a:rPr>
              <a:t>High depth · lower access</a:t>
            </a:r>
            <a:endParaRPr lang="en-US" sz="1200" dirty="0"/>
          </a:p>
        </p:txBody>
      </p:sp>
      <p:sp>
        <p:nvSpPr>
          <p:cNvPr id="17" name="Text 14"/>
          <p:cNvSpPr/>
          <p:nvPr/>
        </p:nvSpPr>
        <p:spPr>
          <a:xfrm>
            <a:off x="5040630" y="1803400"/>
            <a:ext cx="2223770" cy="215900"/>
          </a:xfrm>
          <a:prstGeom prst="rect">
            <a:avLst/>
          </a:prstGeom>
          <a:noFill/>
          <a:ln/>
        </p:spPr>
        <p:txBody>
          <a:bodyPr wrap="square" lIns="0" tIns="0" rIns="0" bIns="0" rtlCol="0" anchor="t">
            <a:normAutofit/>
          </a:bodyPr>
          <a:lstStyle/>
          <a:p>
            <a:pPr algn="r" indent="0" marL="0">
              <a:lnSpc>
                <a:spcPts val="1500"/>
              </a:lnSpc>
              <a:buNone/>
            </a:pPr>
            <a:r>
              <a:rPr lang="en-US" sz="1200" b="1" spc="50" kern="0" dirty="0">
                <a:solidFill>
                  <a:srgbClr val="5E6A82"/>
                </a:solidFill>
                <a:latin typeface="IBM Plex Sans" pitchFamily="34" charset="0"/>
                <a:ea typeface="IBM Plex Sans" pitchFamily="34" charset="-122"/>
                <a:cs typeface="IBM Plex Sans" pitchFamily="34" charset="-120"/>
              </a:rPr>
              <a:t>High depth · high access</a:t>
            </a:r>
            <a:endParaRPr lang="en-US" sz="1200" dirty="0"/>
          </a:p>
        </p:txBody>
      </p:sp>
      <p:sp>
        <p:nvSpPr>
          <p:cNvPr id="18" name="Text 15"/>
          <p:cNvSpPr/>
          <p:nvPr/>
        </p:nvSpPr>
        <p:spPr>
          <a:xfrm>
            <a:off x="990600" y="5461000"/>
            <a:ext cx="2223770" cy="215900"/>
          </a:xfrm>
          <a:prstGeom prst="rect">
            <a:avLst/>
          </a:prstGeom>
          <a:noFill/>
          <a:ln/>
        </p:spPr>
        <p:txBody>
          <a:bodyPr wrap="square" lIns="0" tIns="0" rIns="0" bIns="0" rtlCol="0" anchor="t">
            <a:normAutofit/>
          </a:bodyPr>
          <a:lstStyle/>
          <a:p>
            <a:pPr algn="l" indent="0" marL="0">
              <a:lnSpc>
                <a:spcPts val="1500"/>
              </a:lnSpc>
              <a:buNone/>
            </a:pPr>
            <a:r>
              <a:rPr lang="en-US" sz="1200" b="1" spc="50" kern="0" dirty="0">
                <a:solidFill>
                  <a:srgbClr val="5E6A82"/>
                </a:solidFill>
                <a:latin typeface="IBM Plex Sans" pitchFamily="34" charset="0"/>
                <a:ea typeface="IBM Plex Sans" pitchFamily="34" charset="-122"/>
                <a:cs typeface="IBM Plex Sans" pitchFamily="34" charset="-120"/>
              </a:rPr>
              <a:t>Narrower · lower access</a:t>
            </a:r>
            <a:endParaRPr lang="en-US" sz="1200" dirty="0"/>
          </a:p>
        </p:txBody>
      </p:sp>
      <p:sp>
        <p:nvSpPr>
          <p:cNvPr id="19" name="Text 16"/>
          <p:cNvSpPr/>
          <p:nvPr/>
        </p:nvSpPr>
        <p:spPr>
          <a:xfrm>
            <a:off x="5040630" y="5461000"/>
            <a:ext cx="2223770" cy="215900"/>
          </a:xfrm>
          <a:prstGeom prst="rect">
            <a:avLst/>
          </a:prstGeom>
          <a:noFill/>
          <a:ln/>
        </p:spPr>
        <p:txBody>
          <a:bodyPr wrap="square" lIns="0" tIns="0" rIns="0" bIns="0" rtlCol="0" anchor="t">
            <a:normAutofit/>
          </a:bodyPr>
          <a:lstStyle/>
          <a:p>
            <a:pPr algn="r" indent="0" marL="0">
              <a:lnSpc>
                <a:spcPts val="1500"/>
              </a:lnSpc>
              <a:buNone/>
            </a:pPr>
            <a:r>
              <a:rPr lang="en-US" sz="1200" b="1" spc="50" kern="0" dirty="0">
                <a:solidFill>
                  <a:srgbClr val="5E6A82"/>
                </a:solidFill>
                <a:latin typeface="IBM Plex Sans" pitchFamily="34" charset="0"/>
                <a:ea typeface="IBM Plex Sans" pitchFamily="34" charset="-122"/>
                <a:cs typeface="IBM Plex Sans" pitchFamily="34" charset="-120"/>
              </a:rPr>
              <a:t>Narrower · high access</a:t>
            </a:r>
            <a:endParaRPr lang="en-US" sz="1200" dirty="0"/>
          </a:p>
        </p:txBody>
      </p:sp>
      <p:sp>
        <p:nvSpPr>
          <p:cNvPr id="20" name="Text 17"/>
          <p:cNvSpPr/>
          <p:nvPr/>
        </p:nvSpPr>
        <p:spPr>
          <a:xfrm>
            <a:off x="1016000" y="1447800"/>
            <a:ext cx="3924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Assessment capability &amp; depth</a:t>
            </a:r>
            <a:endParaRPr lang="en-US" sz="1200" dirty="0"/>
          </a:p>
        </p:txBody>
      </p:sp>
      <p:sp>
        <p:nvSpPr>
          <p:cNvPr id="21" name="Text 18"/>
          <p:cNvSpPr/>
          <p:nvPr/>
        </p:nvSpPr>
        <p:spPr>
          <a:xfrm>
            <a:off x="4095750" y="5791200"/>
            <a:ext cx="327025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Accessibility &amp; efficiency</a:t>
            </a:r>
            <a:endParaRPr lang="en-US" sz="1200" dirty="0"/>
          </a:p>
        </p:txBody>
      </p:sp>
      <p:sp>
        <p:nvSpPr>
          <p:cNvPr id="22" name="Text 19"/>
          <p:cNvSpPr/>
          <p:nvPr/>
        </p:nvSpPr>
        <p:spPr>
          <a:xfrm>
            <a:off x="7721600" y="1435100"/>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521A"/>
                </a:solidFill>
                <a:latin typeface="IBM Plex Sans" pitchFamily="34" charset="0"/>
                <a:ea typeface="IBM Plex Sans" pitchFamily="34" charset="-122"/>
                <a:cs typeface="IBM Plex Sans" pitchFamily="34" charset="-120"/>
              </a:rPr>
              <a:t>WHAT WE CHANGED FROM THE AI</a:t>
            </a:r>
            <a:endParaRPr lang="en-US" sz="1200" dirty="0"/>
          </a:p>
        </p:txBody>
      </p:sp>
      <p:pic>
        <p:nvPicPr>
          <p:cNvPr id="23" name="Image 1" descr="preencoded.png">    </p:cNvPr>
          <p:cNvPicPr>
            <a:picLocks noChangeAspect="1"/>
          </p:cNvPicPr>
          <p:nvPr/>
        </p:nvPicPr>
        <p:blipFill>
          <a:blip r:embed="rId2"/>
          <a:srcRect l="0" r="0" t="0" b="0"/>
          <a:stretch/>
        </p:blipFill>
        <p:spPr>
          <a:xfrm>
            <a:off x="7721600" y="1775420"/>
            <a:ext cx="177800" cy="177800"/>
          </a:xfrm>
          <a:prstGeom prst="rect">
            <a:avLst/>
          </a:prstGeom>
        </p:spPr>
      </p:pic>
      <p:sp>
        <p:nvSpPr>
          <p:cNvPr id="24" name="Text 20"/>
          <p:cNvSpPr/>
          <p:nvPr/>
        </p:nvSpPr>
        <p:spPr>
          <a:xfrm>
            <a:off x="8001000" y="1775420"/>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EyeQue: moved down and left</a:t>
            </a:r>
            <a:endParaRPr lang="en-US" sz="1400" dirty="0"/>
          </a:p>
        </p:txBody>
      </p:sp>
      <p:sp>
        <p:nvSpPr>
          <p:cNvPr id="25" name="Text 21"/>
          <p:cNvSpPr/>
          <p:nvPr/>
        </p:nvSpPr>
        <p:spPr>
          <a:xfrm>
            <a:off x="8001000" y="2026841"/>
            <a:ext cx="347954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Per EyeQue, no eye-health exam; FDA Class I (510(k)-exempt); users must buy phone-mounted hardware.</a:t>
            </a:r>
            <a:endParaRPr lang="en-US" sz="1200" dirty="0"/>
          </a:p>
        </p:txBody>
      </p:sp>
      <p:pic>
        <p:nvPicPr>
          <p:cNvPr id="26" name="Image 2" descr="preencoded.png">    </p:cNvPr>
          <p:cNvPicPr>
            <a:picLocks noChangeAspect="1"/>
          </p:cNvPicPr>
          <p:nvPr/>
        </p:nvPicPr>
        <p:blipFill>
          <a:blip r:embed="rId3"/>
          <a:srcRect l="0" r="0" t="0" b="0"/>
          <a:stretch/>
        </p:blipFill>
        <p:spPr>
          <a:xfrm>
            <a:off x="7721600" y="2748111"/>
            <a:ext cx="177800" cy="177800"/>
          </a:xfrm>
          <a:prstGeom prst="rect">
            <a:avLst/>
          </a:prstGeom>
        </p:spPr>
      </p:pic>
      <p:sp>
        <p:nvSpPr>
          <p:cNvPr id="27" name="Text 22"/>
          <p:cNvSpPr/>
          <p:nvPr/>
        </p:nvSpPr>
        <p:spPr>
          <a:xfrm>
            <a:off x="8001000" y="2748111"/>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Visibly: moved left and down</a:t>
            </a:r>
            <a:endParaRPr lang="en-US" sz="1400" dirty="0"/>
          </a:p>
        </p:txBody>
      </p:sp>
      <p:sp>
        <p:nvSpPr>
          <p:cNvPr id="28" name="Text 23"/>
          <p:cNvSpPr/>
          <p:nvPr/>
        </p:nvSpPr>
        <p:spPr>
          <a:xfrm>
            <a:off x="8001000" y="2999532"/>
            <a:ext cx="347954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FDA-cleared (2022) only for ages 22–40 and existing-prescription renewals; some states restrict online exams.</a:t>
            </a:r>
            <a:endParaRPr lang="en-US" sz="1200" dirty="0"/>
          </a:p>
        </p:txBody>
      </p:sp>
      <p:pic>
        <p:nvPicPr>
          <p:cNvPr id="29" name="Image 3" descr="preencoded.png">    </p:cNvPr>
          <p:cNvPicPr>
            <a:picLocks noChangeAspect="1"/>
          </p:cNvPicPr>
          <p:nvPr/>
        </p:nvPicPr>
        <p:blipFill>
          <a:blip r:embed="rId4"/>
          <a:srcRect l="0" r="0" t="0" b="0"/>
          <a:stretch/>
        </p:blipFill>
        <p:spPr>
          <a:xfrm>
            <a:off x="7721600" y="3720802"/>
            <a:ext cx="177800" cy="177800"/>
          </a:xfrm>
          <a:prstGeom prst="rect">
            <a:avLst/>
          </a:prstGeom>
        </p:spPr>
      </p:pic>
      <p:sp>
        <p:nvSpPr>
          <p:cNvPr id="30" name="Text 24"/>
          <p:cNvSpPr/>
          <p:nvPr/>
        </p:nvSpPr>
        <p:spPr>
          <a:xfrm>
            <a:off x="8001000" y="3720802"/>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Snellen chart: moved right</a:t>
            </a:r>
            <a:endParaRPr lang="en-US" sz="1400" dirty="0"/>
          </a:p>
        </p:txBody>
      </p:sp>
      <p:sp>
        <p:nvSpPr>
          <p:cNvPr id="31" name="Text 25"/>
          <p:cNvSpPr/>
          <p:nvPr/>
        </p:nvSpPr>
        <p:spPr>
          <a:xfrm>
            <a:off x="8001000" y="3972223"/>
            <a:ext cx="347954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Printed charts are cheap and widely available — no appointment or equipment. Depth stays low: acuity only.</a:t>
            </a:r>
            <a:endParaRPr lang="en-US" sz="1200" dirty="0"/>
          </a:p>
        </p:txBody>
      </p:sp>
      <p:pic>
        <p:nvPicPr>
          <p:cNvPr id="32" name="Image 4" descr="preencoded.png">    </p:cNvPr>
          <p:cNvPicPr>
            <a:picLocks noChangeAspect="1"/>
          </p:cNvPicPr>
          <p:nvPr/>
        </p:nvPicPr>
        <p:blipFill>
          <a:blip r:embed="rId5"/>
          <a:srcRect l="0" r="0" t="0" b="0"/>
          <a:stretch/>
        </p:blipFill>
        <p:spPr>
          <a:xfrm>
            <a:off x="7721600" y="4693493"/>
            <a:ext cx="177800" cy="177800"/>
          </a:xfrm>
          <a:prstGeom prst="rect">
            <a:avLst/>
          </a:prstGeom>
        </p:spPr>
      </p:pic>
      <p:sp>
        <p:nvSpPr>
          <p:cNvPr id="33" name="Text 26"/>
          <p:cNvSpPr/>
          <p:nvPr/>
        </p:nvSpPr>
        <p:spPr>
          <a:xfrm>
            <a:off x="8001000" y="4693493"/>
            <a:ext cx="34795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Focal: added, upper-right</a:t>
            </a:r>
            <a:endParaRPr lang="en-US" sz="1400" dirty="0"/>
          </a:p>
        </p:txBody>
      </p:sp>
      <p:sp>
        <p:nvSpPr>
          <p:cNvPr id="34" name="Text 27"/>
          <p:cNvSpPr/>
          <p:nvPr/>
        </p:nvSpPr>
        <p:spPr>
          <a:xfrm>
            <a:off x="8001000" y="4944914"/>
            <a:ext cx="347954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660"/>
                </a:solidFill>
                <a:latin typeface="IBM Plex Sans" pitchFamily="34" charset="0"/>
                <a:ea typeface="IBM Plex Sans" pitchFamily="34" charset="-122"/>
                <a:cs typeface="IBM Plex Sans" pitchFamily="34" charset="-120"/>
              </a:rPr>
              <a:t>Accessible and comprehensive, with standardized, organization-ready testing for agencies, airlines, and rentals.</a:t>
            </a:r>
            <a:endParaRPr lang="en-US" sz="1200" dirty="0"/>
          </a:p>
        </p:txBody>
      </p:sp>
      <p:pic>
        <p:nvPicPr>
          <p:cNvPr id="35" name="Image 5" descr="preencoded.png">    </p:cNvPr>
          <p:cNvPicPr>
            <a:picLocks noChangeAspect="1"/>
          </p:cNvPicPr>
          <p:nvPr/>
        </p:nvPicPr>
        <p:blipFill>
          <a:blip r:embed="rId6"/>
          <a:srcRect l="0" r="0" t="0" b="0"/>
          <a:stretch/>
        </p:blipFill>
        <p:spPr>
          <a:xfrm>
            <a:off x="7721600" y="5683945"/>
            <a:ext cx="177800" cy="177800"/>
          </a:xfrm>
          <a:prstGeom prst="rect">
            <a:avLst/>
          </a:prstGeom>
        </p:spPr>
      </p:pic>
      <p:sp>
        <p:nvSpPr>
          <p:cNvPr id="36" name="Text 28"/>
          <p:cNvSpPr/>
          <p:nvPr/>
        </p:nvSpPr>
        <p:spPr>
          <a:xfrm>
            <a:off x="7950200" y="5666184"/>
            <a:ext cx="368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Kept</a:t>
            </a:r>
            <a:endParaRPr lang="en-US" sz="1200" dirty="0"/>
          </a:p>
        </p:txBody>
      </p:sp>
      <p:pic>
        <p:nvPicPr>
          <p:cNvPr id="37" name="Image 6" descr="preencoded.png">    </p:cNvPr>
          <p:cNvPicPr>
            <a:picLocks noChangeAspect="1"/>
          </p:cNvPicPr>
          <p:nvPr/>
        </p:nvPicPr>
        <p:blipFill>
          <a:blip r:embed="rId7"/>
          <a:srcRect l="0" r="0" t="0" b="0"/>
          <a:stretch/>
        </p:blipFill>
        <p:spPr>
          <a:xfrm>
            <a:off x="8420050" y="5683945"/>
            <a:ext cx="177800" cy="177800"/>
          </a:xfrm>
          <a:prstGeom prst="rect">
            <a:avLst/>
          </a:prstGeom>
        </p:spPr>
      </p:pic>
      <p:sp>
        <p:nvSpPr>
          <p:cNvPr id="38" name="Text 29"/>
          <p:cNvSpPr/>
          <p:nvPr/>
        </p:nvSpPr>
        <p:spPr>
          <a:xfrm>
            <a:off x="8648650" y="5666184"/>
            <a:ext cx="50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Moved</a:t>
            </a:r>
            <a:endParaRPr lang="en-US" sz="1200" dirty="0"/>
          </a:p>
        </p:txBody>
      </p:sp>
      <p:pic>
        <p:nvPicPr>
          <p:cNvPr id="39" name="Image 7" descr="preencoded.png">    </p:cNvPr>
          <p:cNvPicPr>
            <a:picLocks noChangeAspect="1"/>
          </p:cNvPicPr>
          <p:nvPr/>
        </p:nvPicPr>
        <p:blipFill>
          <a:blip r:embed="rId8"/>
          <a:srcRect l="0" r="0" t="0" b="0"/>
          <a:stretch/>
        </p:blipFill>
        <p:spPr>
          <a:xfrm>
            <a:off x="9254778" y="5683945"/>
            <a:ext cx="177800" cy="177800"/>
          </a:xfrm>
          <a:prstGeom prst="rect">
            <a:avLst/>
          </a:prstGeom>
        </p:spPr>
      </p:pic>
      <p:sp>
        <p:nvSpPr>
          <p:cNvPr id="40" name="Text 30"/>
          <p:cNvSpPr/>
          <p:nvPr/>
        </p:nvSpPr>
        <p:spPr>
          <a:xfrm>
            <a:off x="9483378" y="5666184"/>
            <a:ext cx="8609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AI’s original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The AI’s SWOT: EyeQue as the leader</a:t>
            </a:r>
            <a:endParaRPr lang="en-US" sz="3000" dirty="0"/>
          </a:p>
        </p:txBody>
      </p:sp>
      <p:sp>
        <p:nvSpPr>
          <p:cNvPr id="3" name="Shape 1"/>
          <p:cNvSpPr/>
          <p:nvPr/>
        </p:nvSpPr>
        <p:spPr>
          <a:xfrm>
            <a:off x="815975" y="1489075"/>
            <a:ext cx="3448050" cy="1855291"/>
          </a:xfrm>
          <a:prstGeom prst="roundRect">
            <a:avLst>
              <a:gd name="adj" fmla="val 5305"/>
            </a:avLst>
          </a:prstGeom>
          <a:solidFill>
            <a:srgbClr val="FBFCFE"/>
          </a:solidFill>
          <a:ln w="6350">
            <a:solidFill>
              <a:srgbClr val="D9DFEA"/>
            </a:solidFill>
            <a:prstDash val="solid"/>
          </a:ln>
        </p:spPr>
      </p:sp>
      <p:sp>
        <p:nvSpPr>
          <p:cNvPr id="4" name="Text 2"/>
          <p:cNvSpPr/>
          <p:nvPr/>
        </p:nvSpPr>
        <p:spPr>
          <a:xfrm>
            <a:off x="971550" y="1644650"/>
            <a:ext cx="220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S</a:t>
            </a:r>
            <a:endParaRPr lang="en-US" sz="2200" dirty="0"/>
          </a:p>
        </p:txBody>
      </p:sp>
      <p:sp>
        <p:nvSpPr>
          <p:cNvPr id="5" name="Text 3"/>
          <p:cNvSpPr/>
          <p:nvPr/>
        </p:nvSpPr>
        <p:spPr>
          <a:xfrm>
            <a:off x="1229767" y="1677690"/>
            <a:ext cx="916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Strengths</a:t>
            </a:r>
            <a:endParaRPr lang="en-US" sz="1400" dirty="0"/>
          </a:p>
        </p:txBody>
      </p:sp>
      <p:sp>
        <p:nvSpPr>
          <p:cNvPr id="6" name="Text 4"/>
          <p:cNvSpPr/>
          <p:nvPr/>
        </p:nvSpPr>
        <p:spPr>
          <a:xfrm>
            <a:off x="971550" y="2000250"/>
            <a:ext cx="3231007" cy="1213941"/>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At-home access plus acuity testing and refractive-error estimation</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More depth than basic smartphone tools like WHOeyes and Peek Acuity</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Self-administered — avoids clinic visits for routine checks</a:t>
            </a:r>
            <a:endParaRPr lang="en-US" sz="1200" dirty="0"/>
          </a:p>
        </p:txBody>
      </p:sp>
      <p:sp>
        <p:nvSpPr>
          <p:cNvPr id="7" name="Shape 5"/>
          <p:cNvSpPr/>
          <p:nvPr/>
        </p:nvSpPr>
        <p:spPr>
          <a:xfrm>
            <a:off x="4371975" y="1489075"/>
            <a:ext cx="3448050" cy="1855291"/>
          </a:xfrm>
          <a:prstGeom prst="roundRect">
            <a:avLst>
              <a:gd name="adj" fmla="val 5305"/>
            </a:avLst>
          </a:prstGeom>
          <a:solidFill>
            <a:srgbClr val="FBFCFE"/>
          </a:solidFill>
          <a:ln w="6350">
            <a:solidFill>
              <a:srgbClr val="D9DFEA"/>
            </a:solidFill>
            <a:prstDash val="solid"/>
          </a:ln>
        </p:spPr>
      </p:sp>
      <p:sp>
        <p:nvSpPr>
          <p:cNvPr id="8" name="Text 6"/>
          <p:cNvSpPr/>
          <p:nvPr/>
        </p:nvSpPr>
        <p:spPr>
          <a:xfrm>
            <a:off x="4527550" y="1644650"/>
            <a:ext cx="301724"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W</a:t>
            </a:r>
            <a:endParaRPr lang="en-US" sz="2200" dirty="0"/>
          </a:p>
        </p:txBody>
      </p:sp>
      <p:sp>
        <p:nvSpPr>
          <p:cNvPr id="9" name="Text 7"/>
          <p:cNvSpPr/>
          <p:nvPr/>
        </p:nvSpPr>
        <p:spPr>
          <a:xfrm>
            <a:off x="4867374" y="1677690"/>
            <a:ext cx="110886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Weaknesses</a:t>
            </a:r>
            <a:endParaRPr lang="en-US" sz="1400" dirty="0"/>
          </a:p>
        </p:txBody>
      </p:sp>
      <p:sp>
        <p:nvSpPr>
          <p:cNvPr id="10" name="Text 8"/>
          <p:cNvSpPr/>
          <p:nvPr/>
        </p:nvSpPr>
        <p:spPr>
          <a:xfrm>
            <a:off x="4527550" y="2000250"/>
            <a:ext cx="3231007" cy="1213941"/>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Phone-mounted optical hardware adds cost and setup friction</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Less comprehensive than an in-person exam; no disease diagnosis</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Weaker evidence of institutional or regulatory acceptance</a:t>
            </a:r>
            <a:endParaRPr lang="en-US" sz="1200" dirty="0"/>
          </a:p>
        </p:txBody>
      </p:sp>
      <p:sp>
        <p:nvSpPr>
          <p:cNvPr id="11" name="Shape 9"/>
          <p:cNvSpPr/>
          <p:nvPr/>
        </p:nvSpPr>
        <p:spPr>
          <a:xfrm>
            <a:off x="815975" y="3452316"/>
            <a:ext cx="3448050" cy="2053382"/>
          </a:xfrm>
          <a:prstGeom prst="roundRect">
            <a:avLst>
              <a:gd name="adj" fmla="val 4793"/>
            </a:avLst>
          </a:prstGeom>
          <a:solidFill>
            <a:srgbClr val="FBFCFE"/>
          </a:solidFill>
          <a:ln w="6350">
            <a:solidFill>
              <a:srgbClr val="D9DFEA"/>
            </a:solidFill>
            <a:prstDash val="solid"/>
          </a:ln>
        </p:spPr>
      </p:sp>
      <p:sp>
        <p:nvSpPr>
          <p:cNvPr id="12" name="Text 10"/>
          <p:cNvSpPr/>
          <p:nvPr/>
        </p:nvSpPr>
        <p:spPr>
          <a:xfrm>
            <a:off x="971550" y="3607891"/>
            <a:ext cx="239713"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O</a:t>
            </a:r>
            <a:endParaRPr lang="en-US" sz="2200" dirty="0"/>
          </a:p>
        </p:txBody>
      </p:sp>
      <p:sp>
        <p:nvSpPr>
          <p:cNvPr id="13" name="Text 11"/>
          <p:cNvSpPr/>
          <p:nvPr/>
        </p:nvSpPr>
        <p:spPr>
          <a:xfrm>
            <a:off x="1249363" y="3640931"/>
            <a:ext cx="12472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Opportunities</a:t>
            </a:r>
            <a:endParaRPr lang="en-US" sz="1400" dirty="0"/>
          </a:p>
        </p:txBody>
      </p:sp>
      <p:sp>
        <p:nvSpPr>
          <p:cNvPr id="14" name="Text 12"/>
          <p:cNvSpPr/>
          <p:nvPr/>
        </p:nvSpPr>
        <p:spPr>
          <a:xfrm>
            <a:off x="971550" y="3963491"/>
            <a:ext cx="3231007" cy="1213941"/>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Add vision measures beyond acuity and refractive error</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Stronger longitudinal tracking for early detection of change</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Standardized workflows for organizations that repeat screening</a:t>
            </a:r>
            <a:endParaRPr lang="en-US" sz="1200" dirty="0"/>
          </a:p>
        </p:txBody>
      </p:sp>
      <p:sp>
        <p:nvSpPr>
          <p:cNvPr id="15" name="Shape 13"/>
          <p:cNvSpPr/>
          <p:nvPr/>
        </p:nvSpPr>
        <p:spPr>
          <a:xfrm>
            <a:off x="4371975" y="3452316"/>
            <a:ext cx="3448050" cy="2053382"/>
          </a:xfrm>
          <a:prstGeom prst="roundRect">
            <a:avLst>
              <a:gd name="adj" fmla="val 4793"/>
            </a:avLst>
          </a:prstGeom>
          <a:solidFill>
            <a:srgbClr val="FBFCFE"/>
          </a:solidFill>
          <a:ln w="6350">
            <a:solidFill>
              <a:srgbClr val="D9DFEA"/>
            </a:solidFill>
            <a:prstDash val="solid"/>
          </a:ln>
        </p:spPr>
      </p:sp>
      <p:sp>
        <p:nvSpPr>
          <p:cNvPr id="16" name="Text 14"/>
          <p:cNvSpPr/>
          <p:nvPr/>
        </p:nvSpPr>
        <p:spPr>
          <a:xfrm>
            <a:off x="4527550" y="3607891"/>
            <a:ext cx="21510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T</a:t>
            </a:r>
            <a:endParaRPr lang="en-US" sz="2200" dirty="0"/>
          </a:p>
        </p:txBody>
      </p:sp>
      <p:sp>
        <p:nvSpPr>
          <p:cNvPr id="17" name="Text 15"/>
          <p:cNvSpPr/>
          <p:nvPr/>
        </p:nvSpPr>
        <p:spPr>
          <a:xfrm>
            <a:off x="4780756" y="3640931"/>
            <a:ext cx="7053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Threats</a:t>
            </a:r>
            <a:endParaRPr lang="en-US" sz="1400" dirty="0"/>
          </a:p>
        </p:txBody>
      </p:sp>
      <p:sp>
        <p:nvSpPr>
          <p:cNvPr id="18" name="Text 16"/>
          <p:cNvSpPr/>
          <p:nvPr/>
        </p:nvSpPr>
        <p:spPr>
          <a:xfrm>
            <a:off x="4527550" y="3963491"/>
            <a:ext cx="3231007" cy="1412032"/>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Visibly: remote convenience plus clinician review and stronger regulatory credibility </a:t>
            </a:r>
            <a:r>
              <a:rPr lang="en-US" sz="1200" b="1" dirty="0">
                <a:solidFill>
                  <a:srgbClr val="B0521A"/>
                </a:solidFill>
                <a:latin typeface="IBM Plex Sans" pitchFamily="34" charset="0"/>
                <a:ea typeface="IBM Plex Sans" pitchFamily="34" charset="-122"/>
                <a:cs typeface="IBM Plex Sans" pitchFamily="34" charset="-120"/>
              </a:rPr>
              <a:t>(corrected →)</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Comprehensive eye exams remain the reference for breadth</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Spot and institutional programs where hardware and control matter</a:t>
            </a:r>
            <a:endParaRPr lang="en-US" sz="1200" dirty="0"/>
          </a:p>
        </p:txBody>
      </p:sp>
      <p:sp>
        <p:nvSpPr>
          <p:cNvPr id="19" name="Shape 17"/>
          <p:cNvSpPr/>
          <p:nvPr/>
        </p:nvSpPr>
        <p:spPr>
          <a:xfrm>
            <a:off x="8077200" y="1485900"/>
            <a:ext cx="3302000" cy="4236393"/>
          </a:xfrm>
          <a:prstGeom prst="roundRect">
            <a:avLst>
              <a:gd name="adj" fmla="val 3846"/>
            </a:avLst>
          </a:prstGeom>
          <a:solidFill>
            <a:srgbClr val="0E1B3D"/>
          </a:solidFill>
          <a:ln/>
        </p:spPr>
      </p:sp>
      <p:sp>
        <p:nvSpPr>
          <p:cNvPr id="20" name="Text 18"/>
          <p:cNvSpPr/>
          <p:nvPr/>
        </p:nvSpPr>
        <p:spPr>
          <a:xfrm>
            <a:off x="8305800" y="17145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7B2A"/>
                </a:solidFill>
                <a:latin typeface="IBM Plex Sans" pitchFamily="34" charset="0"/>
                <a:ea typeface="IBM Plex Sans" pitchFamily="34" charset="-122"/>
                <a:cs typeface="IBM Plex Sans" pitchFamily="34" charset="-120"/>
              </a:rPr>
              <a:t>WHERE WE CORRECTED THE AI</a:t>
            </a:r>
            <a:endParaRPr lang="en-US" sz="1200" dirty="0"/>
          </a:p>
        </p:txBody>
      </p:sp>
      <p:sp>
        <p:nvSpPr>
          <p:cNvPr id="21" name="Text 19"/>
          <p:cNvSpPr/>
          <p:nvPr/>
        </p:nvSpPr>
        <p:spPr>
          <a:xfrm>
            <a:off x="8305800" y="2105620"/>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07B2A"/>
                </a:solidFill>
                <a:latin typeface="Space Grotesk" pitchFamily="34" charset="0"/>
                <a:ea typeface="Space Grotesk" pitchFamily="34" charset="-122"/>
                <a:cs typeface="Space Grotesk" pitchFamily="34" charset="-120"/>
              </a:rPr>
              <a:t>1</a:t>
            </a:r>
            <a:endParaRPr lang="en-US" sz="2200" dirty="0"/>
          </a:p>
        </p:txBody>
      </p:sp>
      <p:sp>
        <p:nvSpPr>
          <p:cNvPr id="22" name="Text 20"/>
          <p:cNvSpPr/>
          <p:nvPr/>
        </p:nvSpPr>
        <p:spPr>
          <a:xfrm>
            <a:off x="8674100" y="2105620"/>
            <a:ext cx="255079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Different leader</a:t>
            </a:r>
            <a:endParaRPr lang="en-US" sz="1400" dirty="0"/>
          </a:p>
        </p:txBody>
      </p:sp>
      <p:sp>
        <p:nvSpPr>
          <p:cNvPr id="23" name="Text 21"/>
          <p:cNvSpPr/>
          <p:nvPr/>
        </p:nvSpPr>
        <p:spPr>
          <a:xfrm>
            <a:off x="8674100" y="2357041"/>
            <a:ext cx="255079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B5CB"/>
                </a:solidFill>
                <a:latin typeface="IBM Plex Sans" pitchFamily="34" charset="0"/>
                <a:ea typeface="IBM Plex Sans" pitchFamily="34" charset="-122"/>
                <a:cs typeface="IBM Plex Sans" pitchFamily="34" charset="-120"/>
              </a:rPr>
              <a:t>We ran our own SWOT on Visibly instead of EyeQue.</a:t>
            </a:r>
            <a:endParaRPr lang="en-US" sz="1200" dirty="0"/>
          </a:p>
        </p:txBody>
      </p:sp>
      <p:sp>
        <p:nvSpPr>
          <p:cNvPr id="24" name="Text 22"/>
          <p:cNvSpPr/>
          <p:nvPr/>
        </p:nvSpPr>
        <p:spPr>
          <a:xfrm>
            <a:off x="8305800" y="2946301"/>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07B2A"/>
                </a:solidFill>
                <a:latin typeface="Space Grotesk" pitchFamily="34" charset="0"/>
                <a:ea typeface="Space Grotesk" pitchFamily="34" charset="-122"/>
                <a:cs typeface="Space Grotesk" pitchFamily="34" charset="-120"/>
              </a:rPr>
              <a:t>2</a:t>
            </a:r>
            <a:endParaRPr lang="en-US" sz="2200" dirty="0"/>
          </a:p>
        </p:txBody>
      </p:sp>
      <p:sp>
        <p:nvSpPr>
          <p:cNvPr id="25" name="Text 23"/>
          <p:cNvSpPr/>
          <p:nvPr/>
        </p:nvSpPr>
        <p:spPr>
          <a:xfrm>
            <a:off x="8674100" y="2946301"/>
            <a:ext cx="2550795"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FDA clearance isn’t an umbrella</a:t>
            </a:r>
            <a:endParaRPr lang="en-US" sz="1400" dirty="0"/>
          </a:p>
        </p:txBody>
      </p:sp>
      <p:sp>
        <p:nvSpPr>
          <p:cNvPr id="26" name="Text 24"/>
          <p:cNvSpPr/>
          <p:nvPr/>
        </p:nvSpPr>
        <p:spPr>
          <a:xfrm>
            <a:off x="8674100" y="3411041"/>
            <a:ext cx="2550795"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B5CB"/>
                </a:solidFill>
                <a:latin typeface="IBM Plex Sans" pitchFamily="34" charset="0"/>
                <a:ea typeface="IBM Plex Sans" pitchFamily="34" charset="-122"/>
                <a:cs typeface="IBM Plex Sans" pitchFamily="34" charset="-120"/>
              </a:rPr>
              <a:t>Visibly’s clearance covers only adults 22–40 — the range where eye problems are least common. Less groundbreaking than it sounds.</a:t>
            </a:r>
            <a:endParaRPr lang="en-US" sz="1200" dirty="0"/>
          </a:p>
        </p:txBody>
      </p:sp>
      <p:sp>
        <p:nvSpPr>
          <p:cNvPr id="27" name="Text 25"/>
          <p:cNvSpPr/>
          <p:nvPr/>
        </p:nvSpPr>
        <p:spPr>
          <a:xfrm>
            <a:off x="8305800" y="4411762"/>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E07B2A"/>
                </a:solidFill>
                <a:latin typeface="Space Grotesk" pitchFamily="34" charset="0"/>
                <a:ea typeface="Space Grotesk" pitchFamily="34" charset="-122"/>
                <a:cs typeface="Space Grotesk" pitchFamily="34" charset="-120"/>
              </a:rPr>
              <a:t>3</a:t>
            </a:r>
            <a:endParaRPr lang="en-US" sz="2200" dirty="0"/>
          </a:p>
        </p:txBody>
      </p:sp>
      <p:sp>
        <p:nvSpPr>
          <p:cNvPr id="28" name="Text 26"/>
          <p:cNvSpPr/>
          <p:nvPr/>
        </p:nvSpPr>
        <p:spPr>
          <a:xfrm>
            <a:off x="8674100" y="4411762"/>
            <a:ext cx="2550795"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Optometry pushback, unmentioned</a:t>
            </a:r>
            <a:endParaRPr lang="en-US" sz="1400" dirty="0"/>
          </a:p>
        </p:txBody>
      </p:sp>
      <p:sp>
        <p:nvSpPr>
          <p:cNvPr id="29" name="Text 27"/>
          <p:cNvSpPr/>
          <p:nvPr/>
        </p:nvSpPr>
        <p:spPr>
          <a:xfrm>
            <a:off x="8674100" y="4876502"/>
            <a:ext cx="2550795"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8B5CB"/>
                </a:solidFill>
                <a:latin typeface="IBM Plex Sans" pitchFamily="34" charset="0"/>
                <a:ea typeface="IBM Plex Sans" pitchFamily="34" charset="-122"/>
                <a:cs typeface="IBM Plex Sans" pitchFamily="34" charset="-120"/>
              </a:rPr>
              <a:t>The AI never flagged the opposition Visibly and EyeQue face from optometry specialists and lobbyists.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Our SWOT puts Visibly to the test</a:t>
            </a:r>
            <a:endParaRPr lang="en-US" sz="3000" dirty="0"/>
          </a:p>
        </p:txBody>
      </p:sp>
      <p:sp>
        <p:nvSpPr>
          <p:cNvPr id="3" name="Shape 1"/>
          <p:cNvSpPr/>
          <p:nvPr/>
        </p:nvSpPr>
        <p:spPr>
          <a:xfrm>
            <a:off x="815975" y="1489075"/>
            <a:ext cx="5200650" cy="1657201"/>
          </a:xfrm>
          <a:prstGeom prst="roundRect">
            <a:avLst>
              <a:gd name="adj" fmla="val 5939"/>
            </a:avLst>
          </a:prstGeom>
          <a:solidFill>
            <a:srgbClr val="FBFCFE"/>
          </a:solidFill>
          <a:ln w="6350">
            <a:solidFill>
              <a:srgbClr val="D9DFEA"/>
            </a:solidFill>
            <a:prstDash val="solid"/>
          </a:ln>
        </p:spPr>
      </p:sp>
      <p:sp>
        <p:nvSpPr>
          <p:cNvPr id="4" name="Text 2"/>
          <p:cNvSpPr/>
          <p:nvPr/>
        </p:nvSpPr>
        <p:spPr>
          <a:xfrm>
            <a:off x="971550" y="1644650"/>
            <a:ext cx="220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S</a:t>
            </a:r>
            <a:endParaRPr lang="en-US" sz="2200" dirty="0"/>
          </a:p>
        </p:txBody>
      </p:sp>
      <p:sp>
        <p:nvSpPr>
          <p:cNvPr id="5" name="Text 3"/>
          <p:cNvSpPr/>
          <p:nvPr/>
        </p:nvSpPr>
        <p:spPr>
          <a:xfrm>
            <a:off x="1229767" y="1677690"/>
            <a:ext cx="916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Strengths</a:t>
            </a:r>
            <a:endParaRPr lang="en-US" sz="1400" dirty="0"/>
          </a:p>
        </p:txBody>
      </p:sp>
      <p:sp>
        <p:nvSpPr>
          <p:cNvPr id="6" name="Text 4"/>
          <p:cNvSpPr/>
          <p:nvPr/>
        </p:nvSpPr>
        <p:spPr>
          <a:xfrm>
            <a:off x="971550" y="2000250"/>
            <a:ext cx="5036185" cy="421580"/>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Remote, convenient, FDA-cleared acuity test</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Nationwide network of licensed eye-care providers</a:t>
            </a:r>
            <a:endParaRPr lang="en-US" sz="1200" dirty="0"/>
          </a:p>
        </p:txBody>
      </p:sp>
      <p:sp>
        <p:nvSpPr>
          <p:cNvPr id="7" name="Shape 5"/>
          <p:cNvSpPr/>
          <p:nvPr/>
        </p:nvSpPr>
        <p:spPr>
          <a:xfrm>
            <a:off x="6175375" y="1489075"/>
            <a:ext cx="5200650" cy="1657201"/>
          </a:xfrm>
          <a:prstGeom prst="roundRect">
            <a:avLst>
              <a:gd name="adj" fmla="val 5939"/>
            </a:avLst>
          </a:prstGeom>
          <a:solidFill>
            <a:srgbClr val="FBFCFE"/>
          </a:solidFill>
          <a:ln w="6350">
            <a:solidFill>
              <a:srgbClr val="D9DFEA"/>
            </a:solidFill>
            <a:prstDash val="solid"/>
          </a:ln>
        </p:spPr>
      </p:sp>
      <p:sp>
        <p:nvSpPr>
          <p:cNvPr id="8" name="Text 6"/>
          <p:cNvSpPr/>
          <p:nvPr/>
        </p:nvSpPr>
        <p:spPr>
          <a:xfrm>
            <a:off x="6330950" y="1644650"/>
            <a:ext cx="301724"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W</a:t>
            </a:r>
            <a:endParaRPr lang="en-US" sz="2200" dirty="0"/>
          </a:p>
        </p:txBody>
      </p:sp>
      <p:sp>
        <p:nvSpPr>
          <p:cNvPr id="9" name="Text 7"/>
          <p:cNvSpPr/>
          <p:nvPr/>
        </p:nvSpPr>
        <p:spPr>
          <a:xfrm>
            <a:off x="6670774" y="1677690"/>
            <a:ext cx="110886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Weaknesses</a:t>
            </a:r>
            <a:endParaRPr lang="en-US" sz="1400" dirty="0"/>
          </a:p>
        </p:txBody>
      </p:sp>
      <p:sp>
        <p:nvSpPr>
          <p:cNvPr id="10" name="Text 8"/>
          <p:cNvSpPr/>
          <p:nvPr/>
        </p:nvSpPr>
        <p:spPr>
          <a:xfrm>
            <a:off x="6330950" y="2000250"/>
            <a:ext cx="5036185" cy="1015851"/>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Limited scope: mainly acuity and prescription renewal</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Needs clinician review</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FDA-cleared only for adults 22–40 </a:t>
            </a:r>
            <a:r>
              <a:rPr lang="en-US" sz="1200" b="1" dirty="0">
                <a:solidFill>
                  <a:srgbClr val="B0521A"/>
                </a:solidFill>
                <a:latin typeface="IBM Plex Sans" pitchFamily="34" charset="0"/>
                <a:ea typeface="IBM Plex Sans" pitchFamily="34" charset="-122"/>
                <a:cs typeface="IBM Plex Sans" pitchFamily="34" charset="-120"/>
              </a:rPr>
              <a:t>· AI missed</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At-home conditions vary from test to test</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Relies on retail and licensed-provider partners</a:t>
            </a:r>
            <a:endParaRPr lang="en-US" sz="1200" dirty="0"/>
          </a:p>
        </p:txBody>
      </p:sp>
      <p:sp>
        <p:nvSpPr>
          <p:cNvPr id="11" name="Shape 9"/>
          <p:cNvSpPr/>
          <p:nvPr/>
        </p:nvSpPr>
        <p:spPr>
          <a:xfrm>
            <a:off x="815975" y="3305026"/>
            <a:ext cx="5200650" cy="1855291"/>
          </a:xfrm>
          <a:prstGeom prst="roundRect">
            <a:avLst>
              <a:gd name="adj" fmla="val 5305"/>
            </a:avLst>
          </a:prstGeom>
          <a:solidFill>
            <a:srgbClr val="FBFCFE"/>
          </a:solidFill>
          <a:ln w="6350">
            <a:solidFill>
              <a:srgbClr val="D9DFEA"/>
            </a:solidFill>
            <a:prstDash val="solid"/>
          </a:ln>
        </p:spPr>
      </p:sp>
      <p:sp>
        <p:nvSpPr>
          <p:cNvPr id="12" name="Text 10"/>
          <p:cNvSpPr/>
          <p:nvPr/>
        </p:nvSpPr>
        <p:spPr>
          <a:xfrm>
            <a:off x="971550" y="3460601"/>
            <a:ext cx="239713"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O</a:t>
            </a:r>
            <a:endParaRPr lang="en-US" sz="2200" dirty="0"/>
          </a:p>
        </p:txBody>
      </p:sp>
      <p:sp>
        <p:nvSpPr>
          <p:cNvPr id="13" name="Text 11"/>
          <p:cNvSpPr/>
          <p:nvPr/>
        </p:nvSpPr>
        <p:spPr>
          <a:xfrm>
            <a:off x="1249363" y="3493641"/>
            <a:ext cx="12472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Opportunities</a:t>
            </a:r>
            <a:endParaRPr lang="en-US" sz="1400" dirty="0"/>
          </a:p>
        </p:txBody>
      </p:sp>
      <p:sp>
        <p:nvSpPr>
          <p:cNvPr id="14" name="Text 12"/>
          <p:cNvSpPr/>
          <p:nvPr/>
        </p:nvSpPr>
        <p:spPr>
          <a:xfrm>
            <a:off x="971550" y="3816201"/>
            <a:ext cx="5036185" cy="1213941"/>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Broader vision testing</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Tracking over time</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Regulated screening</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Partnerships with retailers, contact-lens sellers, employers, and insurers</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In-store testing that doesn’t require professional staff</a:t>
            </a:r>
            <a:endParaRPr lang="en-US" sz="1200" dirty="0"/>
          </a:p>
        </p:txBody>
      </p:sp>
      <p:sp>
        <p:nvSpPr>
          <p:cNvPr id="15" name="Shape 13"/>
          <p:cNvSpPr/>
          <p:nvPr/>
        </p:nvSpPr>
        <p:spPr>
          <a:xfrm>
            <a:off x="6175375" y="3305026"/>
            <a:ext cx="5200650" cy="1855291"/>
          </a:xfrm>
          <a:prstGeom prst="roundRect">
            <a:avLst>
              <a:gd name="adj" fmla="val 5305"/>
            </a:avLst>
          </a:prstGeom>
          <a:solidFill>
            <a:srgbClr val="FBFCFE"/>
          </a:solidFill>
          <a:ln w="6350">
            <a:solidFill>
              <a:srgbClr val="D9DFEA"/>
            </a:solidFill>
            <a:prstDash val="solid"/>
          </a:ln>
        </p:spPr>
      </p:sp>
      <p:sp>
        <p:nvSpPr>
          <p:cNvPr id="16" name="Text 14"/>
          <p:cNvSpPr/>
          <p:nvPr/>
        </p:nvSpPr>
        <p:spPr>
          <a:xfrm>
            <a:off x="6330950" y="3460601"/>
            <a:ext cx="21510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T</a:t>
            </a:r>
            <a:endParaRPr lang="en-US" sz="2200" dirty="0"/>
          </a:p>
        </p:txBody>
      </p:sp>
      <p:sp>
        <p:nvSpPr>
          <p:cNvPr id="17" name="Text 15"/>
          <p:cNvSpPr/>
          <p:nvPr/>
        </p:nvSpPr>
        <p:spPr>
          <a:xfrm>
            <a:off x="6584156" y="3493641"/>
            <a:ext cx="70534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Threats</a:t>
            </a:r>
            <a:endParaRPr lang="en-US" sz="1400" dirty="0"/>
          </a:p>
        </p:txBody>
      </p:sp>
      <p:sp>
        <p:nvSpPr>
          <p:cNvPr id="18" name="Text 16"/>
          <p:cNvSpPr/>
          <p:nvPr/>
        </p:nvSpPr>
        <p:spPr>
          <a:xfrm>
            <a:off x="6330950" y="3816201"/>
            <a:ext cx="5036185" cy="1213941"/>
          </a:xfrm>
          <a:prstGeom prst="rect">
            <a:avLst/>
          </a:prstGeom>
          <a:noFill/>
          <a:ln/>
        </p:spPr>
        <p:txBody>
          <a:bodyPr wrap="square" lIns="0" tIns="0" rIns="0" bIns="0" rtlCol="0" anchor="t">
            <a:normAutofit/>
          </a:bodyPr>
          <a:lstStyle/>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Visibly expands into broader vision testing</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Large eye-care companies build similar digital tools</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Clinics or regulators don’t trust remote results</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Privacy or cybersecurity issues with stored health data</a:t>
            </a:r>
            <a:endParaRPr lang="en-US" sz="1200" dirty="0"/>
          </a:p>
          <a:p>
            <a:pPr algn="l" marL="182880" indent="-155194">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Opposition from optometry specialists and lobbyists (“BigOpto”) </a:t>
            </a:r>
            <a:r>
              <a:rPr lang="en-US" sz="1200" b="1" dirty="0">
                <a:solidFill>
                  <a:srgbClr val="B0521A"/>
                </a:solidFill>
                <a:latin typeface="IBM Plex Sans" pitchFamily="34" charset="0"/>
                <a:ea typeface="IBM Plex Sans" pitchFamily="34" charset="-122"/>
                <a:cs typeface="IBM Plex Sans" pitchFamily="34" charset="-120"/>
              </a:rPr>
              <a:t>· AI missed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Visibly today vs. Focal’s plan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485900"/>
          <a:ext cx="10566400" cy="3200301"/>
        </p:xfrm>
        <a:graphic>
          <a:graphicData uri="http://schemas.openxmlformats.org/drawingml/2006/table">
            <a:tbl>
              <a:tblPr/>
              <a:tblGrid>
                <a:gridCol w="2324608"/>
                <a:gridCol w="4120896"/>
                <a:gridCol w="4120896"/>
              </a:tblGrid>
              <a:tr h="396230">
                <a:tc>
                  <a:txBody>
                    <a:bodyPr/>
                    <a:lstStyle/>
                    <a:p>
                      <a:pPr indent="0" marL="0">
                        <a:lnSpc>
                          <a:spcPts val="1680"/>
                        </a:lnSpc>
                        <a:buNone/>
                      </a:pP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solidFill>
                      <a:srgbClr val="E9EDF4"/>
                    </a:solidFill>
                  </a:tcPr>
                </a:tc>
                <a:tc>
                  <a:txBody>
                    <a:bodyPr/>
                    <a:lstStyle/>
                    <a:p>
                      <a:pPr indent="0" marL="0">
                        <a:lnSpc>
                          <a:spcPts val="1680"/>
                        </a:lnSpc>
                        <a:buNone/>
                      </a:pPr>
                      <a:r>
                        <a:rPr lang="en-US" sz="1200" b="1" dirty="0">
                          <a:solidFill>
                            <a:srgbClr val="5B6B86"/>
                          </a:solidFill>
                          <a:latin typeface="IBM Plex Sans" pitchFamily="34" charset="0"/>
                          <a:ea typeface="IBM Plex Sans" pitchFamily="34" charset="-122"/>
                          <a:cs typeface="IBM Plex Sans" pitchFamily="34" charset="-120"/>
                        </a:rPr>
                        <a:t>Visibly · today</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solidFill>
                      <a:srgbClr val="E9EDF4"/>
                    </a:solidFill>
                  </a:tcPr>
                </a:tc>
                <a:tc>
                  <a:txBody>
                    <a:bodyPr/>
                    <a:lstStyle/>
                    <a:p>
                      <a:pPr indent="0" marL="0">
                        <a:lnSpc>
                          <a:spcPts val="1680"/>
                        </a:lnSpc>
                        <a:buNone/>
                      </a:pPr>
                      <a:r>
                        <a:rPr lang="en-US" sz="1200" b="1" dirty="0">
                          <a:solidFill>
                            <a:srgbClr val="1D6AAE"/>
                          </a:solidFill>
                          <a:latin typeface="IBM Plex Sans" pitchFamily="34" charset="0"/>
                          <a:ea typeface="IBM Plex Sans" pitchFamily="34" charset="-122"/>
                          <a:cs typeface="IBM Plex Sans" pitchFamily="34" charset="-120"/>
                        </a:rPr>
                        <a:t>Focal · our plan</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solidFill>
                      <a:srgbClr val="E9EDF4"/>
                    </a:solidFill>
                  </a:tcPr>
                </a:tc>
              </a:tr>
              <a:tr h="601960">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Core job</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3A4660"/>
                          </a:solidFill>
                          <a:latin typeface="IBM Plex Sans" pitchFamily="34" charset="0"/>
                          <a:ea typeface="IBM Plex Sans" pitchFamily="34" charset="-122"/>
                          <a:cs typeface="IBM Plex Sans" pitchFamily="34" charset="-120"/>
                        </a:rPr>
                        <a:t>Remote acuity test plus clinician-reviewed prescription renewal</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Routine testing plus dynamic, personalized testing with curated predictions of visual health</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r>
              <a:tr h="601960">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Who it serves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3A4660"/>
                          </a:solidFill>
                          <a:latin typeface="IBM Plex Sans" pitchFamily="34" charset="0"/>
                          <a:ea typeface="IBM Plex Sans" pitchFamily="34" charset="-122"/>
                          <a:cs typeface="IBM Plex Sans" pitchFamily="34" charset="-120"/>
                        </a:rPr>
                        <a:t>Adults 22–40 with an existing prescription (its FDA-cleared range)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Early adopters: insurers, individual users, vehicle-rental agencies, pediatric development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r>
              <a:tr h="396230">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Assessment depth</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3A4660"/>
                          </a:solidFill>
                          <a:latin typeface="IBM Plex Sans" pitchFamily="34" charset="0"/>
                          <a:ea typeface="IBM Plex Sans" pitchFamily="34" charset="-122"/>
                          <a:cs typeface="IBM Plex Sans" pitchFamily="34" charset="-120"/>
                        </a:rPr>
                        <a:t>Acuity only — doesn’t screen for or diagnose eye disease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Broader vision testing and tracking over time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r>
              <a:tr h="601960">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For organizations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3A4660"/>
                          </a:solidFill>
                          <a:latin typeface="IBM Plex Sans" pitchFamily="34" charset="0"/>
                          <a:ea typeface="IBM Plex Sans" pitchFamily="34" charset="-122"/>
                          <a:cs typeface="IBM Plex Sans" pitchFamily="34" charset="-120"/>
                        </a:rPr>
                        <a:t>Relies on retail and licensed-provider partners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Compliance checks and standardized testing for licensing agencies and their constituents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r>
              <a:tr h="601960">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How it reaches users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3A4660"/>
                          </a:solidFill>
                          <a:latin typeface="IBM Plex Sans" pitchFamily="34" charset="0"/>
                          <a:ea typeface="IBM Plex Sans" pitchFamily="34" charset="-122"/>
                          <a:cs typeface="IBM Plex Sans" pitchFamily="34" charset="-120"/>
                        </a:rPr>
                        <a:t>Nationwide network of licensed eye-care providers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c>
                  <a:txBody>
                    <a:bodyPr/>
                    <a:lstStyle/>
                    <a:p>
                      <a:pPr indent="0" marL="0">
                        <a:lnSpc>
                          <a:spcPts val="1680"/>
                        </a:lnSpc>
                        <a:buNone/>
                      </a:pPr>
                      <a:r>
                        <a:rPr lang="en-US" sz="1200" dirty="0">
                          <a:solidFill>
                            <a:srgbClr val="0E1B3D"/>
                          </a:solidFill>
                          <a:latin typeface="IBM Plex Sans" pitchFamily="34" charset="0"/>
                          <a:ea typeface="IBM Plex Sans" pitchFamily="34" charset="-122"/>
                          <a:cs typeface="IBM Plex Sans" pitchFamily="34" charset="-120"/>
                        </a:rPr>
                        <a:t>Pilot medical examiners, school nurses, insurer apps, a DMV-test checker, rental-app check-in</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FD7"/>
                      </a:solidFill>
                      <a:prstDash val="solid"/>
                      <a:round/>
                      <a:headEnd type="none" w="med" len="med"/>
                      <a:tailEnd type="none" w="med" len="med"/>
                    </a:lnL>
                    <a:lnR w="12700" cap="flat" cmpd="sng" algn="ctr">
                      <a:solidFill>
                        <a:srgbClr val="CACFD7"/>
                      </a:solidFill>
                      <a:prstDash val="solid"/>
                      <a:round/>
                      <a:headEnd type="none" w="med" len="med"/>
                      <a:tailEnd type="none" w="med" len="med"/>
                    </a:lnR>
                    <a:lnT w="12700" cap="flat" cmpd="sng" algn="ctr">
                      <a:solidFill>
                        <a:srgbClr val="CACFD7"/>
                      </a:solidFill>
                      <a:prstDash val="solid"/>
                      <a:round/>
                      <a:headEnd type="none" w="med" len="med"/>
                      <a:tailEnd type="none" w="med" len="med"/>
                    </a:lnT>
                    <a:lnB w="12700" cap="flat" cmpd="sng" algn="ctr">
                      <a:solidFill>
                        <a:srgbClr val="CACFD7"/>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Sources: our SWOT (4B), FDA 510(k) summary cited in 5C, and our updated Lean Canvas (6B)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Harvey balls: 8 competitors, 17 criteria</a:t>
            </a:r>
            <a:endParaRPr lang="en-US" sz="3000" dirty="0"/>
          </a:p>
        </p:txBody>
      </p:sp>
      <p:pic>
        <p:nvPicPr>
          <p:cNvPr id="3" name="Image 0" descr="Harvey ball matrix of 8 competitors across 17 criteria; orange rings mark the 18 scores we changed from the AI’s draft">    </p:cNvPr>
          <p:cNvPicPr>
            <a:picLocks noChangeAspect="1"/>
          </p:cNvPicPr>
          <p:nvPr/>
        </p:nvPicPr>
        <p:blipFill>
          <a:blip r:embed="rId1"/>
          <a:srcRect l="0" r="0" t="-54" b="-54"/>
          <a:stretch/>
        </p:blipFill>
        <p:spPr>
          <a:xfrm>
            <a:off x="812800" y="3429000"/>
            <a:ext cx="10483850" cy="2336800"/>
          </a:xfrm>
          <a:prstGeom prst="rect">
            <a:avLst/>
          </a:prstGeom>
        </p:spPr>
      </p:pic>
      <p:sp>
        <p:nvSpPr>
          <p:cNvPr id="4" name="Shape 1"/>
          <p:cNvSpPr/>
          <p:nvPr/>
        </p:nvSpPr>
        <p:spPr>
          <a:xfrm>
            <a:off x="3238500" y="1320800"/>
            <a:ext cx="1803400" cy="406400"/>
          </a:xfrm>
          <a:prstGeom prst="roundRect">
            <a:avLst>
              <a:gd name="adj" fmla="val 15625"/>
            </a:avLst>
          </a:prstGeom>
          <a:solidFill>
            <a:srgbClr val="E9EDF4"/>
          </a:solidFill>
          <a:ln/>
        </p:spPr>
      </p:sp>
      <p:sp>
        <p:nvSpPr>
          <p:cNvPr id="5" name="Text 2"/>
          <p:cNvSpPr/>
          <p:nvPr/>
        </p:nvSpPr>
        <p:spPr>
          <a:xfrm>
            <a:off x="3517354" y="1341140"/>
            <a:ext cx="1245642"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Access &amp; service</a:t>
            </a:r>
            <a:endParaRPr lang="en-US" sz="1200" dirty="0"/>
          </a:p>
          <a:p>
            <a:pPr algn="ctr" indent="0" marL="0">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delivery</a:t>
            </a:r>
            <a:endParaRPr lang="en-US" sz="1200" dirty="0"/>
          </a:p>
        </p:txBody>
      </p:sp>
      <p:sp>
        <p:nvSpPr>
          <p:cNvPr id="6" name="Text 3"/>
          <p:cNvSpPr/>
          <p:nvPr/>
        </p:nvSpPr>
        <p:spPr>
          <a:xfrm rot="16200000">
            <a:off x="2657475" y="2320925"/>
            <a:ext cx="1638300" cy="476250"/>
          </a:xfrm>
          <a:prstGeom prst="rect">
            <a:avLst/>
          </a:prstGeom>
          <a:noFill/>
          <a:ln/>
        </p:spPr>
        <p:txBody>
          <a:bodyPr wrap="none" lIns="0" tIns="0" rIns="0" bIns="0" rtlCol="0" anchor="t">
            <a:normAutofit/>
          </a:bodyPr>
          <a:lstStyle/>
          <a:p>
            <a:pPr algn="l" indent="0" marL="0">
              <a:lnSpc>
                <a:spcPts val="3552"/>
              </a:lnSpc>
              <a:buNone/>
            </a:pPr>
            <a:r>
              <a:rPr lang="en-US" sz="1200" dirty="0">
                <a:solidFill>
                  <a:srgbClr val="0E1B3D"/>
                </a:solidFill>
                <a:latin typeface="IBM Plex Sans" pitchFamily="34" charset="0"/>
                <a:ea typeface="IBM Plex Sans" pitchFamily="34" charset="-122"/>
                <a:cs typeface="IBM Plex Sans" pitchFamily="34" charset="-120"/>
              </a:rPr>
              <a:t>Accessibility</a:t>
            </a:r>
            <a:endParaRPr lang="en-US" sz="1200" dirty="0"/>
          </a:p>
        </p:txBody>
      </p:sp>
      <p:sp>
        <p:nvSpPr>
          <p:cNvPr id="7" name="Text 4"/>
          <p:cNvSpPr/>
          <p:nvPr/>
        </p:nvSpPr>
        <p:spPr>
          <a:xfrm rot="16200000">
            <a:off x="3108325" y="2320925"/>
            <a:ext cx="1638300" cy="476250"/>
          </a:xfrm>
          <a:prstGeom prst="rect">
            <a:avLst/>
          </a:prstGeom>
          <a:noFill/>
          <a:ln/>
        </p:spPr>
        <p:txBody>
          <a:bodyPr wrap="none" lIns="0" tIns="0" rIns="0" bIns="0" rtlCol="0" anchor="t">
            <a:normAutofit/>
          </a:bodyPr>
          <a:lstStyle/>
          <a:p>
            <a:pPr algn="l" indent="0" marL="0">
              <a:lnSpc>
                <a:spcPts val="3552"/>
              </a:lnSpc>
              <a:buNone/>
            </a:pPr>
            <a:r>
              <a:rPr lang="en-US" sz="1200" dirty="0">
                <a:solidFill>
                  <a:srgbClr val="0E1B3D"/>
                </a:solidFill>
                <a:latin typeface="IBM Plex Sans" pitchFamily="34" charset="0"/>
                <a:ea typeface="IBM Plex Sans" pitchFamily="34" charset="-122"/>
                <a:cs typeface="IBM Plex Sans" pitchFamily="34" charset="-120"/>
              </a:rPr>
              <a:t>Remote use</a:t>
            </a:r>
            <a:endParaRPr lang="en-US" sz="1200" dirty="0"/>
          </a:p>
        </p:txBody>
      </p:sp>
      <p:sp>
        <p:nvSpPr>
          <p:cNvPr id="8" name="Text 5"/>
          <p:cNvSpPr/>
          <p:nvPr/>
        </p:nvSpPr>
        <p:spPr>
          <a:xfrm rot="16200000">
            <a:off x="355917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Low equipment</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burden</a:t>
            </a:r>
            <a:endParaRPr lang="en-US" sz="1200" dirty="0"/>
          </a:p>
        </p:txBody>
      </p:sp>
      <p:sp>
        <p:nvSpPr>
          <p:cNvPr id="9" name="Text 6"/>
          <p:cNvSpPr/>
          <p:nvPr/>
        </p:nvSpPr>
        <p:spPr>
          <a:xfrm rot="16200000">
            <a:off x="40100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Low professional</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involvement</a:t>
            </a:r>
            <a:endParaRPr lang="en-US" sz="1200" dirty="0"/>
          </a:p>
        </p:txBody>
      </p:sp>
      <p:sp>
        <p:nvSpPr>
          <p:cNvPr id="10" name="Shape 7"/>
          <p:cNvSpPr/>
          <p:nvPr/>
        </p:nvSpPr>
        <p:spPr>
          <a:xfrm>
            <a:off x="5168900" y="1320800"/>
            <a:ext cx="1352550" cy="406400"/>
          </a:xfrm>
          <a:prstGeom prst="roundRect">
            <a:avLst>
              <a:gd name="adj" fmla="val 15625"/>
            </a:avLst>
          </a:prstGeom>
          <a:solidFill>
            <a:srgbClr val="FBE9DA"/>
          </a:solidFill>
          <a:ln/>
        </p:spPr>
      </p:sp>
      <p:sp>
        <p:nvSpPr>
          <p:cNvPr id="11" name="Text 8"/>
          <p:cNvSpPr/>
          <p:nvPr/>
        </p:nvSpPr>
        <p:spPr>
          <a:xfrm>
            <a:off x="5339209" y="1341140"/>
            <a:ext cx="1011882"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0521A"/>
                </a:solidFill>
                <a:latin typeface="IBM Plex Sans" pitchFamily="34" charset="0"/>
                <a:ea typeface="IBM Plex Sans" pitchFamily="34" charset="-122"/>
                <a:cs typeface="IBM Plex Sans" pitchFamily="34" charset="-120"/>
              </a:rPr>
              <a:t>Cost &amp; time</a:t>
            </a:r>
            <a:endParaRPr lang="en-US" sz="1200" dirty="0"/>
          </a:p>
          <a:p>
            <a:pPr algn="ctr" indent="0" marL="0">
              <a:lnSpc>
                <a:spcPts val="1440"/>
              </a:lnSpc>
              <a:buNone/>
            </a:pPr>
            <a:r>
              <a:rPr lang="en-US" sz="1200" b="1" dirty="0">
                <a:solidFill>
                  <a:srgbClr val="B0521A"/>
                </a:solidFill>
                <a:latin typeface="IBM Plex Sans" pitchFamily="34" charset="0"/>
                <a:ea typeface="IBM Plex Sans" pitchFamily="34" charset="-122"/>
                <a:cs typeface="IBM Plex Sans" pitchFamily="34" charset="-120"/>
              </a:rPr>
              <a:t>new category</a:t>
            </a:r>
            <a:endParaRPr lang="en-US" sz="1200" dirty="0"/>
          </a:p>
        </p:txBody>
      </p:sp>
      <p:sp>
        <p:nvSpPr>
          <p:cNvPr id="12" name="Text 9"/>
          <p:cNvSpPr/>
          <p:nvPr/>
        </p:nvSpPr>
        <p:spPr>
          <a:xfrm rot="16200000">
            <a:off x="4587875" y="2320925"/>
            <a:ext cx="1638300" cy="476250"/>
          </a:xfrm>
          <a:prstGeom prst="rect">
            <a:avLst/>
          </a:prstGeom>
          <a:noFill/>
          <a:ln/>
        </p:spPr>
        <p:txBody>
          <a:bodyPr wrap="none" lIns="0" tIns="0" rIns="0" bIns="0" rtlCol="0" anchor="t">
            <a:normAutofit/>
          </a:bodyPr>
          <a:lstStyle/>
          <a:p>
            <a:pPr algn="l" indent="0" marL="0">
              <a:lnSpc>
                <a:spcPts val="3552"/>
              </a:lnSpc>
              <a:buNone/>
            </a:pPr>
            <a:r>
              <a:rPr lang="en-US" sz="1200" b="1" dirty="0">
                <a:solidFill>
                  <a:srgbClr val="B0521A"/>
                </a:solidFill>
                <a:latin typeface="IBM Plex Sans" pitchFamily="34" charset="0"/>
                <a:ea typeface="IBM Plex Sans" pitchFamily="34" charset="-122"/>
                <a:cs typeface="IBM Plex Sans" pitchFamily="34" charset="-120"/>
              </a:rPr>
              <a:t>Affordability</a:t>
            </a:r>
            <a:endParaRPr lang="en-US" sz="1200" dirty="0"/>
          </a:p>
        </p:txBody>
      </p:sp>
      <p:sp>
        <p:nvSpPr>
          <p:cNvPr id="13" name="Text 10"/>
          <p:cNvSpPr/>
          <p:nvPr/>
        </p:nvSpPr>
        <p:spPr>
          <a:xfrm rot="16200000">
            <a:off x="50387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Speed /</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convenience</a:t>
            </a:r>
            <a:endParaRPr lang="en-US" sz="1200" dirty="0"/>
          </a:p>
        </p:txBody>
      </p:sp>
      <p:sp>
        <p:nvSpPr>
          <p:cNvPr id="14" name="Text 11"/>
          <p:cNvSpPr/>
          <p:nvPr/>
        </p:nvSpPr>
        <p:spPr>
          <a:xfrm rot="16200000">
            <a:off x="5489575" y="2320925"/>
            <a:ext cx="1638300" cy="476250"/>
          </a:xfrm>
          <a:prstGeom prst="rect">
            <a:avLst/>
          </a:prstGeom>
          <a:noFill/>
          <a:ln/>
        </p:spPr>
        <p:txBody>
          <a:bodyPr wrap="none" lIns="0" tIns="0" rIns="0" bIns="0" rtlCol="0" anchor="t">
            <a:normAutofit/>
          </a:bodyPr>
          <a:lstStyle/>
          <a:p>
            <a:pPr algn="l" indent="0" marL="0">
              <a:lnSpc>
                <a:spcPts val="3552"/>
              </a:lnSpc>
              <a:buNone/>
            </a:pPr>
            <a:r>
              <a:rPr lang="en-US" sz="1200" b="1" dirty="0">
                <a:solidFill>
                  <a:srgbClr val="B0521A"/>
                </a:solidFill>
                <a:latin typeface="IBM Plex Sans" pitchFamily="34" charset="0"/>
                <a:ea typeface="IBM Plex Sans" pitchFamily="34" charset="-122"/>
                <a:cs typeface="IBM Plex Sans" pitchFamily="34" charset="-120"/>
              </a:rPr>
              <a:t>Turnaround time</a:t>
            </a:r>
            <a:endParaRPr lang="en-US" sz="1200" dirty="0"/>
          </a:p>
        </p:txBody>
      </p:sp>
      <p:sp>
        <p:nvSpPr>
          <p:cNvPr id="15" name="Shape 12"/>
          <p:cNvSpPr/>
          <p:nvPr/>
        </p:nvSpPr>
        <p:spPr>
          <a:xfrm>
            <a:off x="6648450" y="1320800"/>
            <a:ext cx="2254250" cy="406400"/>
          </a:xfrm>
          <a:prstGeom prst="roundRect">
            <a:avLst>
              <a:gd name="adj" fmla="val 15625"/>
            </a:avLst>
          </a:prstGeom>
          <a:solidFill>
            <a:srgbClr val="E9EDF4"/>
          </a:solidFill>
          <a:ln/>
        </p:spPr>
      </p:sp>
      <p:sp>
        <p:nvSpPr>
          <p:cNvPr id="16" name="Text 13"/>
          <p:cNvSpPr/>
          <p:nvPr/>
        </p:nvSpPr>
        <p:spPr>
          <a:xfrm>
            <a:off x="6833896" y="1432570"/>
            <a:ext cx="1883357"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Assessment &amp; monitoring</a:t>
            </a:r>
            <a:endParaRPr lang="en-US" sz="1200" dirty="0"/>
          </a:p>
        </p:txBody>
      </p:sp>
      <p:sp>
        <p:nvSpPr>
          <p:cNvPr id="17" name="Text 14"/>
          <p:cNvSpPr/>
          <p:nvPr/>
        </p:nvSpPr>
        <p:spPr>
          <a:xfrm rot="16200000">
            <a:off x="60674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Visual-acuity</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capability</a:t>
            </a:r>
            <a:endParaRPr lang="en-US" sz="1200" dirty="0"/>
          </a:p>
        </p:txBody>
      </p:sp>
      <p:sp>
        <p:nvSpPr>
          <p:cNvPr id="18" name="Text 15"/>
          <p:cNvSpPr/>
          <p:nvPr/>
        </p:nvSpPr>
        <p:spPr>
          <a:xfrm rot="16200000">
            <a:off x="651827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Refractive-error</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capability</a:t>
            </a:r>
            <a:endParaRPr lang="en-US" sz="1200" dirty="0"/>
          </a:p>
        </p:txBody>
      </p:sp>
      <p:sp>
        <p:nvSpPr>
          <p:cNvPr id="19" name="Text 16"/>
          <p:cNvSpPr/>
          <p:nvPr/>
        </p:nvSpPr>
        <p:spPr>
          <a:xfrm rot="16200000">
            <a:off x="69691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Broader vision</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screening</a:t>
            </a:r>
            <a:endParaRPr lang="en-US" sz="1200" dirty="0"/>
          </a:p>
        </p:txBody>
      </p:sp>
      <p:sp>
        <p:nvSpPr>
          <p:cNvPr id="20" name="Text 17"/>
          <p:cNvSpPr/>
          <p:nvPr/>
        </p:nvSpPr>
        <p:spPr>
          <a:xfrm rot="16200000">
            <a:off x="741997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Longitudinal</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tracking</a:t>
            </a:r>
            <a:endParaRPr lang="en-US" sz="1200" dirty="0"/>
          </a:p>
        </p:txBody>
      </p:sp>
      <p:sp>
        <p:nvSpPr>
          <p:cNvPr id="21" name="Text 18"/>
          <p:cNvSpPr/>
          <p:nvPr/>
        </p:nvSpPr>
        <p:spPr>
          <a:xfrm rot="16200000">
            <a:off x="78708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Comprehensive</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assessment depth</a:t>
            </a:r>
            <a:endParaRPr lang="en-US" sz="1200" dirty="0"/>
          </a:p>
        </p:txBody>
      </p:sp>
      <p:sp>
        <p:nvSpPr>
          <p:cNvPr id="22" name="Shape 19"/>
          <p:cNvSpPr/>
          <p:nvPr/>
        </p:nvSpPr>
        <p:spPr>
          <a:xfrm>
            <a:off x="9029700" y="1320800"/>
            <a:ext cx="2254250" cy="406400"/>
          </a:xfrm>
          <a:prstGeom prst="roundRect">
            <a:avLst>
              <a:gd name="adj" fmla="val 15625"/>
            </a:avLst>
          </a:prstGeom>
          <a:solidFill>
            <a:srgbClr val="E9EDF4"/>
          </a:solidFill>
          <a:ln/>
        </p:spPr>
      </p:sp>
      <p:sp>
        <p:nvSpPr>
          <p:cNvPr id="23" name="Text 20"/>
          <p:cNvSpPr/>
          <p:nvPr/>
        </p:nvSpPr>
        <p:spPr>
          <a:xfrm>
            <a:off x="9610973" y="1341140"/>
            <a:ext cx="1091704"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Institutional &amp;</a:t>
            </a:r>
            <a:endParaRPr lang="en-US" sz="1200" dirty="0"/>
          </a:p>
          <a:p>
            <a:pPr algn="ctr" indent="0" marL="0">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market fit</a:t>
            </a:r>
            <a:endParaRPr lang="en-US" sz="1200" dirty="0"/>
          </a:p>
        </p:txBody>
      </p:sp>
      <p:sp>
        <p:nvSpPr>
          <p:cNvPr id="24" name="Text 21"/>
          <p:cNvSpPr/>
          <p:nvPr/>
        </p:nvSpPr>
        <p:spPr>
          <a:xfrm rot="16200000">
            <a:off x="844867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Regulatory</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readiness</a:t>
            </a:r>
            <a:endParaRPr lang="en-US" sz="1200" dirty="0"/>
          </a:p>
        </p:txBody>
      </p:sp>
      <p:sp>
        <p:nvSpPr>
          <p:cNvPr id="25" name="Text 22"/>
          <p:cNvSpPr/>
          <p:nvPr/>
        </p:nvSpPr>
        <p:spPr>
          <a:xfrm rot="16200000">
            <a:off x="88995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Standardization /</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test integrity</a:t>
            </a:r>
            <a:endParaRPr lang="en-US" sz="1200" dirty="0"/>
          </a:p>
        </p:txBody>
      </p:sp>
      <p:sp>
        <p:nvSpPr>
          <p:cNvPr id="26" name="Text 23"/>
          <p:cNvSpPr/>
          <p:nvPr/>
        </p:nvSpPr>
        <p:spPr>
          <a:xfrm rot="16200000">
            <a:off x="935037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Organizational</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acceptability</a:t>
            </a:r>
            <a:endParaRPr lang="en-US" sz="1200" dirty="0"/>
          </a:p>
        </p:txBody>
      </p:sp>
      <p:sp>
        <p:nvSpPr>
          <p:cNvPr id="27" name="Text 24"/>
          <p:cNvSpPr/>
          <p:nvPr/>
        </p:nvSpPr>
        <p:spPr>
          <a:xfrm rot="16200000">
            <a:off x="980122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Direct-to-consumer</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suitability</a:t>
            </a:r>
            <a:endParaRPr lang="en-US" sz="1200" dirty="0"/>
          </a:p>
        </p:txBody>
      </p:sp>
      <p:sp>
        <p:nvSpPr>
          <p:cNvPr id="28" name="Text 25"/>
          <p:cNvSpPr/>
          <p:nvPr/>
        </p:nvSpPr>
        <p:spPr>
          <a:xfrm rot="16200000">
            <a:off x="10252075" y="2320925"/>
            <a:ext cx="1638300" cy="476250"/>
          </a:xfrm>
          <a:prstGeom prst="rect">
            <a:avLst/>
          </a:prstGeom>
          <a:noFill/>
          <a:ln/>
        </p:spPr>
        <p:txBody>
          <a:bodyPr wrap="none" lIns="0" tIns="0" rIns="0" bIns="0" rtlCol="0" anchor="t">
            <a:normAutofit/>
          </a:bodyPr>
          <a:lstStyle/>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School / community</a:t>
            </a:r>
            <a:endParaRPr lang="en-US" sz="1200" dirty="0"/>
          </a:p>
          <a:p>
            <a:pPr algn="l" indent="0" marL="0">
              <a:lnSpc>
                <a:spcPts val="1776"/>
              </a:lnSpc>
              <a:buNone/>
            </a:pPr>
            <a:r>
              <a:rPr lang="en-US" sz="1200" dirty="0">
                <a:solidFill>
                  <a:srgbClr val="0E1B3D"/>
                </a:solidFill>
                <a:latin typeface="IBM Plex Sans" pitchFamily="34" charset="0"/>
                <a:ea typeface="IBM Plex Sans" pitchFamily="34" charset="-122"/>
                <a:cs typeface="IBM Plex Sans" pitchFamily="34" charset="-120"/>
              </a:rPr>
              <a:t>scalability</a:t>
            </a:r>
            <a:endParaRPr lang="en-US" sz="1200" dirty="0"/>
          </a:p>
        </p:txBody>
      </p:sp>
      <p:sp>
        <p:nvSpPr>
          <p:cNvPr id="29" name="Text 26"/>
          <p:cNvSpPr/>
          <p:nvPr/>
        </p:nvSpPr>
        <p:spPr>
          <a:xfrm>
            <a:off x="914400" y="34290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Comprehensive eye exam</a:t>
            </a:r>
            <a:endParaRPr lang="en-US" sz="1200" dirty="0"/>
          </a:p>
        </p:txBody>
      </p:sp>
      <p:sp>
        <p:nvSpPr>
          <p:cNvPr id="30" name="Text 27"/>
          <p:cNvSpPr/>
          <p:nvPr/>
        </p:nvSpPr>
        <p:spPr>
          <a:xfrm>
            <a:off x="914400" y="37211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Visibly</a:t>
            </a:r>
            <a:endParaRPr lang="en-US" sz="1200" dirty="0"/>
          </a:p>
        </p:txBody>
      </p:sp>
      <p:sp>
        <p:nvSpPr>
          <p:cNvPr id="31" name="Text 28"/>
          <p:cNvSpPr/>
          <p:nvPr/>
        </p:nvSpPr>
        <p:spPr>
          <a:xfrm>
            <a:off x="914400" y="40132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EyeQue</a:t>
            </a:r>
            <a:endParaRPr lang="en-US" sz="1200" dirty="0"/>
          </a:p>
        </p:txBody>
      </p:sp>
      <p:sp>
        <p:nvSpPr>
          <p:cNvPr id="32" name="Text 29"/>
          <p:cNvSpPr/>
          <p:nvPr/>
        </p:nvSpPr>
        <p:spPr>
          <a:xfrm>
            <a:off x="914400" y="43053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Peek Acuity</a:t>
            </a:r>
            <a:endParaRPr lang="en-US" sz="1200" dirty="0"/>
          </a:p>
        </p:txBody>
      </p:sp>
      <p:sp>
        <p:nvSpPr>
          <p:cNvPr id="33" name="Text 30"/>
          <p:cNvSpPr/>
          <p:nvPr/>
        </p:nvSpPr>
        <p:spPr>
          <a:xfrm>
            <a:off x="914400" y="45974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WHOeyes</a:t>
            </a:r>
            <a:endParaRPr lang="en-US" sz="1200" dirty="0"/>
          </a:p>
        </p:txBody>
      </p:sp>
      <p:sp>
        <p:nvSpPr>
          <p:cNvPr id="34" name="Text 31"/>
          <p:cNvSpPr/>
          <p:nvPr/>
        </p:nvSpPr>
        <p:spPr>
          <a:xfrm>
            <a:off x="914400" y="48895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Snellen chart</a:t>
            </a:r>
            <a:endParaRPr lang="en-US" sz="1200" dirty="0"/>
          </a:p>
        </p:txBody>
      </p:sp>
      <p:sp>
        <p:nvSpPr>
          <p:cNvPr id="35" name="Text 32"/>
          <p:cNvSpPr/>
          <p:nvPr/>
        </p:nvSpPr>
        <p:spPr>
          <a:xfrm>
            <a:off x="914400" y="51816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School screening programs</a:t>
            </a:r>
            <a:endParaRPr lang="en-US" sz="1200" dirty="0"/>
          </a:p>
        </p:txBody>
      </p:sp>
      <p:sp>
        <p:nvSpPr>
          <p:cNvPr id="36" name="Text 33"/>
          <p:cNvSpPr/>
          <p:nvPr/>
        </p:nvSpPr>
        <p:spPr>
          <a:xfrm>
            <a:off x="914400" y="5473700"/>
            <a:ext cx="2328418" cy="317500"/>
          </a:xfrm>
          <a:prstGeom prst="rect">
            <a:avLst/>
          </a:prstGeom>
          <a:noFill/>
          <a:ln/>
        </p:spPr>
        <p:txBody>
          <a:bodyPr wrap="none" lIns="0" tIns="0" rIns="0" bIns="0" rtlCol="0" anchor="t">
            <a:normAutofit/>
          </a:bodyPr>
          <a:lstStyle/>
          <a:p>
            <a:pPr algn="l" indent="0" marL="0">
              <a:lnSpc>
                <a:spcPts val="2304"/>
              </a:lnSpc>
              <a:buNone/>
            </a:pPr>
            <a:r>
              <a:rPr lang="en-US" sz="1200" dirty="0">
                <a:solidFill>
                  <a:srgbClr val="0E1B3D"/>
                </a:solidFill>
                <a:latin typeface="IBM Plex Sans" pitchFamily="34" charset="0"/>
                <a:ea typeface="IBM Plex Sans" pitchFamily="34" charset="-122"/>
                <a:cs typeface="IBM Plex Sans" pitchFamily="34" charset="-120"/>
              </a:rPr>
              <a:t>Airline qualification tests</a:t>
            </a:r>
            <a:endParaRPr lang="en-US" sz="1200" dirty="0"/>
          </a:p>
        </p:txBody>
      </p:sp>
      <p:sp>
        <p:nvSpPr>
          <p:cNvPr id="37" name="Text 34"/>
          <p:cNvSpPr/>
          <p:nvPr/>
        </p:nvSpPr>
        <p:spPr>
          <a:xfrm>
            <a:off x="914400" y="2336800"/>
            <a:ext cx="2223770" cy="817761"/>
          </a:xfrm>
          <a:prstGeom prst="rect">
            <a:avLst/>
          </a:prstGeom>
          <a:noFill/>
          <a:ln/>
        </p:spPr>
        <p:txBody>
          <a:bodyPr wrap="square" lIns="0" tIns="0" rIns="0" bIns="0" rtlCol="0" anchor="t">
            <a:normAutofit/>
          </a:bodyPr>
          <a:lstStyle/>
          <a:p>
            <a:pPr algn="l" indent="0" marL="0">
              <a:lnSpc>
                <a:spcPts val="1560"/>
              </a:lnSpc>
              <a:buNone/>
            </a:pPr>
            <a:r>
              <a:rPr lang="en-US" sz="1200" i="1" dirty="0">
                <a:solidFill>
                  <a:srgbClr val="5E6A82"/>
                </a:solidFill>
                <a:latin typeface="IBM Plex Sans" pitchFamily="34" charset="0"/>
                <a:ea typeface="IBM Plex Sans" pitchFamily="34" charset="-122"/>
                <a:cs typeface="IBM Plex Sans" pitchFamily="34" charset="-120"/>
              </a:rPr>
              <a:t>Removed from the AI’s matrix: licensing-agency and employer/work tests — testing contexts, not distinct products.</a:t>
            </a:r>
            <a:endParaRPr lang="en-US" sz="1200" dirty="0"/>
          </a:p>
        </p:txBody>
      </p:sp>
      <p:pic>
        <p:nvPicPr>
          <p:cNvPr id="38" name="Image 1" descr="preencoded.png">    </p:cNvPr>
          <p:cNvPicPr>
            <a:picLocks noChangeAspect="1"/>
          </p:cNvPicPr>
          <p:nvPr/>
        </p:nvPicPr>
        <p:blipFill>
          <a:blip r:embed="rId2"/>
          <a:srcRect l="0" r="0" t="0" b="0"/>
          <a:stretch/>
        </p:blipFill>
        <p:spPr>
          <a:xfrm>
            <a:off x="812800" y="6249690"/>
            <a:ext cx="190500" cy="190500"/>
          </a:xfrm>
          <a:prstGeom prst="rect">
            <a:avLst/>
          </a:prstGeom>
        </p:spPr>
      </p:pic>
      <p:sp>
        <p:nvSpPr>
          <p:cNvPr id="39" name="Text 35"/>
          <p:cNvSpPr/>
          <p:nvPr/>
        </p:nvSpPr>
        <p:spPr>
          <a:xfrm>
            <a:off x="1054100" y="6238280"/>
            <a:ext cx="5004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Strong</a:t>
            </a:r>
            <a:endParaRPr lang="en-US" sz="1200" dirty="0"/>
          </a:p>
        </p:txBody>
      </p:sp>
      <p:pic>
        <p:nvPicPr>
          <p:cNvPr id="40" name="Image 2" descr="preencoded.png">    </p:cNvPr>
          <p:cNvPicPr>
            <a:picLocks noChangeAspect="1"/>
          </p:cNvPicPr>
          <p:nvPr/>
        </p:nvPicPr>
        <p:blipFill>
          <a:blip r:embed="rId3"/>
          <a:srcRect l="0" r="0" t="0" b="0"/>
          <a:stretch/>
        </p:blipFill>
        <p:spPr>
          <a:xfrm>
            <a:off x="1681510" y="6249690"/>
            <a:ext cx="190500" cy="190500"/>
          </a:xfrm>
          <a:prstGeom prst="rect">
            <a:avLst/>
          </a:prstGeom>
        </p:spPr>
      </p:pic>
      <p:sp>
        <p:nvSpPr>
          <p:cNvPr id="41" name="Text 36"/>
          <p:cNvSpPr/>
          <p:nvPr/>
        </p:nvSpPr>
        <p:spPr>
          <a:xfrm>
            <a:off x="1922810" y="6238280"/>
            <a:ext cx="1059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Moderate-high</a:t>
            </a:r>
            <a:endParaRPr lang="en-US" sz="1200" dirty="0"/>
          </a:p>
        </p:txBody>
      </p:sp>
      <p:pic>
        <p:nvPicPr>
          <p:cNvPr id="42" name="Image 3" descr="preencoded.png">    </p:cNvPr>
          <p:cNvPicPr>
            <a:picLocks noChangeAspect="1"/>
          </p:cNvPicPr>
          <p:nvPr/>
        </p:nvPicPr>
        <p:blipFill>
          <a:blip r:embed="rId4"/>
          <a:srcRect l="0" r="0" t="0" b="0"/>
          <a:stretch/>
        </p:blipFill>
        <p:spPr>
          <a:xfrm>
            <a:off x="3109069" y="6249690"/>
            <a:ext cx="190500" cy="190500"/>
          </a:xfrm>
          <a:prstGeom prst="rect">
            <a:avLst/>
          </a:prstGeom>
        </p:spPr>
      </p:pic>
      <p:sp>
        <p:nvSpPr>
          <p:cNvPr id="43" name="Text 37"/>
          <p:cNvSpPr/>
          <p:nvPr/>
        </p:nvSpPr>
        <p:spPr>
          <a:xfrm>
            <a:off x="3350369" y="6238280"/>
            <a:ext cx="10106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Moderate-low</a:t>
            </a:r>
            <a:endParaRPr lang="en-US" sz="1200" dirty="0"/>
          </a:p>
        </p:txBody>
      </p:sp>
      <p:pic>
        <p:nvPicPr>
          <p:cNvPr id="44" name="Image 4" descr="preencoded.png">    </p:cNvPr>
          <p:cNvPicPr>
            <a:picLocks noChangeAspect="1"/>
          </p:cNvPicPr>
          <p:nvPr/>
        </p:nvPicPr>
        <p:blipFill>
          <a:blip r:embed="rId5"/>
          <a:srcRect l="0" r="0" t="0" b="0"/>
          <a:stretch/>
        </p:blipFill>
        <p:spPr>
          <a:xfrm>
            <a:off x="4488011" y="6249690"/>
            <a:ext cx="190500" cy="190500"/>
          </a:xfrm>
          <a:prstGeom prst="rect">
            <a:avLst/>
          </a:prstGeom>
        </p:spPr>
      </p:pic>
      <p:sp>
        <p:nvSpPr>
          <p:cNvPr id="45" name="Text 38"/>
          <p:cNvSpPr/>
          <p:nvPr/>
        </p:nvSpPr>
        <p:spPr>
          <a:xfrm>
            <a:off x="4729311" y="6238280"/>
            <a:ext cx="3272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Low</a:t>
            </a:r>
            <a:endParaRPr lang="en-US" sz="1200" dirty="0"/>
          </a:p>
        </p:txBody>
      </p:sp>
      <p:pic>
        <p:nvPicPr>
          <p:cNvPr id="46" name="Image 5" descr="preencoded.png">    </p:cNvPr>
          <p:cNvPicPr>
            <a:picLocks noChangeAspect="1"/>
          </p:cNvPicPr>
          <p:nvPr/>
        </p:nvPicPr>
        <p:blipFill>
          <a:blip r:embed="rId6"/>
          <a:srcRect l="0" r="0" t="0" b="0"/>
          <a:stretch/>
        </p:blipFill>
        <p:spPr>
          <a:xfrm>
            <a:off x="5183584" y="6249690"/>
            <a:ext cx="190500" cy="190500"/>
          </a:xfrm>
          <a:prstGeom prst="rect">
            <a:avLst/>
          </a:prstGeom>
        </p:spPr>
      </p:pic>
      <p:sp>
        <p:nvSpPr>
          <p:cNvPr id="47" name="Text 39"/>
          <p:cNvSpPr/>
          <p:nvPr/>
        </p:nvSpPr>
        <p:spPr>
          <a:xfrm>
            <a:off x="5424884" y="6238280"/>
            <a:ext cx="4141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None</a:t>
            </a:r>
            <a:endParaRPr lang="en-US" sz="1200" dirty="0"/>
          </a:p>
        </p:txBody>
      </p:sp>
      <p:pic>
        <p:nvPicPr>
          <p:cNvPr id="48" name="Image 6" descr="preencoded.png">    </p:cNvPr>
          <p:cNvPicPr>
            <a:picLocks noChangeAspect="1"/>
          </p:cNvPicPr>
          <p:nvPr/>
        </p:nvPicPr>
        <p:blipFill>
          <a:blip r:embed="rId7"/>
          <a:srcRect l="0" r="0" t="0" b="0"/>
          <a:stretch/>
        </p:blipFill>
        <p:spPr>
          <a:xfrm>
            <a:off x="5966023" y="6249690"/>
            <a:ext cx="190500" cy="190500"/>
          </a:xfrm>
          <a:prstGeom prst="rect">
            <a:avLst/>
          </a:prstGeom>
        </p:spPr>
      </p:pic>
      <p:sp>
        <p:nvSpPr>
          <p:cNvPr id="49" name="Text 40"/>
          <p:cNvSpPr/>
          <p:nvPr/>
        </p:nvSpPr>
        <p:spPr>
          <a:xfrm>
            <a:off x="6207323" y="6238280"/>
            <a:ext cx="20756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521A"/>
                </a:solidFill>
                <a:latin typeface="IBM Plex Sans" pitchFamily="34" charset="0"/>
                <a:ea typeface="IBM Plex Sans" pitchFamily="34" charset="-122"/>
                <a:cs typeface="IBM Plex Sans" pitchFamily="34" charset="-120"/>
              </a:rPr>
              <a:t>Changed from the AI’s score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18 scores we overruled, with evidence</a:t>
            </a:r>
            <a:endParaRPr lang="en-US" sz="3000" dirty="0"/>
          </a:p>
        </p:txBody>
      </p:sp>
      <p:sp>
        <p:nvSpPr>
          <p:cNvPr id="3" name="Shape 1"/>
          <p:cNvSpPr/>
          <p:nvPr/>
        </p:nvSpPr>
        <p:spPr>
          <a:xfrm>
            <a:off x="815975" y="1489075"/>
            <a:ext cx="3515767" cy="2033141"/>
          </a:xfrm>
          <a:prstGeom prst="roundRect">
            <a:avLst>
              <a:gd name="adj" fmla="val 4841"/>
            </a:avLst>
          </a:prstGeom>
          <a:solidFill>
            <a:srgbClr val="FBFCFE"/>
          </a:solidFill>
          <a:ln w="6350">
            <a:solidFill>
              <a:srgbClr val="D9DFEA"/>
            </a:solidFill>
            <a:prstDash val="solid"/>
          </a:ln>
        </p:spPr>
      </p:sp>
      <p:sp>
        <p:nvSpPr>
          <p:cNvPr id="4" name="Text 2"/>
          <p:cNvSpPr/>
          <p:nvPr/>
        </p:nvSpPr>
        <p:spPr>
          <a:xfrm>
            <a:off x="971550" y="1619250"/>
            <a:ext cx="25166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Visibly</a:t>
            </a:r>
            <a:endParaRPr lang="en-US" sz="1400" dirty="0"/>
          </a:p>
        </p:txBody>
      </p:sp>
      <p:sp>
        <p:nvSpPr>
          <p:cNvPr id="5" name="Text 3"/>
          <p:cNvSpPr/>
          <p:nvPr/>
        </p:nvSpPr>
        <p:spPr>
          <a:xfrm>
            <a:off x="3491111" y="1619250"/>
            <a:ext cx="7358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 → ours</a:t>
            </a:r>
            <a:endParaRPr lang="en-US" sz="1200" dirty="0"/>
          </a:p>
        </p:txBody>
      </p:sp>
      <p:sp>
        <p:nvSpPr>
          <p:cNvPr id="6" name="Text 4"/>
          <p:cNvSpPr/>
          <p:nvPr/>
        </p:nvSpPr>
        <p:spPr>
          <a:xfrm>
            <a:off x="971550" y="18960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Broader vision screening</a:t>
            </a:r>
            <a:endParaRPr lang="en-US" sz="1200" dirty="0"/>
          </a:p>
        </p:txBody>
      </p:sp>
      <p:pic>
        <p:nvPicPr>
          <p:cNvPr id="7" name="Image 0" descr="AI score ◔, our score ○">    </p:cNvPr>
          <p:cNvPicPr>
            <a:picLocks noChangeAspect="1"/>
          </p:cNvPicPr>
          <p:nvPr/>
        </p:nvPicPr>
        <p:blipFill>
          <a:blip r:embed="rId1"/>
          <a:srcRect l="0" r="0" t="0" b="0"/>
          <a:stretch/>
        </p:blipFill>
        <p:spPr>
          <a:xfrm>
            <a:off x="3693567" y="1896070"/>
            <a:ext cx="482600" cy="190500"/>
          </a:xfrm>
          <a:prstGeom prst="rect">
            <a:avLst/>
          </a:prstGeom>
        </p:spPr>
      </p:pic>
      <p:sp>
        <p:nvSpPr>
          <p:cNvPr id="8" name="Text 5"/>
          <p:cNvSpPr/>
          <p:nvPr/>
        </p:nvSpPr>
        <p:spPr>
          <a:xfrm>
            <a:off x="971550" y="21119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Comprehensive depth</a:t>
            </a:r>
            <a:endParaRPr lang="en-US" sz="1200" dirty="0"/>
          </a:p>
        </p:txBody>
      </p:sp>
      <p:pic>
        <p:nvPicPr>
          <p:cNvPr id="9" name="Image 1" descr="AI score ◐, our score ◔">    </p:cNvPr>
          <p:cNvPicPr>
            <a:picLocks noChangeAspect="1"/>
          </p:cNvPicPr>
          <p:nvPr/>
        </p:nvPicPr>
        <p:blipFill>
          <a:blip r:embed="rId2"/>
          <a:srcRect l="0" r="0" t="0" b="0"/>
          <a:stretch/>
        </p:blipFill>
        <p:spPr>
          <a:xfrm>
            <a:off x="3693567" y="2111970"/>
            <a:ext cx="482600" cy="190500"/>
          </a:xfrm>
          <a:prstGeom prst="rect">
            <a:avLst/>
          </a:prstGeom>
        </p:spPr>
      </p:pic>
      <p:sp>
        <p:nvSpPr>
          <p:cNvPr id="10" name="Text 6"/>
          <p:cNvSpPr/>
          <p:nvPr/>
        </p:nvSpPr>
        <p:spPr>
          <a:xfrm>
            <a:off x="971550" y="23278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Regulatory readiness</a:t>
            </a:r>
            <a:endParaRPr lang="en-US" sz="1200" dirty="0"/>
          </a:p>
        </p:txBody>
      </p:sp>
      <p:pic>
        <p:nvPicPr>
          <p:cNvPr id="11" name="Image 2" descr="AI score ◕, our score ◐">    </p:cNvPr>
          <p:cNvPicPr>
            <a:picLocks noChangeAspect="1"/>
          </p:cNvPicPr>
          <p:nvPr/>
        </p:nvPicPr>
        <p:blipFill>
          <a:blip r:embed="rId3"/>
          <a:srcRect l="0" r="0" t="0" b="0"/>
          <a:stretch/>
        </p:blipFill>
        <p:spPr>
          <a:xfrm>
            <a:off x="3693567" y="2327870"/>
            <a:ext cx="482600" cy="190500"/>
          </a:xfrm>
          <a:prstGeom prst="rect">
            <a:avLst/>
          </a:prstGeom>
        </p:spPr>
      </p:pic>
      <p:sp>
        <p:nvSpPr>
          <p:cNvPr id="12" name="Text 7"/>
          <p:cNvSpPr/>
          <p:nvPr/>
        </p:nvSpPr>
        <p:spPr>
          <a:xfrm>
            <a:off x="971550" y="25437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School / community scalability</a:t>
            </a:r>
            <a:endParaRPr lang="en-US" sz="1200" dirty="0"/>
          </a:p>
        </p:txBody>
      </p:sp>
      <p:pic>
        <p:nvPicPr>
          <p:cNvPr id="13" name="Image 3" descr="AI score ◔, our score ○">    </p:cNvPr>
          <p:cNvPicPr>
            <a:picLocks noChangeAspect="1"/>
          </p:cNvPicPr>
          <p:nvPr/>
        </p:nvPicPr>
        <p:blipFill>
          <a:blip r:embed="rId4"/>
          <a:srcRect l="0" r="0" t="0" b="0"/>
          <a:stretch/>
        </p:blipFill>
        <p:spPr>
          <a:xfrm>
            <a:off x="3693567" y="2543770"/>
            <a:ext cx="482600" cy="190500"/>
          </a:xfrm>
          <a:prstGeom prst="rect">
            <a:avLst/>
          </a:prstGeom>
        </p:spPr>
      </p:pic>
      <p:sp>
        <p:nvSpPr>
          <p:cNvPr id="14" name="Text 8"/>
          <p:cNvSpPr/>
          <p:nvPr/>
        </p:nvSpPr>
        <p:spPr>
          <a:xfrm>
            <a:off x="971550" y="2797770"/>
            <a:ext cx="330075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82"/>
                </a:solidFill>
                <a:latin typeface="IBM Plex Sans" pitchFamily="34" charset="0"/>
                <a:ea typeface="IBM Plex Sans" pitchFamily="34" charset="-122"/>
                <a:cs typeface="IBM Plex Sans" pitchFamily="34" charset="-120"/>
              </a:rPr>
              <a:t>Only its acuity product is FDA-cleared (adults 22–40); it doesn’t screen for disease and needs a prior prescription.</a:t>
            </a:r>
            <a:endParaRPr lang="en-US" sz="1200" dirty="0"/>
          </a:p>
        </p:txBody>
      </p:sp>
      <p:sp>
        <p:nvSpPr>
          <p:cNvPr id="15" name="Shape 9"/>
          <p:cNvSpPr/>
          <p:nvPr/>
        </p:nvSpPr>
        <p:spPr>
          <a:xfrm>
            <a:off x="4338092" y="1489075"/>
            <a:ext cx="3515767" cy="1817241"/>
          </a:xfrm>
          <a:prstGeom prst="roundRect">
            <a:avLst>
              <a:gd name="adj" fmla="val 5416"/>
            </a:avLst>
          </a:prstGeom>
          <a:solidFill>
            <a:srgbClr val="FBFCFE"/>
          </a:solidFill>
          <a:ln w="6350">
            <a:solidFill>
              <a:srgbClr val="D9DFEA"/>
            </a:solidFill>
            <a:prstDash val="solid"/>
          </a:ln>
        </p:spPr>
      </p:sp>
      <p:sp>
        <p:nvSpPr>
          <p:cNvPr id="16" name="Text 10"/>
          <p:cNvSpPr/>
          <p:nvPr/>
        </p:nvSpPr>
        <p:spPr>
          <a:xfrm>
            <a:off x="4493667" y="1619250"/>
            <a:ext cx="25166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EyeQue</a:t>
            </a:r>
            <a:endParaRPr lang="en-US" sz="1400" dirty="0"/>
          </a:p>
        </p:txBody>
      </p:sp>
      <p:sp>
        <p:nvSpPr>
          <p:cNvPr id="17" name="Text 11"/>
          <p:cNvSpPr/>
          <p:nvPr/>
        </p:nvSpPr>
        <p:spPr>
          <a:xfrm>
            <a:off x="7013228" y="1619250"/>
            <a:ext cx="7358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 → ours</a:t>
            </a:r>
            <a:endParaRPr lang="en-US" sz="1200" dirty="0"/>
          </a:p>
        </p:txBody>
      </p:sp>
      <p:sp>
        <p:nvSpPr>
          <p:cNvPr id="18" name="Text 12"/>
          <p:cNvSpPr/>
          <p:nvPr/>
        </p:nvSpPr>
        <p:spPr>
          <a:xfrm>
            <a:off x="4493667" y="18960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Accessibility</a:t>
            </a:r>
            <a:endParaRPr lang="en-US" sz="1200" dirty="0"/>
          </a:p>
        </p:txBody>
      </p:sp>
      <p:pic>
        <p:nvPicPr>
          <p:cNvPr id="19" name="Image 4" descr="AI score ●, our score ◕">    </p:cNvPr>
          <p:cNvPicPr>
            <a:picLocks noChangeAspect="1"/>
          </p:cNvPicPr>
          <p:nvPr/>
        </p:nvPicPr>
        <p:blipFill>
          <a:blip r:embed="rId5"/>
          <a:srcRect l="0" r="0" t="0" b="0"/>
          <a:stretch/>
        </p:blipFill>
        <p:spPr>
          <a:xfrm>
            <a:off x="7215684" y="1896070"/>
            <a:ext cx="482600" cy="190500"/>
          </a:xfrm>
          <a:prstGeom prst="rect">
            <a:avLst/>
          </a:prstGeom>
        </p:spPr>
      </p:pic>
      <p:sp>
        <p:nvSpPr>
          <p:cNvPr id="20" name="Text 13"/>
          <p:cNvSpPr/>
          <p:nvPr/>
        </p:nvSpPr>
        <p:spPr>
          <a:xfrm>
            <a:off x="4493667" y="21119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Turnaround time</a:t>
            </a:r>
            <a:endParaRPr lang="en-US" sz="1200" dirty="0"/>
          </a:p>
        </p:txBody>
      </p:sp>
      <p:pic>
        <p:nvPicPr>
          <p:cNvPr id="21" name="Image 5" descr="AI score ●, our score ◕">    </p:cNvPr>
          <p:cNvPicPr>
            <a:picLocks noChangeAspect="1"/>
          </p:cNvPicPr>
          <p:nvPr/>
        </p:nvPicPr>
        <p:blipFill>
          <a:blip r:embed="rId6"/>
          <a:srcRect l="0" r="0" t="0" b="0"/>
          <a:stretch/>
        </p:blipFill>
        <p:spPr>
          <a:xfrm>
            <a:off x="7215684" y="2111970"/>
            <a:ext cx="482600" cy="190500"/>
          </a:xfrm>
          <a:prstGeom prst="rect">
            <a:avLst/>
          </a:prstGeom>
        </p:spPr>
      </p:pic>
      <p:sp>
        <p:nvSpPr>
          <p:cNvPr id="22" name="Text 14"/>
          <p:cNvSpPr/>
          <p:nvPr/>
        </p:nvSpPr>
        <p:spPr>
          <a:xfrm>
            <a:off x="4493667" y="2327870"/>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Comprehensive depth</a:t>
            </a:r>
            <a:endParaRPr lang="en-US" sz="1200" dirty="0"/>
          </a:p>
        </p:txBody>
      </p:sp>
      <p:pic>
        <p:nvPicPr>
          <p:cNvPr id="23" name="Image 6" descr="AI score ◕, our score ◐">    </p:cNvPr>
          <p:cNvPicPr>
            <a:picLocks noChangeAspect="1"/>
          </p:cNvPicPr>
          <p:nvPr/>
        </p:nvPicPr>
        <p:blipFill>
          <a:blip r:embed="rId7"/>
          <a:srcRect l="0" r="0" t="0" b="0"/>
          <a:stretch/>
        </p:blipFill>
        <p:spPr>
          <a:xfrm>
            <a:off x="7215684" y="2327870"/>
            <a:ext cx="482600" cy="190500"/>
          </a:xfrm>
          <a:prstGeom prst="rect">
            <a:avLst/>
          </a:prstGeom>
        </p:spPr>
      </p:pic>
      <p:sp>
        <p:nvSpPr>
          <p:cNvPr id="24" name="Text 15"/>
          <p:cNvSpPr/>
          <p:nvPr/>
        </p:nvSpPr>
        <p:spPr>
          <a:xfrm>
            <a:off x="4493667" y="2581870"/>
            <a:ext cx="330075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82"/>
                </a:solidFill>
                <a:latin typeface="IBM Plex Sans" pitchFamily="34" charset="0"/>
                <a:ea typeface="IBM Plex Sans" pitchFamily="34" charset="-122"/>
                <a:cs typeface="IBM Plex Sans" pitchFamily="34" charset="-120"/>
              </a:rPr>
              <a:t>VERAI needs a phone, $129 hardware, and provider review before a prescription; it doesn’t evaluate ocular health.</a:t>
            </a:r>
            <a:endParaRPr lang="en-US" sz="1200" dirty="0"/>
          </a:p>
        </p:txBody>
      </p:sp>
      <p:sp>
        <p:nvSpPr>
          <p:cNvPr id="25" name="Shape 16"/>
          <p:cNvSpPr/>
          <p:nvPr/>
        </p:nvSpPr>
        <p:spPr>
          <a:xfrm>
            <a:off x="7860209" y="1489075"/>
            <a:ext cx="3515816" cy="2249041"/>
          </a:xfrm>
          <a:prstGeom prst="roundRect">
            <a:avLst>
              <a:gd name="adj" fmla="val 4376"/>
            </a:avLst>
          </a:prstGeom>
          <a:solidFill>
            <a:srgbClr val="FBFCFE"/>
          </a:solidFill>
          <a:ln w="6350">
            <a:solidFill>
              <a:srgbClr val="D9DFEA"/>
            </a:solidFill>
            <a:prstDash val="solid"/>
          </a:ln>
        </p:spPr>
      </p:sp>
      <p:sp>
        <p:nvSpPr>
          <p:cNvPr id="26" name="Text 17"/>
          <p:cNvSpPr/>
          <p:nvPr/>
        </p:nvSpPr>
        <p:spPr>
          <a:xfrm>
            <a:off x="8015784" y="1619250"/>
            <a:ext cx="25167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Peek Acuity</a:t>
            </a:r>
            <a:endParaRPr lang="en-US" sz="1400" dirty="0"/>
          </a:p>
        </p:txBody>
      </p:sp>
      <p:sp>
        <p:nvSpPr>
          <p:cNvPr id="27" name="Text 18"/>
          <p:cNvSpPr/>
          <p:nvPr/>
        </p:nvSpPr>
        <p:spPr>
          <a:xfrm>
            <a:off x="10535394" y="1619250"/>
            <a:ext cx="7358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 → ours</a:t>
            </a:r>
            <a:endParaRPr lang="en-US" sz="1200" dirty="0"/>
          </a:p>
        </p:txBody>
      </p:sp>
      <p:sp>
        <p:nvSpPr>
          <p:cNvPr id="28" name="Text 19"/>
          <p:cNvSpPr/>
          <p:nvPr/>
        </p:nvSpPr>
        <p:spPr>
          <a:xfrm>
            <a:off x="8015784" y="1896070"/>
            <a:ext cx="27252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Low professional involvement</a:t>
            </a:r>
            <a:endParaRPr lang="en-US" sz="1200" dirty="0"/>
          </a:p>
        </p:txBody>
      </p:sp>
      <p:pic>
        <p:nvPicPr>
          <p:cNvPr id="29" name="Image 7" descr="AI score ◕, our score ●">    </p:cNvPr>
          <p:cNvPicPr>
            <a:picLocks noChangeAspect="1"/>
          </p:cNvPicPr>
          <p:nvPr/>
        </p:nvPicPr>
        <p:blipFill>
          <a:blip r:embed="rId8"/>
          <a:srcRect l="0" r="0" t="0" b="0"/>
          <a:stretch/>
        </p:blipFill>
        <p:spPr>
          <a:xfrm>
            <a:off x="10737850" y="1896070"/>
            <a:ext cx="482600" cy="190500"/>
          </a:xfrm>
          <a:prstGeom prst="rect">
            <a:avLst/>
          </a:prstGeom>
        </p:spPr>
      </p:pic>
      <p:sp>
        <p:nvSpPr>
          <p:cNvPr id="30" name="Text 20"/>
          <p:cNvSpPr/>
          <p:nvPr/>
        </p:nvSpPr>
        <p:spPr>
          <a:xfrm>
            <a:off x="8015784" y="2111970"/>
            <a:ext cx="27252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Broader vision screening</a:t>
            </a:r>
            <a:endParaRPr lang="en-US" sz="1200" dirty="0"/>
          </a:p>
        </p:txBody>
      </p:sp>
      <p:pic>
        <p:nvPicPr>
          <p:cNvPr id="31" name="Image 8" descr="AI score ◔, our score ○">    </p:cNvPr>
          <p:cNvPicPr>
            <a:picLocks noChangeAspect="1"/>
          </p:cNvPicPr>
          <p:nvPr/>
        </p:nvPicPr>
        <p:blipFill>
          <a:blip r:embed="rId9"/>
          <a:srcRect l="0" r="0" t="0" b="0"/>
          <a:stretch/>
        </p:blipFill>
        <p:spPr>
          <a:xfrm>
            <a:off x="10737850" y="2111970"/>
            <a:ext cx="482600" cy="190500"/>
          </a:xfrm>
          <a:prstGeom prst="rect">
            <a:avLst/>
          </a:prstGeom>
        </p:spPr>
      </p:pic>
      <p:sp>
        <p:nvSpPr>
          <p:cNvPr id="32" name="Text 21"/>
          <p:cNvSpPr/>
          <p:nvPr/>
        </p:nvSpPr>
        <p:spPr>
          <a:xfrm>
            <a:off x="8015784" y="2327870"/>
            <a:ext cx="27252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Longitudinal tracking</a:t>
            </a:r>
            <a:endParaRPr lang="en-US" sz="1200" dirty="0"/>
          </a:p>
        </p:txBody>
      </p:sp>
      <p:pic>
        <p:nvPicPr>
          <p:cNvPr id="33" name="Image 9" descr="AI score ◔, our score ○">    </p:cNvPr>
          <p:cNvPicPr>
            <a:picLocks noChangeAspect="1"/>
          </p:cNvPicPr>
          <p:nvPr/>
        </p:nvPicPr>
        <p:blipFill>
          <a:blip r:embed="rId10"/>
          <a:srcRect l="0" r="0" t="0" b="0"/>
          <a:stretch/>
        </p:blipFill>
        <p:spPr>
          <a:xfrm>
            <a:off x="10737850" y="2327870"/>
            <a:ext cx="482600" cy="190500"/>
          </a:xfrm>
          <a:prstGeom prst="rect">
            <a:avLst/>
          </a:prstGeom>
        </p:spPr>
      </p:pic>
      <p:sp>
        <p:nvSpPr>
          <p:cNvPr id="34" name="Text 22"/>
          <p:cNvSpPr/>
          <p:nvPr/>
        </p:nvSpPr>
        <p:spPr>
          <a:xfrm>
            <a:off x="8015784" y="2543770"/>
            <a:ext cx="27252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Comprehensive depth</a:t>
            </a:r>
            <a:endParaRPr lang="en-US" sz="1200" dirty="0"/>
          </a:p>
        </p:txBody>
      </p:sp>
      <p:pic>
        <p:nvPicPr>
          <p:cNvPr id="35" name="Image 10" descr="AI score ◐, our score ◔">    </p:cNvPr>
          <p:cNvPicPr>
            <a:picLocks noChangeAspect="1"/>
          </p:cNvPicPr>
          <p:nvPr/>
        </p:nvPicPr>
        <p:blipFill>
          <a:blip r:embed="rId11"/>
          <a:srcRect l="0" r="0" t="0" b="0"/>
          <a:stretch/>
        </p:blipFill>
        <p:spPr>
          <a:xfrm>
            <a:off x="10737850" y="2543770"/>
            <a:ext cx="482600" cy="190500"/>
          </a:xfrm>
          <a:prstGeom prst="rect">
            <a:avLst/>
          </a:prstGeom>
        </p:spPr>
      </p:pic>
      <p:sp>
        <p:nvSpPr>
          <p:cNvPr id="36" name="Text 23"/>
          <p:cNvSpPr/>
          <p:nvPr/>
        </p:nvSpPr>
        <p:spPr>
          <a:xfrm>
            <a:off x="8015784" y="2759670"/>
            <a:ext cx="27252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Direct-to-consumer suitability</a:t>
            </a:r>
            <a:endParaRPr lang="en-US" sz="1200" dirty="0"/>
          </a:p>
        </p:txBody>
      </p:sp>
      <p:pic>
        <p:nvPicPr>
          <p:cNvPr id="37" name="Image 11" descr="AI score ◐, our score ◔">    </p:cNvPr>
          <p:cNvPicPr>
            <a:picLocks noChangeAspect="1"/>
          </p:cNvPicPr>
          <p:nvPr/>
        </p:nvPicPr>
        <p:blipFill>
          <a:blip r:embed="rId12"/>
          <a:srcRect l="0" r="0" t="0" b="0"/>
          <a:stretch/>
        </p:blipFill>
        <p:spPr>
          <a:xfrm>
            <a:off x="10737850" y="2759670"/>
            <a:ext cx="482600" cy="190500"/>
          </a:xfrm>
          <a:prstGeom prst="rect">
            <a:avLst/>
          </a:prstGeom>
        </p:spPr>
      </p:pic>
      <p:sp>
        <p:nvSpPr>
          <p:cNvPr id="38" name="Text 24"/>
          <p:cNvSpPr/>
          <p:nvPr/>
        </p:nvSpPr>
        <p:spPr>
          <a:xfrm>
            <a:off x="8015784" y="3013670"/>
            <a:ext cx="330080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82"/>
                </a:solidFill>
                <a:latin typeface="IBM Plex Sans" pitchFamily="34" charset="0"/>
                <a:ea typeface="IBM Plex Sans" pitchFamily="34" charset="-122"/>
                <a:cs typeface="IBM Plex Sans" pitchFamily="34" charset="-120"/>
              </a:rPr>
              <a:t>No professional needed, but not self-testable; distance acuity only; the app doesn’t record results; Android-only.</a:t>
            </a:r>
            <a:endParaRPr lang="en-US" sz="1200" dirty="0"/>
          </a:p>
        </p:txBody>
      </p:sp>
      <p:sp>
        <p:nvSpPr>
          <p:cNvPr id="39" name="Shape 25"/>
          <p:cNvSpPr/>
          <p:nvPr/>
        </p:nvSpPr>
        <p:spPr>
          <a:xfrm>
            <a:off x="815975" y="3744466"/>
            <a:ext cx="3515767" cy="1817241"/>
          </a:xfrm>
          <a:prstGeom prst="roundRect">
            <a:avLst>
              <a:gd name="adj" fmla="val 5416"/>
            </a:avLst>
          </a:prstGeom>
          <a:solidFill>
            <a:srgbClr val="FBFCFE"/>
          </a:solidFill>
          <a:ln w="6350">
            <a:solidFill>
              <a:srgbClr val="D9DFEA"/>
            </a:solidFill>
            <a:prstDash val="solid"/>
          </a:ln>
        </p:spPr>
      </p:sp>
      <p:sp>
        <p:nvSpPr>
          <p:cNvPr id="40" name="Text 26"/>
          <p:cNvSpPr/>
          <p:nvPr/>
        </p:nvSpPr>
        <p:spPr>
          <a:xfrm>
            <a:off x="971550" y="3874641"/>
            <a:ext cx="25166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WHOeyes</a:t>
            </a:r>
            <a:endParaRPr lang="en-US" sz="1400" dirty="0"/>
          </a:p>
        </p:txBody>
      </p:sp>
      <p:sp>
        <p:nvSpPr>
          <p:cNvPr id="41" name="Text 27"/>
          <p:cNvSpPr/>
          <p:nvPr/>
        </p:nvSpPr>
        <p:spPr>
          <a:xfrm>
            <a:off x="3491111" y="3874641"/>
            <a:ext cx="7358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 → ours</a:t>
            </a:r>
            <a:endParaRPr lang="en-US" sz="1200" dirty="0"/>
          </a:p>
        </p:txBody>
      </p:sp>
      <p:sp>
        <p:nvSpPr>
          <p:cNvPr id="42" name="Text 28"/>
          <p:cNvSpPr/>
          <p:nvPr/>
        </p:nvSpPr>
        <p:spPr>
          <a:xfrm>
            <a:off x="971550" y="4151461"/>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Standardization / integrity</a:t>
            </a:r>
            <a:endParaRPr lang="en-US" sz="1200" dirty="0"/>
          </a:p>
        </p:txBody>
      </p:sp>
      <p:pic>
        <p:nvPicPr>
          <p:cNvPr id="43" name="Image 12" descr="AI score ◐, our score ◕">    </p:cNvPr>
          <p:cNvPicPr>
            <a:picLocks noChangeAspect="1"/>
          </p:cNvPicPr>
          <p:nvPr/>
        </p:nvPicPr>
        <p:blipFill>
          <a:blip r:embed="rId13"/>
          <a:srcRect l="0" r="0" t="0" b="0"/>
          <a:stretch/>
        </p:blipFill>
        <p:spPr>
          <a:xfrm>
            <a:off x="3693567" y="4151461"/>
            <a:ext cx="482600" cy="190500"/>
          </a:xfrm>
          <a:prstGeom prst="rect">
            <a:avLst/>
          </a:prstGeom>
        </p:spPr>
      </p:pic>
      <p:sp>
        <p:nvSpPr>
          <p:cNvPr id="44" name="Text 29"/>
          <p:cNvSpPr/>
          <p:nvPr/>
        </p:nvSpPr>
        <p:spPr>
          <a:xfrm>
            <a:off x="971550" y="4367361"/>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Broader vision screening</a:t>
            </a:r>
            <a:endParaRPr lang="en-US" sz="1200" dirty="0"/>
          </a:p>
        </p:txBody>
      </p:sp>
      <p:pic>
        <p:nvPicPr>
          <p:cNvPr id="45" name="Image 13" descr="AI score ◔, our score ○">    </p:cNvPr>
          <p:cNvPicPr>
            <a:picLocks noChangeAspect="1"/>
          </p:cNvPicPr>
          <p:nvPr/>
        </p:nvPicPr>
        <p:blipFill>
          <a:blip r:embed="rId14"/>
          <a:srcRect l="0" r="0" t="0" b="0"/>
          <a:stretch/>
        </p:blipFill>
        <p:spPr>
          <a:xfrm>
            <a:off x="3693567" y="4367361"/>
            <a:ext cx="482600" cy="190500"/>
          </a:xfrm>
          <a:prstGeom prst="rect">
            <a:avLst/>
          </a:prstGeom>
        </p:spPr>
      </p:pic>
      <p:sp>
        <p:nvSpPr>
          <p:cNvPr id="46" name="Text 30"/>
          <p:cNvSpPr/>
          <p:nvPr/>
        </p:nvSpPr>
        <p:spPr>
          <a:xfrm>
            <a:off x="971550" y="4583261"/>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Comprehensive depth</a:t>
            </a:r>
            <a:endParaRPr lang="en-US" sz="1200" dirty="0"/>
          </a:p>
        </p:txBody>
      </p:sp>
      <p:pic>
        <p:nvPicPr>
          <p:cNvPr id="47" name="Image 14" descr="AI score ◐, our score ◔">    </p:cNvPr>
          <p:cNvPicPr>
            <a:picLocks noChangeAspect="1"/>
          </p:cNvPicPr>
          <p:nvPr/>
        </p:nvPicPr>
        <p:blipFill>
          <a:blip r:embed="rId15"/>
          <a:srcRect l="0" r="0" t="0" b="0"/>
          <a:stretch/>
        </p:blipFill>
        <p:spPr>
          <a:xfrm>
            <a:off x="3693567" y="4583261"/>
            <a:ext cx="482600" cy="190500"/>
          </a:xfrm>
          <a:prstGeom prst="rect">
            <a:avLst/>
          </a:prstGeom>
        </p:spPr>
      </p:pic>
      <p:sp>
        <p:nvSpPr>
          <p:cNvPr id="48" name="Text 31"/>
          <p:cNvSpPr/>
          <p:nvPr/>
        </p:nvSpPr>
        <p:spPr>
          <a:xfrm>
            <a:off x="971550" y="4837261"/>
            <a:ext cx="330075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82"/>
                </a:solidFill>
                <a:latin typeface="IBM Plex Sans" pitchFamily="34" charset="0"/>
                <a:ea typeface="IBM Plex Sans" pitchFamily="34" charset="-122"/>
                <a:cs typeface="IBM Plex Sans" pitchFamily="34" charset="-120"/>
              </a:rPr>
              <a:t>Standardized tumbling-E test evaluated against ETDRS; acuity only — no peripheral defects, no refraction.</a:t>
            </a:r>
            <a:endParaRPr lang="en-US" sz="1200" dirty="0"/>
          </a:p>
        </p:txBody>
      </p:sp>
      <p:sp>
        <p:nvSpPr>
          <p:cNvPr id="49" name="Shape 32"/>
          <p:cNvSpPr/>
          <p:nvPr/>
        </p:nvSpPr>
        <p:spPr>
          <a:xfrm>
            <a:off x="4338092" y="3744466"/>
            <a:ext cx="3515767" cy="1601341"/>
          </a:xfrm>
          <a:prstGeom prst="roundRect">
            <a:avLst>
              <a:gd name="adj" fmla="val 6146"/>
            </a:avLst>
          </a:prstGeom>
          <a:solidFill>
            <a:srgbClr val="FBFCFE"/>
          </a:solidFill>
          <a:ln w="6350">
            <a:solidFill>
              <a:srgbClr val="D9DFEA"/>
            </a:solidFill>
            <a:prstDash val="solid"/>
          </a:ln>
        </p:spPr>
      </p:sp>
      <p:sp>
        <p:nvSpPr>
          <p:cNvPr id="50" name="Text 33"/>
          <p:cNvSpPr/>
          <p:nvPr/>
        </p:nvSpPr>
        <p:spPr>
          <a:xfrm>
            <a:off x="4493667" y="3874641"/>
            <a:ext cx="25166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School screening</a:t>
            </a:r>
            <a:endParaRPr lang="en-US" sz="1400" dirty="0"/>
          </a:p>
        </p:txBody>
      </p:sp>
      <p:sp>
        <p:nvSpPr>
          <p:cNvPr id="51" name="Text 34"/>
          <p:cNvSpPr/>
          <p:nvPr/>
        </p:nvSpPr>
        <p:spPr>
          <a:xfrm>
            <a:off x="7013228" y="3874641"/>
            <a:ext cx="7358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 → ours</a:t>
            </a:r>
            <a:endParaRPr lang="en-US" sz="1200" dirty="0"/>
          </a:p>
        </p:txBody>
      </p:sp>
      <p:sp>
        <p:nvSpPr>
          <p:cNvPr id="52" name="Text 35"/>
          <p:cNvSpPr/>
          <p:nvPr/>
        </p:nvSpPr>
        <p:spPr>
          <a:xfrm>
            <a:off x="4493667" y="4151461"/>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Standardization / integrity</a:t>
            </a:r>
            <a:endParaRPr lang="en-US" sz="1200" dirty="0"/>
          </a:p>
        </p:txBody>
      </p:sp>
      <p:pic>
        <p:nvPicPr>
          <p:cNvPr id="53" name="Image 15" descr="AI score ◕, our score ◐">    </p:cNvPr>
          <p:cNvPicPr>
            <a:picLocks noChangeAspect="1"/>
          </p:cNvPicPr>
          <p:nvPr/>
        </p:nvPicPr>
        <p:blipFill>
          <a:blip r:embed="rId16"/>
          <a:srcRect l="0" r="0" t="0" b="0"/>
          <a:stretch/>
        </p:blipFill>
        <p:spPr>
          <a:xfrm>
            <a:off x="7215684" y="4151461"/>
            <a:ext cx="482600" cy="190500"/>
          </a:xfrm>
          <a:prstGeom prst="rect">
            <a:avLst/>
          </a:prstGeom>
        </p:spPr>
      </p:pic>
      <p:sp>
        <p:nvSpPr>
          <p:cNvPr id="54" name="Text 36"/>
          <p:cNvSpPr/>
          <p:nvPr/>
        </p:nvSpPr>
        <p:spPr>
          <a:xfrm>
            <a:off x="4493667" y="4367361"/>
            <a:ext cx="2725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Comprehensive depth</a:t>
            </a:r>
            <a:endParaRPr lang="en-US" sz="1200" dirty="0"/>
          </a:p>
        </p:txBody>
      </p:sp>
      <p:pic>
        <p:nvPicPr>
          <p:cNvPr id="55" name="Image 16" descr="AI score ◐, our score ◔">    </p:cNvPr>
          <p:cNvPicPr>
            <a:picLocks noChangeAspect="1"/>
          </p:cNvPicPr>
          <p:nvPr/>
        </p:nvPicPr>
        <p:blipFill>
          <a:blip r:embed="rId17"/>
          <a:srcRect l="0" r="0" t="0" b="0"/>
          <a:stretch/>
        </p:blipFill>
        <p:spPr>
          <a:xfrm>
            <a:off x="7215684" y="4367361"/>
            <a:ext cx="482600" cy="190500"/>
          </a:xfrm>
          <a:prstGeom prst="rect">
            <a:avLst/>
          </a:prstGeom>
        </p:spPr>
      </p:pic>
      <p:sp>
        <p:nvSpPr>
          <p:cNvPr id="56" name="Text 37"/>
          <p:cNvSpPr/>
          <p:nvPr/>
        </p:nvSpPr>
        <p:spPr>
          <a:xfrm>
            <a:off x="4493667" y="4621361"/>
            <a:ext cx="330075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82"/>
                </a:solidFill>
                <a:latin typeface="IBM Plex Sans" pitchFamily="34" charset="0"/>
                <a:ea typeface="IBM Plex Sans" pitchFamily="34" charset="-122"/>
                <a:cs typeface="IBM Plex Sans" pitchFamily="34" charset="-120"/>
              </a:rPr>
              <a:t>Varies by jurisdiction, equipment, and training (WHO flags false results); built for referral, not diagnosis.</a:t>
            </a:r>
            <a:endParaRPr lang="en-US" sz="1200" dirty="0"/>
          </a:p>
        </p:txBody>
      </p:sp>
      <p:sp>
        <p:nvSpPr>
          <p:cNvPr id="57" name="Shape 38"/>
          <p:cNvSpPr/>
          <p:nvPr/>
        </p:nvSpPr>
        <p:spPr>
          <a:xfrm>
            <a:off x="7860209" y="3744466"/>
            <a:ext cx="3515816" cy="1385441"/>
          </a:xfrm>
          <a:prstGeom prst="roundRect">
            <a:avLst>
              <a:gd name="adj" fmla="val 7104"/>
            </a:avLst>
          </a:prstGeom>
          <a:solidFill>
            <a:srgbClr val="FBFCFE"/>
          </a:solidFill>
          <a:ln w="6350">
            <a:solidFill>
              <a:srgbClr val="D9DFEA"/>
            </a:solidFill>
            <a:prstDash val="solid"/>
          </a:ln>
        </p:spPr>
      </p:sp>
      <p:sp>
        <p:nvSpPr>
          <p:cNvPr id="58" name="Text 39"/>
          <p:cNvSpPr/>
          <p:nvPr/>
        </p:nvSpPr>
        <p:spPr>
          <a:xfrm>
            <a:off x="8015784" y="3874641"/>
            <a:ext cx="25167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Airline qualification</a:t>
            </a:r>
            <a:endParaRPr lang="en-US" sz="1400" dirty="0"/>
          </a:p>
        </p:txBody>
      </p:sp>
      <p:sp>
        <p:nvSpPr>
          <p:cNvPr id="59" name="Text 40"/>
          <p:cNvSpPr/>
          <p:nvPr/>
        </p:nvSpPr>
        <p:spPr>
          <a:xfrm>
            <a:off x="10535394" y="3874641"/>
            <a:ext cx="7358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A82"/>
                </a:solidFill>
                <a:latin typeface="IBM Plex Sans" pitchFamily="34" charset="0"/>
                <a:ea typeface="IBM Plex Sans" pitchFamily="34" charset="-122"/>
                <a:cs typeface="IBM Plex Sans" pitchFamily="34" charset="-120"/>
              </a:rPr>
              <a:t>AI → ours</a:t>
            </a:r>
            <a:endParaRPr lang="en-US" sz="1200" dirty="0"/>
          </a:p>
        </p:txBody>
      </p:sp>
      <p:sp>
        <p:nvSpPr>
          <p:cNvPr id="60" name="Text 41"/>
          <p:cNvSpPr/>
          <p:nvPr/>
        </p:nvSpPr>
        <p:spPr>
          <a:xfrm>
            <a:off x="8015784" y="4151461"/>
            <a:ext cx="27252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660"/>
                </a:solidFill>
                <a:latin typeface="IBM Plex Sans" pitchFamily="34" charset="0"/>
                <a:ea typeface="IBM Plex Sans" pitchFamily="34" charset="-122"/>
                <a:cs typeface="IBM Plex Sans" pitchFamily="34" charset="-120"/>
              </a:rPr>
              <a:t>Refractive-error capability</a:t>
            </a:r>
            <a:endParaRPr lang="en-US" sz="1200" dirty="0"/>
          </a:p>
        </p:txBody>
      </p:sp>
      <p:pic>
        <p:nvPicPr>
          <p:cNvPr id="61" name="Image 17" descr="AI score ◐, our score ○">    </p:cNvPr>
          <p:cNvPicPr>
            <a:picLocks noChangeAspect="1"/>
          </p:cNvPicPr>
          <p:nvPr/>
        </p:nvPicPr>
        <p:blipFill>
          <a:blip r:embed="rId18"/>
          <a:srcRect l="0" r="0" t="0" b="0"/>
          <a:stretch/>
        </p:blipFill>
        <p:spPr>
          <a:xfrm>
            <a:off x="10737850" y="4151461"/>
            <a:ext cx="482600" cy="190500"/>
          </a:xfrm>
          <a:prstGeom prst="rect">
            <a:avLst/>
          </a:prstGeom>
        </p:spPr>
      </p:pic>
      <p:sp>
        <p:nvSpPr>
          <p:cNvPr id="62" name="Text 42"/>
          <p:cNvSpPr/>
          <p:nvPr/>
        </p:nvSpPr>
        <p:spPr>
          <a:xfrm>
            <a:off x="8015784" y="4405461"/>
            <a:ext cx="330080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82"/>
                </a:solidFill>
                <a:latin typeface="IBM Plex Sans" pitchFamily="34" charset="0"/>
                <a:ea typeface="IBM Plex Sans" pitchFamily="34" charset="-122"/>
                <a:cs typeface="IBM Plex Sans" pitchFamily="34" charset="-120"/>
              </a:rPr>
              <a:t>FAA testing checks acuity thresholds; it doesn’t perform refraction or calculate a prescription.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0E1B3D"/>
                </a:solidFill>
                <a:latin typeface="Space Grotesk" pitchFamily="34" charset="0"/>
                <a:ea typeface="Space Grotesk" pitchFamily="34" charset="-122"/>
                <a:cs typeface="Space Grotesk" pitchFamily="34" charset="-120"/>
              </a:rPr>
              <a:t>What we learned: convenience alone won’t win</a:t>
            </a:r>
            <a:endParaRPr lang="en-US" sz="3000" dirty="0"/>
          </a:p>
        </p:txBody>
      </p:sp>
      <p:sp>
        <p:nvSpPr>
          <p:cNvPr id="3" name="Shape 1"/>
          <p:cNvSpPr/>
          <p:nvPr/>
        </p:nvSpPr>
        <p:spPr>
          <a:xfrm>
            <a:off x="812800" y="1485900"/>
            <a:ext cx="4445000" cy="1325761"/>
          </a:xfrm>
          <a:prstGeom prst="roundRect">
            <a:avLst>
              <a:gd name="adj" fmla="val 8621"/>
            </a:avLst>
          </a:prstGeom>
          <a:solidFill>
            <a:srgbClr val="E9EDF4"/>
          </a:solidFill>
          <a:ln/>
        </p:spPr>
      </p:sp>
      <p:sp>
        <p:nvSpPr>
          <p:cNvPr id="4" name="Text 2"/>
          <p:cNvSpPr/>
          <p:nvPr/>
        </p:nvSpPr>
        <p:spPr>
          <a:xfrm>
            <a:off x="1016000" y="1689100"/>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A82"/>
                </a:solidFill>
                <a:latin typeface="IBM Plex Sans" pitchFamily="34" charset="0"/>
                <a:ea typeface="IBM Plex Sans" pitchFamily="34" charset="-122"/>
                <a:cs typeface="IBM Plex Sans" pitchFamily="34" charset="-120"/>
              </a:rPr>
              <a:t>BEFORE THE ANALYSIS</a:t>
            </a:r>
            <a:endParaRPr lang="en-US" sz="1200" dirty="0"/>
          </a:p>
        </p:txBody>
      </p:sp>
      <p:sp>
        <p:nvSpPr>
          <p:cNvPr id="5" name="Text 3"/>
          <p:cNvSpPr/>
          <p:nvPr/>
        </p:nvSpPr>
        <p:spPr>
          <a:xfrm>
            <a:off x="1016000" y="1965920"/>
            <a:ext cx="4159758" cy="667941"/>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5E6A82"/>
                </a:solidFill>
                <a:latin typeface="Space Grotesk" pitchFamily="34" charset="0"/>
                <a:ea typeface="Space Grotesk" pitchFamily="34" charset="-122"/>
                <a:cs typeface="Space Grotesk" pitchFamily="34" charset="-120"/>
              </a:rPr>
              <a:t>Make vision testing easier to access remotely.</a:t>
            </a:r>
            <a:endParaRPr lang="en-US" sz="2200" dirty="0"/>
          </a:p>
        </p:txBody>
      </p:sp>
      <p:pic>
        <p:nvPicPr>
          <p:cNvPr id="6" name="Image 0" descr="arrow-down">    </p:cNvPr>
          <p:cNvPicPr>
            <a:picLocks noChangeAspect="1"/>
          </p:cNvPicPr>
          <p:nvPr/>
        </p:nvPicPr>
        <p:blipFill>
          <a:blip r:embed="rId1"/>
          <a:srcRect l="0" r="0" t="0" b="0"/>
          <a:stretch/>
        </p:blipFill>
        <p:spPr>
          <a:xfrm>
            <a:off x="2908300" y="2938661"/>
            <a:ext cx="254000" cy="355600"/>
          </a:xfrm>
          <a:prstGeom prst="rect">
            <a:avLst/>
          </a:prstGeom>
        </p:spPr>
      </p:pic>
      <p:sp>
        <p:nvSpPr>
          <p:cNvPr id="7" name="Shape 4"/>
          <p:cNvSpPr/>
          <p:nvPr/>
        </p:nvSpPr>
        <p:spPr>
          <a:xfrm>
            <a:off x="812800" y="3421261"/>
            <a:ext cx="4445000" cy="2289572"/>
          </a:xfrm>
          <a:prstGeom prst="roundRect">
            <a:avLst>
              <a:gd name="adj" fmla="val 4992"/>
            </a:avLst>
          </a:prstGeom>
          <a:solidFill>
            <a:srgbClr val="0E1B3D"/>
          </a:solidFill>
          <a:ln/>
        </p:spPr>
      </p:sp>
      <p:sp>
        <p:nvSpPr>
          <p:cNvPr id="8" name="Text 5"/>
          <p:cNvSpPr/>
          <p:nvPr/>
        </p:nvSpPr>
        <p:spPr>
          <a:xfrm>
            <a:off x="1016000" y="3624461"/>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E9BE0"/>
                </a:solidFill>
                <a:latin typeface="IBM Plex Sans" pitchFamily="34" charset="0"/>
                <a:ea typeface="IBM Plex Sans" pitchFamily="34" charset="-122"/>
                <a:cs typeface="IBM Plex Sans" pitchFamily="34" charset="-120"/>
              </a:rPr>
              <a:t>AFTER</a:t>
            </a:r>
            <a:endParaRPr lang="en-US" sz="1200" dirty="0"/>
          </a:p>
        </p:txBody>
      </p:sp>
      <p:sp>
        <p:nvSpPr>
          <p:cNvPr id="9" name="Text 6"/>
          <p:cNvSpPr/>
          <p:nvPr/>
        </p:nvSpPr>
        <p:spPr>
          <a:xfrm>
            <a:off x="1016000" y="3901281"/>
            <a:ext cx="4159758" cy="1631752"/>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EF2F8"/>
                </a:solidFill>
                <a:latin typeface="Space Grotesk" pitchFamily="34" charset="0"/>
                <a:ea typeface="Space Grotesk" pitchFamily="34" charset="-122"/>
                <a:cs typeface="Space Grotesk" pitchFamily="34" charset="-120"/>
              </a:rPr>
              <a:t>Combine accessibility with broader assessment and longitudinal monitoring — under standardized testing conditions.</a:t>
            </a:r>
            <a:endParaRPr lang="en-US" sz="2200" dirty="0"/>
          </a:p>
        </p:txBody>
      </p:sp>
      <p:sp>
        <p:nvSpPr>
          <p:cNvPr id="10" name="Text 7"/>
          <p:cNvSpPr/>
          <p:nvPr/>
        </p:nvSpPr>
        <p:spPr>
          <a:xfrm>
            <a:off x="5664200" y="1485900"/>
            <a:ext cx="5080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01</a:t>
            </a:r>
            <a:endParaRPr lang="en-US" sz="2200" dirty="0"/>
          </a:p>
        </p:txBody>
      </p:sp>
      <p:sp>
        <p:nvSpPr>
          <p:cNvPr id="11" name="Text 8"/>
          <p:cNvSpPr/>
          <p:nvPr/>
        </p:nvSpPr>
        <p:spPr>
          <a:xfrm>
            <a:off x="6273800" y="1485900"/>
            <a:ext cx="525856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The market is more competitive and fragmented than we thought — each solution solves a different part of the problem.</a:t>
            </a:r>
            <a:endParaRPr lang="en-US" sz="1400" dirty="0"/>
          </a:p>
        </p:txBody>
      </p:sp>
      <p:sp>
        <p:nvSpPr>
          <p:cNvPr id="12" name="Text 9"/>
          <p:cNvSpPr/>
          <p:nvPr/>
        </p:nvSpPr>
        <p:spPr>
          <a:xfrm>
            <a:off x="5664200" y="2169120"/>
            <a:ext cx="5080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02</a:t>
            </a:r>
            <a:endParaRPr lang="en-US" sz="2200" dirty="0"/>
          </a:p>
        </p:txBody>
      </p:sp>
      <p:sp>
        <p:nvSpPr>
          <p:cNvPr id="13" name="Text 10"/>
          <p:cNvSpPr/>
          <p:nvPr/>
        </p:nvSpPr>
        <p:spPr>
          <a:xfrm>
            <a:off x="6273800" y="2169120"/>
            <a:ext cx="525856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The tradeoff between accessibility and assessment depth still holds across the market.</a:t>
            </a:r>
            <a:endParaRPr lang="en-US" sz="1400" dirty="0"/>
          </a:p>
        </p:txBody>
      </p:sp>
      <p:sp>
        <p:nvSpPr>
          <p:cNvPr id="14" name="Text 11"/>
          <p:cNvSpPr/>
          <p:nvPr/>
        </p:nvSpPr>
        <p:spPr>
          <a:xfrm>
            <a:off x="5664200" y="2852341"/>
            <a:ext cx="5080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03</a:t>
            </a:r>
            <a:endParaRPr lang="en-US" sz="2200" dirty="0"/>
          </a:p>
        </p:txBody>
      </p:sp>
      <p:sp>
        <p:nvSpPr>
          <p:cNvPr id="15" name="Text 12"/>
          <p:cNvSpPr/>
          <p:nvPr/>
        </p:nvSpPr>
        <p:spPr>
          <a:xfrm>
            <a:off x="6273800" y="2852341"/>
            <a:ext cx="525856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When the customer is an organization, reliability and standardization matter more.</a:t>
            </a:r>
            <a:endParaRPr lang="en-US" sz="1400" dirty="0"/>
          </a:p>
        </p:txBody>
      </p:sp>
      <p:sp>
        <p:nvSpPr>
          <p:cNvPr id="16" name="Text 13"/>
          <p:cNvSpPr/>
          <p:nvPr/>
        </p:nvSpPr>
        <p:spPr>
          <a:xfrm>
            <a:off x="5664200" y="3535561"/>
            <a:ext cx="5080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04</a:t>
            </a:r>
            <a:endParaRPr lang="en-US" sz="2200" dirty="0"/>
          </a:p>
        </p:txBody>
      </p:sp>
      <p:sp>
        <p:nvSpPr>
          <p:cNvPr id="17" name="Text 14"/>
          <p:cNvSpPr/>
          <p:nvPr/>
        </p:nvSpPr>
        <p:spPr>
          <a:xfrm>
            <a:off x="6273800" y="3535561"/>
            <a:ext cx="525856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660"/>
                </a:solidFill>
                <a:latin typeface="IBM Plex Sans" pitchFamily="34" charset="0"/>
                <a:ea typeface="IBM Plex Sans" pitchFamily="34" charset="-122"/>
                <a:cs typeface="IBM Plex Sans" pitchFamily="34" charset="-120"/>
              </a:rPr>
              <a:t>The AI’s descriptions were too general: it glossed over EyeQue’s hardware and missed Spot Vision Screener entirely.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3D"/>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spc="-50" kern="0" dirty="0">
                <a:solidFill>
                  <a:srgbClr val="EEF2F8"/>
                </a:solidFill>
                <a:latin typeface="Space Grotesk" pitchFamily="34" charset="0"/>
                <a:ea typeface="Space Grotesk" pitchFamily="34" charset="-122"/>
                <a:cs typeface="Space Grotesk" pitchFamily="34" charset="-120"/>
              </a:rPr>
              <a:t>Working with the AI: fast breadth, missing context</a:t>
            </a:r>
            <a:endParaRPr lang="en-US" sz="3000" dirty="0"/>
          </a:p>
        </p:txBody>
      </p:sp>
      <p:sp>
        <p:nvSpPr>
          <p:cNvPr id="3" name="Shape 1"/>
          <p:cNvSpPr/>
          <p:nvPr/>
        </p:nvSpPr>
        <p:spPr>
          <a:xfrm>
            <a:off x="812800" y="1536700"/>
            <a:ext cx="3386634" cy="2252762"/>
          </a:xfrm>
          <a:prstGeom prst="roundRect">
            <a:avLst>
              <a:gd name="adj" fmla="val 5074"/>
            </a:avLst>
          </a:prstGeom>
          <a:solidFill>
            <a:srgbClr val="17295A"/>
          </a:solidFill>
          <a:ln/>
        </p:spPr>
      </p:sp>
      <p:sp>
        <p:nvSpPr>
          <p:cNvPr id="4" name="Text 2"/>
          <p:cNvSpPr/>
          <p:nvPr/>
        </p:nvSpPr>
        <p:spPr>
          <a:xfrm>
            <a:off x="1041400" y="1765300"/>
            <a:ext cx="30173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Where it fell short</a:t>
            </a:r>
            <a:endParaRPr lang="en-US" sz="1400" dirty="0"/>
          </a:p>
        </p:txBody>
      </p:sp>
      <p:sp>
        <p:nvSpPr>
          <p:cNvPr id="5" name="Text 3"/>
          <p:cNvSpPr/>
          <p:nvPr/>
        </p:nvSpPr>
        <p:spPr>
          <a:xfrm>
            <a:off x="1041400" y="2067520"/>
            <a:ext cx="3017317" cy="15187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B5CB"/>
                </a:solidFill>
                <a:latin typeface="IBM Plex Sans" pitchFamily="34" charset="0"/>
                <a:ea typeface="IBM Plex Sans" pitchFamily="34" charset="-122"/>
                <a:cs typeface="IBM Plex Sans" pitchFamily="34" charset="-120"/>
              </a:rPr>
              <a:t>It lacked context. It surfaced competitors but not their significance — and missed the backlash they face from optometrists. The full story took digging into the nuances.</a:t>
            </a:r>
            <a:endParaRPr lang="en-US" sz="1400" dirty="0"/>
          </a:p>
        </p:txBody>
      </p:sp>
      <p:sp>
        <p:nvSpPr>
          <p:cNvPr id="6" name="Shape 4"/>
          <p:cNvSpPr/>
          <p:nvPr/>
        </p:nvSpPr>
        <p:spPr>
          <a:xfrm>
            <a:off x="4402634" y="1536700"/>
            <a:ext cx="3386683" cy="2252762"/>
          </a:xfrm>
          <a:prstGeom prst="roundRect">
            <a:avLst>
              <a:gd name="adj" fmla="val 5074"/>
            </a:avLst>
          </a:prstGeom>
          <a:solidFill>
            <a:srgbClr val="17295A"/>
          </a:solidFill>
          <a:ln/>
        </p:spPr>
      </p:sp>
      <p:sp>
        <p:nvSpPr>
          <p:cNvPr id="7" name="Text 5"/>
          <p:cNvSpPr/>
          <p:nvPr/>
        </p:nvSpPr>
        <p:spPr>
          <a:xfrm>
            <a:off x="4631234" y="1765300"/>
            <a:ext cx="301736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Where it helped</a:t>
            </a:r>
            <a:endParaRPr lang="en-US" sz="1400" dirty="0"/>
          </a:p>
        </p:txBody>
      </p:sp>
      <p:sp>
        <p:nvSpPr>
          <p:cNvPr id="8" name="Text 6"/>
          <p:cNvSpPr/>
          <p:nvPr/>
        </p:nvSpPr>
        <p:spPr>
          <a:xfrm>
            <a:off x="4631234" y="2067520"/>
            <a:ext cx="3017368"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B5CB"/>
                </a:solidFill>
                <a:latin typeface="IBM Plex Sans" pitchFamily="34" charset="0"/>
                <a:ea typeface="IBM Plex Sans" pitchFamily="34" charset="-122"/>
                <a:cs typeface="IBM Plex Sans" pitchFamily="34" charset="-120"/>
              </a:rPr>
              <a:t>It uncovered the broader scope of our competition and expedited initial research, so we could vet competitors and make market-entry decisions faster, with manual review.</a:t>
            </a:r>
            <a:endParaRPr lang="en-US" sz="1400" dirty="0"/>
          </a:p>
        </p:txBody>
      </p:sp>
      <p:sp>
        <p:nvSpPr>
          <p:cNvPr id="9" name="Shape 7"/>
          <p:cNvSpPr/>
          <p:nvPr/>
        </p:nvSpPr>
        <p:spPr>
          <a:xfrm>
            <a:off x="7992517" y="1536700"/>
            <a:ext cx="3386683" cy="2252762"/>
          </a:xfrm>
          <a:prstGeom prst="roundRect">
            <a:avLst>
              <a:gd name="adj" fmla="val 5074"/>
            </a:avLst>
          </a:prstGeom>
          <a:solidFill>
            <a:srgbClr val="17295A"/>
          </a:solidFill>
          <a:ln/>
        </p:spPr>
      </p:sp>
      <p:sp>
        <p:nvSpPr>
          <p:cNvPr id="10" name="Text 8"/>
          <p:cNvSpPr/>
          <p:nvPr/>
        </p:nvSpPr>
        <p:spPr>
          <a:xfrm>
            <a:off x="8221117" y="1765300"/>
            <a:ext cx="301736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What changed in our Lean Canvas</a:t>
            </a:r>
            <a:endParaRPr lang="en-US" sz="1400" dirty="0"/>
          </a:p>
        </p:txBody>
      </p:sp>
      <p:sp>
        <p:nvSpPr>
          <p:cNvPr id="11" name="Text 9"/>
          <p:cNvSpPr/>
          <p:nvPr/>
        </p:nvSpPr>
        <p:spPr>
          <a:xfrm>
            <a:off x="8221117" y="2067520"/>
            <a:ext cx="3017368" cy="15187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B5CB"/>
                </a:solidFill>
                <a:latin typeface="IBM Plex Sans" pitchFamily="34" charset="0"/>
                <a:ea typeface="IBM Plex Sans" pitchFamily="34" charset="-122"/>
                <a:cs typeface="IBM Plex Sans" pitchFamily="34" charset="-120"/>
              </a:rPr>
              <a:t>It now reflects competitors’ hangups, so we can follow a path already cleared — an easier barrier to entry — plus customers and channels no competitor is pursuing yet.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E9BE0"/>
        </a:solidFill>
      </p:bgPr>
    </p:bg>
    <p:spTree>
      <p:nvGrpSpPr>
        <p:cNvPr id="1" name=""/>
        <p:cNvGrpSpPr/>
        <p:nvPr/>
      </p:nvGrpSpPr>
      <p:grpSpPr>
        <a:xfrm>
          <a:off x="0" y="0"/>
          <a:ext cx="0" cy="0"/>
          <a:chOff x="0" y="0"/>
          <a:chExt cx="0" cy="0"/>
        </a:xfrm>
      </p:grpSpPr>
      <p:pic>
        <p:nvPicPr>
          <p:cNvPr id="2" name="Image 0" descr="Focal logo">    </p:cNvPr>
          <p:cNvPicPr>
            <a:picLocks noChangeAspect="1"/>
          </p:cNvPicPr>
          <p:nvPr/>
        </p:nvPicPr>
        <p:blipFill>
          <a:blip r:embed="rId1"/>
          <a:srcRect l="0" r="0" t="0" b="0"/>
          <a:stretch/>
        </p:blipFill>
        <p:spPr>
          <a:xfrm>
            <a:off x="8712200" y="2095500"/>
            <a:ext cx="2667000" cy="2667000"/>
          </a:xfrm>
          <a:prstGeom prst="rect">
            <a:avLst/>
          </a:prstGeom>
        </p:spPr>
      </p:pic>
      <p:sp>
        <p:nvSpPr>
          <p:cNvPr id="3" name="Text 0"/>
          <p:cNvSpPr/>
          <p:nvPr/>
        </p:nvSpPr>
        <p:spPr>
          <a:xfrm>
            <a:off x="812800" y="1096764"/>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1B3D"/>
                </a:solidFill>
                <a:latin typeface="IBM Plex Sans" pitchFamily="34" charset="0"/>
                <a:ea typeface="IBM Plex Sans" pitchFamily="34" charset="-122"/>
                <a:cs typeface="IBM Plex Sans" pitchFamily="34" charset="-120"/>
              </a:rPr>
              <a:t>THE GAP</a:t>
            </a:r>
            <a:endParaRPr lang="en-US" sz="1200" dirty="0"/>
          </a:p>
        </p:txBody>
      </p:sp>
      <p:sp>
        <p:nvSpPr>
          <p:cNvPr id="4" name="Text 1"/>
          <p:cNvSpPr/>
          <p:nvPr/>
        </p:nvSpPr>
        <p:spPr>
          <a:xfrm>
            <a:off x="812800" y="1564084"/>
            <a:ext cx="7717790" cy="3195241"/>
          </a:xfrm>
          <a:prstGeom prst="rect">
            <a:avLst/>
          </a:prstGeom>
          <a:noFill/>
          <a:ln/>
        </p:spPr>
        <p:txBody>
          <a:bodyPr wrap="square" lIns="0" tIns="0" rIns="0" bIns="0" rtlCol="0" anchor="t">
            <a:normAutofit/>
          </a:bodyPr>
          <a:lstStyle/>
          <a:p>
            <a:pPr algn="l" indent="0" marL="0">
              <a:lnSpc>
                <a:spcPts val="6240"/>
              </a:lnSpc>
              <a:buNone/>
            </a:pPr>
            <a:r>
              <a:rPr lang="en-US" sz="6000" b="1" spc="-100" kern="0" dirty="0">
                <a:solidFill>
                  <a:srgbClr val="0E1B3D"/>
                </a:solidFill>
                <a:latin typeface="Space Grotesk" pitchFamily="34" charset="0"/>
                <a:ea typeface="Space Grotesk" pitchFamily="34" charset="-122"/>
                <a:cs typeface="Space Grotesk" pitchFamily="34" charset="-120"/>
              </a:rPr>
              <a:t>No current option is both highly accessible and comprehensive.</a:t>
            </a:r>
            <a:endParaRPr lang="en-US" sz="6000" dirty="0"/>
          </a:p>
        </p:txBody>
      </p:sp>
      <p:sp>
        <p:nvSpPr>
          <p:cNvPr id="5" name="Text 2"/>
          <p:cNvSpPr/>
          <p:nvPr/>
        </p:nvSpPr>
        <p:spPr>
          <a:xfrm>
            <a:off x="812800" y="4987925"/>
            <a:ext cx="719455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0E1B3D"/>
                </a:solidFill>
                <a:latin typeface="IBM Plex Sans" pitchFamily="34" charset="0"/>
                <a:ea typeface="IBM Plex Sans" pitchFamily="34" charset="-122"/>
                <a:cs typeface="IBM Plex Sans" pitchFamily="34" charset="-120"/>
              </a:rPr>
              <a:t>That’s the gap Focal aims to fill through app-based, dynamic testing — built for the standardized, organization-ready testing that licensing agencies, airlines, and rental companies need.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9"/>
        </a:solidFill>
      </p:bgPr>
    </p:bg>
    <p:spTree>
      <p:nvGrpSpPr>
        <p:cNvPr id="1" name=""/>
        <p:cNvGrpSpPr/>
        <p:nvPr/>
      </p:nvGrpSpPr>
      <p:grpSpPr>
        <a:xfrm>
          <a:off x="0" y="0"/>
          <a:ext cx="0" cy="0"/>
          <a:chOff x="0" y="0"/>
          <a:chExt cx="0" cy="0"/>
        </a:xfrm>
      </p:grpSpPr>
      <p:pic>
        <p:nvPicPr>
          <p:cNvPr id="2" name="Image 0" descr="Focal logo">    </p:cNvPr>
          <p:cNvPicPr>
            <a:picLocks noChangeAspect="1"/>
          </p:cNvPicPr>
          <p:nvPr/>
        </p:nvPicPr>
        <p:blipFill>
          <a:blip r:embed="rId1"/>
          <a:srcRect l="0" r="0" t="0" b="0"/>
          <a:stretch/>
        </p:blipFill>
        <p:spPr>
          <a:xfrm>
            <a:off x="812800" y="812800"/>
            <a:ext cx="254000" cy="254000"/>
          </a:xfrm>
          <a:prstGeom prst="rect">
            <a:avLst/>
          </a:prstGeom>
        </p:spPr>
      </p:pic>
      <p:sp>
        <p:nvSpPr>
          <p:cNvPr id="3" name="Text 0"/>
          <p:cNvSpPr/>
          <p:nvPr/>
        </p:nvSpPr>
        <p:spPr>
          <a:xfrm>
            <a:off x="1168400" y="815330"/>
            <a:ext cx="371306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B3D"/>
                </a:solidFill>
                <a:latin typeface="Space Grotesk" pitchFamily="34" charset="0"/>
                <a:ea typeface="Space Grotesk" pitchFamily="34" charset="-122"/>
                <a:cs typeface="Space Grotesk" pitchFamily="34" charset="-120"/>
              </a:rPr>
              <a:t>Focal Technologies · updated Lean Canvas</a:t>
            </a:r>
            <a:endParaRPr lang="en-US" sz="1400" dirty="0"/>
          </a:p>
        </p:txBody>
      </p:sp>
      <p:sp>
        <p:nvSpPr>
          <p:cNvPr id="4" name="Shape 1"/>
          <p:cNvSpPr/>
          <p:nvPr/>
        </p:nvSpPr>
        <p:spPr>
          <a:xfrm>
            <a:off x="815975" y="1171575"/>
            <a:ext cx="2089150" cy="2233513"/>
          </a:xfrm>
          <a:prstGeom prst="roundRect">
            <a:avLst>
              <a:gd name="adj" fmla="val 3495"/>
            </a:avLst>
          </a:prstGeom>
          <a:solidFill>
            <a:srgbClr val="FBFCFE"/>
          </a:solidFill>
          <a:ln w="6350">
            <a:solidFill>
              <a:srgbClr val="D9DFEA"/>
            </a:solidFill>
            <a:prstDash val="solid"/>
          </a:ln>
        </p:spPr>
      </p:sp>
      <p:sp>
        <p:nvSpPr>
          <p:cNvPr id="5" name="Text 2"/>
          <p:cNvSpPr/>
          <p:nvPr/>
        </p:nvSpPr>
        <p:spPr>
          <a:xfrm>
            <a:off x="920750" y="1263650"/>
            <a:ext cx="1935988"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PROBLEM</a:t>
            </a:r>
            <a:endParaRPr lang="en-US" sz="1200" dirty="0"/>
          </a:p>
        </p:txBody>
      </p:sp>
      <p:sp>
        <p:nvSpPr>
          <p:cNvPr id="6" name="Text 3"/>
          <p:cNvSpPr/>
          <p:nvPr/>
        </p:nvSpPr>
        <p:spPr>
          <a:xfrm>
            <a:off x="920750" y="1484610"/>
            <a:ext cx="1935988" cy="55106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Accessibility to vision testing is difficult and outdated.</a:t>
            </a:r>
            <a:endParaRPr lang="en-US" sz="1200" dirty="0"/>
          </a:p>
        </p:txBody>
      </p:sp>
      <p:sp>
        <p:nvSpPr>
          <p:cNvPr id="7" name="Text 4"/>
          <p:cNvSpPr/>
          <p:nvPr/>
        </p:nvSpPr>
        <p:spPr>
          <a:xfrm>
            <a:off x="920750" y="2048371"/>
            <a:ext cx="1935988" cy="72628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The existing models to measure eyesight performance are poor and are not predictive.</a:t>
            </a:r>
            <a:endParaRPr lang="en-US" sz="1200" dirty="0"/>
          </a:p>
        </p:txBody>
      </p:sp>
      <p:sp>
        <p:nvSpPr>
          <p:cNvPr id="8" name="Text 5"/>
          <p:cNvSpPr/>
          <p:nvPr/>
        </p:nvSpPr>
        <p:spPr>
          <a:xfrm>
            <a:off x="920750" y="2787352"/>
            <a:ext cx="1935988" cy="55106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3.</a:t>
            </a:r>
            <a:r>
              <a:rPr lang="en-US" sz="1200" dirty="0">
                <a:solidFill>
                  <a:srgbClr val="3A4660"/>
                </a:solidFill>
                <a:latin typeface="IBM Plex Sans" pitchFamily="34" charset="0"/>
                <a:ea typeface="IBM Plex Sans" pitchFamily="34" charset="-122"/>
                <a:cs typeface="IBM Plex Sans" pitchFamily="34" charset="-120"/>
              </a:rPr>
              <a:t> Optical telehealth is not accessible for routine health checks.</a:t>
            </a:r>
            <a:endParaRPr lang="en-US" sz="1200" dirty="0"/>
          </a:p>
        </p:txBody>
      </p:sp>
      <p:sp>
        <p:nvSpPr>
          <p:cNvPr id="9" name="Shape 6"/>
          <p:cNvSpPr/>
          <p:nvPr/>
        </p:nvSpPr>
        <p:spPr>
          <a:xfrm>
            <a:off x="815975" y="3474938"/>
            <a:ext cx="2089150" cy="1871166"/>
          </a:xfrm>
          <a:prstGeom prst="roundRect">
            <a:avLst>
              <a:gd name="adj" fmla="val 3903"/>
            </a:avLst>
          </a:prstGeom>
          <a:solidFill>
            <a:srgbClr val="FBFCFE"/>
          </a:solidFill>
          <a:ln w="6350">
            <a:solidFill>
              <a:srgbClr val="D9DFEA"/>
            </a:solidFill>
            <a:prstDash val="solid"/>
          </a:ln>
        </p:spPr>
      </p:sp>
      <p:sp>
        <p:nvSpPr>
          <p:cNvPr id="10" name="Text 7"/>
          <p:cNvSpPr/>
          <p:nvPr/>
        </p:nvSpPr>
        <p:spPr>
          <a:xfrm>
            <a:off x="920750" y="3567013"/>
            <a:ext cx="1935988" cy="39112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EXISTING ALTERNATIVES</a:t>
            </a:r>
            <a:endParaRPr lang="en-US" sz="1200" dirty="0"/>
          </a:p>
        </p:txBody>
      </p:sp>
      <p:sp>
        <p:nvSpPr>
          <p:cNvPr id="11" name="Text 8"/>
          <p:cNvSpPr/>
          <p:nvPr/>
        </p:nvSpPr>
        <p:spPr>
          <a:xfrm>
            <a:off x="920750" y="3970834"/>
            <a:ext cx="1935988" cy="551061"/>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3A4660"/>
                </a:solidFill>
                <a:latin typeface="IBM Plex Sans" pitchFamily="34" charset="0"/>
                <a:ea typeface="IBM Plex Sans" pitchFamily="34" charset="-122"/>
                <a:cs typeface="IBM Plex Sans" pitchFamily="34" charset="-120"/>
              </a:rPr>
              <a:t>Visibly · EyeQue · Peek Acuity · WHOeyes · Licensing Agencies</a:t>
            </a:r>
            <a:endParaRPr lang="en-US" sz="1200" dirty="0"/>
          </a:p>
        </p:txBody>
      </p:sp>
      <p:sp>
        <p:nvSpPr>
          <p:cNvPr id="12" name="Shape 9"/>
          <p:cNvSpPr/>
          <p:nvPr/>
        </p:nvSpPr>
        <p:spPr>
          <a:xfrm>
            <a:off x="2974975" y="1171575"/>
            <a:ext cx="1327150" cy="1144091"/>
          </a:xfrm>
          <a:prstGeom prst="roundRect">
            <a:avLst>
              <a:gd name="adj" fmla="val 6383"/>
            </a:avLst>
          </a:prstGeom>
          <a:solidFill>
            <a:srgbClr val="FBFCFE"/>
          </a:solidFill>
          <a:ln w="6350">
            <a:solidFill>
              <a:srgbClr val="D9DFEA"/>
            </a:solidFill>
            <a:prstDash val="solid"/>
          </a:ln>
        </p:spPr>
      </p:sp>
      <p:sp>
        <p:nvSpPr>
          <p:cNvPr id="13" name="Text 10"/>
          <p:cNvSpPr/>
          <p:nvPr/>
        </p:nvSpPr>
        <p:spPr>
          <a:xfrm>
            <a:off x="3079750" y="1263650"/>
            <a:ext cx="1168400"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SOLUTION</a:t>
            </a:r>
            <a:endParaRPr lang="en-US" sz="1200" dirty="0"/>
          </a:p>
        </p:txBody>
      </p:sp>
      <p:sp>
        <p:nvSpPr>
          <p:cNvPr id="14" name="Text 11"/>
          <p:cNvSpPr/>
          <p:nvPr/>
        </p:nvSpPr>
        <p:spPr>
          <a:xfrm>
            <a:off x="3079750" y="1484610"/>
            <a:ext cx="1168400"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App to Test Vision</a:t>
            </a:r>
            <a:endParaRPr lang="en-US" sz="1200" dirty="0"/>
          </a:p>
        </p:txBody>
      </p:sp>
      <p:sp>
        <p:nvSpPr>
          <p:cNvPr id="15" name="Text 12"/>
          <p:cNvSpPr/>
          <p:nvPr/>
        </p:nvSpPr>
        <p:spPr>
          <a:xfrm>
            <a:off x="3079750" y="1873151"/>
            <a:ext cx="1168400"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AI enhanced vision testing.</a:t>
            </a:r>
            <a:endParaRPr lang="en-US" sz="1200" dirty="0"/>
          </a:p>
        </p:txBody>
      </p:sp>
      <p:sp>
        <p:nvSpPr>
          <p:cNvPr id="16" name="Shape 13"/>
          <p:cNvSpPr/>
          <p:nvPr/>
        </p:nvSpPr>
        <p:spPr>
          <a:xfrm>
            <a:off x="2974975" y="2385516"/>
            <a:ext cx="1327150" cy="2960588"/>
          </a:xfrm>
          <a:prstGeom prst="roundRect">
            <a:avLst>
              <a:gd name="adj" fmla="val 5502"/>
            </a:avLst>
          </a:prstGeom>
          <a:solidFill>
            <a:srgbClr val="FBFCFE"/>
          </a:solidFill>
          <a:ln w="6350">
            <a:solidFill>
              <a:srgbClr val="D9DFEA"/>
            </a:solidFill>
            <a:prstDash val="solid"/>
          </a:ln>
        </p:spPr>
      </p:sp>
      <p:sp>
        <p:nvSpPr>
          <p:cNvPr id="17" name="Text 14"/>
          <p:cNvSpPr/>
          <p:nvPr/>
        </p:nvSpPr>
        <p:spPr>
          <a:xfrm>
            <a:off x="3079750" y="2477591"/>
            <a:ext cx="1168400"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KEY METRICS</a:t>
            </a:r>
            <a:endParaRPr lang="en-US" sz="1200" dirty="0"/>
          </a:p>
        </p:txBody>
      </p:sp>
      <p:sp>
        <p:nvSpPr>
          <p:cNvPr id="18" name="Text 15"/>
          <p:cNvSpPr/>
          <p:nvPr/>
        </p:nvSpPr>
        <p:spPr>
          <a:xfrm>
            <a:off x="3079750" y="2698552"/>
            <a:ext cx="1168400" cy="208260"/>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5E6A82"/>
                </a:solidFill>
                <a:latin typeface="IBM Plex Sans" pitchFamily="34" charset="0"/>
                <a:ea typeface="IBM Plex Sans" pitchFamily="34" charset="-122"/>
                <a:cs typeface="IBM Plex Sans" pitchFamily="34" charset="-120"/>
              </a:rPr>
              <a:t>[Not yet filled in]</a:t>
            </a:r>
            <a:endParaRPr lang="en-US" sz="1200" dirty="0"/>
          </a:p>
        </p:txBody>
      </p:sp>
      <p:sp>
        <p:nvSpPr>
          <p:cNvPr id="19" name="Shape 16"/>
          <p:cNvSpPr/>
          <p:nvPr/>
        </p:nvSpPr>
        <p:spPr>
          <a:xfrm>
            <a:off x="4371975" y="1171575"/>
            <a:ext cx="2025650" cy="4174530"/>
          </a:xfrm>
          <a:prstGeom prst="roundRect">
            <a:avLst>
              <a:gd name="adj" fmla="val 3605"/>
            </a:avLst>
          </a:prstGeom>
          <a:solidFill>
            <a:srgbClr val="FBFCFE"/>
          </a:solidFill>
          <a:ln w="6350">
            <a:solidFill>
              <a:srgbClr val="D9DFEA"/>
            </a:solidFill>
            <a:prstDash val="solid"/>
          </a:ln>
        </p:spPr>
      </p:sp>
      <p:sp>
        <p:nvSpPr>
          <p:cNvPr id="20" name="Text 17"/>
          <p:cNvSpPr/>
          <p:nvPr/>
        </p:nvSpPr>
        <p:spPr>
          <a:xfrm>
            <a:off x="4476750" y="1263650"/>
            <a:ext cx="1870583" cy="39112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UNIQUE VALUE PROPOSITION</a:t>
            </a:r>
            <a:endParaRPr lang="en-US" sz="1200" dirty="0"/>
          </a:p>
        </p:txBody>
      </p:sp>
      <p:sp>
        <p:nvSpPr>
          <p:cNvPr id="21" name="Text 18"/>
          <p:cNvSpPr/>
          <p:nvPr/>
        </p:nvSpPr>
        <p:spPr>
          <a:xfrm>
            <a:off x="4476750" y="1667470"/>
            <a:ext cx="1870583"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Accessibility to more routine vision testing.</a:t>
            </a:r>
            <a:endParaRPr lang="en-US" sz="1200" dirty="0"/>
          </a:p>
        </p:txBody>
      </p:sp>
      <p:sp>
        <p:nvSpPr>
          <p:cNvPr id="22" name="Text 19"/>
          <p:cNvSpPr/>
          <p:nvPr/>
        </p:nvSpPr>
        <p:spPr>
          <a:xfrm>
            <a:off x="4476750" y="2056011"/>
            <a:ext cx="1870583" cy="55106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Dynamic eyesight testing to reduce false positives.</a:t>
            </a:r>
            <a:endParaRPr lang="en-US" sz="1200" dirty="0"/>
          </a:p>
        </p:txBody>
      </p:sp>
      <p:sp>
        <p:nvSpPr>
          <p:cNvPr id="23" name="Text 20"/>
          <p:cNvSpPr/>
          <p:nvPr/>
        </p:nvSpPr>
        <p:spPr>
          <a:xfrm>
            <a:off x="4476750" y="2619772"/>
            <a:ext cx="1870583"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3.</a:t>
            </a:r>
            <a:r>
              <a:rPr lang="en-US" sz="1200" dirty="0">
                <a:solidFill>
                  <a:srgbClr val="3A4660"/>
                </a:solidFill>
                <a:latin typeface="IBM Plex Sans" pitchFamily="34" charset="0"/>
                <a:ea typeface="IBM Plex Sans" pitchFamily="34" charset="-122"/>
                <a:cs typeface="IBM Plex Sans" pitchFamily="34" charset="-120"/>
              </a:rPr>
              <a:t> Testing compliance and standardization.</a:t>
            </a:r>
            <a:endParaRPr lang="en-US" sz="1200" dirty="0"/>
          </a:p>
        </p:txBody>
      </p:sp>
      <p:sp>
        <p:nvSpPr>
          <p:cNvPr id="24" name="Text 21"/>
          <p:cNvSpPr/>
          <p:nvPr/>
        </p:nvSpPr>
        <p:spPr>
          <a:xfrm>
            <a:off x="4476750" y="3008313"/>
            <a:ext cx="1870583" cy="55106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4.</a:t>
            </a:r>
            <a:r>
              <a:rPr lang="en-US" sz="1200" dirty="0">
                <a:solidFill>
                  <a:srgbClr val="3A4660"/>
                </a:solidFill>
                <a:latin typeface="IBM Plex Sans" pitchFamily="34" charset="0"/>
                <a:ea typeface="IBM Plex Sans" pitchFamily="34" charset="-122"/>
                <a:cs typeface="IBM Plex Sans" pitchFamily="34" charset="-120"/>
              </a:rPr>
              <a:t> Streamlined operations and management for licensing agencies.</a:t>
            </a:r>
            <a:endParaRPr lang="en-US" sz="1200" dirty="0"/>
          </a:p>
        </p:txBody>
      </p:sp>
      <p:sp>
        <p:nvSpPr>
          <p:cNvPr id="25" name="Text 22"/>
          <p:cNvSpPr/>
          <p:nvPr/>
        </p:nvSpPr>
        <p:spPr>
          <a:xfrm>
            <a:off x="4476750" y="3572073"/>
            <a:ext cx="1870583" cy="72628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5.</a:t>
            </a:r>
            <a:r>
              <a:rPr lang="en-US" sz="1200" dirty="0">
                <a:solidFill>
                  <a:srgbClr val="3A4660"/>
                </a:solidFill>
                <a:latin typeface="IBM Plex Sans" pitchFamily="34" charset="0"/>
                <a:ea typeface="IBM Plex Sans" pitchFamily="34" charset="-122"/>
                <a:cs typeface="IBM Plex Sans" pitchFamily="34" charset="-120"/>
              </a:rPr>
              <a:t> Personalized testing for the individual and curated predictions of their visual health.</a:t>
            </a:r>
            <a:endParaRPr lang="en-US" sz="1200" dirty="0"/>
          </a:p>
        </p:txBody>
      </p:sp>
      <p:sp>
        <p:nvSpPr>
          <p:cNvPr id="26" name="Shape 23"/>
          <p:cNvSpPr/>
          <p:nvPr/>
        </p:nvSpPr>
        <p:spPr>
          <a:xfrm>
            <a:off x="6467475" y="1171575"/>
            <a:ext cx="2597150" cy="1494532"/>
          </a:xfrm>
          <a:prstGeom prst="roundRect">
            <a:avLst>
              <a:gd name="adj" fmla="val 4886"/>
            </a:avLst>
          </a:prstGeom>
          <a:solidFill>
            <a:srgbClr val="FBFCFE"/>
          </a:solidFill>
          <a:ln w="6350">
            <a:solidFill>
              <a:srgbClr val="D9DFEA"/>
            </a:solidFill>
            <a:prstDash val="solid"/>
          </a:ln>
        </p:spPr>
      </p:sp>
      <p:sp>
        <p:nvSpPr>
          <p:cNvPr id="27" name="Text 24"/>
          <p:cNvSpPr/>
          <p:nvPr/>
        </p:nvSpPr>
        <p:spPr>
          <a:xfrm>
            <a:off x="6572250" y="1263650"/>
            <a:ext cx="2459228"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UNFAIR ADVANTAGE</a:t>
            </a:r>
            <a:endParaRPr lang="en-US" sz="1200" dirty="0"/>
          </a:p>
        </p:txBody>
      </p:sp>
      <p:sp>
        <p:nvSpPr>
          <p:cNvPr id="28" name="Text 25"/>
          <p:cNvSpPr/>
          <p:nvPr/>
        </p:nvSpPr>
        <p:spPr>
          <a:xfrm>
            <a:off x="6572250" y="1484610"/>
            <a:ext cx="2459228" cy="55106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AI enhancements to allow for personalized testing and evaluation.</a:t>
            </a:r>
            <a:endParaRPr lang="en-US" sz="1200" dirty="0"/>
          </a:p>
        </p:txBody>
      </p:sp>
      <p:sp>
        <p:nvSpPr>
          <p:cNvPr id="29" name="Text 26"/>
          <p:cNvSpPr/>
          <p:nvPr/>
        </p:nvSpPr>
        <p:spPr>
          <a:xfrm>
            <a:off x="6572250" y="2048371"/>
            <a:ext cx="2459228" cy="55106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Testing pipeline to provide compliance checks for licensing agencies and their constituents.</a:t>
            </a:r>
            <a:endParaRPr lang="en-US" sz="1200" dirty="0"/>
          </a:p>
        </p:txBody>
      </p:sp>
      <p:sp>
        <p:nvSpPr>
          <p:cNvPr id="30" name="Shape 27"/>
          <p:cNvSpPr/>
          <p:nvPr/>
        </p:nvSpPr>
        <p:spPr>
          <a:xfrm>
            <a:off x="6467475" y="2735957"/>
            <a:ext cx="2597150" cy="2610148"/>
          </a:xfrm>
          <a:prstGeom prst="roundRect">
            <a:avLst>
              <a:gd name="adj" fmla="val 2812"/>
            </a:avLst>
          </a:prstGeom>
          <a:solidFill>
            <a:srgbClr val="FBFCFE"/>
          </a:solidFill>
          <a:ln w="6350">
            <a:solidFill>
              <a:srgbClr val="D9DFEA"/>
            </a:solidFill>
            <a:prstDash val="solid"/>
          </a:ln>
        </p:spPr>
      </p:sp>
      <p:sp>
        <p:nvSpPr>
          <p:cNvPr id="31" name="Text 28"/>
          <p:cNvSpPr/>
          <p:nvPr/>
        </p:nvSpPr>
        <p:spPr>
          <a:xfrm>
            <a:off x="6572250" y="2828032"/>
            <a:ext cx="2459228"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CHANNELS</a:t>
            </a:r>
            <a:endParaRPr lang="en-US" sz="1200" dirty="0"/>
          </a:p>
        </p:txBody>
      </p:sp>
      <p:sp>
        <p:nvSpPr>
          <p:cNvPr id="32" name="Text 29"/>
          <p:cNvSpPr/>
          <p:nvPr/>
        </p:nvSpPr>
        <p:spPr>
          <a:xfrm>
            <a:off x="6572250" y="3048992"/>
            <a:ext cx="2459228"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Pilot medical examiners and airline safety teams.</a:t>
            </a:r>
            <a:endParaRPr lang="en-US" sz="1200" dirty="0"/>
          </a:p>
        </p:txBody>
      </p:sp>
      <p:sp>
        <p:nvSpPr>
          <p:cNvPr id="33" name="Text 30"/>
          <p:cNvSpPr/>
          <p:nvPr/>
        </p:nvSpPr>
        <p:spPr>
          <a:xfrm>
            <a:off x="6572250" y="3437533"/>
            <a:ext cx="2459228"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School nurses and pediatric offices.</a:t>
            </a:r>
            <a:endParaRPr lang="en-US" sz="1200" dirty="0"/>
          </a:p>
        </p:txBody>
      </p:sp>
      <p:sp>
        <p:nvSpPr>
          <p:cNvPr id="34" name="Text 31"/>
          <p:cNvSpPr/>
          <p:nvPr/>
        </p:nvSpPr>
        <p:spPr>
          <a:xfrm>
            <a:off x="6572250" y="3826073"/>
            <a:ext cx="2459228"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3.</a:t>
            </a:r>
            <a:r>
              <a:rPr lang="en-US" sz="1200" dirty="0">
                <a:solidFill>
                  <a:srgbClr val="3A4660"/>
                </a:solidFill>
                <a:latin typeface="IBM Plex Sans" pitchFamily="34" charset="0"/>
                <a:ea typeface="IBM Plex Sans" pitchFamily="34" charset="-122"/>
                <a:cs typeface="IBM Plex Sans" pitchFamily="34" charset="-120"/>
              </a:rPr>
              <a:t> Insurer member apps and auto telematics programs.</a:t>
            </a:r>
            <a:endParaRPr lang="en-US" sz="1200" dirty="0"/>
          </a:p>
        </p:txBody>
      </p:sp>
      <p:sp>
        <p:nvSpPr>
          <p:cNvPr id="35" name="Text 32"/>
          <p:cNvSpPr/>
          <p:nvPr/>
        </p:nvSpPr>
        <p:spPr>
          <a:xfrm>
            <a:off x="6572250" y="4214614"/>
            <a:ext cx="2459228" cy="375841"/>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4.</a:t>
            </a:r>
            <a:r>
              <a:rPr lang="en-US" sz="1200" dirty="0">
                <a:solidFill>
                  <a:srgbClr val="3A4660"/>
                </a:solidFill>
                <a:latin typeface="IBM Plex Sans" pitchFamily="34" charset="0"/>
                <a:ea typeface="IBM Plex Sans" pitchFamily="34" charset="-122"/>
                <a:cs typeface="IBM Plex Sans" pitchFamily="34" charset="-120"/>
              </a:rPr>
              <a:t> Free “Will I pass my DMV eye test?” checker.</a:t>
            </a:r>
            <a:endParaRPr lang="en-US" sz="1200" dirty="0"/>
          </a:p>
        </p:txBody>
      </p:sp>
      <p:sp>
        <p:nvSpPr>
          <p:cNvPr id="36" name="Text 33"/>
          <p:cNvSpPr/>
          <p:nvPr/>
        </p:nvSpPr>
        <p:spPr>
          <a:xfrm>
            <a:off x="6572250" y="4603155"/>
            <a:ext cx="2459228"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5.</a:t>
            </a:r>
            <a:r>
              <a:rPr lang="en-US" sz="1200" dirty="0">
                <a:solidFill>
                  <a:srgbClr val="3A4660"/>
                </a:solidFill>
                <a:latin typeface="IBM Plex Sans" pitchFamily="34" charset="0"/>
                <a:ea typeface="IBM Plex Sans" pitchFamily="34" charset="-122"/>
                <a:cs typeface="IBM Plex Sans" pitchFamily="34" charset="-120"/>
              </a:rPr>
              <a:t> Rental app check-in.</a:t>
            </a:r>
            <a:endParaRPr lang="en-US" sz="1200" dirty="0"/>
          </a:p>
        </p:txBody>
      </p:sp>
      <p:sp>
        <p:nvSpPr>
          <p:cNvPr id="37" name="Shape 34"/>
          <p:cNvSpPr/>
          <p:nvPr/>
        </p:nvSpPr>
        <p:spPr>
          <a:xfrm>
            <a:off x="9134475" y="1171575"/>
            <a:ext cx="2241550" cy="1860252"/>
          </a:xfrm>
          <a:prstGeom prst="roundRect">
            <a:avLst>
              <a:gd name="adj" fmla="val 3926"/>
            </a:avLst>
          </a:prstGeom>
          <a:solidFill>
            <a:srgbClr val="FBFCFE"/>
          </a:solidFill>
          <a:ln w="6350">
            <a:solidFill>
              <a:srgbClr val="D9DFEA"/>
            </a:solidFill>
            <a:prstDash val="solid"/>
          </a:ln>
        </p:spPr>
      </p:sp>
      <p:sp>
        <p:nvSpPr>
          <p:cNvPr id="38" name="Text 35"/>
          <p:cNvSpPr/>
          <p:nvPr/>
        </p:nvSpPr>
        <p:spPr>
          <a:xfrm>
            <a:off x="9239250" y="1263650"/>
            <a:ext cx="2092960"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CUSTOMER SEGMENTS</a:t>
            </a:r>
            <a:endParaRPr lang="en-US" sz="1200" dirty="0"/>
          </a:p>
        </p:txBody>
      </p:sp>
      <p:sp>
        <p:nvSpPr>
          <p:cNvPr id="39" name="Text 36"/>
          <p:cNvSpPr/>
          <p:nvPr/>
        </p:nvSpPr>
        <p:spPr>
          <a:xfrm>
            <a:off x="9239250" y="1484610"/>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Healthcare Providers</a:t>
            </a:r>
            <a:endParaRPr lang="en-US" sz="1200" dirty="0"/>
          </a:p>
        </p:txBody>
      </p:sp>
      <p:sp>
        <p:nvSpPr>
          <p:cNvPr id="40" name="Text 37"/>
          <p:cNvSpPr/>
          <p:nvPr/>
        </p:nvSpPr>
        <p:spPr>
          <a:xfrm>
            <a:off x="9239250" y="1697930"/>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FAA/Airlines</a:t>
            </a:r>
            <a:endParaRPr lang="en-US" sz="1200" dirty="0"/>
          </a:p>
        </p:txBody>
      </p:sp>
      <p:sp>
        <p:nvSpPr>
          <p:cNvPr id="41" name="Text 38"/>
          <p:cNvSpPr/>
          <p:nvPr/>
        </p:nvSpPr>
        <p:spPr>
          <a:xfrm>
            <a:off x="9239250" y="1911251"/>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3.</a:t>
            </a:r>
            <a:r>
              <a:rPr lang="en-US" sz="1200" dirty="0">
                <a:solidFill>
                  <a:srgbClr val="3A4660"/>
                </a:solidFill>
                <a:latin typeface="IBM Plex Sans" pitchFamily="34" charset="0"/>
                <a:ea typeface="IBM Plex Sans" pitchFamily="34" charset="-122"/>
                <a:cs typeface="IBM Plex Sans" pitchFamily="34" charset="-120"/>
              </a:rPr>
              <a:t> Pediatric Development</a:t>
            </a:r>
            <a:endParaRPr lang="en-US" sz="1200" dirty="0"/>
          </a:p>
        </p:txBody>
      </p:sp>
      <p:sp>
        <p:nvSpPr>
          <p:cNvPr id="42" name="Text 39"/>
          <p:cNvSpPr/>
          <p:nvPr/>
        </p:nvSpPr>
        <p:spPr>
          <a:xfrm>
            <a:off x="9239250" y="2124571"/>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4.</a:t>
            </a:r>
            <a:r>
              <a:rPr lang="en-US" sz="1200" dirty="0">
                <a:solidFill>
                  <a:srgbClr val="3A4660"/>
                </a:solidFill>
                <a:latin typeface="IBM Plex Sans" pitchFamily="34" charset="0"/>
                <a:ea typeface="IBM Plex Sans" pitchFamily="34" charset="-122"/>
                <a:cs typeface="IBM Plex Sans" pitchFamily="34" charset="-120"/>
              </a:rPr>
              <a:t> Vehicle Renting Agencies</a:t>
            </a:r>
            <a:endParaRPr lang="en-US" sz="1200" dirty="0"/>
          </a:p>
        </p:txBody>
      </p:sp>
      <p:sp>
        <p:nvSpPr>
          <p:cNvPr id="43" name="Text 40"/>
          <p:cNvSpPr/>
          <p:nvPr/>
        </p:nvSpPr>
        <p:spPr>
          <a:xfrm>
            <a:off x="9239250" y="2337891"/>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5.</a:t>
            </a:r>
            <a:r>
              <a:rPr lang="en-US" sz="1200" dirty="0">
                <a:solidFill>
                  <a:srgbClr val="3A4660"/>
                </a:solidFill>
                <a:latin typeface="IBM Plex Sans" pitchFamily="34" charset="0"/>
                <a:ea typeface="IBM Plex Sans" pitchFamily="34" charset="-122"/>
                <a:cs typeface="IBM Plex Sans" pitchFamily="34" charset="-120"/>
              </a:rPr>
              <a:t> Insurance Providers</a:t>
            </a:r>
            <a:endParaRPr lang="en-US" sz="1200" dirty="0"/>
          </a:p>
        </p:txBody>
      </p:sp>
      <p:sp>
        <p:nvSpPr>
          <p:cNvPr id="44" name="Text 41"/>
          <p:cNvSpPr/>
          <p:nvPr/>
        </p:nvSpPr>
        <p:spPr>
          <a:xfrm>
            <a:off x="9239250" y="2551212"/>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6.</a:t>
            </a:r>
            <a:r>
              <a:rPr lang="en-US" sz="1200" dirty="0">
                <a:solidFill>
                  <a:srgbClr val="3A4660"/>
                </a:solidFill>
                <a:latin typeface="IBM Plex Sans" pitchFamily="34" charset="0"/>
                <a:ea typeface="IBM Plex Sans" pitchFamily="34" charset="-122"/>
                <a:cs typeface="IBM Plex Sans" pitchFamily="34" charset="-120"/>
              </a:rPr>
              <a:t> Licensing Agencies</a:t>
            </a:r>
            <a:endParaRPr lang="en-US" sz="1200" dirty="0"/>
          </a:p>
        </p:txBody>
      </p:sp>
      <p:sp>
        <p:nvSpPr>
          <p:cNvPr id="45" name="Text 42"/>
          <p:cNvSpPr/>
          <p:nvPr/>
        </p:nvSpPr>
        <p:spPr>
          <a:xfrm>
            <a:off x="9239250" y="2764532"/>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7.</a:t>
            </a:r>
            <a:r>
              <a:rPr lang="en-US" sz="1200" dirty="0">
                <a:solidFill>
                  <a:srgbClr val="3A4660"/>
                </a:solidFill>
                <a:latin typeface="IBM Plex Sans" pitchFamily="34" charset="0"/>
                <a:ea typeface="IBM Plex Sans" pitchFamily="34" charset="-122"/>
                <a:cs typeface="IBM Plex Sans" pitchFamily="34" charset="-120"/>
              </a:rPr>
              <a:t> Lens Providers</a:t>
            </a:r>
            <a:endParaRPr lang="en-US" sz="1200" dirty="0"/>
          </a:p>
        </p:txBody>
      </p:sp>
      <p:sp>
        <p:nvSpPr>
          <p:cNvPr id="46" name="Shape 43"/>
          <p:cNvSpPr/>
          <p:nvPr/>
        </p:nvSpPr>
        <p:spPr>
          <a:xfrm>
            <a:off x="9134475" y="3101677"/>
            <a:ext cx="2241550" cy="2244427"/>
          </a:xfrm>
          <a:prstGeom prst="roundRect">
            <a:avLst>
              <a:gd name="adj" fmla="val 3258"/>
            </a:avLst>
          </a:prstGeom>
          <a:solidFill>
            <a:srgbClr val="FBFCFE"/>
          </a:solidFill>
          <a:ln w="6350">
            <a:solidFill>
              <a:srgbClr val="D9DFEA"/>
            </a:solidFill>
            <a:prstDash val="solid"/>
          </a:ln>
        </p:spPr>
      </p:sp>
      <p:sp>
        <p:nvSpPr>
          <p:cNvPr id="47" name="Text 44"/>
          <p:cNvSpPr/>
          <p:nvPr/>
        </p:nvSpPr>
        <p:spPr>
          <a:xfrm>
            <a:off x="9239250" y="3193752"/>
            <a:ext cx="2092960"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EARLY ADOPTERS</a:t>
            </a:r>
            <a:endParaRPr lang="en-US" sz="1200" dirty="0"/>
          </a:p>
        </p:txBody>
      </p:sp>
      <p:sp>
        <p:nvSpPr>
          <p:cNvPr id="48" name="Text 45"/>
          <p:cNvSpPr/>
          <p:nvPr/>
        </p:nvSpPr>
        <p:spPr>
          <a:xfrm>
            <a:off x="9239250" y="3414713"/>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1.</a:t>
            </a:r>
            <a:r>
              <a:rPr lang="en-US" sz="1200" dirty="0">
                <a:solidFill>
                  <a:srgbClr val="3A4660"/>
                </a:solidFill>
                <a:latin typeface="IBM Plex Sans" pitchFamily="34" charset="0"/>
                <a:ea typeface="IBM Plex Sans" pitchFamily="34" charset="-122"/>
                <a:cs typeface="IBM Plex Sans" pitchFamily="34" charset="-120"/>
              </a:rPr>
              <a:t> Insurance Providers</a:t>
            </a:r>
            <a:endParaRPr lang="en-US" sz="1200" dirty="0"/>
          </a:p>
        </p:txBody>
      </p:sp>
      <p:sp>
        <p:nvSpPr>
          <p:cNvPr id="49" name="Text 46"/>
          <p:cNvSpPr/>
          <p:nvPr/>
        </p:nvSpPr>
        <p:spPr>
          <a:xfrm>
            <a:off x="9239250" y="3628033"/>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2.</a:t>
            </a:r>
            <a:r>
              <a:rPr lang="en-US" sz="1200" dirty="0">
                <a:solidFill>
                  <a:srgbClr val="3A4660"/>
                </a:solidFill>
                <a:latin typeface="IBM Plex Sans" pitchFamily="34" charset="0"/>
                <a:ea typeface="IBM Plex Sans" pitchFamily="34" charset="-122"/>
                <a:cs typeface="IBM Plex Sans" pitchFamily="34" charset="-120"/>
              </a:rPr>
              <a:t> Individual Users</a:t>
            </a:r>
            <a:endParaRPr lang="en-US" sz="1200" dirty="0"/>
          </a:p>
        </p:txBody>
      </p:sp>
      <p:sp>
        <p:nvSpPr>
          <p:cNvPr id="50" name="Text 47"/>
          <p:cNvSpPr/>
          <p:nvPr/>
        </p:nvSpPr>
        <p:spPr>
          <a:xfrm>
            <a:off x="9239250" y="3841353"/>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3.</a:t>
            </a:r>
            <a:r>
              <a:rPr lang="en-US" sz="1200" dirty="0">
                <a:solidFill>
                  <a:srgbClr val="3A4660"/>
                </a:solidFill>
                <a:latin typeface="IBM Plex Sans" pitchFamily="34" charset="0"/>
                <a:ea typeface="IBM Plex Sans" pitchFamily="34" charset="-122"/>
                <a:cs typeface="IBM Plex Sans" pitchFamily="34" charset="-120"/>
              </a:rPr>
              <a:t> Vehicle Renting Agencies</a:t>
            </a:r>
            <a:endParaRPr lang="en-US" sz="1200" dirty="0"/>
          </a:p>
        </p:txBody>
      </p:sp>
      <p:sp>
        <p:nvSpPr>
          <p:cNvPr id="51" name="Text 48"/>
          <p:cNvSpPr/>
          <p:nvPr/>
        </p:nvSpPr>
        <p:spPr>
          <a:xfrm>
            <a:off x="9239250" y="4054673"/>
            <a:ext cx="2092960" cy="20062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D6AAE"/>
                </a:solidFill>
                <a:latin typeface="IBM Plex Sans" pitchFamily="34" charset="0"/>
                <a:ea typeface="IBM Plex Sans" pitchFamily="34" charset="-122"/>
                <a:cs typeface="IBM Plex Sans" pitchFamily="34" charset="-120"/>
              </a:rPr>
              <a:t>4.</a:t>
            </a:r>
            <a:r>
              <a:rPr lang="en-US" sz="1200" dirty="0">
                <a:solidFill>
                  <a:srgbClr val="3A4660"/>
                </a:solidFill>
                <a:latin typeface="IBM Plex Sans" pitchFamily="34" charset="0"/>
                <a:ea typeface="IBM Plex Sans" pitchFamily="34" charset="-122"/>
                <a:cs typeface="IBM Plex Sans" pitchFamily="34" charset="-120"/>
              </a:rPr>
              <a:t> Pediatric Development</a:t>
            </a:r>
            <a:endParaRPr lang="en-US" sz="1200" dirty="0"/>
          </a:p>
        </p:txBody>
      </p:sp>
      <p:sp>
        <p:nvSpPr>
          <p:cNvPr id="52" name="Shape 49"/>
          <p:cNvSpPr/>
          <p:nvPr/>
        </p:nvSpPr>
        <p:spPr>
          <a:xfrm>
            <a:off x="815975" y="5454055"/>
            <a:ext cx="5245100" cy="587970"/>
          </a:xfrm>
          <a:prstGeom prst="roundRect">
            <a:avLst>
              <a:gd name="adj" fmla="val 12420"/>
            </a:avLst>
          </a:prstGeom>
          <a:solidFill>
            <a:srgbClr val="FBFCFE"/>
          </a:solidFill>
          <a:ln w="6350">
            <a:solidFill>
              <a:srgbClr val="D9DFEA"/>
            </a:solidFill>
            <a:prstDash val="solid"/>
          </a:ln>
        </p:spPr>
      </p:sp>
      <p:sp>
        <p:nvSpPr>
          <p:cNvPr id="53" name="Text 50"/>
          <p:cNvSpPr/>
          <p:nvPr/>
        </p:nvSpPr>
        <p:spPr>
          <a:xfrm>
            <a:off x="920750" y="5546130"/>
            <a:ext cx="5186617"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COST STRUCTURE</a:t>
            </a:r>
            <a:endParaRPr lang="en-US" sz="1200" dirty="0"/>
          </a:p>
        </p:txBody>
      </p:sp>
      <p:sp>
        <p:nvSpPr>
          <p:cNvPr id="54" name="Text 51"/>
          <p:cNvSpPr/>
          <p:nvPr/>
        </p:nvSpPr>
        <p:spPr>
          <a:xfrm>
            <a:off x="920750" y="5767090"/>
            <a:ext cx="5186617" cy="208260"/>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5E6A82"/>
                </a:solidFill>
                <a:latin typeface="IBM Plex Sans" pitchFamily="34" charset="0"/>
                <a:ea typeface="IBM Plex Sans" pitchFamily="34" charset="-122"/>
                <a:cs typeface="IBM Plex Sans" pitchFamily="34" charset="-120"/>
              </a:rPr>
              <a:t>[Not yet filled in]</a:t>
            </a:r>
            <a:endParaRPr lang="en-US" sz="1200" dirty="0"/>
          </a:p>
        </p:txBody>
      </p:sp>
      <p:sp>
        <p:nvSpPr>
          <p:cNvPr id="55" name="Shape 52"/>
          <p:cNvSpPr/>
          <p:nvPr/>
        </p:nvSpPr>
        <p:spPr>
          <a:xfrm>
            <a:off x="6130925" y="5454055"/>
            <a:ext cx="5245100" cy="587970"/>
          </a:xfrm>
          <a:prstGeom prst="roundRect">
            <a:avLst>
              <a:gd name="adj" fmla="val 12420"/>
            </a:avLst>
          </a:prstGeom>
          <a:solidFill>
            <a:srgbClr val="FBFCFE"/>
          </a:solidFill>
          <a:ln w="6350">
            <a:solidFill>
              <a:srgbClr val="D9DFEA"/>
            </a:solidFill>
            <a:prstDash val="solid"/>
          </a:ln>
        </p:spPr>
      </p:sp>
      <p:sp>
        <p:nvSpPr>
          <p:cNvPr id="56" name="Text 53"/>
          <p:cNvSpPr/>
          <p:nvPr/>
        </p:nvSpPr>
        <p:spPr>
          <a:xfrm>
            <a:off x="6235700" y="5546130"/>
            <a:ext cx="5186617"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1D6AAE"/>
                </a:solidFill>
                <a:latin typeface="IBM Plex Sans" pitchFamily="34" charset="0"/>
                <a:ea typeface="IBM Plex Sans" pitchFamily="34" charset="-122"/>
                <a:cs typeface="IBM Plex Sans" pitchFamily="34" charset="-120"/>
              </a:rPr>
              <a:t>REVENUE STREAMS</a:t>
            </a:r>
            <a:endParaRPr lang="en-US" sz="1200" dirty="0"/>
          </a:p>
        </p:txBody>
      </p:sp>
      <p:sp>
        <p:nvSpPr>
          <p:cNvPr id="57" name="Text 54"/>
          <p:cNvSpPr/>
          <p:nvPr/>
        </p:nvSpPr>
        <p:spPr>
          <a:xfrm>
            <a:off x="6235700" y="5767090"/>
            <a:ext cx="5186617" cy="208260"/>
          </a:xfrm>
          <a:prstGeom prst="rect">
            <a:avLst/>
          </a:prstGeom>
          <a:noFill/>
          <a:ln/>
        </p:spPr>
        <p:txBody>
          <a:bodyPr wrap="square" lIns="0" tIns="0" rIns="0" bIns="0" rtlCol="0" anchor="t">
            <a:normAutofit/>
          </a:bodyPr>
          <a:lstStyle/>
          <a:p>
            <a:pPr algn="l" indent="0" marL="0">
              <a:lnSpc>
                <a:spcPts val="1440"/>
              </a:lnSpc>
              <a:buNone/>
            </a:pPr>
            <a:r>
              <a:rPr lang="en-US" sz="1200" i="1" dirty="0">
                <a:solidFill>
                  <a:srgbClr val="5E6A82"/>
                </a:solidFill>
                <a:latin typeface="IBM Plex Sans" pitchFamily="34" charset="0"/>
                <a:ea typeface="IBM Plex Sans" pitchFamily="34" charset="-122"/>
                <a:cs typeface="IBM Plex Sans" pitchFamily="34" charset="-120"/>
              </a:rPr>
              <a:t>[Not yet filled in]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Focal — Competitive Landscape Analysis</dc:title>
  <dc:subject>PptxGenJS Presentation</dc:subject>
  <dc:creator>PptxGenJS</dc:creator>
  <cp:lastModifiedBy>PptxGenJS</cp:lastModifiedBy>
  <cp:revision>1</cp:revision>
  <dcterms:created xsi:type="dcterms:W3CDTF">2026-09-24T02:59:08Z</dcterms:created>
  <dcterms:modified xsi:type="dcterms:W3CDTF">2026-09-24T02:59:08Z</dcterms:modified>
</cp:coreProperties>
</file>