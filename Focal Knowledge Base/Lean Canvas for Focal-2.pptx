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018" r:id="rId2"/>
    <p:sldId id="201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6327"/>
  </p:normalViewPr>
  <p:slideViewPr>
    <p:cSldViewPr snapToGrid="0">
      <p:cViewPr varScale="1">
        <p:scale>
          <a:sx n="125" d="100"/>
          <a:sy n="125" d="100"/>
        </p:scale>
        <p:origin x="1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2013-E0A4-7963-538F-CC46CDF52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3A393-75B5-4D28-BE1A-B83BF7AE3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55D1A-FD71-B678-083E-D72A0D7F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8D7A8-A838-8AEA-5CE6-241BBFD0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DC252-2C1B-9567-212A-F89458B4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5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32AC-609F-758D-004C-559B5074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89A7D-C2ED-E0F5-A28D-59BF0F9DF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37604-3602-2BBF-CDC8-649CE6DD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4B653-2CFF-7C23-0701-F139820C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650B3-7FF2-38C2-FE93-69DDE756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6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3C5C4-322C-D437-329A-4B0168F08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37C62-6FE5-92C4-0A43-050E71043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E1118-57A5-8A26-C89F-06F46160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1D957-83C1-B6AD-4463-E56A7740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895D9-7F62-99F0-BB5F-CB26ABA7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51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87CAC-57A1-20B4-C3C1-70D43952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AE978-656D-6A16-AD3A-6591C5B7F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490AA-0AF3-2EF9-7980-2D6A63C68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E3367-8AA3-757C-2181-9357C3A6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6493-319F-C7FC-FB06-3BC561EE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6CE56-102E-5A2E-ABE4-463BCA21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9F52-7D5F-6E57-8FF7-E3A1CD37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73C57-51B1-52CF-B9CD-37D4CDA18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3FE5F-1FF3-F436-2D38-BF45E57DC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9FE6B-3C5C-2845-3B9B-D8AA39612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B6E25-2626-35F0-A769-6E1C3F931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F3EA7A-BFF4-82D7-443D-4EFC7D90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E9C63-83BE-3236-0645-C97B2ED3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2DEFB9-9F51-5AEB-ADC3-D8335125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7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3CE3-0AEF-E082-5357-C2FE8F1E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BBD72-7DA0-0491-5056-2830F5E6B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65720-9B94-7AFA-3F69-AFC7A3B5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BF271-F6BE-9D94-B8C0-61A65FE2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0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27C37-B590-9425-42A3-62DAD724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612D7F-4CE5-4217-FF06-D6547D27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1EA00-F8DE-5FF6-923B-5469A7A6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4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7174-C21A-396E-8AB0-7F7F448C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405A5-9553-8775-E0DA-A4D0A9AB8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B2A5C-4AFC-E8D8-388C-C233F4CD4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88E3F-7A81-B841-D6FD-5A3825A99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213F7-3FD5-E355-B5FA-B368E3F96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DA08C-AAD8-2E2B-7691-AB09807C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67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791E0-4F62-9001-6D28-1B2EC8FD8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196BB-F78E-7970-913C-0DF27DADF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4474B-3ADD-2CC1-4D70-E69D9EAC8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7AB1B-5786-5465-9364-E13C75AF5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31F5D-95E9-D4AF-63D0-C69703D74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D4E43-8E8A-F692-639A-33D2E3B8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AAFA7-C038-DAD4-ACA9-84C5A677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2AED8-BD0F-35B0-F5FD-193291B4F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5BF21-DCF9-7CE4-9143-8DC6E724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33C1-363E-1DD3-D57D-40D80548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1BCAD-5FD0-338A-71E5-6CA218090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1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CEC15-547D-BA9D-290E-0C94E4B90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BF7DD-A65B-0C81-490D-292E8923A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8C43C-2191-EB5F-8B55-82D16B1E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44324-5BB5-E4FF-97CB-6F1ACCD1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8AD3C-A544-D1B6-FE4F-2754065B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7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76FAEA-31EC-D142-717B-133FDA87B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5A273-D511-5B21-5752-EB2677158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ADC8C-666D-AE98-0573-3602ED7EB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D2115-CCC0-C940-AD3D-153A4CBEC1B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36EFD-41E7-CB90-7786-5031CE100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8DC5-1D5D-2654-4123-4CE449834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099EA-6B7D-7643-A75B-26CB02D6E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2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7CAA-3FDA-FECD-E38D-C1DF8087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08" y="387928"/>
            <a:ext cx="2737659" cy="498225"/>
          </a:xfrm>
        </p:spPr>
        <p:txBody>
          <a:bodyPr/>
          <a:lstStyle/>
          <a:p>
            <a:r>
              <a:rPr lang="en-US" sz="2133" dirty="0"/>
              <a:t>Focal (Technologies)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FBF81-E438-5859-FCC6-78363E52F086}"/>
              </a:ext>
            </a:extLst>
          </p:cNvPr>
          <p:cNvSpPr txBox="1">
            <a:spLocks/>
          </p:cNvSpPr>
          <p:nvPr/>
        </p:nvSpPr>
        <p:spPr>
          <a:xfrm>
            <a:off x="266008" y="886151"/>
            <a:ext cx="4366952" cy="140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67" b="0" dirty="0"/>
              <a:t>Leadership Team and Roles:</a:t>
            </a:r>
          </a:p>
          <a:p>
            <a:r>
              <a:rPr lang="en-US" sz="1333" b="0" dirty="0"/>
              <a:t>Haydn Stucker </a:t>
            </a:r>
            <a:r>
              <a:rPr lang="en-US" sz="1333" b="0" i="1" dirty="0"/>
              <a:t>CEO</a:t>
            </a:r>
          </a:p>
          <a:p>
            <a:r>
              <a:rPr lang="en-US" sz="1333" b="0" dirty="0"/>
              <a:t>Burak </a:t>
            </a:r>
            <a:r>
              <a:rPr lang="en-US" sz="1333" b="0" dirty="0" err="1"/>
              <a:t>Donbekci</a:t>
            </a:r>
            <a:r>
              <a:rPr lang="en-US" sz="1333" b="0" dirty="0"/>
              <a:t> </a:t>
            </a:r>
            <a:r>
              <a:rPr lang="en-US" sz="1333" b="0" i="1" dirty="0"/>
              <a:t>CTO</a:t>
            </a:r>
          </a:p>
          <a:p>
            <a:r>
              <a:rPr lang="en-US" sz="1333" b="0" dirty="0"/>
              <a:t>Hadley McCormack </a:t>
            </a:r>
            <a:r>
              <a:rPr lang="en-US" sz="1333" b="0" i="1" dirty="0"/>
              <a:t>CFO</a:t>
            </a:r>
          </a:p>
          <a:p>
            <a:r>
              <a:rPr lang="en-US" sz="1333" b="0" dirty="0"/>
              <a:t>Fan </a:t>
            </a:r>
            <a:r>
              <a:rPr lang="en-US" sz="1333" b="0" i="1" dirty="0"/>
              <a:t>CCO</a:t>
            </a:r>
          </a:p>
          <a:p>
            <a:r>
              <a:rPr lang="en-US" sz="1333" b="0" dirty="0"/>
              <a:t>Qingyi </a:t>
            </a:r>
            <a:r>
              <a:rPr lang="en-US" sz="1333" b="0" i="1" dirty="0"/>
              <a:t>CPO</a:t>
            </a:r>
            <a:endParaRPr lang="en-US" sz="1333" b="0" dirty="0"/>
          </a:p>
          <a:p>
            <a:endParaRPr lang="en-US" sz="1333" b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E4BFA95-C9C9-07A6-F0F8-0142B605E3F7}"/>
              </a:ext>
            </a:extLst>
          </p:cNvPr>
          <p:cNvSpPr txBox="1">
            <a:spLocks/>
          </p:cNvSpPr>
          <p:nvPr/>
        </p:nvSpPr>
        <p:spPr>
          <a:xfrm>
            <a:off x="126001" y="2552592"/>
            <a:ext cx="3024195" cy="164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1216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67" b="0" dirty="0"/>
              <a:t>Mission Statement:</a:t>
            </a:r>
          </a:p>
          <a:p>
            <a:r>
              <a:rPr lang="en-US" sz="1400" b="0" dirty="0"/>
              <a:t>Creating simple and interpretable</a:t>
            </a:r>
          </a:p>
          <a:p>
            <a:r>
              <a:rPr lang="en-US" sz="1400" b="0" dirty="0"/>
              <a:t>technology for wellness.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24D252-BEC7-4D8B-4A54-FDF57CD414DC}"/>
              </a:ext>
            </a:extLst>
          </p:cNvPr>
          <p:cNvGrpSpPr/>
          <p:nvPr/>
        </p:nvGrpSpPr>
        <p:grpSpPr>
          <a:xfrm>
            <a:off x="3228318" y="1746555"/>
            <a:ext cx="8832261" cy="5045615"/>
            <a:chOff x="485775" y="925848"/>
            <a:chExt cx="7731187" cy="394455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4046F58-D3C5-B7F2-3F5A-A3BDEDED6C45}"/>
                </a:ext>
              </a:extLst>
            </p:cNvPr>
            <p:cNvGrpSpPr/>
            <p:nvPr/>
          </p:nvGrpSpPr>
          <p:grpSpPr>
            <a:xfrm>
              <a:off x="485775" y="925848"/>
              <a:ext cx="7731187" cy="3944556"/>
              <a:chOff x="485775" y="925848"/>
              <a:chExt cx="7731187" cy="3944556"/>
            </a:xfrm>
          </p:grpSpPr>
          <p:sp>
            <p:nvSpPr>
              <p:cNvPr id="12" name="Shape 280">
                <a:extLst>
                  <a:ext uri="{FF2B5EF4-FFF2-40B4-BE49-F238E27FC236}">
                    <a16:creationId xmlns:a16="http://schemas.microsoft.com/office/drawing/2014/main" id="{6DFA5055-3789-CBB3-1164-B4C4239E5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775" y="925848"/>
                <a:ext cx="7724975" cy="3944556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3" name="Shape 281">
                <a:extLst>
                  <a:ext uri="{FF2B5EF4-FFF2-40B4-BE49-F238E27FC236}">
                    <a16:creationId xmlns:a16="http://schemas.microsoft.com/office/drawing/2014/main" id="{C3A6569D-B61C-EEB6-4FA4-388026A46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775" y="3474517"/>
                <a:ext cx="3864827" cy="1166724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4" name="Shape 282">
                <a:extLst>
                  <a:ext uri="{FF2B5EF4-FFF2-40B4-BE49-F238E27FC236}">
                    <a16:creationId xmlns:a16="http://schemas.microsoft.com/office/drawing/2014/main" id="{551B86C6-74A1-67E9-4270-41A42DEED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0486" y="3474517"/>
                <a:ext cx="3864827" cy="1166724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5" name="Shape 283">
                <a:extLst>
                  <a:ext uri="{FF2B5EF4-FFF2-40B4-BE49-F238E27FC236}">
                    <a16:creationId xmlns:a16="http://schemas.microsoft.com/office/drawing/2014/main" id="{A6025E39-FB68-282B-E4BF-345692EC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71967" y="928250"/>
                <a:ext cx="1544995" cy="2542875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6" name="Shape 284">
                <a:extLst>
                  <a:ext uri="{FF2B5EF4-FFF2-40B4-BE49-F238E27FC236}">
                    <a16:creationId xmlns:a16="http://schemas.microsoft.com/office/drawing/2014/main" id="{AF65179A-53E8-038E-547C-789DD8C81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35" y="928250"/>
                <a:ext cx="1544995" cy="2542875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7" name="Shape 285">
                <a:extLst>
                  <a:ext uri="{FF2B5EF4-FFF2-40B4-BE49-F238E27FC236}">
                    <a16:creationId xmlns:a16="http://schemas.microsoft.com/office/drawing/2014/main" id="{A09D8A0E-AA4A-53ED-BC8F-9C14F4916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1343" y="925848"/>
                <a:ext cx="1544995" cy="1225027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8" name="Shape 286">
                <a:extLst>
                  <a:ext uri="{FF2B5EF4-FFF2-40B4-BE49-F238E27FC236}">
                    <a16:creationId xmlns:a16="http://schemas.microsoft.com/office/drawing/2014/main" id="{7CE4C178-3880-0EAC-546D-B1C7593129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1343" y="2153182"/>
                <a:ext cx="1544995" cy="1317943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19" name="Shape 287">
                <a:extLst>
                  <a:ext uri="{FF2B5EF4-FFF2-40B4-BE49-F238E27FC236}">
                    <a16:creationId xmlns:a16="http://schemas.microsoft.com/office/drawing/2014/main" id="{E27AAD74-787E-C9C3-088E-9196268A6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2259" y="925848"/>
                <a:ext cx="1544995" cy="1092321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  <p:sp>
            <p:nvSpPr>
              <p:cNvPr id="20" name="Shape 288">
                <a:extLst>
                  <a:ext uri="{FF2B5EF4-FFF2-40B4-BE49-F238E27FC236}">
                    <a16:creationId xmlns:a16="http://schemas.microsoft.com/office/drawing/2014/main" id="{63FC951D-CFEC-9F8C-AF64-2D72790D0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2259" y="2020665"/>
                <a:ext cx="1544995" cy="1450460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/>
              <a:lstStyle/>
              <a:p>
                <a:pPr defTabSz="1625519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333">
                  <a:solidFill>
                    <a:srgbClr val="191919"/>
                  </a:solidFill>
                  <a:latin typeface="HelvNeue Light for IBM"/>
                </a:endParaRPr>
              </a:p>
            </p:txBody>
          </p:sp>
        </p:grpSp>
        <p:sp>
          <p:nvSpPr>
            <p:cNvPr id="10" name="Shape 289">
              <a:extLst>
                <a:ext uri="{FF2B5EF4-FFF2-40B4-BE49-F238E27FC236}">
                  <a16:creationId xmlns:a16="http://schemas.microsoft.com/office/drawing/2014/main" id="{2DBD6EE1-853B-70AE-FB2E-D7822CA52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66" y="976700"/>
              <a:ext cx="531912" cy="129931"/>
            </a:xfrm>
            <a:prstGeom prst="rect">
              <a:avLst/>
            </a:prstGeom>
            <a:noFill/>
            <a:ln w="12700">
              <a:noFill/>
              <a:miter lim="4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1019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68A35"/>
                </a:buClr>
              </a:pPr>
              <a:r>
                <a:rPr lang="en-US" sz="12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 Light for IBM" charset="0"/>
                </a:rPr>
                <a:t>Problem</a:t>
              </a:r>
            </a:p>
          </p:txBody>
        </p:sp>
        <p:sp>
          <p:nvSpPr>
            <p:cNvPr id="11" name="Shape 295">
              <a:extLst>
                <a:ext uri="{FF2B5EF4-FFF2-40B4-BE49-F238E27FC236}">
                  <a16:creationId xmlns:a16="http://schemas.microsoft.com/office/drawing/2014/main" id="{7009A914-0869-E535-2CF7-73A6426D0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704" y="976700"/>
              <a:ext cx="1489047" cy="129931"/>
            </a:xfrm>
            <a:prstGeom prst="rect">
              <a:avLst/>
            </a:prstGeom>
            <a:noFill/>
            <a:ln w="12700">
              <a:noFill/>
              <a:miter lim="4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1019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E68A35"/>
                </a:buClr>
              </a:pPr>
              <a:r>
                <a:rPr lang="en-US" sz="1200" dirty="0">
                  <a:solidFill>
                    <a:srgbClr val="000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 Light for IBM" charset="0"/>
                </a:rPr>
                <a:t>Customer Segments</a:t>
              </a:r>
            </a:p>
          </p:txBody>
        </p:sp>
      </p:grpSp>
      <p:sp>
        <p:nvSpPr>
          <p:cNvPr id="21" name="Shape 289">
            <a:extLst>
              <a:ext uri="{FF2B5EF4-FFF2-40B4-BE49-F238E27FC236}">
                <a16:creationId xmlns:a16="http://schemas.microsoft.com/office/drawing/2014/main" id="{9A939380-5620-0B7B-9418-4F3FE2951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630" y="1811599"/>
            <a:ext cx="591509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Solution</a:t>
            </a:r>
            <a:endParaRPr lang="en-US" sz="12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Light for IBM" charset="0"/>
            </a:endParaRPr>
          </a:p>
        </p:txBody>
      </p:sp>
      <p:sp>
        <p:nvSpPr>
          <p:cNvPr id="22" name="Shape 289">
            <a:extLst>
              <a:ext uri="{FF2B5EF4-FFF2-40B4-BE49-F238E27FC236}">
                <a16:creationId xmlns:a16="http://schemas.microsoft.com/office/drawing/2014/main" id="{322C0766-3810-9792-9CE9-0EB250449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206" y="1805511"/>
            <a:ext cx="1765032" cy="3323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Unique V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alue Proposition</a:t>
            </a:r>
            <a:endParaRPr lang="en-US" sz="12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Light for IBM" charset="0"/>
            </a:endParaRPr>
          </a:p>
        </p:txBody>
      </p:sp>
      <p:sp>
        <p:nvSpPr>
          <p:cNvPr id="23" name="Shape 289">
            <a:extLst>
              <a:ext uri="{FF2B5EF4-FFF2-40B4-BE49-F238E27FC236}">
                <a16:creationId xmlns:a16="http://schemas.microsoft.com/office/drawing/2014/main" id="{696B038B-1BA8-F72F-D007-D0B67166D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914" y="1805511"/>
            <a:ext cx="1508261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Unfair Advantage</a:t>
            </a:r>
          </a:p>
        </p:txBody>
      </p:sp>
      <p:sp>
        <p:nvSpPr>
          <p:cNvPr id="24" name="Shape 295">
            <a:extLst>
              <a:ext uri="{FF2B5EF4-FFF2-40B4-BE49-F238E27FC236}">
                <a16:creationId xmlns:a16="http://schemas.microsoft.com/office/drawing/2014/main" id="{559A54FD-D7F8-8D9C-D03B-6C23380EC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914" y="3223794"/>
            <a:ext cx="1701117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Channels</a:t>
            </a:r>
          </a:p>
        </p:txBody>
      </p:sp>
      <p:sp>
        <p:nvSpPr>
          <p:cNvPr id="25" name="Shape 295">
            <a:extLst>
              <a:ext uri="{FF2B5EF4-FFF2-40B4-BE49-F238E27FC236}">
                <a16:creationId xmlns:a16="http://schemas.microsoft.com/office/drawing/2014/main" id="{1982E51F-CB12-EDB3-B0B2-E4F2FF73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6043" y="3375966"/>
            <a:ext cx="1701117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Key Metrics</a:t>
            </a:r>
          </a:p>
        </p:txBody>
      </p:sp>
      <p:sp>
        <p:nvSpPr>
          <p:cNvPr id="26" name="Shape 295">
            <a:extLst>
              <a:ext uri="{FF2B5EF4-FFF2-40B4-BE49-F238E27FC236}">
                <a16:creationId xmlns:a16="http://schemas.microsoft.com/office/drawing/2014/main" id="{C89B6C54-96CD-48BB-A76C-745F53994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36" y="5068275"/>
            <a:ext cx="2350843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Cost Structure</a:t>
            </a:r>
          </a:p>
        </p:txBody>
      </p:sp>
      <p:sp>
        <p:nvSpPr>
          <p:cNvPr id="27" name="Shape 295">
            <a:extLst>
              <a:ext uri="{FF2B5EF4-FFF2-40B4-BE49-F238E27FC236}">
                <a16:creationId xmlns:a16="http://schemas.microsoft.com/office/drawing/2014/main" id="{45D85C91-2B9F-3737-5B58-4AB26821B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326" y="5068273"/>
            <a:ext cx="2350843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Revenue Streams </a:t>
            </a:r>
          </a:p>
        </p:txBody>
      </p:sp>
      <p:sp>
        <p:nvSpPr>
          <p:cNvPr id="3" name="Shape 289">
            <a:extLst>
              <a:ext uri="{FF2B5EF4-FFF2-40B4-BE49-F238E27FC236}">
                <a16:creationId xmlns:a16="http://schemas.microsoft.com/office/drawing/2014/main" id="{56A7D0E2-9BFB-132E-9D59-5933F911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348" y="3359179"/>
            <a:ext cx="1439497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Existing Alternatives</a:t>
            </a:r>
          </a:p>
        </p:txBody>
      </p:sp>
      <p:sp>
        <p:nvSpPr>
          <p:cNvPr id="8" name="Shape 295">
            <a:extLst>
              <a:ext uri="{FF2B5EF4-FFF2-40B4-BE49-F238E27FC236}">
                <a16:creationId xmlns:a16="http://schemas.microsoft.com/office/drawing/2014/main" id="{F77AB907-7FAD-F57B-9592-085EB5E55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4882" y="3219455"/>
            <a:ext cx="1701117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Early Adopters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75F8E68-6334-8E13-AB05-64BF93212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8690" y="157268"/>
            <a:ext cx="13335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43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4046F58-D3C5-B7F2-3F5A-A3BDEDED6C45}"/>
              </a:ext>
            </a:extLst>
          </p:cNvPr>
          <p:cNvGrpSpPr/>
          <p:nvPr/>
        </p:nvGrpSpPr>
        <p:grpSpPr>
          <a:xfrm>
            <a:off x="462579" y="118335"/>
            <a:ext cx="10472121" cy="6603144"/>
            <a:chOff x="485775" y="925848"/>
            <a:chExt cx="7731187" cy="3944556"/>
          </a:xfrm>
        </p:grpSpPr>
        <p:sp>
          <p:nvSpPr>
            <p:cNvPr id="12" name="Shape 280">
              <a:extLst>
                <a:ext uri="{FF2B5EF4-FFF2-40B4-BE49-F238E27FC236}">
                  <a16:creationId xmlns:a16="http://schemas.microsoft.com/office/drawing/2014/main" id="{6DFA5055-3789-CBB3-1164-B4C4239E5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925848"/>
              <a:ext cx="7724975" cy="394455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1625519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191919"/>
                </a:solidFill>
                <a:latin typeface="HelvNeue Light for IBM"/>
              </a:endParaRPr>
            </a:p>
          </p:txBody>
        </p:sp>
        <p:sp>
          <p:nvSpPr>
            <p:cNvPr id="13" name="Shape 281">
              <a:extLst>
                <a:ext uri="{FF2B5EF4-FFF2-40B4-BE49-F238E27FC236}">
                  <a16:creationId xmlns:a16="http://schemas.microsoft.com/office/drawing/2014/main" id="{C3A6569D-B61C-EEB6-4FA4-388026A46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3474517"/>
              <a:ext cx="3864827" cy="11667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1625519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191919"/>
                </a:solidFill>
                <a:latin typeface="HelvNeue Light for IBM"/>
              </a:endParaRPr>
            </a:p>
          </p:txBody>
        </p:sp>
        <p:sp>
          <p:nvSpPr>
            <p:cNvPr id="14" name="Shape 282">
              <a:extLst>
                <a:ext uri="{FF2B5EF4-FFF2-40B4-BE49-F238E27FC236}">
                  <a16:creationId xmlns:a16="http://schemas.microsoft.com/office/drawing/2014/main" id="{551B86C6-74A1-67E9-4270-41A42DEED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486" y="3474517"/>
              <a:ext cx="3864827" cy="116672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1625519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191919"/>
                </a:solidFill>
                <a:latin typeface="HelvNeue Light for IBM"/>
              </a:endParaRPr>
            </a:p>
          </p:txBody>
        </p:sp>
        <p:sp>
          <p:nvSpPr>
            <p:cNvPr id="15" name="Shape 283">
              <a:extLst>
                <a:ext uri="{FF2B5EF4-FFF2-40B4-BE49-F238E27FC236}">
                  <a16:creationId xmlns:a16="http://schemas.microsoft.com/office/drawing/2014/main" id="{A6025E39-FB68-282B-E4BF-345692ECD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1967" y="928250"/>
              <a:ext cx="1544995" cy="2542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1625519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191919"/>
                </a:solidFill>
                <a:latin typeface="HelvNeue Light for IBM"/>
              </a:endParaRPr>
            </a:p>
          </p:txBody>
        </p:sp>
        <p:sp>
          <p:nvSpPr>
            <p:cNvPr id="16" name="Shape 284">
              <a:extLst>
                <a:ext uri="{FF2B5EF4-FFF2-40B4-BE49-F238E27FC236}">
                  <a16:creationId xmlns:a16="http://schemas.microsoft.com/office/drawing/2014/main" id="{AF65179A-53E8-038E-547C-789DD8C81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35" y="928250"/>
              <a:ext cx="1544995" cy="2542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1625519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191919"/>
                </a:solidFill>
                <a:latin typeface="HelvNeue Light for IBM"/>
              </a:endParaRPr>
            </a:p>
          </p:txBody>
        </p:sp>
        <p:sp>
          <p:nvSpPr>
            <p:cNvPr id="17" name="Shape 285">
              <a:extLst>
                <a:ext uri="{FF2B5EF4-FFF2-40B4-BE49-F238E27FC236}">
                  <a16:creationId xmlns:a16="http://schemas.microsoft.com/office/drawing/2014/main" id="{A09D8A0E-AA4A-53ED-BC8F-9C14F4916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343" y="925848"/>
              <a:ext cx="1544995" cy="122502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1625519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191919"/>
                </a:solidFill>
                <a:latin typeface="HelvNeue Light for IBM"/>
              </a:endParaRPr>
            </a:p>
          </p:txBody>
        </p:sp>
        <p:sp>
          <p:nvSpPr>
            <p:cNvPr id="18" name="Shape 286">
              <a:extLst>
                <a:ext uri="{FF2B5EF4-FFF2-40B4-BE49-F238E27FC236}">
                  <a16:creationId xmlns:a16="http://schemas.microsoft.com/office/drawing/2014/main" id="{7CE4C178-3880-0EAC-546D-B1C759312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343" y="2153182"/>
              <a:ext cx="1544995" cy="131794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1625519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191919"/>
                </a:solidFill>
                <a:latin typeface="HelvNeue Light for IBM"/>
              </a:endParaRPr>
            </a:p>
          </p:txBody>
        </p:sp>
        <p:sp>
          <p:nvSpPr>
            <p:cNvPr id="19" name="Shape 287">
              <a:extLst>
                <a:ext uri="{FF2B5EF4-FFF2-40B4-BE49-F238E27FC236}">
                  <a16:creationId xmlns:a16="http://schemas.microsoft.com/office/drawing/2014/main" id="{E27AAD74-787E-C9C3-088E-9196268A6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259" y="925848"/>
              <a:ext cx="1544995" cy="109232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1625519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191919"/>
                </a:solidFill>
                <a:latin typeface="HelvNeue Light for IBM"/>
              </a:endParaRPr>
            </a:p>
          </p:txBody>
        </p:sp>
        <p:sp>
          <p:nvSpPr>
            <p:cNvPr id="20" name="Shape 288">
              <a:extLst>
                <a:ext uri="{FF2B5EF4-FFF2-40B4-BE49-F238E27FC236}">
                  <a16:creationId xmlns:a16="http://schemas.microsoft.com/office/drawing/2014/main" id="{63FC951D-CFEC-9F8C-AF64-2D72790D0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2259" y="2020665"/>
              <a:ext cx="1544995" cy="145046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1625519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333">
                <a:solidFill>
                  <a:srgbClr val="191919"/>
                </a:solidFill>
                <a:latin typeface="HelvNeue Light for IBM"/>
              </a:endParaRPr>
            </a:p>
          </p:txBody>
        </p:sp>
      </p:grpSp>
      <p:sp>
        <p:nvSpPr>
          <p:cNvPr id="10" name="Shape 289">
            <a:extLst>
              <a:ext uri="{FF2B5EF4-FFF2-40B4-BE49-F238E27FC236}">
                <a16:creationId xmlns:a16="http://schemas.microsoft.com/office/drawing/2014/main" id="{2DBD6EE1-853B-70AE-FB2E-D7822CA52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65" y="192703"/>
            <a:ext cx="720491" cy="217503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Problem</a:t>
            </a:r>
          </a:p>
        </p:txBody>
      </p:sp>
      <p:sp>
        <p:nvSpPr>
          <p:cNvPr id="11" name="Shape 295">
            <a:extLst>
              <a:ext uri="{FF2B5EF4-FFF2-40B4-BE49-F238E27FC236}">
                <a16:creationId xmlns:a16="http://schemas.microsoft.com/office/drawing/2014/main" id="{7009A914-0869-E535-2CF7-73A6426D0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9329" y="203461"/>
            <a:ext cx="2016958" cy="217503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Customer Segments</a:t>
            </a:r>
          </a:p>
        </p:txBody>
      </p:sp>
      <p:sp>
        <p:nvSpPr>
          <p:cNvPr id="21" name="Shape 289">
            <a:extLst>
              <a:ext uri="{FF2B5EF4-FFF2-40B4-BE49-F238E27FC236}">
                <a16:creationId xmlns:a16="http://schemas.microsoft.com/office/drawing/2014/main" id="{9A939380-5620-0B7B-9418-4F3FE2951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328" y="171428"/>
            <a:ext cx="591509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Solution</a:t>
            </a:r>
            <a:endParaRPr lang="en-US" sz="12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Light for IBM" charset="0"/>
            </a:endParaRPr>
          </a:p>
        </p:txBody>
      </p:sp>
      <p:sp>
        <p:nvSpPr>
          <p:cNvPr id="22" name="Shape 289">
            <a:extLst>
              <a:ext uri="{FF2B5EF4-FFF2-40B4-BE49-F238E27FC236}">
                <a16:creationId xmlns:a16="http://schemas.microsoft.com/office/drawing/2014/main" id="{322C0766-3810-9792-9CE9-0EB250449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677" y="171427"/>
            <a:ext cx="1922742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Unique V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alue Proposition</a:t>
            </a:r>
            <a:endParaRPr lang="en-US" sz="12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Light for IBM" charset="0"/>
            </a:endParaRPr>
          </a:p>
        </p:txBody>
      </p:sp>
      <p:sp>
        <p:nvSpPr>
          <p:cNvPr id="23" name="Shape 289">
            <a:extLst>
              <a:ext uri="{FF2B5EF4-FFF2-40B4-BE49-F238E27FC236}">
                <a16:creationId xmlns:a16="http://schemas.microsoft.com/office/drawing/2014/main" id="{696B038B-1BA8-F72F-D007-D0B67166D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259" y="196842"/>
            <a:ext cx="1508261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Unfair Advantage</a:t>
            </a:r>
          </a:p>
        </p:txBody>
      </p:sp>
      <p:sp>
        <p:nvSpPr>
          <p:cNvPr id="24" name="Shape 295">
            <a:extLst>
              <a:ext uri="{FF2B5EF4-FFF2-40B4-BE49-F238E27FC236}">
                <a16:creationId xmlns:a16="http://schemas.microsoft.com/office/drawing/2014/main" id="{559A54FD-D7F8-8D9C-D03B-6C23380EC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259" y="2084529"/>
            <a:ext cx="1701117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Channels</a:t>
            </a:r>
          </a:p>
        </p:txBody>
      </p:sp>
      <p:sp>
        <p:nvSpPr>
          <p:cNvPr id="25" name="Shape 295">
            <a:extLst>
              <a:ext uri="{FF2B5EF4-FFF2-40B4-BE49-F238E27FC236}">
                <a16:creationId xmlns:a16="http://schemas.microsoft.com/office/drawing/2014/main" id="{1982E51F-CB12-EDB3-B0B2-E4F2FF73F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8176" y="2280972"/>
            <a:ext cx="1701117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Key Metrics</a:t>
            </a:r>
          </a:p>
        </p:txBody>
      </p:sp>
      <p:sp>
        <p:nvSpPr>
          <p:cNvPr id="26" name="Shape 295">
            <a:extLst>
              <a:ext uri="{FF2B5EF4-FFF2-40B4-BE49-F238E27FC236}">
                <a16:creationId xmlns:a16="http://schemas.microsoft.com/office/drawing/2014/main" id="{C89B6C54-96CD-48BB-A76C-745F53994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65" y="4512694"/>
            <a:ext cx="2350843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Cost Structure</a:t>
            </a:r>
          </a:p>
        </p:txBody>
      </p:sp>
      <p:sp>
        <p:nvSpPr>
          <p:cNvPr id="27" name="Shape 295">
            <a:extLst>
              <a:ext uri="{FF2B5EF4-FFF2-40B4-BE49-F238E27FC236}">
                <a16:creationId xmlns:a16="http://schemas.microsoft.com/office/drawing/2014/main" id="{45D85C91-2B9F-3737-5B58-4AB26821B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1412" y="4512694"/>
            <a:ext cx="2350843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Revenue Streams </a:t>
            </a:r>
          </a:p>
        </p:txBody>
      </p:sp>
      <p:sp>
        <p:nvSpPr>
          <p:cNvPr id="3" name="Shape 289">
            <a:extLst>
              <a:ext uri="{FF2B5EF4-FFF2-40B4-BE49-F238E27FC236}">
                <a16:creationId xmlns:a16="http://schemas.microsoft.com/office/drawing/2014/main" id="{56A7D0E2-9BFB-132E-9D59-5933F911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65" y="2277078"/>
            <a:ext cx="1439497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Existing Alternatives</a:t>
            </a:r>
          </a:p>
        </p:txBody>
      </p:sp>
      <p:sp>
        <p:nvSpPr>
          <p:cNvPr id="8" name="Shape 295">
            <a:extLst>
              <a:ext uri="{FF2B5EF4-FFF2-40B4-BE49-F238E27FC236}">
                <a16:creationId xmlns:a16="http://schemas.microsoft.com/office/drawing/2014/main" id="{F77AB907-7FAD-F57B-9592-085EB5E55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290" y="2119505"/>
            <a:ext cx="1701117" cy="16619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1019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E68A35"/>
              </a:buClr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 for IBM" charset="0"/>
              </a:rPr>
              <a:t>Early Adopters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E78042-BD89-319D-B567-CFEFE4ADC638}"/>
              </a:ext>
            </a:extLst>
          </p:cNvPr>
          <p:cNvSpPr txBox="1"/>
          <p:nvPr/>
        </p:nvSpPr>
        <p:spPr>
          <a:xfrm>
            <a:off x="578619" y="292034"/>
            <a:ext cx="186095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sz="1200" dirty="0"/>
              <a:t>Accessibility to vision</a:t>
            </a:r>
            <a:br>
              <a:rPr lang="en-US" sz="1200" dirty="0"/>
            </a:br>
            <a:r>
              <a:rPr lang="en-US" sz="1200" dirty="0"/>
              <a:t>testing is difficult and</a:t>
            </a:r>
            <a:br>
              <a:rPr lang="en-US" sz="1200" dirty="0"/>
            </a:br>
            <a:r>
              <a:rPr lang="en-US" sz="1200" dirty="0"/>
              <a:t>outdated.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The existing models to</a:t>
            </a:r>
            <a:br>
              <a:rPr lang="en-US" sz="1200" dirty="0"/>
            </a:br>
            <a:r>
              <a:rPr lang="en-US" sz="1200" dirty="0"/>
              <a:t>measure eyesight</a:t>
            </a:r>
            <a:br>
              <a:rPr lang="en-US" sz="1200" dirty="0"/>
            </a:br>
            <a:r>
              <a:rPr lang="en-US" sz="1200" dirty="0"/>
              <a:t>performance are poor</a:t>
            </a:r>
            <a:br>
              <a:rPr lang="en-US" sz="1200" dirty="0"/>
            </a:br>
            <a:r>
              <a:rPr lang="en-US" sz="1200" dirty="0"/>
              <a:t>and are not predictive.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Optical telehealth is not</a:t>
            </a:r>
            <a:br>
              <a:rPr lang="en-US" sz="1200" dirty="0"/>
            </a:br>
            <a:r>
              <a:rPr lang="en-US" sz="1200" dirty="0"/>
              <a:t>accessible for routine</a:t>
            </a:r>
            <a:br>
              <a:rPr lang="en-US" sz="1200" dirty="0"/>
            </a:br>
            <a:r>
              <a:rPr lang="en-US" sz="1200" dirty="0"/>
              <a:t>health checks.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41F3A3-9CFD-8D64-F0CD-A35C1B08D1AF}"/>
              </a:ext>
            </a:extLst>
          </p:cNvPr>
          <p:cNvSpPr txBox="1"/>
          <p:nvPr/>
        </p:nvSpPr>
        <p:spPr>
          <a:xfrm>
            <a:off x="4753358" y="421399"/>
            <a:ext cx="1994649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sz="1200" dirty="0"/>
              <a:t>Accessibility to more</a:t>
            </a:r>
            <a:br>
              <a:rPr lang="en-US" sz="1200" dirty="0"/>
            </a:br>
            <a:r>
              <a:rPr lang="en-US" sz="1200" dirty="0"/>
              <a:t>routine vision testing.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Dynamic eyesight testing</a:t>
            </a:r>
            <a:br>
              <a:rPr lang="en-US" sz="1200" dirty="0"/>
            </a:br>
            <a:r>
              <a:rPr lang="en-US" sz="1200" dirty="0"/>
              <a:t>to reduce false positives.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Testing compliance and</a:t>
            </a:r>
            <a:br>
              <a:rPr lang="en-US" sz="1200" dirty="0"/>
            </a:br>
            <a:r>
              <a:rPr lang="en-US" sz="1200" dirty="0"/>
              <a:t>standardization.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Streamlined operations</a:t>
            </a:r>
            <a:br>
              <a:rPr lang="en-US" sz="1200" dirty="0"/>
            </a:br>
            <a:r>
              <a:rPr lang="en-US" sz="1200" dirty="0"/>
              <a:t>and management for</a:t>
            </a:r>
            <a:br>
              <a:rPr lang="en-US" sz="1200" dirty="0"/>
            </a:br>
            <a:r>
              <a:rPr lang="en-US" sz="1200" dirty="0"/>
              <a:t>licensing agencies.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Personalized testing for</a:t>
            </a:r>
            <a:br>
              <a:rPr lang="en-US" sz="1200" dirty="0"/>
            </a:br>
            <a:r>
              <a:rPr lang="en-US" sz="1200" dirty="0"/>
              <a:t>the individual and curated</a:t>
            </a:r>
            <a:br>
              <a:rPr lang="en-US" sz="1200" dirty="0"/>
            </a:br>
            <a:r>
              <a:rPr lang="en-US" sz="1200" dirty="0"/>
              <a:t>predictions of their</a:t>
            </a:r>
            <a:br>
              <a:rPr lang="en-US" sz="1200" dirty="0"/>
            </a:br>
            <a:r>
              <a:rPr lang="en-US" sz="1200" dirty="0"/>
              <a:t>visual health.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B2E8B4-1682-451E-0FD4-1C394777B56B}"/>
              </a:ext>
            </a:extLst>
          </p:cNvPr>
          <p:cNvSpPr txBox="1"/>
          <p:nvPr/>
        </p:nvSpPr>
        <p:spPr>
          <a:xfrm>
            <a:off x="6847354" y="408927"/>
            <a:ext cx="201446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sz="1200" dirty="0"/>
              <a:t>AI enhancements to allow</a:t>
            </a:r>
            <a:br>
              <a:rPr lang="en-US" sz="1200" dirty="0"/>
            </a:br>
            <a:r>
              <a:rPr lang="en-US" sz="1200" dirty="0"/>
              <a:t>for personalized testing</a:t>
            </a:r>
            <a:br>
              <a:rPr lang="en-US" sz="1200" dirty="0"/>
            </a:br>
            <a:r>
              <a:rPr lang="en-US" sz="1200" dirty="0"/>
              <a:t>and evaluation.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Testing pipeline to provide</a:t>
            </a:r>
            <a:br>
              <a:rPr lang="en-US" sz="1200" dirty="0"/>
            </a:br>
            <a:r>
              <a:rPr lang="en-US" sz="1200" dirty="0"/>
              <a:t>compliance checks for</a:t>
            </a:r>
            <a:br>
              <a:rPr lang="en-US" sz="1200" dirty="0"/>
            </a:br>
            <a:r>
              <a:rPr lang="en-US" sz="1200" dirty="0"/>
              <a:t>licensing agencies and </a:t>
            </a:r>
            <a:br>
              <a:rPr lang="en-US" sz="1200" dirty="0"/>
            </a:br>
            <a:r>
              <a:rPr lang="en-US" sz="1200" dirty="0"/>
              <a:t>their constituents.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262C7D-3CF8-0193-1FC4-827424D9F668}"/>
              </a:ext>
            </a:extLst>
          </p:cNvPr>
          <p:cNvSpPr txBox="1"/>
          <p:nvPr/>
        </p:nvSpPr>
        <p:spPr>
          <a:xfrm>
            <a:off x="8863868" y="406320"/>
            <a:ext cx="191885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sz="1200" dirty="0"/>
              <a:t>Healthcare Providers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FAA/Airlines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Pediatric Development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Vehicle Renting Agencies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Insurance Providers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Licensing Agencies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Lens Providers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B556F7-BD20-7143-4F31-1D53393B5BF7}"/>
              </a:ext>
            </a:extLst>
          </p:cNvPr>
          <p:cNvSpPr txBox="1"/>
          <p:nvPr/>
        </p:nvSpPr>
        <p:spPr>
          <a:xfrm>
            <a:off x="656216" y="2441692"/>
            <a:ext cx="15299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sz="1200" dirty="0"/>
              <a:t>Visibly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EyeQue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Peek Acuity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 err="1"/>
              <a:t>WHOeyes</a:t>
            </a:r>
            <a:endParaRPr lang="en-US" sz="1200" dirty="0"/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Licensing Agencies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0BDF46-8CF4-0148-CFFA-E5250A4C74C4}"/>
              </a:ext>
            </a:extLst>
          </p:cNvPr>
          <p:cNvSpPr txBox="1"/>
          <p:nvPr/>
        </p:nvSpPr>
        <p:spPr>
          <a:xfrm>
            <a:off x="2657999" y="2441692"/>
            <a:ext cx="627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sz="1200" dirty="0"/>
              <a:t>One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Two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1EF86E-6A6A-ED88-7C36-DF151D851DFE}"/>
              </a:ext>
            </a:extLst>
          </p:cNvPr>
          <p:cNvSpPr txBox="1"/>
          <p:nvPr/>
        </p:nvSpPr>
        <p:spPr>
          <a:xfrm>
            <a:off x="6847354" y="2285704"/>
            <a:ext cx="19421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sz="1200" dirty="0"/>
              <a:t>Pilot medical examiners</a:t>
            </a:r>
            <a:br>
              <a:rPr lang="en-US" sz="1200" dirty="0"/>
            </a:br>
            <a:r>
              <a:rPr lang="en-US" sz="1200" dirty="0"/>
              <a:t>and airline safety teams.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School nurses and </a:t>
            </a:r>
            <a:br>
              <a:rPr lang="en-US" sz="1200" dirty="0"/>
            </a:br>
            <a:r>
              <a:rPr lang="en-US" sz="1200" dirty="0"/>
              <a:t>pediatric offices.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Insurer member apps</a:t>
            </a:r>
            <a:br>
              <a:rPr lang="en-US" sz="1200" dirty="0"/>
            </a:br>
            <a:r>
              <a:rPr lang="en-US" sz="1200" dirty="0"/>
              <a:t>and auto telematics</a:t>
            </a:r>
            <a:br>
              <a:rPr lang="en-US" sz="1200" dirty="0"/>
            </a:br>
            <a:r>
              <a:rPr lang="en-US" sz="1200" dirty="0"/>
              <a:t>programs.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Free “Will I pass my DMV</a:t>
            </a:r>
            <a:br>
              <a:rPr lang="en-US" sz="1200" dirty="0"/>
            </a:br>
            <a:r>
              <a:rPr lang="en-US" sz="1200" dirty="0"/>
              <a:t>eye test?” checker.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Rental app check-in.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D52E6E-1ACD-D323-C97A-65CD771AE9F9}"/>
              </a:ext>
            </a:extLst>
          </p:cNvPr>
          <p:cNvSpPr txBox="1"/>
          <p:nvPr/>
        </p:nvSpPr>
        <p:spPr>
          <a:xfrm>
            <a:off x="8906778" y="2290295"/>
            <a:ext cx="19188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sz="1200" dirty="0"/>
              <a:t>Insurance Providers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Individual Users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Vehicle Renting Agencies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Pediatric 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1A3C0-AF09-E4D4-1936-125C49E4B8B2}"/>
              </a:ext>
            </a:extLst>
          </p:cNvPr>
          <p:cNvSpPr txBox="1"/>
          <p:nvPr/>
        </p:nvSpPr>
        <p:spPr>
          <a:xfrm>
            <a:off x="2699548" y="363685"/>
            <a:ext cx="1542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sz="1200" dirty="0"/>
              <a:t>App to Test Vision</a:t>
            </a:r>
          </a:p>
          <a:p>
            <a:pPr marL="180975" indent="-180975">
              <a:buFont typeface="+mj-lt"/>
              <a:buAutoNum type="arabicPeriod"/>
            </a:pPr>
            <a:r>
              <a:rPr lang="en-US" sz="1200" dirty="0"/>
              <a:t>AI enhanced vision</a:t>
            </a:r>
            <a:br>
              <a:rPr lang="en-US" sz="1200" dirty="0"/>
            </a:br>
            <a:r>
              <a:rPr lang="en-US" sz="1200" dirty="0"/>
              <a:t>testing.</a:t>
            </a:r>
          </a:p>
        </p:txBody>
      </p:sp>
    </p:spTree>
    <p:extLst>
      <p:ext uri="{BB962C8B-B14F-4D97-AF65-F5344CB8AC3E}">
        <p14:creationId xmlns:p14="http://schemas.microsoft.com/office/powerpoint/2010/main" val="258001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278</Words>
  <Application>Microsoft Macintosh PowerPoint</Application>
  <PresentationFormat>Widescreen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HelvNeue Light for IBM</vt:lpstr>
      <vt:lpstr>Arial</vt:lpstr>
      <vt:lpstr>Calibri</vt:lpstr>
      <vt:lpstr>Calibri Light</vt:lpstr>
      <vt:lpstr>Open Sans</vt:lpstr>
      <vt:lpstr>Office Theme</vt:lpstr>
      <vt:lpstr>Focal (Technologies)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&lt;Company Name&gt;</dc:title>
  <dc:creator>Richard Thomas, M.B.A.</dc:creator>
  <cp:lastModifiedBy>Haydn Stucker</cp:lastModifiedBy>
  <cp:revision>11</cp:revision>
  <dcterms:created xsi:type="dcterms:W3CDTF">2022-09-15T01:13:56Z</dcterms:created>
  <dcterms:modified xsi:type="dcterms:W3CDTF">2026-09-24T01:46:54Z</dcterms:modified>
</cp:coreProperties>
</file>