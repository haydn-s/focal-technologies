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944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from Part 2A and 2B. OUR LIST = the six competitors we listed before using any AI: Snellen chart, the traditional comprehensive eye exam, Visibly, EyeQue, Peek Acuity, and WHOeyes. FROM AI = new names the AI's list surfaced: school screening programs, licensing-agency vision tests, employer/work qualification testing, and airline vision qualification testing. AI MISSED = Spot Vision Screener, which we added during fact-checking. Fact-checks against company websites and recent news: Visibly offers an FDA-cleared digital vision test by phone or computer so eye-care professionals can remotely review results and renew prescriptions; the AI missed that it cannot replace a comprehensive clinical exam or diagnose ocular disease such as glaucoma or macular degeneration, and is limited to routine renewals for eligible patients. EyeQue sells smartphone-attached optical hardware (refractometers) and apps for at-home refractive testing; the AI omitted that the hardware adds cost and friction compared with pure software or telehealth. Peek Acuity is a mobile app for rapid acuity screening in low-resource communities and schools; the AI failed to say it is strictly a screening and referral tool that cannot issue prescriptions. Spot Vision Screener (added) is a handheld device clinics and schools use to screen for risk factors like amblyopia, myopia, and astigmatism; it requires expensive hardware and trained staff and lacks direct-to-consumer access. Summary: none of these competitors can replace a true diagnostic tool, so each platform's results are a point of reference rather than something more meaningful. Required hardware strips away convenience because users need more assets at their disposal. None offers personalized testing with AI; Focal provides personalized testing and eye-health predictions, giving users a custom examination and a personal measure of their optical health and its trajectory.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from Part 3C (graded version). We kept the AI's axes — Accessibility and Efficiency (x) and Assessment Capability and Depth (y) — because they match the dimensions we drafted in pre-work and reflect the convenience-versus-depth tradeoff from 3A. We kept all 10 AI-identified competitors plus Spot Vision Screener, and made three moves. EyeQue moved down and slightly left: EyeQue states its products do not include any form of eye health exam, and it is registered with the FDA as a Class I device exempt from 510(k) review rather than cleared through it; it measures only acuity and refractive error, and the phone-mounted hardware users must buy lowers accessibility. Visibly moved left and down a little: it received FDA 510(k) clearance in 2022 as the first online visual acuity test, but that clearance limits it to adults 22 to 40, it is meant for renewing existing prescriptions, and some states restrict online eye exams; we placed it below EyeQue on depth because it only offers a self-administered acuity test. The Snellen chart moved right: printed charts are inexpensive, widely available, and need no appointment or special equipment, while depth stays low because it only measures acuity. Finally, we added Focal's target position in the top right. No current competitor is both highly accessible and comprehensive — the gap Focal aims to fill through app-based, dynamic testing — and most at-home tools aren't designed for the standardized, organization-ready testing that licensing agencies, airlines, and rental companies need.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from Part 4A — the AI-generated SWOT (unedited content, condensed for the slide). The AI chose EyeQue as the leader. Strengths: combines at-home access with acuity testing and refractive-error estimation; more depth than WHOeyes and Peek Acuity; self-administered testing addresses unnecessary clinic visits. Weaknesses: specialized phone-mounted hardware adds cost and setup friction; less comprehensive than an in-person exam and doesn't solve the disease-diagnosis gap; less evidence of institutional or regulatory acceptance than Visibly or traditional qualification testing. Opportunities: broader measures beyond acuity and refractive error; stronger longitudinal tracking; standardized workflows for organizations. Threats: Visibly can compete on remote convenience with clinician review and stronger regulatory credibility; comprehensive exams remain the reference; Spot and institutional programs may be preferred where organizations value dedicated hardware and controlled workflows. AI's view: EyeQue reduces access friction without collapsing to acuity alone, but its depth comes from added hardware rather than a fully software-based, institution-ready workflow. Our corrections (4B): we chose Visibly for our own SWOT; FDA approval is not an all-encompassing umbrella — Visibly's clearance is limited to ages 22 to 40, a sweet spot where eye-related issues are least common, so it is less groundbreaking than total clearance; and the AI did not mention the pushback services like Visibly and EyeQue are getting from optometry specialists around the country.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from Part 4B — our own SWOT (no AI for the judgments), competitor: Visibly, a different pick from the AI's leader (EyeQue). Strengths: remote and convenient; an FDA-cleared acuity test; a nationwide network of licensed eye-care providers. Weaknesses: test scope limited mainly to acuity and prescription renewal; needs clinician review; intended for adults and FDA-cleared only for the 22 to 40 age range; at-home conditions may differ from test to test; reliant on retail and licensed-provider partners. Where we corrected the AI: FDA approval is not an all-encompassing umbrella. The clearance Visibly or any current solution has is limited to ages 22 to 40, a sweet spot where eye-related issues are least common, so it is less groundbreaking and impressive than total clearance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from Part 4B — our own SWOT of Visibly, continued: the strategic direction. Opportunities (where the problem remains unsolved): broader vision testing; tracking over time; regulated screening; partnerships with retailers, contact-lens sellers, employers, and insurers; expansion of in-store testing that does not require professional staff. Threats: Visibly expands into broader vision testing; large eye-care companies build similar digital tools; clinics or regulators do not trust remote results; privacy or cybersecurity issues with stored sensitive healthcare data; opposition from optometry specialists and lobbyists (BigOpto). Where we corrected the AI: the AI did not mention any of the pushback services like Visibly and EyeQue are getting from optometry specialists around the country.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from Part 5C (graded version). Our final matrix covers 8 competitors across 17 criteria in four categories. Cost and Time is new relative to the AI's matrix: Affordability and Turnaround time come from our own starting attributes, and Speed/convenience moved there. Licensing-agency and employer/work-qualification tests were removed because they are testing contexts rather than distinct products or providers, and their procedures commonly use tools already in the matrix. No criteria were removed. Affordability and turnaround time for school-screening and airline programs vary by jurisdiction, so treat those scores as approximate. The 18 changes (AI to ours) and evidence: Visibly — broader screening ◔ to ○, depth ◐ to ◔, regulatory readiness ◕ to ◐, school scalability ◔ to ○: its FDA-cleared product assesses acuity only and does not screen for or diagnose eye disease; only VDAP is cleared and full refraction is 'coming soon'; VDAP is for adults 22 to 40 and the service needs an existing prescription (FDA 510(k) summary; Visibly). EyeQue — accessibility ● to ◕, turnaround ● to ◕, depth ◕ to ◐: VERAI needs a compatible phone and $129 proprietary hardware; the measurement takes about 15 minutes but a licensed provider must review before a prescription; it does not evaluate glaucoma, cataracts, retinal disease, or ocular health (EyeQue VERAI). Peek Acuity — low professional involvement ◕ to ●, broader screening ◔ to ○, longitudinal tracking ◔ to ○, depth ◐ to ◔, direct-to-consumer ◐ to ◔: no licensed professional needed but another person must administer it; distance acuity only; the standalone app displays but does not record results; it does not replace an eye-care professional; free but Android-only (Peek). WHOeyes — standardization ◐ to ◕, broader screening ◔ to ○, depth ◐ to ◔: a standardized tumbling-E test evaluated in three studies against ETDRS, but distance control is manual on Android; it does not detect peripheral defects; no refraction or eye-health exam (WHO). School screening — standardization ◕ to ◐, depth ◐ to ◔: programs vary by jurisdiction, equipment, and training, with false-result risks; screening identifies who needs referral and is not a diagnosis (WHO handbook). Airline qualification — refractive-error capability ◐ to ○: FAA testing checks acuity thresholds and does not perform refraction or calculate a prescription (FAA medical standards).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8359117"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No competitor replaces a true diagnostic tool</a:t>
            </a:r>
            <a:endParaRPr lang="en-US" sz="3000" dirty="0"/>
          </a:p>
        </p:txBody>
      </p:sp>
      <p:sp>
        <p:nvSpPr>
          <p:cNvPr id="3" name="Shape 1"/>
          <p:cNvSpPr/>
          <p:nvPr/>
        </p:nvSpPr>
        <p:spPr>
          <a:xfrm>
            <a:off x="9750723" y="812800"/>
            <a:ext cx="1628477"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9801523" y="863600"/>
            <a:ext cx="228600" cy="228600"/>
          </a:xfrm>
          <a:prstGeom prst="rect">
            <a:avLst/>
          </a:prstGeom>
        </p:spPr>
      </p:pic>
      <p:sp>
        <p:nvSpPr>
          <p:cNvPr id="5" name="Text 2"/>
          <p:cNvSpPr/>
          <p:nvPr/>
        </p:nvSpPr>
        <p:spPr>
          <a:xfrm>
            <a:off x="10093623" y="886470"/>
            <a:ext cx="1209377"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1 · 2A + 2B</a:t>
            </a:r>
            <a:endParaRPr lang="en-US" sz="1200" dirty="0"/>
          </a:p>
        </p:txBody>
      </p:sp>
      <p:sp>
        <p:nvSpPr>
          <p:cNvPr id="6" name="Shape 3"/>
          <p:cNvSpPr/>
          <p:nvPr/>
        </p:nvSpPr>
        <p:spPr>
          <a:xfrm>
            <a:off x="815975" y="1489075"/>
            <a:ext cx="2787650" cy="4417814"/>
          </a:xfrm>
          <a:prstGeom prst="roundRect">
            <a:avLst>
              <a:gd name="adj" fmla="val 4442"/>
            </a:avLst>
          </a:prstGeom>
          <a:solidFill>
            <a:srgbClr val="FBFCFE"/>
          </a:solidFill>
          <a:ln w="6350">
            <a:solidFill>
              <a:srgbClr val="D9DFEA"/>
            </a:solidFill>
            <a:prstDash val="solid"/>
          </a:ln>
        </p:spPr>
        <p:txBody>
          <a:bodyPr/>
          <a:lstStyle/>
          <a:p>
            <a:endParaRPr lang="en-US"/>
          </a:p>
        </p:txBody>
      </p:sp>
      <p:sp>
        <p:nvSpPr>
          <p:cNvPr id="7" name="Text 4"/>
          <p:cNvSpPr/>
          <p:nvPr/>
        </p:nvSpPr>
        <p:spPr>
          <a:xfrm>
            <a:off x="971550" y="1644650"/>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AAE"/>
                </a:solidFill>
                <a:latin typeface="IBM Plex Sans" pitchFamily="34" charset="0"/>
                <a:ea typeface="IBM Plex Sans" pitchFamily="34" charset="-122"/>
                <a:cs typeface="IBM Plex Sans" pitchFamily="34" charset="-120"/>
              </a:rPr>
              <a:t>11 COMPETITORS</a:t>
            </a:r>
            <a:endParaRPr lang="en-US" sz="1200" dirty="0"/>
          </a:p>
        </p:txBody>
      </p:sp>
      <p:pic>
        <p:nvPicPr>
          <p:cNvPr id="8" name="Image 1" descr="preencoded.png"/>
          <p:cNvPicPr>
            <a:picLocks noChangeAspect="1"/>
          </p:cNvPicPr>
          <p:nvPr/>
        </p:nvPicPr>
        <p:blipFill>
          <a:blip r:embed="rId4"/>
          <a:srcRect/>
          <a:stretch/>
        </p:blipFill>
        <p:spPr>
          <a:xfrm>
            <a:off x="971550" y="1982391"/>
            <a:ext cx="101600" cy="101600"/>
          </a:xfrm>
          <a:prstGeom prst="rect">
            <a:avLst/>
          </a:prstGeom>
        </p:spPr>
      </p:pic>
      <p:sp>
        <p:nvSpPr>
          <p:cNvPr id="9" name="Text 5"/>
          <p:cNvSpPr/>
          <p:nvPr/>
        </p:nvSpPr>
        <p:spPr>
          <a:xfrm>
            <a:off x="1123950" y="1934170"/>
            <a:ext cx="543371" cy="223490"/>
          </a:xfrm>
          <a:prstGeom prst="rect">
            <a:avLst/>
          </a:prstGeom>
          <a:noFill/>
          <a:ln/>
        </p:spPr>
        <p:txBody>
          <a:bodyPr wrap="non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Our list</a:t>
            </a:r>
            <a:endParaRPr lang="en-US" sz="1200" dirty="0"/>
          </a:p>
        </p:txBody>
      </p:sp>
      <p:pic>
        <p:nvPicPr>
          <p:cNvPr id="10" name="Image 2" descr="preencoded.png"/>
          <p:cNvPicPr>
            <a:picLocks noChangeAspect="1"/>
          </p:cNvPicPr>
          <p:nvPr/>
        </p:nvPicPr>
        <p:blipFill>
          <a:blip r:embed="rId5"/>
          <a:srcRect/>
          <a:stretch/>
        </p:blipFill>
        <p:spPr>
          <a:xfrm>
            <a:off x="1616521" y="1982391"/>
            <a:ext cx="101600" cy="101600"/>
          </a:xfrm>
          <a:prstGeom prst="rect">
            <a:avLst/>
          </a:prstGeom>
        </p:spPr>
      </p:pic>
      <p:sp>
        <p:nvSpPr>
          <p:cNvPr id="11" name="Text 6"/>
          <p:cNvSpPr/>
          <p:nvPr/>
        </p:nvSpPr>
        <p:spPr>
          <a:xfrm>
            <a:off x="1768921" y="1934170"/>
            <a:ext cx="601117" cy="223490"/>
          </a:xfrm>
          <a:prstGeom prst="rect">
            <a:avLst/>
          </a:prstGeom>
          <a:noFill/>
          <a:ln/>
        </p:spPr>
        <p:txBody>
          <a:bodyPr wrap="non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From AI</a:t>
            </a:r>
            <a:endParaRPr lang="en-US" sz="1200" dirty="0"/>
          </a:p>
        </p:txBody>
      </p:sp>
      <p:pic>
        <p:nvPicPr>
          <p:cNvPr id="12" name="Image 3" descr="preencoded.png"/>
          <p:cNvPicPr>
            <a:picLocks noChangeAspect="1"/>
          </p:cNvPicPr>
          <p:nvPr/>
        </p:nvPicPr>
        <p:blipFill>
          <a:blip r:embed="rId6"/>
          <a:srcRect/>
          <a:stretch/>
        </p:blipFill>
        <p:spPr>
          <a:xfrm>
            <a:off x="2319238" y="1982391"/>
            <a:ext cx="101600" cy="101600"/>
          </a:xfrm>
          <a:prstGeom prst="rect">
            <a:avLst/>
          </a:prstGeom>
        </p:spPr>
      </p:pic>
      <p:sp>
        <p:nvSpPr>
          <p:cNvPr id="13" name="Text 7"/>
          <p:cNvSpPr/>
          <p:nvPr/>
        </p:nvSpPr>
        <p:spPr>
          <a:xfrm>
            <a:off x="2471638" y="1934170"/>
            <a:ext cx="736154" cy="223490"/>
          </a:xfrm>
          <a:prstGeom prst="rect">
            <a:avLst/>
          </a:prstGeom>
          <a:noFill/>
          <a:ln/>
        </p:spPr>
        <p:txBody>
          <a:bodyPr wrap="non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AI missed</a:t>
            </a:r>
            <a:endParaRPr lang="en-US" sz="1200" dirty="0"/>
          </a:p>
        </p:txBody>
      </p:sp>
      <p:sp>
        <p:nvSpPr>
          <p:cNvPr id="14" name="Text 8"/>
          <p:cNvSpPr/>
          <p:nvPr/>
        </p:nvSpPr>
        <p:spPr>
          <a:xfrm>
            <a:off x="971550" y="2259261"/>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A82"/>
                </a:solidFill>
                <a:latin typeface="IBM Plex Sans" pitchFamily="34" charset="0"/>
                <a:ea typeface="IBM Plex Sans" pitchFamily="34" charset="-122"/>
                <a:cs typeface="IBM Plex Sans" pitchFamily="34" charset="-120"/>
              </a:rPr>
              <a:t>CLINICAL &amp; IN-PERSON</a:t>
            </a:r>
            <a:endParaRPr lang="en-US" sz="1200" dirty="0"/>
          </a:p>
        </p:txBody>
      </p:sp>
      <p:pic>
        <p:nvPicPr>
          <p:cNvPr id="15" name="Image 4" descr="preencoded.png"/>
          <p:cNvPicPr>
            <a:picLocks noChangeAspect="1"/>
          </p:cNvPicPr>
          <p:nvPr/>
        </p:nvPicPr>
        <p:blipFill>
          <a:blip r:embed="rId4"/>
          <a:srcRect/>
          <a:stretch/>
        </p:blipFill>
        <p:spPr>
          <a:xfrm>
            <a:off x="971550" y="2558901"/>
            <a:ext cx="101600" cy="101600"/>
          </a:xfrm>
          <a:prstGeom prst="rect">
            <a:avLst/>
          </a:prstGeom>
        </p:spPr>
      </p:pic>
      <p:sp>
        <p:nvSpPr>
          <p:cNvPr id="16" name="Text 9"/>
          <p:cNvSpPr/>
          <p:nvPr/>
        </p:nvSpPr>
        <p:spPr>
          <a:xfrm>
            <a:off x="1149350" y="2510681"/>
            <a:ext cx="1839465"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Comprehensive eye exam</a:t>
            </a:r>
            <a:endParaRPr lang="en-US" sz="1200" dirty="0"/>
          </a:p>
        </p:txBody>
      </p:sp>
      <p:pic>
        <p:nvPicPr>
          <p:cNvPr id="17" name="Image 5" descr="preencoded.png"/>
          <p:cNvPicPr>
            <a:picLocks noChangeAspect="1"/>
          </p:cNvPicPr>
          <p:nvPr/>
        </p:nvPicPr>
        <p:blipFill>
          <a:blip r:embed="rId4"/>
          <a:srcRect/>
          <a:stretch/>
        </p:blipFill>
        <p:spPr>
          <a:xfrm>
            <a:off x="971550" y="2795091"/>
            <a:ext cx="101600" cy="101600"/>
          </a:xfrm>
          <a:prstGeom prst="rect">
            <a:avLst/>
          </a:prstGeom>
        </p:spPr>
      </p:pic>
      <p:sp>
        <p:nvSpPr>
          <p:cNvPr id="18" name="Text 10"/>
          <p:cNvSpPr/>
          <p:nvPr/>
        </p:nvSpPr>
        <p:spPr>
          <a:xfrm>
            <a:off x="1149350" y="2746871"/>
            <a:ext cx="9740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Snellen chart</a:t>
            </a:r>
            <a:endParaRPr lang="en-US" sz="1200" dirty="0"/>
          </a:p>
        </p:txBody>
      </p:sp>
      <p:pic>
        <p:nvPicPr>
          <p:cNvPr id="19" name="Image 6" descr="preencoded.png"/>
          <p:cNvPicPr>
            <a:picLocks noChangeAspect="1"/>
          </p:cNvPicPr>
          <p:nvPr/>
        </p:nvPicPr>
        <p:blipFill>
          <a:blip r:embed="rId6"/>
          <a:srcRect/>
          <a:stretch/>
        </p:blipFill>
        <p:spPr>
          <a:xfrm>
            <a:off x="971550" y="3031282"/>
            <a:ext cx="101600" cy="101600"/>
          </a:xfrm>
          <a:prstGeom prst="rect">
            <a:avLst/>
          </a:prstGeom>
        </p:spPr>
      </p:pic>
      <p:sp>
        <p:nvSpPr>
          <p:cNvPr id="20" name="Text 11"/>
          <p:cNvSpPr/>
          <p:nvPr/>
        </p:nvSpPr>
        <p:spPr>
          <a:xfrm>
            <a:off x="1149350" y="2983061"/>
            <a:ext cx="149755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Spot Vision Screener</a:t>
            </a:r>
            <a:endParaRPr lang="en-US" sz="1200" dirty="0"/>
          </a:p>
        </p:txBody>
      </p:sp>
      <p:sp>
        <p:nvSpPr>
          <p:cNvPr id="21" name="Text 12"/>
          <p:cNvSpPr/>
          <p:nvPr/>
        </p:nvSpPr>
        <p:spPr>
          <a:xfrm>
            <a:off x="971550" y="3308152"/>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A82"/>
                </a:solidFill>
                <a:latin typeface="IBM Plex Sans" pitchFamily="34" charset="0"/>
                <a:ea typeface="IBM Plex Sans" pitchFamily="34" charset="-122"/>
                <a:cs typeface="IBM Plex Sans" pitchFamily="34" charset="-120"/>
              </a:rPr>
              <a:t>AT-HOME &amp; DIGITAL</a:t>
            </a:r>
            <a:endParaRPr lang="en-US" sz="1200" dirty="0"/>
          </a:p>
        </p:txBody>
      </p:sp>
      <p:pic>
        <p:nvPicPr>
          <p:cNvPr id="22" name="Image 7" descr="preencoded.png"/>
          <p:cNvPicPr>
            <a:picLocks noChangeAspect="1"/>
          </p:cNvPicPr>
          <p:nvPr/>
        </p:nvPicPr>
        <p:blipFill>
          <a:blip r:embed="rId4"/>
          <a:srcRect/>
          <a:stretch/>
        </p:blipFill>
        <p:spPr>
          <a:xfrm>
            <a:off x="971550" y="3607792"/>
            <a:ext cx="101600" cy="101600"/>
          </a:xfrm>
          <a:prstGeom prst="rect">
            <a:avLst/>
          </a:prstGeom>
        </p:spPr>
      </p:pic>
      <p:sp>
        <p:nvSpPr>
          <p:cNvPr id="23" name="Text 13"/>
          <p:cNvSpPr/>
          <p:nvPr/>
        </p:nvSpPr>
        <p:spPr>
          <a:xfrm>
            <a:off x="1149350" y="3559572"/>
            <a:ext cx="51325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Visibly</a:t>
            </a:r>
            <a:endParaRPr lang="en-US" sz="1200" dirty="0"/>
          </a:p>
        </p:txBody>
      </p:sp>
      <p:pic>
        <p:nvPicPr>
          <p:cNvPr id="24" name="Image 8" descr="preencoded.png"/>
          <p:cNvPicPr>
            <a:picLocks noChangeAspect="1"/>
          </p:cNvPicPr>
          <p:nvPr/>
        </p:nvPicPr>
        <p:blipFill>
          <a:blip r:embed="rId4"/>
          <a:srcRect/>
          <a:stretch/>
        </p:blipFill>
        <p:spPr>
          <a:xfrm>
            <a:off x="971550" y="3843982"/>
            <a:ext cx="101600" cy="101600"/>
          </a:xfrm>
          <a:prstGeom prst="rect">
            <a:avLst/>
          </a:prstGeom>
        </p:spPr>
      </p:pic>
      <p:sp>
        <p:nvSpPr>
          <p:cNvPr id="25" name="Text 14"/>
          <p:cNvSpPr/>
          <p:nvPr/>
        </p:nvSpPr>
        <p:spPr>
          <a:xfrm>
            <a:off x="1149350" y="3795762"/>
            <a:ext cx="58429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EyeQue</a:t>
            </a:r>
            <a:endParaRPr lang="en-US" sz="1200" dirty="0"/>
          </a:p>
        </p:txBody>
      </p:sp>
      <p:pic>
        <p:nvPicPr>
          <p:cNvPr id="26" name="Image 9" descr="preencoded.png"/>
          <p:cNvPicPr>
            <a:picLocks noChangeAspect="1"/>
          </p:cNvPicPr>
          <p:nvPr/>
        </p:nvPicPr>
        <p:blipFill>
          <a:blip r:embed="rId4"/>
          <a:srcRect/>
          <a:stretch/>
        </p:blipFill>
        <p:spPr>
          <a:xfrm>
            <a:off x="971550" y="4080173"/>
            <a:ext cx="101600" cy="101600"/>
          </a:xfrm>
          <a:prstGeom prst="rect">
            <a:avLst/>
          </a:prstGeom>
        </p:spPr>
      </p:pic>
      <p:sp>
        <p:nvSpPr>
          <p:cNvPr id="27" name="Text 15"/>
          <p:cNvSpPr/>
          <p:nvPr/>
        </p:nvSpPr>
        <p:spPr>
          <a:xfrm>
            <a:off x="1149350" y="4031952"/>
            <a:ext cx="87277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Peek Acuity</a:t>
            </a:r>
            <a:endParaRPr lang="en-US" sz="1200" dirty="0"/>
          </a:p>
        </p:txBody>
      </p:sp>
      <p:pic>
        <p:nvPicPr>
          <p:cNvPr id="28" name="Image 10" descr="preencoded.png"/>
          <p:cNvPicPr>
            <a:picLocks noChangeAspect="1"/>
          </p:cNvPicPr>
          <p:nvPr/>
        </p:nvPicPr>
        <p:blipFill>
          <a:blip r:embed="rId4"/>
          <a:srcRect/>
          <a:stretch/>
        </p:blipFill>
        <p:spPr>
          <a:xfrm>
            <a:off x="971550" y="4316363"/>
            <a:ext cx="101600" cy="101600"/>
          </a:xfrm>
          <a:prstGeom prst="rect">
            <a:avLst/>
          </a:prstGeom>
        </p:spPr>
      </p:pic>
      <p:sp>
        <p:nvSpPr>
          <p:cNvPr id="29" name="Text 16"/>
          <p:cNvSpPr/>
          <p:nvPr/>
        </p:nvSpPr>
        <p:spPr>
          <a:xfrm>
            <a:off x="1149350" y="4268143"/>
            <a:ext cx="729903"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WHOeyes</a:t>
            </a:r>
            <a:endParaRPr lang="en-US" sz="1200" dirty="0"/>
          </a:p>
        </p:txBody>
      </p:sp>
      <p:sp>
        <p:nvSpPr>
          <p:cNvPr id="30" name="Text 17"/>
          <p:cNvSpPr/>
          <p:nvPr/>
        </p:nvSpPr>
        <p:spPr>
          <a:xfrm>
            <a:off x="971550" y="4593233"/>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A82"/>
                </a:solidFill>
                <a:latin typeface="IBM Plex Sans" pitchFamily="34" charset="0"/>
                <a:ea typeface="IBM Plex Sans" pitchFamily="34" charset="-122"/>
                <a:cs typeface="IBM Plex Sans" pitchFamily="34" charset="-120"/>
              </a:rPr>
              <a:t>INSTITUTIONAL SCREENING</a:t>
            </a:r>
            <a:endParaRPr lang="en-US" sz="1200" dirty="0"/>
          </a:p>
        </p:txBody>
      </p:sp>
      <p:pic>
        <p:nvPicPr>
          <p:cNvPr id="31" name="Image 11" descr="preencoded.png"/>
          <p:cNvPicPr>
            <a:picLocks noChangeAspect="1"/>
          </p:cNvPicPr>
          <p:nvPr/>
        </p:nvPicPr>
        <p:blipFill>
          <a:blip r:embed="rId5"/>
          <a:srcRect/>
          <a:stretch/>
        </p:blipFill>
        <p:spPr>
          <a:xfrm>
            <a:off x="971550" y="4892873"/>
            <a:ext cx="101600" cy="101600"/>
          </a:xfrm>
          <a:prstGeom prst="rect">
            <a:avLst/>
          </a:prstGeom>
        </p:spPr>
      </p:pic>
      <p:sp>
        <p:nvSpPr>
          <p:cNvPr id="32" name="Text 18"/>
          <p:cNvSpPr/>
          <p:nvPr/>
        </p:nvSpPr>
        <p:spPr>
          <a:xfrm>
            <a:off x="1149350" y="4844653"/>
            <a:ext cx="1945237"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School screening programs</a:t>
            </a:r>
            <a:endParaRPr lang="en-US" sz="1200" dirty="0"/>
          </a:p>
        </p:txBody>
      </p:sp>
      <p:pic>
        <p:nvPicPr>
          <p:cNvPr id="33" name="Image 12" descr="preencoded.png"/>
          <p:cNvPicPr>
            <a:picLocks noChangeAspect="1"/>
          </p:cNvPicPr>
          <p:nvPr/>
        </p:nvPicPr>
        <p:blipFill>
          <a:blip r:embed="rId5"/>
          <a:srcRect/>
          <a:stretch/>
        </p:blipFill>
        <p:spPr>
          <a:xfrm>
            <a:off x="971550" y="5129064"/>
            <a:ext cx="101600" cy="101600"/>
          </a:xfrm>
          <a:prstGeom prst="rect">
            <a:avLst/>
          </a:prstGeom>
        </p:spPr>
      </p:pic>
      <p:sp>
        <p:nvSpPr>
          <p:cNvPr id="34" name="Text 19"/>
          <p:cNvSpPr/>
          <p:nvPr/>
        </p:nvSpPr>
        <p:spPr>
          <a:xfrm>
            <a:off x="1149350" y="5080843"/>
            <a:ext cx="1640483"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Licensing-agency tests</a:t>
            </a:r>
            <a:endParaRPr lang="en-US" sz="1200" dirty="0"/>
          </a:p>
        </p:txBody>
      </p:sp>
      <p:pic>
        <p:nvPicPr>
          <p:cNvPr id="35" name="Image 13" descr="preencoded.png"/>
          <p:cNvPicPr>
            <a:picLocks noChangeAspect="1"/>
          </p:cNvPicPr>
          <p:nvPr/>
        </p:nvPicPr>
        <p:blipFill>
          <a:blip r:embed="rId5"/>
          <a:srcRect/>
          <a:stretch/>
        </p:blipFill>
        <p:spPr>
          <a:xfrm>
            <a:off x="971550" y="5365254"/>
            <a:ext cx="101600" cy="101600"/>
          </a:xfrm>
          <a:prstGeom prst="rect">
            <a:avLst/>
          </a:prstGeom>
        </p:spPr>
      </p:pic>
      <p:sp>
        <p:nvSpPr>
          <p:cNvPr id="36" name="Text 20"/>
          <p:cNvSpPr/>
          <p:nvPr/>
        </p:nvSpPr>
        <p:spPr>
          <a:xfrm>
            <a:off x="1149350" y="5317034"/>
            <a:ext cx="21129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Employer / work qualification</a:t>
            </a:r>
            <a:endParaRPr lang="en-US" sz="1200" dirty="0"/>
          </a:p>
        </p:txBody>
      </p:sp>
      <p:pic>
        <p:nvPicPr>
          <p:cNvPr id="37" name="Image 14" descr="preencoded.png"/>
          <p:cNvPicPr>
            <a:picLocks noChangeAspect="1"/>
          </p:cNvPicPr>
          <p:nvPr/>
        </p:nvPicPr>
        <p:blipFill>
          <a:blip r:embed="rId5"/>
          <a:srcRect/>
          <a:stretch/>
        </p:blipFill>
        <p:spPr>
          <a:xfrm>
            <a:off x="971550" y="5601444"/>
            <a:ext cx="101600" cy="101600"/>
          </a:xfrm>
          <a:prstGeom prst="rect">
            <a:avLst/>
          </a:prstGeom>
        </p:spPr>
      </p:pic>
      <p:sp>
        <p:nvSpPr>
          <p:cNvPr id="38" name="Text 21"/>
          <p:cNvSpPr/>
          <p:nvPr/>
        </p:nvSpPr>
        <p:spPr>
          <a:xfrm>
            <a:off x="1149350" y="5553224"/>
            <a:ext cx="179352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0E1B3D"/>
                </a:solidFill>
                <a:latin typeface="IBM Plex Sans" pitchFamily="34" charset="0"/>
                <a:ea typeface="IBM Plex Sans" pitchFamily="34" charset="-122"/>
                <a:cs typeface="IBM Plex Sans" pitchFamily="34" charset="-120"/>
              </a:rPr>
              <a:t>Airline qualification tests</a:t>
            </a:r>
            <a:endParaRPr lang="en-US" sz="1200" dirty="0"/>
          </a:p>
        </p:txBody>
      </p:sp>
      <p:sp>
        <p:nvSpPr>
          <p:cNvPr id="39" name="Text 22"/>
          <p:cNvSpPr/>
          <p:nvPr/>
        </p:nvSpPr>
        <p:spPr>
          <a:xfrm>
            <a:off x="3911600" y="1485900"/>
            <a:ext cx="769162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521A"/>
                </a:solidFill>
                <a:latin typeface="IBM Plex Sans" pitchFamily="34" charset="0"/>
                <a:ea typeface="IBM Plex Sans" pitchFamily="34" charset="-122"/>
                <a:cs typeface="IBM Plex Sans" pitchFamily="34" charset="-120"/>
              </a:rPr>
              <a:t>DISCREPANCIES AND ADDITIONS FROM FACT-CHECKING</a:t>
            </a:r>
            <a:endParaRPr lang="en-US" sz="1200" dirty="0"/>
          </a:p>
        </p:txBody>
      </p:sp>
      <p:sp>
        <p:nvSpPr>
          <p:cNvPr id="40" name="Shape 23"/>
          <p:cNvSpPr/>
          <p:nvPr/>
        </p:nvSpPr>
        <p:spPr>
          <a:xfrm>
            <a:off x="3914775" y="1803995"/>
            <a:ext cx="3727450" cy="1156841"/>
          </a:xfrm>
          <a:prstGeom prst="roundRect">
            <a:avLst>
              <a:gd name="adj" fmla="val 8508"/>
            </a:avLst>
          </a:prstGeom>
          <a:solidFill>
            <a:srgbClr val="FBFCFE"/>
          </a:solidFill>
          <a:ln w="6350">
            <a:solidFill>
              <a:srgbClr val="D9DFEA"/>
            </a:solidFill>
            <a:prstDash val="solid"/>
          </a:ln>
        </p:spPr>
        <p:txBody>
          <a:bodyPr/>
          <a:lstStyle/>
          <a:p>
            <a:endParaRPr lang="en-US"/>
          </a:p>
        </p:txBody>
      </p:sp>
      <p:sp>
        <p:nvSpPr>
          <p:cNvPr id="41" name="Text 24"/>
          <p:cNvSpPr/>
          <p:nvPr/>
        </p:nvSpPr>
        <p:spPr>
          <a:xfrm>
            <a:off x="4070350" y="1946870"/>
            <a:ext cx="61619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a:t>
            </a:r>
            <a:endParaRPr lang="en-US" sz="1400" dirty="0"/>
          </a:p>
        </p:txBody>
      </p:sp>
      <p:sp>
        <p:nvSpPr>
          <p:cNvPr id="42" name="Shape 25"/>
          <p:cNvSpPr/>
          <p:nvPr/>
        </p:nvSpPr>
        <p:spPr>
          <a:xfrm>
            <a:off x="4737348" y="1934170"/>
            <a:ext cx="1090613" cy="238720"/>
          </a:xfrm>
          <a:prstGeom prst="roundRect">
            <a:avLst>
              <a:gd name="adj" fmla="val 21280"/>
            </a:avLst>
          </a:prstGeom>
          <a:solidFill>
            <a:srgbClr val="5B6B86"/>
          </a:solidFill>
          <a:ln/>
        </p:spPr>
        <p:txBody>
          <a:bodyPr/>
          <a:lstStyle/>
          <a:p>
            <a:endParaRPr lang="en-US"/>
          </a:p>
        </p:txBody>
      </p:sp>
      <p:sp>
        <p:nvSpPr>
          <p:cNvPr id="43" name="Text 26"/>
          <p:cNvSpPr/>
          <p:nvPr/>
        </p:nvSpPr>
        <p:spPr>
          <a:xfrm>
            <a:off x="4813548" y="1946870"/>
            <a:ext cx="989013"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44" name="Text 27"/>
          <p:cNvSpPr/>
          <p:nvPr/>
        </p:nvSpPr>
        <p:spPr>
          <a:xfrm>
            <a:off x="4070350" y="2236391"/>
            <a:ext cx="3518789"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Can’t replace a comprehensive exam or diagnose disease such as glaucoma — routine prescription renewals only.</a:t>
            </a:r>
            <a:endParaRPr lang="en-US" sz="1200" dirty="0"/>
          </a:p>
        </p:txBody>
      </p:sp>
      <p:sp>
        <p:nvSpPr>
          <p:cNvPr id="45" name="Shape 28"/>
          <p:cNvSpPr/>
          <p:nvPr/>
        </p:nvSpPr>
        <p:spPr>
          <a:xfrm>
            <a:off x="7648575" y="1803995"/>
            <a:ext cx="3727450" cy="1156841"/>
          </a:xfrm>
          <a:prstGeom prst="roundRect">
            <a:avLst>
              <a:gd name="adj" fmla="val 8508"/>
            </a:avLst>
          </a:prstGeom>
          <a:solidFill>
            <a:srgbClr val="FBFCFE"/>
          </a:solidFill>
          <a:ln w="6350">
            <a:solidFill>
              <a:srgbClr val="D9DFEA"/>
            </a:solidFill>
            <a:prstDash val="solid"/>
          </a:ln>
        </p:spPr>
        <p:txBody>
          <a:bodyPr/>
          <a:lstStyle/>
          <a:p>
            <a:endParaRPr lang="en-US"/>
          </a:p>
        </p:txBody>
      </p:sp>
      <p:sp>
        <p:nvSpPr>
          <p:cNvPr id="46" name="Text 29"/>
          <p:cNvSpPr/>
          <p:nvPr/>
        </p:nvSpPr>
        <p:spPr>
          <a:xfrm>
            <a:off x="7804150" y="1946870"/>
            <a:ext cx="69482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a:t>
            </a:r>
            <a:endParaRPr lang="en-US" sz="1400" dirty="0"/>
          </a:p>
        </p:txBody>
      </p:sp>
      <p:sp>
        <p:nvSpPr>
          <p:cNvPr id="47" name="Shape 30"/>
          <p:cNvSpPr/>
          <p:nvPr/>
        </p:nvSpPr>
        <p:spPr>
          <a:xfrm>
            <a:off x="8549779" y="1934170"/>
            <a:ext cx="1090613" cy="238720"/>
          </a:xfrm>
          <a:prstGeom prst="roundRect">
            <a:avLst>
              <a:gd name="adj" fmla="val 21280"/>
            </a:avLst>
          </a:prstGeom>
          <a:solidFill>
            <a:srgbClr val="5B6B86"/>
          </a:solidFill>
          <a:ln/>
        </p:spPr>
        <p:txBody>
          <a:bodyPr/>
          <a:lstStyle/>
          <a:p>
            <a:endParaRPr lang="en-US"/>
          </a:p>
        </p:txBody>
      </p:sp>
      <p:sp>
        <p:nvSpPr>
          <p:cNvPr id="48" name="Text 31"/>
          <p:cNvSpPr/>
          <p:nvPr/>
        </p:nvSpPr>
        <p:spPr>
          <a:xfrm>
            <a:off x="8625979" y="1946870"/>
            <a:ext cx="989013"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49" name="Text 32"/>
          <p:cNvSpPr/>
          <p:nvPr/>
        </p:nvSpPr>
        <p:spPr>
          <a:xfrm>
            <a:off x="7804150" y="2236391"/>
            <a:ext cx="3518789"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Needs optical hardware mounted on the phone — more cost and friction than pure software or telehealth.</a:t>
            </a:r>
            <a:endParaRPr lang="en-US" sz="1200" dirty="0"/>
          </a:p>
        </p:txBody>
      </p:sp>
      <p:sp>
        <p:nvSpPr>
          <p:cNvPr id="50" name="Shape 33"/>
          <p:cNvSpPr/>
          <p:nvPr/>
        </p:nvSpPr>
        <p:spPr>
          <a:xfrm>
            <a:off x="3914775" y="2967186"/>
            <a:ext cx="3727450" cy="958751"/>
          </a:xfrm>
          <a:prstGeom prst="roundRect">
            <a:avLst>
              <a:gd name="adj" fmla="val 10266"/>
            </a:avLst>
          </a:prstGeom>
          <a:solidFill>
            <a:srgbClr val="FBFCFE"/>
          </a:solidFill>
          <a:ln w="6350">
            <a:solidFill>
              <a:srgbClr val="D9DFEA"/>
            </a:solidFill>
            <a:prstDash val="solid"/>
          </a:ln>
        </p:spPr>
        <p:txBody>
          <a:bodyPr/>
          <a:lstStyle/>
          <a:p>
            <a:endParaRPr lang="en-US"/>
          </a:p>
        </p:txBody>
      </p:sp>
      <p:sp>
        <p:nvSpPr>
          <p:cNvPr id="51" name="Text 34"/>
          <p:cNvSpPr/>
          <p:nvPr/>
        </p:nvSpPr>
        <p:spPr>
          <a:xfrm>
            <a:off x="4070350" y="3110061"/>
            <a:ext cx="106809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Peek Acuity</a:t>
            </a:r>
            <a:endParaRPr lang="en-US" sz="1400" dirty="0"/>
          </a:p>
        </p:txBody>
      </p:sp>
      <p:sp>
        <p:nvSpPr>
          <p:cNvPr id="52" name="Shape 35"/>
          <p:cNvSpPr/>
          <p:nvPr/>
        </p:nvSpPr>
        <p:spPr>
          <a:xfrm>
            <a:off x="5189240" y="3097361"/>
            <a:ext cx="1090613" cy="238720"/>
          </a:xfrm>
          <a:prstGeom prst="roundRect">
            <a:avLst>
              <a:gd name="adj" fmla="val 21280"/>
            </a:avLst>
          </a:prstGeom>
          <a:solidFill>
            <a:srgbClr val="5B6B86"/>
          </a:solidFill>
          <a:ln/>
        </p:spPr>
        <p:txBody>
          <a:bodyPr/>
          <a:lstStyle/>
          <a:p>
            <a:endParaRPr lang="en-US"/>
          </a:p>
        </p:txBody>
      </p:sp>
      <p:sp>
        <p:nvSpPr>
          <p:cNvPr id="53" name="Text 36"/>
          <p:cNvSpPr/>
          <p:nvPr/>
        </p:nvSpPr>
        <p:spPr>
          <a:xfrm>
            <a:off x="5265440" y="3110061"/>
            <a:ext cx="989013"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CORRECTED</a:t>
            </a:r>
            <a:endParaRPr lang="en-US" sz="1200" dirty="0"/>
          </a:p>
        </p:txBody>
      </p:sp>
      <p:sp>
        <p:nvSpPr>
          <p:cNvPr id="54" name="Text 37"/>
          <p:cNvSpPr/>
          <p:nvPr/>
        </p:nvSpPr>
        <p:spPr>
          <a:xfrm>
            <a:off x="4070350" y="3399582"/>
            <a:ext cx="3518789"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Strictly a screening and referral tool: not diagnostic, and it can’t issue prescriptions.</a:t>
            </a:r>
            <a:endParaRPr lang="en-US" sz="1200" dirty="0"/>
          </a:p>
        </p:txBody>
      </p:sp>
      <p:sp>
        <p:nvSpPr>
          <p:cNvPr id="55" name="Shape 38"/>
          <p:cNvSpPr/>
          <p:nvPr/>
        </p:nvSpPr>
        <p:spPr>
          <a:xfrm>
            <a:off x="7648575" y="2967186"/>
            <a:ext cx="3727450" cy="1156841"/>
          </a:xfrm>
          <a:prstGeom prst="roundRect">
            <a:avLst>
              <a:gd name="adj" fmla="val 8508"/>
            </a:avLst>
          </a:prstGeom>
          <a:solidFill>
            <a:srgbClr val="FBFCFE"/>
          </a:solidFill>
          <a:ln w="6350">
            <a:solidFill>
              <a:srgbClr val="D9DFEA"/>
            </a:solidFill>
            <a:prstDash val="solid"/>
          </a:ln>
        </p:spPr>
        <p:txBody>
          <a:bodyPr/>
          <a:lstStyle/>
          <a:p>
            <a:endParaRPr lang="en-US"/>
          </a:p>
        </p:txBody>
      </p:sp>
      <p:sp>
        <p:nvSpPr>
          <p:cNvPr id="56" name="Text 39"/>
          <p:cNvSpPr/>
          <p:nvPr/>
        </p:nvSpPr>
        <p:spPr>
          <a:xfrm>
            <a:off x="7804150" y="3110061"/>
            <a:ext cx="183307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Spot Vision Screener</a:t>
            </a:r>
            <a:endParaRPr lang="en-US" sz="1400" dirty="0"/>
          </a:p>
        </p:txBody>
      </p:sp>
      <p:sp>
        <p:nvSpPr>
          <p:cNvPr id="57" name="Shape 40"/>
          <p:cNvSpPr/>
          <p:nvPr/>
        </p:nvSpPr>
        <p:spPr>
          <a:xfrm>
            <a:off x="9685437" y="3097361"/>
            <a:ext cx="982117" cy="238720"/>
          </a:xfrm>
          <a:prstGeom prst="roundRect">
            <a:avLst>
              <a:gd name="adj" fmla="val 21280"/>
            </a:avLst>
          </a:prstGeom>
          <a:solidFill>
            <a:srgbClr val="B0521A"/>
          </a:solidFill>
          <a:ln/>
        </p:spPr>
        <p:txBody>
          <a:bodyPr/>
          <a:lstStyle/>
          <a:p>
            <a:endParaRPr lang="en-US"/>
          </a:p>
        </p:txBody>
      </p:sp>
      <p:sp>
        <p:nvSpPr>
          <p:cNvPr id="58" name="Text 41"/>
          <p:cNvSpPr/>
          <p:nvPr/>
        </p:nvSpPr>
        <p:spPr>
          <a:xfrm>
            <a:off x="9761637" y="3110061"/>
            <a:ext cx="880517"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AI MISSED</a:t>
            </a:r>
            <a:endParaRPr lang="en-US" sz="1200" dirty="0"/>
          </a:p>
        </p:txBody>
      </p:sp>
      <p:sp>
        <p:nvSpPr>
          <p:cNvPr id="59" name="Text 42"/>
          <p:cNvSpPr/>
          <p:nvPr/>
        </p:nvSpPr>
        <p:spPr>
          <a:xfrm>
            <a:off x="7804150" y="3399582"/>
            <a:ext cx="3518789"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Screens for amblyopia, myopia, and astigmatism risk, but needs costly hardware and trained staff; no consumer access.</a:t>
            </a:r>
            <a:endParaRPr lang="en-US" sz="1200" dirty="0"/>
          </a:p>
        </p:txBody>
      </p:sp>
      <p:sp>
        <p:nvSpPr>
          <p:cNvPr id="60" name="Shape 43"/>
          <p:cNvSpPr/>
          <p:nvPr/>
        </p:nvSpPr>
        <p:spPr>
          <a:xfrm>
            <a:off x="3911600" y="4305002"/>
            <a:ext cx="7467600" cy="1516211"/>
          </a:xfrm>
          <a:prstGeom prst="roundRect">
            <a:avLst>
              <a:gd name="adj" fmla="val 8376"/>
            </a:avLst>
          </a:prstGeom>
          <a:solidFill>
            <a:srgbClr val="0E1B3D"/>
          </a:solidFill>
          <a:ln/>
        </p:spPr>
        <p:txBody>
          <a:bodyPr/>
          <a:lstStyle/>
          <a:p>
            <a:endParaRPr lang="en-US"/>
          </a:p>
        </p:txBody>
      </p:sp>
      <p:sp>
        <p:nvSpPr>
          <p:cNvPr id="61" name="Text 44"/>
          <p:cNvSpPr/>
          <p:nvPr/>
        </p:nvSpPr>
        <p:spPr>
          <a:xfrm>
            <a:off x="4114800" y="4482802"/>
            <a:ext cx="72730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E9BE0"/>
                </a:solidFill>
                <a:latin typeface="IBM Plex Sans" pitchFamily="34" charset="0"/>
                <a:ea typeface="IBM Plex Sans" pitchFamily="34" charset="-122"/>
                <a:cs typeface="IBM Plex Sans" pitchFamily="34" charset="-120"/>
              </a:rPr>
              <a:t>HOW WELL DO THEY SOLVE THE PROBLEM?</a:t>
            </a:r>
            <a:endParaRPr lang="en-US" sz="1200" dirty="0"/>
          </a:p>
        </p:txBody>
      </p:sp>
      <p:sp>
        <p:nvSpPr>
          <p:cNvPr id="62" name="Text 45"/>
          <p:cNvSpPr/>
          <p:nvPr/>
        </p:nvSpPr>
        <p:spPr>
          <a:xfrm>
            <a:off x="4114800" y="4797723"/>
            <a:ext cx="22847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A point of reference</a:t>
            </a:r>
            <a:endParaRPr lang="en-US" sz="1400" dirty="0"/>
          </a:p>
        </p:txBody>
      </p:sp>
      <p:sp>
        <p:nvSpPr>
          <p:cNvPr id="63" name="Text 46"/>
          <p:cNvSpPr/>
          <p:nvPr/>
        </p:nvSpPr>
        <p:spPr>
          <a:xfrm>
            <a:off x="4114800" y="5049143"/>
            <a:ext cx="2284781"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8B5CB"/>
                </a:solidFill>
                <a:latin typeface="IBM Plex Sans" pitchFamily="34" charset="0"/>
                <a:ea typeface="IBM Plex Sans" pitchFamily="34" charset="-122"/>
                <a:cs typeface="IBM Plex Sans" pitchFamily="34" charset="-120"/>
              </a:rPr>
              <a:t>Each platform’s results are a reference point, not something more meaningful.</a:t>
            </a:r>
            <a:endParaRPr lang="en-US" sz="1200" dirty="0"/>
          </a:p>
        </p:txBody>
      </p:sp>
      <p:sp>
        <p:nvSpPr>
          <p:cNvPr id="64" name="Text 47"/>
          <p:cNvSpPr/>
          <p:nvPr/>
        </p:nvSpPr>
        <p:spPr>
          <a:xfrm>
            <a:off x="6536234" y="4797723"/>
            <a:ext cx="22848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Hardware adds friction</a:t>
            </a:r>
            <a:endParaRPr lang="en-US" sz="1400" dirty="0"/>
          </a:p>
        </p:txBody>
      </p:sp>
      <p:sp>
        <p:nvSpPr>
          <p:cNvPr id="65" name="Text 48"/>
          <p:cNvSpPr/>
          <p:nvPr/>
        </p:nvSpPr>
        <p:spPr>
          <a:xfrm>
            <a:off x="6536234" y="5049143"/>
            <a:ext cx="2284832"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8B5CB"/>
                </a:solidFill>
                <a:latin typeface="IBM Plex Sans" pitchFamily="34" charset="0"/>
                <a:ea typeface="IBM Plex Sans" pitchFamily="34" charset="-122"/>
                <a:cs typeface="IBM Plex Sans" pitchFamily="34" charset="-120"/>
              </a:rPr>
              <a:t>Required hardware, like EyeQue’s add-on optics, strips away convenience.</a:t>
            </a:r>
            <a:endParaRPr lang="en-US" sz="1200" dirty="0"/>
          </a:p>
        </p:txBody>
      </p:sp>
      <p:sp>
        <p:nvSpPr>
          <p:cNvPr id="66" name="Text 49"/>
          <p:cNvSpPr/>
          <p:nvPr/>
        </p:nvSpPr>
        <p:spPr>
          <a:xfrm>
            <a:off x="8957717" y="4797723"/>
            <a:ext cx="22848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No one personalizes</a:t>
            </a:r>
            <a:endParaRPr lang="en-US" sz="1400" dirty="0"/>
          </a:p>
        </p:txBody>
      </p:sp>
      <p:sp>
        <p:nvSpPr>
          <p:cNvPr id="67" name="Text 50"/>
          <p:cNvSpPr/>
          <p:nvPr/>
        </p:nvSpPr>
        <p:spPr>
          <a:xfrm>
            <a:off x="8957717" y="5049143"/>
            <a:ext cx="2284832"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8B5CB"/>
                </a:solidFill>
                <a:latin typeface="IBM Plex Sans" pitchFamily="34" charset="0"/>
                <a:ea typeface="IBM Plex Sans" pitchFamily="34" charset="-122"/>
                <a:cs typeface="IBM Plex Sans" pitchFamily="34" charset="-120"/>
              </a:rPr>
              <a:t>None personalizes testing with AI. Focal adds custom exams and eye-health predictions.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7875324"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Final quadrant: the upper-right is still open</a:t>
            </a:r>
            <a:endParaRPr lang="en-US" sz="3000" dirty="0"/>
          </a:p>
        </p:txBody>
      </p:sp>
      <p:sp>
        <p:nvSpPr>
          <p:cNvPr id="3" name="Shape 1"/>
          <p:cNvSpPr/>
          <p:nvPr/>
        </p:nvSpPr>
        <p:spPr>
          <a:xfrm>
            <a:off x="10111135" y="812800"/>
            <a:ext cx="1268065"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10161935" y="863600"/>
            <a:ext cx="228600" cy="228600"/>
          </a:xfrm>
          <a:prstGeom prst="rect">
            <a:avLst/>
          </a:prstGeom>
        </p:spPr>
      </p:pic>
      <p:sp>
        <p:nvSpPr>
          <p:cNvPr id="5" name="Text 2"/>
          <p:cNvSpPr/>
          <p:nvPr/>
        </p:nvSpPr>
        <p:spPr>
          <a:xfrm>
            <a:off x="10454035" y="886470"/>
            <a:ext cx="848965"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2 · 3C</a:t>
            </a:r>
            <a:endParaRPr lang="en-US" sz="1200" dirty="0"/>
          </a:p>
        </p:txBody>
      </p:sp>
      <p:pic>
        <p:nvPicPr>
          <p:cNvPr id="6" name="Image 1" descr="Final leaders quadrant: accessibility and efficiency (x) versus assessment capability and depth (y). No competitor sits in the high-access, high-depth quadrant; Focal targets it."/>
          <p:cNvPicPr>
            <a:picLocks noChangeAspect="1"/>
          </p:cNvPicPr>
          <p:nvPr/>
        </p:nvPicPr>
        <p:blipFill>
          <a:blip r:embed="rId4"/>
          <a:srcRect t="-17" b="-17"/>
          <a:stretch/>
        </p:blipFill>
        <p:spPr>
          <a:xfrm>
            <a:off x="812800" y="1435100"/>
            <a:ext cx="6731000" cy="4445000"/>
          </a:xfrm>
          <a:prstGeom prst="rect">
            <a:avLst/>
          </a:prstGeom>
        </p:spPr>
      </p:pic>
      <p:sp>
        <p:nvSpPr>
          <p:cNvPr id="7" name="Text 3"/>
          <p:cNvSpPr/>
          <p:nvPr/>
        </p:nvSpPr>
        <p:spPr>
          <a:xfrm>
            <a:off x="2032000" y="2222500"/>
            <a:ext cx="196215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Comprehensive eye exam</a:t>
            </a:r>
            <a:endParaRPr lang="en-US" sz="1200" dirty="0"/>
          </a:p>
        </p:txBody>
      </p:sp>
      <p:sp>
        <p:nvSpPr>
          <p:cNvPr id="8" name="Text 4"/>
          <p:cNvSpPr/>
          <p:nvPr/>
        </p:nvSpPr>
        <p:spPr>
          <a:xfrm>
            <a:off x="1540510" y="3232150"/>
            <a:ext cx="1831340" cy="215900"/>
          </a:xfrm>
          <a:prstGeom prst="rect">
            <a:avLst/>
          </a:prstGeom>
          <a:noFill/>
          <a:ln/>
        </p:spPr>
        <p:txBody>
          <a:bodyPr wrap="square" lIns="0" tIns="0" rIns="0" bIns="0" rtlCol="0" anchor="t">
            <a:normAutofit/>
          </a:bodyPr>
          <a:lstStyle/>
          <a:p>
            <a:pPr marL="0" indent="0" algn="r">
              <a:lnSpc>
                <a:spcPts val="1500"/>
              </a:lnSpc>
              <a:buNone/>
            </a:pPr>
            <a:r>
              <a:rPr lang="en-US" sz="1200" dirty="0">
                <a:solidFill>
                  <a:srgbClr val="0E1B3D"/>
                </a:solidFill>
                <a:latin typeface="IBM Plex Sans" pitchFamily="34" charset="0"/>
                <a:ea typeface="IBM Plex Sans" pitchFamily="34" charset="-122"/>
                <a:cs typeface="IBM Plex Sans" pitchFamily="34" charset="-120"/>
              </a:rPr>
              <a:t>Spot Vision Screener</a:t>
            </a:r>
            <a:endParaRPr lang="en-US" sz="1200" dirty="0"/>
          </a:p>
        </p:txBody>
      </p:sp>
      <p:sp>
        <p:nvSpPr>
          <p:cNvPr id="9" name="Text 5"/>
          <p:cNvSpPr/>
          <p:nvPr/>
        </p:nvSpPr>
        <p:spPr>
          <a:xfrm>
            <a:off x="1539875" y="3803650"/>
            <a:ext cx="1962150" cy="4064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0E1B3D"/>
                </a:solidFill>
                <a:latin typeface="IBM Plex Sans" pitchFamily="34" charset="0"/>
                <a:ea typeface="IBM Plex Sans" pitchFamily="34" charset="-122"/>
                <a:cs typeface="IBM Plex Sans" pitchFamily="34" charset="-120"/>
              </a:rPr>
              <a:t>Airline qualification</a:t>
            </a:r>
            <a:endParaRPr lang="en-US" sz="1200" dirty="0"/>
          </a:p>
          <a:p>
            <a:pPr marL="0" indent="0" algn="ctr">
              <a:lnSpc>
                <a:spcPts val="1500"/>
              </a:lnSpc>
              <a:buNone/>
            </a:pPr>
            <a:r>
              <a:rPr lang="en-US" sz="1200" dirty="0">
                <a:solidFill>
                  <a:srgbClr val="0E1B3D"/>
                </a:solidFill>
                <a:latin typeface="IBM Plex Sans" pitchFamily="34" charset="0"/>
                <a:ea typeface="IBM Plex Sans" pitchFamily="34" charset="-122"/>
                <a:cs typeface="IBM Plex Sans" pitchFamily="34" charset="-120"/>
              </a:rPr>
              <a:t>tests</a:t>
            </a:r>
            <a:endParaRPr lang="en-US" sz="1200" dirty="0"/>
          </a:p>
        </p:txBody>
      </p:sp>
      <p:sp>
        <p:nvSpPr>
          <p:cNvPr id="10" name="Text 6"/>
          <p:cNvSpPr/>
          <p:nvPr/>
        </p:nvSpPr>
        <p:spPr>
          <a:xfrm>
            <a:off x="4978400" y="3175000"/>
            <a:ext cx="6604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EyeQue</a:t>
            </a:r>
            <a:endParaRPr lang="en-US" sz="1200" dirty="0"/>
          </a:p>
        </p:txBody>
      </p:sp>
      <p:sp>
        <p:nvSpPr>
          <p:cNvPr id="11" name="Text 7"/>
          <p:cNvSpPr/>
          <p:nvPr/>
        </p:nvSpPr>
        <p:spPr>
          <a:xfrm>
            <a:off x="4730750" y="3549650"/>
            <a:ext cx="685800" cy="215900"/>
          </a:xfrm>
          <a:prstGeom prst="rect">
            <a:avLst/>
          </a:prstGeom>
          <a:noFill/>
          <a:ln/>
        </p:spPr>
        <p:txBody>
          <a:bodyPr wrap="square" lIns="0" tIns="0" rIns="0" bIns="0" rtlCol="0" anchor="t">
            <a:normAutofit/>
          </a:bodyPr>
          <a:lstStyle/>
          <a:p>
            <a:pPr marL="0" indent="0" algn="r">
              <a:lnSpc>
                <a:spcPts val="1500"/>
              </a:lnSpc>
              <a:buNone/>
            </a:pPr>
            <a:r>
              <a:rPr lang="en-US" sz="1200" dirty="0">
                <a:solidFill>
                  <a:srgbClr val="0E1B3D"/>
                </a:solidFill>
                <a:latin typeface="IBM Plex Sans" pitchFamily="34" charset="0"/>
                <a:ea typeface="IBM Plex Sans" pitchFamily="34" charset="-122"/>
                <a:cs typeface="IBM Plex Sans" pitchFamily="34" charset="-120"/>
              </a:rPr>
              <a:t>Visibly</a:t>
            </a:r>
            <a:endParaRPr lang="en-US" sz="1200" dirty="0"/>
          </a:p>
        </p:txBody>
      </p:sp>
      <p:sp>
        <p:nvSpPr>
          <p:cNvPr id="12" name="Text 8"/>
          <p:cNvSpPr/>
          <p:nvPr/>
        </p:nvSpPr>
        <p:spPr>
          <a:xfrm>
            <a:off x="5416550" y="4318000"/>
            <a:ext cx="1066800" cy="215900"/>
          </a:xfrm>
          <a:prstGeom prst="rect">
            <a:avLst/>
          </a:prstGeom>
          <a:noFill/>
          <a:ln/>
        </p:spPr>
        <p:txBody>
          <a:bodyPr wrap="square" lIns="0" tIns="0" rIns="0" bIns="0" rtlCol="0" anchor="t">
            <a:normAutofit/>
          </a:bodyPr>
          <a:lstStyle/>
          <a:p>
            <a:pPr marL="0" indent="0" algn="r">
              <a:lnSpc>
                <a:spcPts val="1500"/>
              </a:lnSpc>
              <a:buNone/>
            </a:pPr>
            <a:r>
              <a:rPr lang="en-US" sz="1200" dirty="0">
                <a:solidFill>
                  <a:srgbClr val="0E1B3D"/>
                </a:solidFill>
                <a:latin typeface="IBM Plex Sans" pitchFamily="34" charset="0"/>
                <a:ea typeface="IBM Plex Sans" pitchFamily="34" charset="-122"/>
                <a:cs typeface="IBM Plex Sans" pitchFamily="34" charset="-120"/>
              </a:rPr>
              <a:t>Peek Acuity</a:t>
            </a:r>
            <a:endParaRPr lang="en-US" sz="1200" dirty="0"/>
          </a:p>
        </p:txBody>
      </p:sp>
      <p:sp>
        <p:nvSpPr>
          <p:cNvPr id="13" name="Text 9"/>
          <p:cNvSpPr/>
          <p:nvPr/>
        </p:nvSpPr>
        <p:spPr>
          <a:xfrm>
            <a:off x="6121400" y="4679950"/>
            <a:ext cx="812800" cy="215900"/>
          </a:xfrm>
          <a:prstGeom prst="rect">
            <a:avLst/>
          </a:prstGeom>
          <a:noFill/>
          <a:ln/>
        </p:spPr>
        <p:txBody>
          <a:bodyPr wrap="square" lIns="0" tIns="0" rIns="0" bIns="0" rtlCol="0" anchor="t">
            <a:normAutofit/>
          </a:bodyPr>
          <a:lstStyle/>
          <a:p>
            <a:pPr marL="0" indent="0" algn="r">
              <a:lnSpc>
                <a:spcPts val="1500"/>
              </a:lnSpc>
              <a:buNone/>
            </a:pPr>
            <a:r>
              <a:rPr lang="en-US" sz="1200" dirty="0">
                <a:solidFill>
                  <a:srgbClr val="0E1B3D"/>
                </a:solidFill>
                <a:latin typeface="IBM Plex Sans" pitchFamily="34" charset="0"/>
                <a:ea typeface="IBM Plex Sans" pitchFamily="34" charset="-122"/>
                <a:cs typeface="IBM Plex Sans" pitchFamily="34" charset="-120"/>
              </a:rPr>
              <a:t>WHOeyes</a:t>
            </a:r>
            <a:endParaRPr lang="en-US" sz="1200" dirty="0"/>
          </a:p>
        </p:txBody>
      </p:sp>
      <p:sp>
        <p:nvSpPr>
          <p:cNvPr id="14" name="Text 10"/>
          <p:cNvSpPr/>
          <p:nvPr/>
        </p:nvSpPr>
        <p:spPr>
          <a:xfrm>
            <a:off x="3905250" y="4108450"/>
            <a:ext cx="1447800"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School screening</a:t>
            </a:r>
            <a:endParaRPr lang="en-US" sz="1200" dirty="0"/>
          </a:p>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programs</a:t>
            </a:r>
            <a:endParaRPr lang="en-US" sz="1200" dirty="0"/>
          </a:p>
        </p:txBody>
      </p:sp>
      <p:sp>
        <p:nvSpPr>
          <p:cNvPr id="15" name="Text 11"/>
          <p:cNvSpPr/>
          <p:nvPr/>
        </p:nvSpPr>
        <p:spPr>
          <a:xfrm>
            <a:off x="3498850" y="4584700"/>
            <a:ext cx="2419985"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Employer qualification tests</a:t>
            </a:r>
            <a:endParaRPr lang="en-US" sz="1200" dirty="0"/>
          </a:p>
        </p:txBody>
      </p:sp>
      <p:sp>
        <p:nvSpPr>
          <p:cNvPr id="16" name="Text 12"/>
          <p:cNvSpPr/>
          <p:nvPr/>
        </p:nvSpPr>
        <p:spPr>
          <a:xfrm>
            <a:off x="884555" y="4616450"/>
            <a:ext cx="1896745" cy="215900"/>
          </a:xfrm>
          <a:prstGeom prst="rect">
            <a:avLst/>
          </a:prstGeom>
          <a:noFill/>
          <a:ln/>
        </p:spPr>
        <p:txBody>
          <a:bodyPr wrap="square" lIns="0" tIns="0" rIns="0" bIns="0" rtlCol="0" anchor="t">
            <a:normAutofit/>
          </a:bodyPr>
          <a:lstStyle/>
          <a:p>
            <a:pPr marL="0" indent="0" algn="r">
              <a:lnSpc>
                <a:spcPts val="1500"/>
              </a:lnSpc>
              <a:buNone/>
            </a:pPr>
            <a:r>
              <a:rPr lang="en-US" sz="1200" dirty="0">
                <a:solidFill>
                  <a:srgbClr val="0E1B3D"/>
                </a:solidFill>
                <a:latin typeface="IBM Plex Sans" pitchFamily="34" charset="0"/>
                <a:ea typeface="IBM Plex Sans" pitchFamily="34" charset="-122"/>
                <a:cs typeface="IBM Plex Sans" pitchFamily="34" charset="-120"/>
              </a:rPr>
              <a:t>Licensing-agency tests</a:t>
            </a:r>
            <a:endParaRPr lang="en-US" sz="1200" dirty="0"/>
          </a:p>
        </p:txBody>
      </p:sp>
      <p:sp>
        <p:nvSpPr>
          <p:cNvPr id="17" name="Text 13"/>
          <p:cNvSpPr/>
          <p:nvPr/>
        </p:nvSpPr>
        <p:spPr>
          <a:xfrm>
            <a:off x="3683000" y="4864100"/>
            <a:ext cx="119380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0E1B3D"/>
                </a:solidFill>
                <a:latin typeface="IBM Plex Sans" pitchFamily="34" charset="0"/>
                <a:ea typeface="IBM Plex Sans" pitchFamily="34" charset="-122"/>
                <a:cs typeface="IBM Plex Sans" pitchFamily="34" charset="-120"/>
              </a:rPr>
              <a:t>Snellen chart</a:t>
            </a:r>
            <a:endParaRPr lang="en-US" sz="1200" dirty="0"/>
          </a:p>
        </p:txBody>
      </p:sp>
      <p:sp>
        <p:nvSpPr>
          <p:cNvPr id="18" name="Text 14"/>
          <p:cNvSpPr/>
          <p:nvPr/>
        </p:nvSpPr>
        <p:spPr>
          <a:xfrm>
            <a:off x="4089400" y="2374900"/>
            <a:ext cx="170180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1D6AAE"/>
                </a:solidFill>
                <a:latin typeface="IBM Plex Sans" pitchFamily="34" charset="0"/>
                <a:ea typeface="IBM Plex Sans" pitchFamily="34" charset="-122"/>
                <a:cs typeface="IBM Plex Sans" pitchFamily="34" charset="-120"/>
              </a:rPr>
              <a:t>Focal — our target</a:t>
            </a:r>
            <a:endParaRPr lang="en-US" sz="1200" dirty="0"/>
          </a:p>
        </p:txBody>
      </p:sp>
      <p:sp>
        <p:nvSpPr>
          <p:cNvPr id="19" name="Text 15"/>
          <p:cNvSpPr/>
          <p:nvPr/>
        </p:nvSpPr>
        <p:spPr>
          <a:xfrm>
            <a:off x="990600" y="1803400"/>
            <a:ext cx="222377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5E6A82"/>
                </a:solidFill>
                <a:latin typeface="IBM Plex Sans" pitchFamily="34" charset="0"/>
                <a:ea typeface="IBM Plex Sans" pitchFamily="34" charset="-122"/>
                <a:cs typeface="IBM Plex Sans" pitchFamily="34" charset="-120"/>
              </a:rPr>
              <a:t>High depth · lower access</a:t>
            </a:r>
            <a:endParaRPr lang="en-US" sz="1200" dirty="0"/>
          </a:p>
        </p:txBody>
      </p:sp>
      <p:sp>
        <p:nvSpPr>
          <p:cNvPr id="20" name="Text 16"/>
          <p:cNvSpPr/>
          <p:nvPr/>
        </p:nvSpPr>
        <p:spPr>
          <a:xfrm>
            <a:off x="5040630" y="1803400"/>
            <a:ext cx="2223770" cy="215900"/>
          </a:xfrm>
          <a:prstGeom prst="rect">
            <a:avLst/>
          </a:prstGeom>
          <a:noFill/>
          <a:ln/>
        </p:spPr>
        <p:txBody>
          <a:bodyPr wrap="square" lIns="0" tIns="0" rIns="0" bIns="0" rtlCol="0" anchor="t">
            <a:normAutofit/>
          </a:bodyPr>
          <a:lstStyle/>
          <a:p>
            <a:pPr marL="0" indent="0" algn="r">
              <a:lnSpc>
                <a:spcPts val="1500"/>
              </a:lnSpc>
              <a:buNone/>
            </a:pPr>
            <a:r>
              <a:rPr lang="en-US" sz="1200" b="1" kern="0" spc="50" dirty="0">
                <a:solidFill>
                  <a:srgbClr val="5E6A82"/>
                </a:solidFill>
                <a:latin typeface="IBM Plex Sans" pitchFamily="34" charset="0"/>
                <a:ea typeface="IBM Plex Sans" pitchFamily="34" charset="-122"/>
                <a:cs typeface="IBM Plex Sans" pitchFamily="34" charset="-120"/>
              </a:rPr>
              <a:t>High depth · high access</a:t>
            </a:r>
            <a:endParaRPr lang="en-US" sz="1200" dirty="0"/>
          </a:p>
        </p:txBody>
      </p:sp>
      <p:sp>
        <p:nvSpPr>
          <p:cNvPr id="21" name="Text 17"/>
          <p:cNvSpPr/>
          <p:nvPr/>
        </p:nvSpPr>
        <p:spPr>
          <a:xfrm>
            <a:off x="990600" y="5461000"/>
            <a:ext cx="2223770" cy="215900"/>
          </a:xfrm>
          <a:prstGeom prst="rect">
            <a:avLst/>
          </a:prstGeom>
          <a:noFill/>
          <a:ln/>
        </p:spPr>
        <p:txBody>
          <a:bodyPr wrap="square" lIns="0" tIns="0" rIns="0" bIns="0" rtlCol="0" anchor="t">
            <a:normAutofit/>
          </a:bodyPr>
          <a:lstStyle/>
          <a:p>
            <a:pPr marL="0" indent="0" algn="l">
              <a:lnSpc>
                <a:spcPts val="1500"/>
              </a:lnSpc>
              <a:buNone/>
            </a:pPr>
            <a:r>
              <a:rPr lang="en-US" sz="1200" b="1" kern="0" spc="50" dirty="0">
                <a:solidFill>
                  <a:srgbClr val="5E6A82"/>
                </a:solidFill>
                <a:latin typeface="IBM Plex Sans" pitchFamily="34" charset="0"/>
                <a:ea typeface="IBM Plex Sans" pitchFamily="34" charset="-122"/>
                <a:cs typeface="IBM Plex Sans" pitchFamily="34" charset="-120"/>
              </a:rPr>
              <a:t>Narrower · lower access</a:t>
            </a:r>
            <a:endParaRPr lang="en-US" sz="1200" dirty="0"/>
          </a:p>
        </p:txBody>
      </p:sp>
      <p:sp>
        <p:nvSpPr>
          <p:cNvPr id="22" name="Text 18"/>
          <p:cNvSpPr/>
          <p:nvPr/>
        </p:nvSpPr>
        <p:spPr>
          <a:xfrm>
            <a:off x="5040630" y="5461000"/>
            <a:ext cx="2223770" cy="215900"/>
          </a:xfrm>
          <a:prstGeom prst="rect">
            <a:avLst/>
          </a:prstGeom>
          <a:noFill/>
          <a:ln/>
        </p:spPr>
        <p:txBody>
          <a:bodyPr wrap="square" lIns="0" tIns="0" rIns="0" bIns="0" rtlCol="0" anchor="t">
            <a:normAutofit/>
          </a:bodyPr>
          <a:lstStyle/>
          <a:p>
            <a:pPr marL="0" indent="0" algn="r">
              <a:lnSpc>
                <a:spcPts val="1500"/>
              </a:lnSpc>
              <a:buNone/>
            </a:pPr>
            <a:r>
              <a:rPr lang="en-US" sz="1200" b="1" kern="0" spc="50" dirty="0">
                <a:solidFill>
                  <a:srgbClr val="5E6A82"/>
                </a:solidFill>
                <a:latin typeface="IBM Plex Sans" pitchFamily="34" charset="0"/>
                <a:ea typeface="IBM Plex Sans" pitchFamily="34" charset="-122"/>
                <a:cs typeface="IBM Plex Sans" pitchFamily="34" charset="-120"/>
              </a:rPr>
              <a:t>Narrower · high access</a:t>
            </a:r>
            <a:endParaRPr lang="en-US" sz="1200" dirty="0"/>
          </a:p>
        </p:txBody>
      </p:sp>
      <p:sp>
        <p:nvSpPr>
          <p:cNvPr id="23" name="Text 19"/>
          <p:cNvSpPr/>
          <p:nvPr/>
        </p:nvSpPr>
        <p:spPr>
          <a:xfrm>
            <a:off x="1016000" y="1447800"/>
            <a:ext cx="3924300"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Assessment capability &amp; depth</a:t>
            </a:r>
            <a:endParaRPr lang="en-US" sz="1200" dirty="0"/>
          </a:p>
        </p:txBody>
      </p:sp>
      <p:sp>
        <p:nvSpPr>
          <p:cNvPr id="24" name="Text 20"/>
          <p:cNvSpPr/>
          <p:nvPr/>
        </p:nvSpPr>
        <p:spPr>
          <a:xfrm>
            <a:off x="4095750" y="5791200"/>
            <a:ext cx="3270250" cy="215900"/>
          </a:xfrm>
          <a:prstGeom prst="rect">
            <a:avLst/>
          </a:prstGeom>
          <a:noFill/>
          <a:ln/>
        </p:spPr>
        <p:txBody>
          <a:bodyPr wrap="square" lIns="0" tIns="0" rIns="0" bIns="0" rtlCol="0" anchor="t">
            <a:normAutofit/>
          </a:bodyPr>
          <a:lstStyle/>
          <a:p>
            <a:pPr marL="0" indent="0" algn="r">
              <a:lnSpc>
                <a:spcPts val="1500"/>
              </a:lnSpc>
              <a:buNone/>
            </a:pPr>
            <a:r>
              <a:rPr lang="en-US" sz="1200" b="1" dirty="0">
                <a:solidFill>
                  <a:srgbClr val="0E1B3D"/>
                </a:solidFill>
                <a:latin typeface="IBM Plex Sans" pitchFamily="34" charset="0"/>
                <a:ea typeface="IBM Plex Sans" pitchFamily="34" charset="-122"/>
                <a:cs typeface="IBM Plex Sans" pitchFamily="34" charset="-120"/>
              </a:rPr>
              <a:t>Accessibility &amp; efficiency</a:t>
            </a:r>
            <a:endParaRPr lang="en-US" sz="1200" dirty="0"/>
          </a:p>
        </p:txBody>
      </p:sp>
      <p:sp>
        <p:nvSpPr>
          <p:cNvPr id="25" name="Text 21"/>
          <p:cNvSpPr/>
          <p:nvPr/>
        </p:nvSpPr>
        <p:spPr>
          <a:xfrm>
            <a:off x="1016000" y="5791200"/>
            <a:ext cx="4447540" cy="215900"/>
          </a:xfrm>
          <a:prstGeom prst="rect">
            <a:avLst/>
          </a:prstGeom>
          <a:noFill/>
          <a:ln/>
        </p:spPr>
        <p:txBody>
          <a:bodyPr wrap="square" lIns="0" tIns="0" rIns="0" bIns="0" rtlCol="0" anchor="t">
            <a:normAutofit/>
          </a:bodyPr>
          <a:lstStyle/>
          <a:p>
            <a:pPr marL="0" indent="0" algn="l">
              <a:lnSpc>
                <a:spcPts val="1500"/>
              </a:lnSpc>
              <a:buNone/>
            </a:pPr>
            <a:r>
              <a:rPr lang="en-US" sz="1200" i="1" dirty="0">
                <a:solidFill>
                  <a:srgbClr val="5E6A82"/>
                </a:solidFill>
                <a:latin typeface="IBM Plex Sans" pitchFamily="34" charset="0"/>
                <a:ea typeface="IBM Plex Sans" pitchFamily="34" charset="-122"/>
                <a:cs typeface="IBM Plex Sans" pitchFamily="34" charset="-120"/>
              </a:rPr>
              <a:t>Axes kept from the AI: they match our pre-work dimensions</a:t>
            </a:r>
            <a:endParaRPr lang="en-US" sz="1200" dirty="0"/>
          </a:p>
        </p:txBody>
      </p:sp>
      <p:sp>
        <p:nvSpPr>
          <p:cNvPr id="26" name="Text 22"/>
          <p:cNvSpPr/>
          <p:nvPr/>
        </p:nvSpPr>
        <p:spPr>
          <a:xfrm>
            <a:off x="7721600" y="1435100"/>
            <a:ext cx="376732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521A"/>
                </a:solidFill>
                <a:latin typeface="IBM Plex Sans" pitchFamily="34" charset="0"/>
                <a:ea typeface="IBM Plex Sans" pitchFamily="34" charset="-122"/>
                <a:cs typeface="IBM Plex Sans" pitchFamily="34" charset="-120"/>
              </a:rPr>
              <a:t>WHAT WE CHANGED FROM THE AI</a:t>
            </a:r>
            <a:endParaRPr lang="en-US" sz="1200" dirty="0"/>
          </a:p>
        </p:txBody>
      </p:sp>
      <p:pic>
        <p:nvPicPr>
          <p:cNvPr id="27" name="Image 2" descr="preencoded.png"/>
          <p:cNvPicPr>
            <a:picLocks noChangeAspect="1"/>
          </p:cNvPicPr>
          <p:nvPr/>
        </p:nvPicPr>
        <p:blipFill>
          <a:blip r:embed="rId5"/>
          <a:srcRect/>
          <a:stretch/>
        </p:blipFill>
        <p:spPr>
          <a:xfrm>
            <a:off x="7721600" y="1775420"/>
            <a:ext cx="177800" cy="177800"/>
          </a:xfrm>
          <a:prstGeom prst="rect">
            <a:avLst/>
          </a:prstGeom>
        </p:spPr>
      </p:pic>
      <p:sp>
        <p:nvSpPr>
          <p:cNvPr id="28" name="Text 23"/>
          <p:cNvSpPr/>
          <p:nvPr/>
        </p:nvSpPr>
        <p:spPr>
          <a:xfrm>
            <a:off x="8001000" y="1775420"/>
            <a:ext cx="34795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EyeQue: moved down and left</a:t>
            </a:r>
            <a:endParaRPr lang="en-US" sz="1400" dirty="0"/>
          </a:p>
        </p:txBody>
      </p:sp>
      <p:sp>
        <p:nvSpPr>
          <p:cNvPr id="29" name="Text 24"/>
          <p:cNvSpPr/>
          <p:nvPr/>
        </p:nvSpPr>
        <p:spPr>
          <a:xfrm>
            <a:off x="8001000" y="2026841"/>
            <a:ext cx="3479546"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Per EyeQue, no eye-health exam; FDA Class I (510(k)-exempt); users must buy phone-mounted hardware.</a:t>
            </a:r>
            <a:endParaRPr lang="en-US" sz="1200" dirty="0"/>
          </a:p>
        </p:txBody>
      </p:sp>
      <p:pic>
        <p:nvPicPr>
          <p:cNvPr id="30" name="Image 3" descr="preencoded.png"/>
          <p:cNvPicPr>
            <a:picLocks noChangeAspect="1"/>
          </p:cNvPicPr>
          <p:nvPr/>
        </p:nvPicPr>
        <p:blipFill>
          <a:blip r:embed="rId5"/>
          <a:srcRect/>
          <a:stretch/>
        </p:blipFill>
        <p:spPr>
          <a:xfrm>
            <a:off x="7721600" y="2748111"/>
            <a:ext cx="177800" cy="177800"/>
          </a:xfrm>
          <a:prstGeom prst="rect">
            <a:avLst/>
          </a:prstGeom>
        </p:spPr>
      </p:pic>
      <p:sp>
        <p:nvSpPr>
          <p:cNvPr id="31" name="Text 25"/>
          <p:cNvSpPr/>
          <p:nvPr/>
        </p:nvSpPr>
        <p:spPr>
          <a:xfrm>
            <a:off x="8001000" y="2748111"/>
            <a:ext cx="34795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Visibly: moved left and down</a:t>
            </a:r>
            <a:endParaRPr lang="en-US" sz="1400" dirty="0"/>
          </a:p>
        </p:txBody>
      </p:sp>
      <p:sp>
        <p:nvSpPr>
          <p:cNvPr id="32" name="Text 26"/>
          <p:cNvSpPr/>
          <p:nvPr/>
        </p:nvSpPr>
        <p:spPr>
          <a:xfrm>
            <a:off x="8001000" y="2999532"/>
            <a:ext cx="3479546"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FDA-cleared (2022) only for ages 22–40 and existing-prescription renewals; some states restrict online exams.</a:t>
            </a:r>
            <a:endParaRPr lang="en-US" sz="1200" dirty="0"/>
          </a:p>
        </p:txBody>
      </p:sp>
      <p:pic>
        <p:nvPicPr>
          <p:cNvPr id="33" name="Image 4" descr="preencoded.png"/>
          <p:cNvPicPr>
            <a:picLocks noChangeAspect="1"/>
          </p:cNvPicPr>
          <p:nvPr/>
        </p:nvPicPr>
        <p:blipFill>
          <a:blip r:embed="rId5"/>
          <a:srcRect/>
          <a:stretch/>
        </p:blipFill>
        <p:spPr>
          <a:xfrm>
            <a:off x="7721600" y="3720802"/>
            <a:ext cx="177800" cy="177800"/>
          </a:xfrm>
          <a:prstGeom prst="rect">
            <a:avLst/>
          </a:prstGeom>
        </p:spPr>
      </p:pic>
      <p:sp>
        <p:nvSpPr>
          <p:cNvPr id="34" name="Text 27"/>
          <p:cNvSpPr/>
          <p:nvPr/>
        </p:nvSpPr>
        <p:spPr>
          <a:xfrm>
            <a:off x="8001000" y="3720802"/>
            <a:ext cx="34795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Snellen chart: moved right</a:t>
            </a:r>
            <a:endParaRPr lang="en-US" sz="1400" dirty="0"/>
          </a:p>
        </p:txBody>
      </p:sp>
      <p:sp>
        <p:nvSpPr>
          <p:cNvPr id="35" name="Text 28"/>
          <p:cNvSpPr/>
          <p:nvPr/>
        </p:nvSpPr>
        <p:spPr>
          <a:xfrm>
            <a:off x="8001000" y="3972223"/>
            <a:ext cx="3479546"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Printed charts are cheap and widely available — no appointment or equipment. Depth stays low: acuity only.</a:t>
            </a:r>
            <a:endParaRPr lang="en-US" sz="1200" dirty="0"/>
          </a:p>
        </p:txBody>
      </p:sp>
      <p:pic>
        <p:nvPicPr>
          <p:cNvPr id="36" name="Image 5" descr="preencoded.png"/>
          <p:cNvPicPr>
            <a:picLocks noChangeAspect="1"/>
          </p:cNvPicPr>
          <p:nvPr/>
        </p:nvPicPr>
        <p:blipFill>
          <a:blip r:embed="rId6"/>
          <a:srcRect/>
          <a:stretch/>
        </p:blipFill>
        <p:spPr>
          <a:xfrm>
            <a:off x="7721600" y="4693493"/>
            <a:ext cx="177800" cy="177800"/>
          </a:xfrm>
          <a:prstGeom prst="rect">
            <a:avLst/>
          </a:prstGeom>
        </p:spPr>
      </p:pic>
      <p:sp>
        <p:nvSpPr>
          <p:cNvPr id="37" name="Text 29"/>
          <p:cNvSpPr/>
          <p:nvPr/>
        </p:nvSpPr>
        <p:spPr>
          <a:xfrm>
            <a:off x="8001000" y="4693493"/>
            <a:ext cx="34795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Focal: added, upper-right</a:t>
            </a:r>
            <a:endParaRPr lang="en-US" sz="1400" dirty="0"/>
          </a:p>
        </p:txBody>
      </p:sp>
      <p:sp>
        <p:nvSpPr>
          <p:cNvPr id="38" name="Text 30"/>
          <p:cNvSpPr/>
          <p:nvPr/>
        </p:nvSpPr>
        <p:spPr>
          <a:xfrm>
            <a:off x="8001000" y="4944914"/>
            <a:ext cx="3479546"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4660"/>
                </a:solidFill>
                <a:latin typeface="IBM Plex Sans" pitchFamily="34" charset="0"/>
                <a:ea typeface="IBM Plex Sans" pitchFamily="34" charset="-122"/>
                <a:cs typeface="IBM Plex Sans" pitchFamily="34" charset="-120"/>
              </a:rPr>
              <a:t>Accessible and comprehensive, with standardized, organization-ready testing for agencies, airlines, and rentals.</a:t>
            </a:r>
            <a:endParaRPr lang="en-US" sz="1200" dirty="0"/>
          </a:p>
        </p:txBody>
      </p:sp>
      <p:pic>
        <p:nvPicPr>
          <p:cNvPr id="39" name="Image 6" descr="preencoded.png"/>
          <p:cNvPicPr>
            <a:picLocks noChangeAspect="1"/>
          </p:cNvPicPr>
          <p:nvPr/>
        </p:nvPicPr>
        <p:blipFill>
          <a:blip r:embed="rId7"/>
          <a:srcRect/>
          <a:stretch/>
        </p:blipFill>
        <p:spPr>
          <a:xfrm>
            <a:off x="7721600" y="5683945"/>
            <a:ext cx="177800" cy="177800"/>
          </a:xfrm>
          <a:prstGeom prst="rect">
            <a:avLst/>
          </a:prstGeom>
        </p:spPr>
      </p:pic>
      <p:sp>
        <p:nvSpPr>
          <p:cNvPr id="40" name="Text 31"/>
          <p:cNvSpPr/>
          <p:nvPr/>
        </p:nvSpPr>
        <p:spPr>
          <a:xfrm>
            <a:off x="7950200" y="5666184"/>
            <a:ext cx="3682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82"/>
                </a:solidFill>
                <a:latin typeface="IBM Plex Sans" pitchFamily="34" charset="0"/>
                <a:ea typeface="IBM Plex Sans" pitchFamily="34" charset="-122"/>
                <a:cs typeface="IBM Plex Sans" pitchFamily="34" charset="-120"/>
              </a:rPr>
              <a:t>Kept</a:t>
            </a:r>
            <a:endParaRPr lang="en-US" sz="1200" dirty="0"/>
          </a:p>
        </p:txBody>
      </p:sp>
      <p:pic>
        <p:nvPicPr>
          <p:cNvPr id="41" name="Image 7" descr="preencoded.png"/>
          <p:cNvPicPr>
            <a:picLocks noChangeAspect="1"/>
          </p:cNvPicPr>
          <p:nvPr/>
        </p:nvPicPr>
        <p:blipFill>
          <a:blip r:embed="rId5"/>
          <a:srcRect/>
          <a:stretch/>
        </p:blipFill>
        <p:spPr>
          <a:xfrm>
            <a:off x="8420050" y="5683945"/>
            <a:ext cx="177800" cy="177800"/>
          </a:xfrm>
          <a:prstGeom prst="rect">
            <a:avLst/>
          </a:prstGeom>
        </p:spPr>
      </p:pic>
      <p:sp>
        <p:nvSpPr>
          <p:cNvPr id="42" name="Text 32"/>
          <p:cNvSpPr/>
          <p:nvPr/>
        </p:nvSpPr>
        <p:spPr>
          <a:xfrm>
            <a:off x="8648650" y="5666184"/>
            <a:ext cx="5045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82"/>
                </a:solidFill>
                <a:latin typeface="IBM Plex Sans" pitchFamily="34" charset="0"/>
                <a:ea typeface="IBM Plex Sans" pitchFamily="34" charset="-122"/>
                <a:cs typeface="IBM Plex Sans" pitchFamily="34" charset="-120"/>
              </a:rPr>
              <a:t>Moved</a:t>
            </a:r>
            <a:endParaRPr lang="en-US" sz="1200" dirty="0"/>
          </a:p>
        </p:txBody>
      </p:sp>
      <p:pic>
        <p:nvPicPr>
          <p:cNvPr id="43" name="Image 8" descr="preencoded.png"/>
          <p:cNvPicPr>
            <a:picLocks noChangeAspect="1"/>
          </p:cNvPicPr>
          <p:nvPr/>
        </p:nvPicPr>
        <p:blipFill>
          <a:blip r:embed="rId8"/>
          <a:srcRect/>
          <a:stretch/>
        </p:blipFill>
        <p:spPr>
          <a:xfrm>
            <a:off x="9254778" y="5683945"/>
            <a:ext cx="177800" cy="177800"/>
          </a:xfrm>
          <a:prstGeom prst="rect">
            <a:avLst/>
          </a:prstGeom>
        </p:spPr>
      </p:pic>
      <p:sp>
        <p:nvSpPr>
          <p:cNvPr id="44" name="Text 33"/>
          <p:cNvSpPr/>
          <p:nvPr/>
        </p:nvSpPr>
        <p:spPr>
          <a:xfrm>
            <a:off x="9483378" y="5666184"/>
            <a:ext cx="8609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82"/>
                </a:solidFill>
                <a:latin typeface="IBM Plex Sans" pitchFamily="34" charset="0"/>
                <a:ea typeface="IBM Plex Sans" pitchFamily="34" charset="-122"/>
                <a:cs typeface="IBM Plex Sans" pitchFamily="34" charset="-120"/>
              </a:rPr>
              <a:t>AI’s original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6598598"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The AI’s SWOT: EyeQue as the leader</a:t>
            </a:r>
            <a:endParaRPr lang="en-US" sz="3000" dirty="0"/>
          </a:p>
        </p:txBody>
      </p:sp>
      <p:sp>
        <p:nvSpPr>
          <p:cNvPr id="3" name="Shape 1"/>
          <p:cNvSpPr/>
          <p:nvPr/>
        </p:nvSpPr>
        <p:spPr>
          <a:xfrm>
            <a:off x="10106571" y="812800"/>
            <a:ext cx="1272629"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10157371" y="863600"/>
            <a:ext cx="228600" cy="228600"/>
          </a:xfrm>
          <a:prstGeom prst="rect">
            <a:avLst/>
          </a:prstGeom>
        </p:spPr>
      </p:pic>
      <p:sp>
        <p:nvSpPr>
          <p:cNvPr id="5" name="Text 2"/>
          <p:cNvSpPr/>
          <p:nvPr/>
        </p:nvSpPr>
        <p:spPr>
          <a:xfrm>
            <a:off x="10449471" y="886470"/>
            <a:ext cx="853529"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3 · 4A</a:t>
            </a:r>
            <a:endParaRPr lang="en-US" sz="1200" dirty="0"/>
          </a:p>
        </p:txBody>
      </p:sp>
      <p:sp>
        <p:nvSpPr>
          <p:cNvPr id="6" name="Shape 3"/>
          <p:cNvSpPr/>
          <p:nvPr/>
        </p:nvSpPr>
        <p:spPr>
          <a:xfrm>
            <a:off x="815975" y="1489075"/>
            <a:ext cx="3448050" cy="1855291"/>
          </a:xfrm>
          <a:prstGeom prst="roundRect">
            <a:avLst>
              <a:gd name="adj" fmla="val 5305"/>
            </a:avLst>
          </a:prstGeom>
          <a:solidFill>
            <a:srgbClr val="FBFCFE"/>
          </a:solidFill>
          <a:ln w="6350">
            <a:solidFill>
              <a:srgbClr val="D9DFEA"/>
            </a:solidFill>
            <a:prstDash val="solid"/>
          </a:ln>
        </p:spPr>
        <p:txBody>
          <a:bodyPr/>
          <a:lstStyle/>
          <a:p>
            <a:endParaRPr lang="en-US"/>
          </a:p>
        </p:txBody>
      </p:sp>
      <p:sp>
        <p:nvSpPr>
          <p:cNvPr id="7" name="Text 4"/>
          <p:cNvSpPr/>
          <p:nvPr/>
        </p:nvSpPr>
        <p:spPr>
          <a:xfrm>
            <a:off x="971550" y="1644650"/>
            <a:ext cx="220117"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S</a:t>
            </a:r>
            <a:endParaRPr lang="en-US" sz="2200" dirty="0"/>
          </a:p>
        </p:txBody>
      </p:sp>
      <p:sp>
        <p:nvSpPr>
          <p:cNvPr id="8" name="Text 5"/>
          <p:cNvSpPr/>
          <p:nvPr/>
        </p:nvSpPr>
        <p:spPr>
          <a:xfrm>
            <a:off x="1229767" y="1677690"/>
            <a:ext cx="9167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Strengths</a:t>
            </a:r>
            <a:endParaRPr lang="en-US" sz="1400" dirty="0"/>
          </a:p>
        </p:txBody>
      </p:sp>
      <p:sp>
        <p:nvSpPr>
          <p:cNvPr id="9" name="Text 6"/>
          <p:cNvSpPr/>
          <p:nvPr/>
        </p:nvSpPr>
        <p:spPr>
          <a:xfrm>
            <a:off x="971550" y="2000250"/>
            <a:ext cx="3231007" cy="1213941"/>
          </a:xfrm>
          <a:prstGeom prst="rect">
            <a:avLst/>
          </a:prstGeom>
          <a:noFill/>
          <a:ln/>
        </p:spPr>
        <p:txBody>
          <a:bodyPr wrap="square" lIns="0" tIns="0" rIns="0" bIns="0" rtlCol="0" anchor="t">
            <a:normAutofit/>
          </a:bodyPr>
          <a:lstStyle/>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At-home access plus acuity testing and refractive-error estimation</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More depth than basic smartphone tools like WHOeyes and Peek Acuity</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Self-administered — avoids clinic visits for routine checks</a:t>
            </a:r>
            <a:endParaRPr lang="en-US" sz="1200" dirty="0"/>
          </a:p>
        </p:txBody>
      </p:sp>
      <p:sp>
        <p:nvSpPr>
          <p:cNvPr id="10" name="Shape 7"/>
          <p:cNvSpPr/>
          <p:nvPr/>
        </p:nvSpPr>
        <p:spPr>
          <a:xfrm>
            <a:off x="4371975" y="1489075"/>
            <a:ext cx="3448050" cy="1855291"/>
          </a:xfrm>
          <a:prstGeom prst="roundRect">
            <a:avLst>
              <a:gd name="adj" fmla="val 5305"/>
            </a:avLst>
          </a:prstGeom>
          <a:solidFill>
            <a:srgbClr val="FBFCFE"/>
          </a:solidFill>
          <a:ln w="6350">
            <a:solidFill>
              <a:srgbClr val="D9DFEA"/>
            </a:solidFill>
            <a:prstDash val="solid"/>
          </a:ln>
        </p:spPr>
        <p:txBody>
          <a:bodyPr/>
          <a:lstStyle/>
          <a:p>
            <a:endParaRPr lang="en-US"/>
          </a:p>
        </p:txBody>
      </p:sp>
      <p:sp>
        <p:nvSpPr>
          <p:cNvPr id="11" name="Text 8"/>
          <p:cNvSpPr/>
          <p:nvPr/>
        </p:nvSpPr>
        <p:spPr>
          <a:xfrm>
            <a:off x="4527550" y="1644650"/>
            <a:ext cx="301724"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W</a:t>
            </a:r>
            <a:endParaRPr lang="en-US" sz="2200" dirty="0"/>
          </a:p>
        </p:txBody>
      </p:sp>
      <p:sp>
        <p:nvSpPr>
          <p:cNvPr id="12" name="Text 9"/>
          <p:cNvSpPr/>
          <p:nvPr/>
        </p:nvSpPr>
        <p:spPr>
          <a:xfrm>
            <a:off x="4867374" y="1677690"/>
            <a:ext cx="110886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Weaknesses</a:t>
            </a:r>
            <a:endParaRPr lang="en-US" sz="1400" dirty="0"/>
          </a:p>
        </p:txBody>
      </p:sp>
      <p:sp>
        <p:nvSpPr>
          <p:cNvPr id="13" name="Text 10"/>
          <p:cNvSpPr/>
          <p:nvPr/>
        </p:nvSpPr>
        <p:spPr>
          <a:xfrm>
            <a:off x="4527550" y="2000250"/>
            <a:ext cx="3231007" cy="1213941"/>
          </a:xfrm>
          <a:prstGeom prst="rect">
            <a:avLst/>
          </a:prstGeom>
          <a:noFill/>
          <a:ln/>
        </p:spPr>
        <p:txBody>
          <a:bodyPr wrap="square" lIns="0" tIns="0" rIns="0" bIns="0" rtlCol="0" anchor="t">
            <a:normAutofit/>
          </a:bodyPr>
          <a:lstStyle/>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Phone-mounted optical hardware adds cost and setup friction</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Less comprehensive than an in-person exam; no disease diagnosis</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Weaker evidence of institutional or regulatory acceptance</a:t>
            </a:r>
            <a:endParaRPr lang="en-US" sz="1200" dirty="0"/>
          </a:p>
        </p:txBody>
      </p:sp>
      <p:sp>
        <p:nvSpPr>
          <p:cNvPr id="14" name="Shape 11"/>
          <p:cNvSpPr/>
          <p:nvPr/>
        </p:nvSpPr>
        <p:spPr>
          <a:xfrm>
            <a:off x="815975" y="3452316"/>
            <a:ext cx="3448050" cy="2053382"/>
          </a:xfrm>
          <a:prstGeom prst="roundRect">
            <a:avLst>
              <a:gd name="adj" fmla="val 4793"/>
            </a:avLst>
          </a:prstGeom>
          <a:solidFill>
            <a:srgbClr val="FBFCFE"/>
          </a:solidFill>
          <a:ln w="6350">
            <a:solidFill>
              <a:srgbClr val="D9DFEA"/>
            </a:solidFill>
            <a:prstDash val="solid"/>
          </a:ln>
        </p:spPr>
        <p:txBody>
          <a:bodyPr/>
          <a:lstStyle/>
          <a:p>
            <a:endParaRPr lang="en-US"/>
          </a:p>
        </p:txBody>
      </p:sp>
      <p:sp>
        <p:nvSpPr>
          <p:cNvPr id="15" name="Text 12"/>
          <p:cNvSpPr/>
          <p:nvPr/>
        </p:nvSpPr>
        <p:spPr>
          <a:xfrm>
            <a:off x="971550" y="3607891"/>
            <a:ext cx="239713"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O</a:t>
            </a:r>
            <a:endParaRPr lang="en-US" sz="2200" dirty="0"/>
          </a:p>
        </p:txBody>
      </p:sp>
      <p:sp>
        <p:nvSpPr>
          <p:cNvPr id="16" name="Text 13"/>
          <p:cNvSpPr/>
          <p:nvPr/>
        </p:nvSpPr>
        <p:spPr>
          <a:xfrm>
            <a:off x="1249363" y="3640931"/>
            <a:ext cx="124727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Opportunities</a:t>
            </a:r>
            <a:endParaRPr lang="en-US" sz="1400" dirty="0"/>
          </a:p>
        </p:txBody>
      </p:sp>
      <p:sp>
        <p:nvSpPr>
          <p:cNvPr id="17" name="Text 14"/>
          <p:cNvSpPr/>
          <p:nvPr/>
        </p:nvSpPr>
        <p:spPr>
          <a:xfrm>
            <a:off x="971550" y="3963491"/>
            <a:ext cx="3231007" cy="1213941"/>
          </a:xfrm>
          <a:prstGeom prst="rect">
            <a:avLst/>
          </a:prstGeom>
          <a:noFill/>
          <a:ln/>
        </p:spPr>
        <p:txBody>
          <a:bodyPr wrap="square" lIns="0" tIns="0" rIns="0" bIns="0" rtlCol="0" anchor="t">
            <a:normAutofit/>
          </a:bodyPr>
          <a:lstStyle/>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Add vision measures beyond acuity and refractive error</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Stronger longitudinal tracking for early detection of change</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Standardized workflows for organizations that repeat screening</a:t>
            </a:r>
            <a:endParaRPr lang="en-US" sz="1200" dirty="0"/>
          </a:p>
        </p:txBody>
      </p:sp>
      <p:sp>
        <p:nvSpPr>
          <p:cNvPr id="18" name="Shape 15"/>
          <p:cNvSpPr/>
          <p:nvPr/>
        </p:nvSpPr>
        <p:spPr>
          <a:xfrm>
            <a:off x="4371975" y="3452316"/>
            <a:ext cx="3448050" cy="2053382"/>
          </a:xfrm>
          <a:prstGeom prst="roundRect">
            <a:avLst>
              <a:gd name="adj" fmla="val 4793"/>
            </a:avLst>
          </a:prstGeom>
          <a:solidFill>
            <a:srgbClr val="FBFCFE"/>
          </a:solidFill>
          <a:ln w="6350">
            <a:solidFill>
              <a:srgbClr val="D9DFEA"/>
            </a:solidFill>
            <a:prstDash val="solid"/>
          </a:ln>
        </p:spPr>
        <p:txBody>
          <a:bodyPr/>
          <a:lstStyle/>
          <a:p>
            <a:endParaRPr lang="en-US"/>
          </a:p>
        </p:txBody>
      </p:sp>
      <p:sp>
        <p:nvSpPr>
          <p:cNvPr id="19" name="Text 16"/>
          <p:cNvSpPr/>
          <p:nvPr/>
        </p:nvSpPr>
        <p:spPr>
          <a:xfrm>
            <a:off x="4527550" y="3607891"/>
            <a:ext cx="215106"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1D6AAE"/>
                </a:solidFill>
                <a:latin typeface="Space Grotesk" pitchFamily="34" charset="0"/>
                <a:ea typeface="Space Grotesk" pitchFamily="34" charset="-122"/>
                <a:cs typeface="Space Grotesk" pitchFamily="34" charset="-120"/>
              </a:rPr>
              <a:t>T</a:t>
            </a:r>
            <a:endParaRPr lang="en-US" sz="2200" dirty="0"/>
          </a:p>
        </p:txBody>
      </p:sp>
      <p:sp>
        <p:nvSpPr>
          <p:cNvPr id="20" name="Text 17"/>
          <p:cNvSpPr/>
          <p:nvPr/>
        </p:nvSpPr>
        <p:spPr>
          <a:xfrm>
            <a:off x="4780756" y="3640931"/>
            <a:ext cx="70534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B3D"/>
                </a:solidFill>
                <a:latin typeface="Space Grotesk" pitchFamily="34" charset="0"/>
                <a:ea typeface="Space Grotesk" pitchFamily="34" charset="-122"/>
                <a:cs typeface="Space Grotesk" pitchFamily="34" charset="-120"/>
              </a:rPr>
              <a:t>Threats</a:t>
            </a:r>
            <a:endParaRPr lang="en-US" sz="1400" dirty="0"/>
          </a:p>
        </p:txBody>
      </p:sp>
      <p:sp>
        <p:nvSpPr>
          <p:cNvPr id="21" name="Text 18"/>
          <p:cNvSpPr/>
          <p:nvPr/>
        </p:nvSpPr>
        <p:spPr>
          <a:xfrm>
            <a:off x="4527550" y="3963491"/>
            <a:ext cx="3231007" cy="1412032"/>
          </a:xfrm>
          <a:prstGeom prst="rect">
            <a:avLst/>
          </a:prstGeom>
          <a:noFill/>
          <a:ln/>
        </p:spPr>
        <p:txBody>
          <a:bodyPr wrap="square" lIns="0" tIns="0" rIns="0" bIns="0" rtlCol="0" anchor="t">
            <a:normAutofit/>
          </a:bodyPr>
          <a:lstStyle/>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Visibly: remote convenience plus clinician review and stronger regulatory credibility </a:t>
            </a:r>
            <a:r>
              <a:rPr lang="en-US" sz="1200" b="1" dirty="0">
                <a:solidFill>
                  <a:srgbClr val="B0521A"/>
                </a:solidFill>
                <a:latin typeface="IBM Plex Sans" pitchFamily="34" charset="0"/>
                <a:ea typeface="IBM Plex Sans" pitchFamily="34" charset="-122"/>
                <a:cs typeface="IBM Plex Sans" pitchFamily="34" charset="-120"/>
              </a:rPr>
              <a:t>(corrected →)</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Comprehensive eye exams remain the reference for breadth</a:t>
            </a:r>
            <a:endParaRPr lang="en-US" sz="1200" dirty="0"/>
          </a:p>
          <a:p>
            <a:pPr marL="182880" indent="-155194" algn="l">
              <a:lnSpc>
                <a:spcPts val="1560"/>
              </a:lnSpc>
              <a:buSzPct val="100000"/>
              <a:buChar char="•"/>
            </a:pPr>
            <a:r>
              <a:rPr lang="en-US" sz="1200" dirty="0">
                <a:solidFill>
                  <a:srgbClr val="3A4660"/>
                </a:solidFill>
                <a:latin typeface="IBM Plex Sans" pitchFamily="34" charset="0"/>
                <a:ea typeface="IBM Plex Sans" pitchFamily="34" charset="-122"/>
                <a:cs typeface="IBM Plex Sans" pitchFamily="34" charset="-120"/>
              </a:rPr>
              <a:t>Spot and institutional programs where hardware and control matter</a:t>
            </a:r>
            <a:endParaRPr lang="en-US" sz="1200" dirty="0"/>
          </a:p>
        </p:txBody>
      </p:sp>
      <p:sp>
        <p:nvSpPr>
          <p:cNvPr id="22" name="Shape 19"/>
          <p:cNvSpPr/>
          <p:nvPr/>
        </p:nvSpPr>
        <p:spPr>
          <a:xfrm>
            <a:off x="8077200" y="1485900"/>
            <a:ext cx="3302000" cy="4236393"/>
          </a:xfrm>
          <a:prstGeom prst="roundRect">
            <a:avLst>
              <a:gd name="adj" fmla="val 3846"/>
            </a:avLst>
          </a:prstGeom>
          <a:solidFill>
            <a:srgbClr val="0E1B3D"/>
          </a:solidFill>
          <a:ln/>
        </p:spPr>
        <p:txBody>
          <a:bodyPr/>
          <a:lstStyle/>
          <a:p>
            <a:endParaRPr lang="en-US"/>
          </a:p>
        </p:txBody>
      </p:sp>
      <p:sp>
        <p:nvSpPr>
          <p:cNvPr id="23" name="Text 20"/>
          <p:cNvSpPr/>
          <p:nvPr/>
        </p:nvSpPr>
        <p:spPr>
          <a:xfrm>
            <a:off x="8305800" y="1714500"/>
            <a:ext cx="29301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07B2A"/>
                </a:solidFill>
                <a:latin typeface="IBM Plex Sans" pitchFamily="34" charset="0"/>
                <a:ea typeface="IBM Plex Sans" pitchFamily="34" charset="-122"/>
                <a:cs typeface="IBM Plex Sans" pitchFamily="34" charset="-120"/>
              </a:rPr>
              <a:t>WHERE WE CORRECTED THE AI</a:t>
            </a:r>
            <a:endParaRPr lang="en-US" sz="1200" dirty="0"/>
          </a:p>
        </p:txBody>
      </p:sp>
      <p:sp>
        <p:nvSpPr>
          <p:cNvPr id="24" name="Text 21"/>
          <p:cNvSpPr/>
          <p:nvPr/>
        </p:nvSpPr>
        <p:spPr>
          <a:xfrm>
            <a:off x="8305800" y="2105620"/>
            <a:ext cx="3048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1</a:t>
            </a:r>
            <a:endParaRPr lang="en-US" sz="2200" dirty="0"/>
          </a:p>
        </p:txBody>
      </p:sp>
      <p:sp>
        <p:nvSpPr>
          <p:cNvPr id="25" name="Text 22"/>
          <p:cNvSpPr/>
          <p:nvPr/>
        </p:nvSpPr>
        <p:spPr>
          <a:xfrm>
            <a:off x="8674100" y="2105620"/>
            <a:ext cx="255079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Different leader</a:t>
            </a:r>
            <a:endParaRPr lang="en-US" sz="1400" dirty="0"/>
          </a:p>
        </p:txBody>
      </p:sp>
      <p:sp>
        <p:nvSpPr>
          <p:cNvPr id="26" name="Text 23"/>
          <p:cNvSpPr/>
          <p:nvPr/>
        </p:nvSpPr>
        <p:spPr>
          <a:xfrm>
            <a:off x="8674100" y="2357041"/>
            <a:ext cx="2550795"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B5CB"/>
                </a:solidFill>
                <a:latin typeface="IBM Plex Sans" pitchFamily="34" charset="0"/>
                <a:ea typeface="IBM Plex Sans" pitchFamily="34" charset="-122"/>
                <a:cs typeface="IBM Plex Sans" pitchFamily="34" charset="-120"/>
              </a:rPr>
              <a:t>We ran our own SWOT on Visibly instead of EyeQue.</a:t>
            </a:r>
            <a:endParaRPr lang="en-US" sz="1200" dirty="0"/>
          </a:p>
        </p:txBody>
      </p:sp>
      <p:sp>
        <p:nvSpPr>
          <p:cNvPr id="27" name="Text 24"/>
          <p:cNvSpPr/>
          <p:nvPr/>
        </p:nvSpPr>
        <p:spPr>
          <a:xfrm>
            <a:off x="8305800" y="2946301"/>
            <a:ext cx="3048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2</a:t>
            </a:r>
            <a:endParaRPr lang="en-US" sz="2200" dirty="0"/>
          </a:p>
        </p:txBody>
      </p:sp>
      <p:sp>
        <p:nvSpPr>
          <p:cNvPr id="28" name="Text 25"/>
          <p:cNvSpPr/>
          <p:nvPr/>
        </p:nvSpPr>
        <p:spPr>
          <a:xfrm>
            <a:off x="8674100" y="2946301"/>
            <a:ext cx="2550795"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FDA clearance isn’t an umbrella</a:t>
            </a:r>
            <a:endParaRPr lang="en-US" sz="1400" dirty="0"/>
          </a:p>
        </p:txBody>
      </p:sp>
      <p:sp>
        <p:nvSpPr>
          <p:cNvPr id="29" name="Text 26"/>
          <p:cNvSpPr/>
          <p:nvPr/>
        </p:nvSpPr>
        <p:spPr>
          <a:xfrm>
            <a:off x="8674100" y="3411041"/>
            <a:ext cx="2550795"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B5CB"/>
                </a:solidFill>
                <a:latin typeface="IBM Plex Sans" pitchFamily="34" charset="0"/>
                <a:ea typeface="IBM Plex Sans" pitchFamily="34" charset="-122"/>
                <a:cs typeface="IBM Plex Sans" pitchFamily="34" charset="-120"/>
              </a:rPr>
              <a:t>Visibly’s clearance covers only adults 22–40 — the range where eye problems are least common. Less groundbreaking than it sounds.</a:t>
            </a:r>
            <a:endParaRPr lang="en-US" sz="1200" dirty="0"/>
          </a:p>
        </p:txBody>
      </p:sp>
      <p:sp>
        <p:nvSpPr>
          <p:cNvPr id="30" name="Text 27"/>
          <p:cNvSpPr/>
          <p:nvPr/>
        </p:nvSpPr>
        <p:spPr>
          <a:xfrm>
            <a:off x="8305800" y="4411762"/>
            <a:ext cx="304800" cy="304800"/>
          </a:xfrm>
          <a:prstGeom prst="rect">
            <a:avLst/>
          </a:prstGeom>
          <a:noFill/>
          <a:ln/>
        </p:spPr>
        <p:txBody>
          <a:bodyPr wrap="square" lIns="0" tIns="0" rIns="0" bIns="0" rtlCol="0" anchor="t">
            <a:normAutofit/>
          </a:bodyPr>
          <a:lstStyle/>
          <a:p>
            <a:pPr marL="0" indent="0" algn="l">
              <a:lnSpc>
                <a:spcPts val="2200"/>
              </a:lnSpc>
              <a:buNone/>
            </a:pPr>
            <a:r>
              <a:rPr lang="en-US" sz="2200" b="1" dirty="0">
                <a:solidFill>
                  <a:srgbClr val="E07B2A"/>
                </a:solidFill>
                <a:latin typeface="Space Grotesk" pitchFamily="34" charset="0"/>
                <a:ea typeface="Space Grotesk" pitchFamily="34" charset="-122"/>
                <a:cs typeface="Space Grotesk" pitchFamily="34" charset="-120"/>
              </a:rPr>
              <a:t>3</a:t>
            </a:r>
            <a:endParaRPr lang="en-US" sz="2200" dirty="0"/>
          </a:p>
        </p:txBody>
      </p:sp>
      <p:sp>
        <p:nvSpPr>
          <p:cNvPr id="31" name="Text 28"/>
          <p:cNvSpPr/>
          <p:nvPr/>
        </p:nvSpPr>
        <p:spPr>
          <a:xfrm>
            <a:off x="8674100" y="4411762"/>
            <a:ext cx="2550795"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8"/>
                </a:solidFill>
                <a:latin typeface="Space Grotesk" pitchFamily="34" charset="0"/>
                <a:ea typeface="Space Grotesk" pitchFamily="34" charset="-122"/>
                <a:cs typeface="Space Grotesk" pitchFamily="34" charset="-120"/>
              </a:rPr>
              <a:t>Optometry pushback, unmentioned</a:t>
            </a:r>
            <a:endParaRPr lang="en-US" sz="1400" dirty="0"/>
          </a:p>
        </p:txBody>
      </p:sp>
      <p:sp>
        <p:nvSpPr>
          <p:cNvPr id="32" name="Text 29"/>
          <p:cNvSpPr/>
          <p:nvPr/>
        </p:nvSpPr>
        <p:spPr>
          <a:xfrm>
            <a:off x="8674100" y="4876502"/>
            <a:ext cx="2550795"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B5CB"/>
                </a:solidFill>
                <a:latin typeface="IBM Plex Sans" pitchFamily="34" charset="0"/>
                <a:ea typeface="IBM Plex Sans" pitchFamily="34" charset="-122"/>
                <a:cs typeface="IBM Plex Sans" pitchFamily="34" charset="-120"/>
              </a:rPr>
              <a:t>The AI never flagged the opposition Visibly and EyeQue face from optometry specialists and lobbyists.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8674491"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Our SWOT of Visibly: strengths and weaknesses</a:t>
            </a:r>
            <a:endParaRPr lang="en-US" sz="3000" dirty="0"/>
          </a:p>
        </p:txBody>
      </p:sp>
      <p:sp>
        <p:nvSpPr>
          <p:cNvPr id="3" name="Shape 1"/>
          <p:cNvSpPr/>
          <p:nvPr/>
        </p:nvSpPr>
        <p:spPr>
          <a:xfrm>
            <a:off x="10107960" y="812800"/>
            <a:ext cx="1271240"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10158760" y="863600"/>
            <a:ext cx="228600" cy="228600"/>
          </a:xfrm>
          <a:prstGeom prst="rect">
            <a:avLst/>
          </a:prstGeom>
        </p:spPr>
      </p:pic>
      <p:sp>
        <p:nvSpPr>
          <p:cNvPr id="5" name="Text 2"/>
          <p:cNvSpPr/>
          <p:nvPr/>
        </p:nvSpPr>
        <p:spPr>
          <a:xfrm>
            <a:off x="10450860" y="886470"/>
            <a:ext cx="852140"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4 · 4B</a:t>
            </a:r>
            <a:endParaRPr lang="en-US" sz="1200" dirty="0"/>
          </a:p>
        </p:txBody>
      </p:sp>
      <p:sp>
        <p:nvSpPr>
          <p:cNvPr id="6" name="Shape 3"/>
          <p:cNvSpPr/>
          <p:nvPr/>
        </p:nvSpPr>
        <p:spPr>
          <a:xfrm>
            <a:off x="815975" y="1489075"/>
            <a:ext cx="5175250" cy="4552950"/>
          </a:xfrm>
          <a:prstGeom prst="roundRect">
            <a:avLst>
              <a:gd name="adj" fmla="val 2720"/>
            </a:avLst>
          </a:prstGeom>
          <a:solidFill>
            <a:srgbClr val="FBFCFE"/>
          </a:solidFill>
          <a:ln w="6350">
            <a:solidFill>
              <a:srgbClr val="D9DFEA"/>
            </a:solidFill>
            <a:prstDash val="solid"/>
          </a:ln>
        </p:spPr>
        <p:txBody>
          <a:bodyPr/>
          <a:lstStyle/>
          <a:p>
            <a:endParaRPr lang="en-US"/>
          </a:p>
        </p:txBody>
      </p:sp>
      <p:sp>
        <p:nvSpPr>
          <p:cNvPr id="7" name="Text 4"/>
          <p:cNvSpPr/>
          <p:nvPr/>
        </p:nvSpPr>
        <p:spPr>
          <a:xfrm>
            <a:off x="1047750" y="1695450"/>
            <a:ext cx="68580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D6AAE"/>
                </a:solidFill>
                <a:latin typeface="Space Grotesk" pitchFamily="34" charset="0"/>
                <a:ea typeface="Space Grotesk" pitchFamily="34" charset="-122"/>
                <a:cs typeface="Space Grotesk" pitchFamily="34" charset="-120"/>
              </a:rPr>
              <a:t>S</a:t>
            </a:r>
            <a:endParaRPr lang="en-US" sz="6000" dirty="0"/>
          </a:p>
        </p:txBody>
      </p:sp>
      <p:sp>
        <p:nvSpPr>
          <p:cNvPr id="8" name="Text 5"/>
          <p:cNvSpPr/>
          <p:nvPr/>
        </p:nvSpPr>
        <p:spPr>
          <a:xfrm>
            <a:off x="1835150" y="1811040"/>
            <a:ext cx="2522742"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E1B3D"/>
                </a:solidFill>
                <a:latin typeface="Space Grotesk" pitchFamily="34" charset="0"/>
                <a:ea typeface="Space Grotesk" pitchFamily="34" charset="-122"/>
                <a:cs typeface="Space Grotesk" pitchFamily="34" charset="-120"/>
              </a:rPr>
              <a:t>Strengths</a:t>
            </a:r>
            <a:endParaRPr lang="en-US" sz="2200" dirty="0"/>
          </a:p>
        </p:txBody>
      </p:sp>
      <p:sp>
        <p:nvSpPr>
          <p:cNvPr id="9" name="Text 6"/>
          <p:cNvSpPr/>
          <p:nvPr/>
        </p:nvSpPr>
        <p:spPr>
          <a:xfrm>
            <a:off x="1835150" y="2143770"/>
            <a:ext cx="2522742"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How well Visibly solves the problem</a:t>
            </a:r>
            <a:endParaRPr lang="en-US" sz="1200" dirty="0"/>
          </a:p>
        </p:txBody>
      </p:sp>
      <p:sp>
        <p:nvSpPr>
          <p:cNvPr id="10" name="Shape 7"/>
          <p:cNvSpPr/>
          <p:nvPr/>
        </p:nvSpPr>
        <p:spPr>
          <a:xfrm>
            <a:off x="1047750" y="2587625"/>
            <a:ext cx="4711700" cy="0"/>
          </a:xfrm>
          <a:prstGeom prst="line">
            <a:avLst/>
          </a:prstGeom>
          <a:noFill/>
          <a:ln w="6350">
            <a:solidFill>
              <a:srgbClr val="D9DFEA"/>
            </a:solidFill>
            <a:prstDash val="solid"/>
          </a:ln>
        </p:spPr>
        <p:txBody>
          <a:bodyPr/>
          <a:lstStyle/>
          <a:p>
            <a:endParaRPr lang="en-US"/>
          </a:p>
        </p:txBody>
      </p:sp>
      <p:sp>
        <p:nvSpPr>
          <p:cNvPr id="11" name="Text 8"/>
          <p:cNvSpPr/>
          <p:nvPr/>
        </p:nvSpPr>
        <p:spPr>
          <a:xfrm>
            <a:off x="1047750" y="267970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Remote and convenient</a:t>
            </a:r>
            <a:endParaRPr lang="en-US" sz="1400" dirty="0"/>
          </a:p>
        </p:txBody>
      </p:sp>
      <p:sp>
        <p:nvSpPr>
          <p:cNvPr id="12" name="Shape 9"/>
          <p:cNvSpPr/>
          <p:nvPr/>
        </p:nvSpPr>
        <p:spPr>
          <a:xfrm>
            <a:off x="1047750" y="3002905"/>
            <a:ext cx="4711700" cy="0"/>
          </a:xfrm>
          <a:prstGeom prst="line">
            <a:avLst/>
          </a:prstGeom>
          <a:noFill/>
          <a:ln w="6350">
            <a:solidFill>
              <a:srgbClr val="D9DFEA"/>
            </a:solidFill>
            <a:prstDash val="solid"/>
          </a:ln>
        </p:spPr>
        <p:txBody>
          <a:bodyPr/>
          <a:lstStyle/>
          <a:p>
            <a:endParaRPr lang="en-US"/>
          </a:p>
        </p:txBody>
      </p:sp>
      <p:sp>
        <p:nvSpPr>
          <p:cNvPr id="13" name="Text 10"/>
          <p:cNvSpPr/>
          <p:nvPr/>
        </p:nvSpPr>
        <p:spPr>
          <a:xfrm>
            <a:off x="1047750" y="309498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FDA-cleared acuity test</a:t>
            </a:r>
            <a:endParaRPr lang="en-US" sz="1400" dirty="0"/>
          </a:p>
        </p:txBody>
      </p:sp>
      <p:sp>
        <p:nvSpPr>
          <p:cNvPr id="14" name="Shape 11"/>
          <p:cNvSpPr/>
          <p:nvPr/>
        </p:nvSpPr>
        <p:spPr>
          <a:xfrm>
            <a:off x="1047750" y="3418185"/>
            <a:ext cx="4711700" cy="0"/>
          </a:xfrm>
          <a:prstGeom prst="line">
            <a:avLst/>
          </a:prstGeom>
          <a:noFill/>
          <a:ln w="6350">
            <a:solidFill>
              <a:srgbClr val="D9DFEA"/>
            </a:solidFill>
            <a:prstDash val="solid"/>
          </a:ln>
        </p:spPr>
        <p:txBody>
          <a:bodyPr/>
          <a:lstStyle/>
          <a:p>
            <a:endParaRPr lang="en-US"/>
          </a:p>
        </p:txBody>
      </p:sp>
      <p:sp>
        <p:nvSpPr>
          <p:cNvPr id="15" name="Text 12"/>
          <p:cNvSpPr/>
          <p:nvPr/>
        </p:nvSpPr>
        <p:spPr>
          <a:xfrm>
            <a:off x="1047750" y="351026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Nationwide network of licensed eye-care providers</a:t>
            </a:r>
            <a:endParaRPr lang="en-US" sz="1400" dirty="0"/>
          </a:p>
        </p:txBody>
      </p:sp>
      <p:sp>
        <p:nvSpPr>
          <p:cNvPr id="16" name="Text 13"/>
          <p:cNvSpPr/>
          <p:nvPr/>
        </p:nvSpPr>
        <p:spPr>
          <a:xfrm>
            <a:off x="1047750" y="5637560"/>
            <a:ext cx="4853051"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Selected competitor: Visibly. The AI’s SWOT (Slide 3) used EyeQue.</a:t>
            </a:r>
            <a:endParaRPr lang="en-US" sz="1200" dirty="0"/>
          </a:p>
        </p:txBody>
      </p:sp>
      <p:sp>
        <p:nvSpPr>
          <p:cNvPr id="17" name="Shape 14"/>
          <p:cNvSpPr/>
          <p:nvPr/>
        </p:nvSpPr>
        <p:spPr>
          <a:xfrm>
            <a:off x="6200775" y="1489075"/>
            <a:ext cx="5175250" cy="4552950"/>
          </a:xfrm>
          <a:prstGeom prst="roundRect">
            <a:avLst>
              <a:gd name="adj" fmla="val 2720"/>
            </a:avLst>
          </a:prstGeom>
          <a:solidFill>
            <a:srgbClr val="FBFCFE"/>
          </a:solidFill>
          <a:ln w="6350">
            <a:solidFill>
              <a:srgbClr val="D9DFEA"/>
            </a:solidFill>
            <a:prstDash val="solid"/>
          </a:ln>
        </p:spPr>
        <p:txBody>
          <a:bodyPr/>
          <a:lstStyle/>
          <a:p>
            <a:endParaRPr lang="en-US"/>
          </a:p>
        </p:txBody>
      </p:sp>
      <p:sp>
        <p:nvSpPr>
          <p:cNvPr id="18" name="Text 15"/>
          <p:cNvSpPr/>
          <p:nvPr/>
        </p:nvSpPr>
        <p:spPr>
          <a:xfrm>
            <a:off x="6432550" y="1695450"/>
            <a:ext cx="68580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D6AAE"/>
                </a:solidFill>
                <a:latin typeface="Space Grotesk" pitchFamily="34" charset="0"/>
                <a:ea typeface="Space Grotesk" pitchFamily="34" charset="-122"/>
                <a:cs typeface="Space Grotesk" pitchFamily="34" charset="-120"/>
              </a:rPr>
              <a:t>W</a:t>
            </a:r>
            <a:endParaRPr lang="en-US" sz="6000" dirty="0"/>
          </a:p>
        </p:txBody>
      </p:sp>
      <p:sp>
        <p:nvSpPr>
          <p:cNvPr id="19" name="Text 16"/>
          <p:cNvSpPr/>
          <p:nvPr/>
        </p:nvSpPr>
        <p:spPr>
          <a:xfrm>
            <a:off x="7219950" y="1811040"/>
            <a:ext cx="1713458"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E1B3D"/>
                </a:solidFill>
                <a:latin typeface="Space Grotesk" pitchFamily="34" charset="0"/>
                <a:ea typeface="Space Grotesk" pitchFamily="34" charset="-122"/>
                <a:cs typeface="Space Grotesk" pitchFamily="34" charset="-120"/>
              </a:rPr>
              <a:t>Weaknesses</a:t>
            </a:r>
            <a:endParaRPr lang="en-US" sz="2200" dirty="0"/>
          </a:p>
        </p:txBody>
      </p:sp>
      <p:sp>
        <p:nvSpPr>
          <p:cNvPr id="20" name="Text 17"/>
          <p:cNvSpPr/>
          <p:nvPr/>
        </p:nvSpPr>
        <p:spPr>
          <a:xfrm>
            <a:off x="7219950" y="2143770"/>
            <a:ext cx="1713458"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Where Visibly falls short</a:t>
            </a:r>
            <a:endParaRPr lang="en-US" sz="1200" dirty="0"/>
          </a:p>
        </p:txBody>
      </p:sp>
      <p:sp>
        <p:nvSpPr>
          <p:cNvPr id="21" name="Shape 18"/>
          <p:cNvSpPr/>
          <p:nvPr/>
        </p:nvSpPr>
        <p:spPr>
          <a:xfrm>
            <a:off x="6432550" y="2587625"/>
            <a:ext cx="4711700" cy="0"/>
          </a:xfrm>
          <a:prstGeom prst="line">
            <a:avLst/>
          </a:prstGeom>
          <a:noFill/>
          <a:ln w="6350">
            <a:solidFill>
              <a:srgbClr val="D9DFEA"/>
            </a:solidFill>
            <a:prstDash val="solid"/>
          </a:ln>
        </p:spPr>
        <p:txBody>
          <a:bodyPr/>
          <a:lstStyle/>
          <a:p>
            <a:endParaRPr lang="en-US"/>
          </a:p>
        </p:txBody>
      </p:sp>
      <p:sp>
        <p:nvSpPr>
          <p:cNvPr id="22" name="Text 19"/>
          <p:cNvSpPr/>
          <p:nvPr/>
        </p:nvSpPr>
        <p:spPr>
          <a:xfrm>
            <a:off x="6432550" y="267970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Mainly acuity and prescription renewal — limited test scope</a:t>
            </a:r>
            <a:endParaRPr lang="en-US" sz="1400" dirty="0"/>
          </a:p>
        </p:txBody>
      </p:sp>
      <p:sp>
        <p:nvSpPr>
          <p:cNvPr id="23" name="Shape 20"/>
          <p:cNvSpPr/>
          <p:nvPr/>
        </p:nvSpPr>
        <p:spPr>
          <a:xfrm>
            <a:off x="6432550" y="3002905"/>
            <a:ext cx="4711700" cy="0"/>
          </a:xfrm>
          <a:prstGeom prst="line">
            <a:avLst/>
          </a:prstGeom>
          <a:noFill/>
          <a:ln w="6350">
            <a:solidFill>
              <a:srgbClr val="D9DFEA"/>
            </a:solidFill>
            <a:prstDash val="solid"/>
          </a:ln>
        </p:spPr>
        <p:txBody>
          <a:bodyPr/>
          <a:lstStyle/>
          <a:p>
            <a:endParaRPr lang="en-US"/>
          </a:p>
        </p:txBody>
      </p:sp>
      <p:sp>
        <p:nvSpPr>
          <p:cNvPr id="24" name="Text 21"/>
          <p:cNvSpPr/>
          <p:nvPr/>
        </p:nvSpPr>
        <p:spPr>
          <a:xfrm>
            <a:off x="6432550" y="309498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Needs clinician review</a:t>
            </a:r>
            <a:endParaRPr lang="en-US" sz="1400" dirty="0"/>
          </a:p>
        </p:txBody>
      </p:sp>
      <p:sp>
        <p:nvSpPr>
          <p:cNvPr id="25" name="Shape 22"/>
          <p:cNvSpPr/>
          <p:nvPr/>
        </p:nvSpPr>
        <p:spPr>
          <a:xfrm>
            <a:off x="6432550" y="3418185"/>
            <a:ext cx="4711700" cy="0"/>
          </a:xfrm>
          <a:prstGeom prst="line">
            <a:avLst/>
          </a:prstGeom>
          <a:noFill/>
          <a:ln w="6350">
            <a:solidFill>
              <a:srgbClr val="D9DFEA"/>
            </a:solidFill>
            <a:prstDash val="solid"/>
          </a:ln>
        </p:spPr>
        <p:txBody>
          <a:bodyPr/>
          <a:lstStyle/>
          <a:p>
            <a:endParaRPr lang="en-US"/>
          </a:p>
        </p:txBody>
      </p:sp>
      <p:sp>
        <p:nvSpPr>
          <p:cNvPr id="26" name="Text 23"/>
          <p:cNvSpPr/>
          <p:nvPr/>
        </p:nvSpPr>
        <p:spPr>
          <a:xfrm>
            <a:off x="6432550" y="351026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FDA-cleared only for adults aged 22–40</a:t>
            </a:r>
            <a:endParaRPr lang="en-US" sz="1400" dirty="0"/>
          </a:p>
        </p:txBody>
      </p:sp>
      <p:sp>
        <p:nvSpPr>
          <p:cNvPr id="27" name="Shape 24"/>
          <p:cNvSpPr/>
          <p:nvPr/>
        </p:nvSpPr>
        <p:spPr>
          <a:xfrm>
            <a:off x="6432550" y="3792190"/>
            <a:ext cx="982117" cy="238720"/>
          </a:xfrm>
          <a:prstGeom prst="roundRect">
            <a:avLst>
              <a:gd name="adj" fmla="val 21280"/>
            </a:avLst>
          </a:prstGeom>
          <a:solidFill>
            <a:srgbClr val="B0521A"/>
          </a:solidFill>
          <a:ln/>
        </p:spPr>
        <p:txBody>
          <a:bodyPr/>
          <a:lstStyle/>
          <a:p>
            <a:endParaRPr lang="en-US"/>
          </a:p>
        </p:txBody>
      </p:sp>
      <p:sp>
        <p:nvSpPr>
          <p:cNvPr id="28" name="Text 25"/>
          <p:cNvSpPr/>
          <p:nvPr/>
        </p:nvSpPr>
        <p:spPr>
          <a:xfrm>
            <a:off x="6508750" y="3804890"/>
            <a:ext cx="880517"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AI MISSED</a:t>
            </a:r>
            <a:endParaRPr lang="en-US" sz="1200" dirty="0"/>
          </a:p>
        </p:txBody>
      </p:sp>
      <p:sp>
        <p:nvSpPr>
          <p:cNvPr id="29" name="Text 26"/>
          <p:cNvSpPr/>
          <p:nvPr/>
        </p:nvSpPr>
        <p:spPr>
          <a:xfrm>
            <a:off x="7490867" y="3792190"/>
            <a:ext cx="3762985"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0521A"/>
                </a:solidFill>
                <a:latin typeface="IBM Plex Sans" pitchFamily="34" charset="0"/>
                <a:ea typeface="IBM Plex Sans" pitchFamily="34" charset="-122"/>
                <a:cs typeface="IBM Plex Sans" pitchFamily="34" charset="-120"/>
              </a:rPr>
              <a:t>The age range where eye problems are least common, so the clearance is less groundbreaking than full coverage.</a:t>
            </a:r>
            <a:endParaRPr lang="en-US" sz="1200" dirty="0"/>
          </a:p>
        </p:txBody>
      </p:sp>
      <p:sp>
        <p:nvSpPr>
          <p:cNvPr id="30" name="Shape 27"/>
          <p:cNvSpPr/>
          <p:nvPr/>
        </p:nvSpPr>
        <p:spPr>
          <a:xfrm>
            <a:off x="6432550" y="4478536"/>
            <a:ext cx="4711700" cy="0"/>
          </a:xfrm>
          <a:prstGeom prst="line">
            <a:avLst/>
          </a:prstGeom>
          <a:noFill/>
          <a:ln w="6350">
            <a:solidFill>
              <a:srgbClr val="D9DFEA"/>
            </a:solidFill>
            <a:prstDash val="solid"/>
          </a:ln>
        </p:spPr>
        <p:txBody>
          <a:bodyPr/>
          <a:lstStyle/>
          <a:p>
            <a:endParaRPr lang="en-US"/>
          </a:p>
        </p:txBody>
      </p:sp>
      <p:sp>
        <p:nvSpPr>
          <p:cNvPr id="31" name="Text 28"/>
          <p:cNvSpPr/>
          <p:nvPr/>
        </p:nvSpPr>
        <p:spPr>
          <a:xfrm>
            <a:off x="6432550" y="4570611"/>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At-home conditions vary from test to test</a:t>
            </a:r>
            <a:endParaRPr lang="en-US" sz="1400" dirty="0"/>
          </a:p>
        </p:txBody>
      </p:sp>
      <p:sp>
        <p:nvSpPr>
          <p:cNvPr id="32" name="Shape 29"/>
          <p:cNvSpPr/>
          <p:nvPr/>
        </p:nvSpPr>
        <p:spPr>
          <a:xfrm>
            <a:off x="6432550" y="4893816"/>
            <a:ext cx="4711700" cy="0"/>
          </a:xfrm>
          <a:prstGeom prst="line">
            <a:avLst/>
          </a:prstGeom>
          <a:noFill/>
          <a:ln w="6350">
            <a:solidFill>
              <a:srgbClr val="D9DFEA"/>
            </a:solidFill>
            <a:prstDash val="solid"/>
          </a:ln>
        </p:spPr>
        <p:txBody>
          <a:bodyPr/>
          <a:lstStyle/>
          <a:p>
            <a:endParaRPr lang="en-US"/>
          </a:p>
        </p:txBody>
      </p:sp>
      <p:sp>
        <p:nvSpPr>
          <p:cNvPr id="33" name="Text 30"/>
          <p:cNvSpPr/>
          <p:nvPr/>
        </p:nvSpPr>
        <p:spPr>
          <a:xfrm>
            <a:off x="6432550" y="4985891"/>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Relies on retail and licensed-provider partners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8507606"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Our SWOT of Visibly: opportunities and threats</a:t>
            </a:r>
            <a:endParaRPr lang="en-US" sz="3000" dirty="0"/>
          </a:p>
        </p:txBody>
      </p:sp>
      <p:sp>
        <p:nvSpPr>
          <p:cNvPr id="3" name="Shape 1"/>
          <p:cNvSpPr/>
          <p:nvPr/>
        </p:nvSpPr>
        <p:spPr>
          <a:xfrm>
            <a:off x="10107960" y="812800"/>
            <a:ext cx="1271240"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10158760" y="863600"/>
            <a:ext cx="228600" cy="228600"/>
          </a:xfrm>
          <a:prstGeom prst="rect">
            <a:avLst/>
          </a:prstGeom>
        </p:spPr>
      </p:pic>
      <p:sp>
        <p:nvSpPr>
          <p:cNvPr id="5" name="Text 2"/>
          <p:cNvSpPr/>
          <p:nvPr/>
        </p:nvSpPr>
        <p:spPr>
          <a:xfrm>
            <a:off x="10450860" y="886470"/>
            <a:ext cx="852140"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5 · 4B</a:t>
            </a:r>
            <a:endParaRPr lang="en-US" sz="1200" dirty="0"/>
          </a:p>
        </p:txBody>
      </p:sp>
      <p:sp>
        <p:nvSpPr>
          <p:cNvPr id="6" name="Shape 3"/>
          <p:cNvSpPr/>
          <p:nvPr/>
        </p:nvSpPr>
        <p:spPr>
          <a:xfrm>
            <a:off x="815975" y="1489075"/>
            <a:ext cx="5175250" cy="4552950"/>
          </a:xfrm>
          <a:prstGeom prst="roundRect">
            <a:avLst>
              <a:gd name="adj" fmla="val 2720"/>
            </a:avLst>
          </a:prstGeom>
          <a:solidFill>
            <a:srgbClr val="FBFCFE"/>
          </a:solidFill>
          <a:ln w="6350">
            <a:solidFill>
              <a:srgbClr val="D9DFEA"/>
            </a:solidFill>
            <a:prstDash val="solid"/>
          </a:ln>
        </p:spPr>
        <p:txBody>
          <a:bodyPr/>
          <a:lstStyle/>
          <a:p>
            <a:endParaRPr lang="en-US"/>
          </a:p>
        </p:txBody>
      </p:sp>
      <p:sp>
        <p:nvSpPr>
          <p:cNvPr id="7" name="Text 4"/>
          <p:cNvSpPr/>
          <p:nvPr/>
        </p:nvSpPr>
        <p:spPr>
          <a:xfrm>
            <a:off x="1047750" y="1695450"/>
            <a:ext cx="68580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D6AAE"/>
                </a:solidFill>
                <a:latin typeface="Space Grotesk" pitchFamily="34" charset="0"/>
                <a:ea typeface="Space Grotesk" pitchFamily="34" charset="-122"/>
                <a:cs typeface="Space Grotesk" pitchFamily="34" charset="-120"/>
              </a:rPr>
              <a:t>O</a:t>
            </a:r>
            <a:endParaRPr lang="en-US" sz="6000" dirty="0"/>
          </a:p>
        </p:txBody>
      </p:sp>
      <p:sp>
        <p:nvSpPr>
          <p:cNvPr id="8" name="Text 5"/>
          <p:cNvSpPr/>
          <p:nvPr/>
        </p:nvSpPr>
        <p:spPr>
          <a:xfrm>
            <a:off x="1835150" y="1811040"/>
            <a:ext cx="2635259"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E1B3D"/>
                </a:solidFill>
                <a:latin typeface="Space Grotesk" pitchFamily="34" charset="0"/>
                <a:ea typeface="Space Grotesk" pitchFamily="34" charset="-122"/>
                <a:cs typeface="Space Grotesk" pitchFamily="34" charset="-120"/>
              </a:rPr>
              <a:t>Opportunities</a:t>
            </a:r>
            <a:endParaRPr lang="en-US" sz="2200" dirty="0"/>
          </a:p>
        </p:txBody>
      </p:sp>
      <p:sp>
        <p:nvSpPr>
          <p:cNvPr id="9" name="Text 6"/>
          <p:cNvSpPr/>
          <p:nvPr/>
        </p:nvSpPr>
        <p:spPr>
          <a:xfrm>
            <a:off x="1835150" y="2143770"/>
            <a:ext cx="263525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Where the problem remains unsolved</a:t>
            </a:r>
            <a:endParaRPr lang="en-US" sz="1200" dirty="0"/>
          </a:p>
        </p:txBody>
      </p:sp>
      <p:sp>
        <p:nvSpPr>
          <p:cNvPr id="10" name="Shape 7"/>
          <p:cNvSpPr/>
          <p:nvPr/>
        </p:nvSpPr>
        <p:spPr>
          <a:xfrm>
            <a:off x="1047750" y="2587625"/>
            <a:ext cx="4711700" cy="0"/>
          </a:xfrm>
          <a:prstGeom prst="line">
            <a:avLst/>
          </a:prstGeom>
          <a:noFill/>
          <a:ln w="6350">
            <a:solidFill>
              <a:srgbClr val="D9DFEA"/>
            </a:solidFill>
            <a:prstDash val="solid"/>
          </a:ln>
        </p:spPr>
        <p:txBody>
          <a:bodyPr/>
          <a:lstStyle/>
          <a:p>
            <a:endParaRPr lang="en-US"/>
          </a:p>
        </p:txBody>
      </p:sp>
      <p:sp>
        <p:nvSpPr>
          <p:cNvPr id="11" name="Text 8"/>
          <p:cNvSpPr/>
          <p:nvPr/>
        </p:nvSpPr>
        <p:spPr>
          <a:xfrm>
            <a:off x="1047750" y="267970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Broader vision testing</a:t>
            </a:r>
            <a:endParaRPr lang="en-US" sz="1400" dirty="0"/>
          </a:p>
        </p:txBody>
      </p:sp>
      <p:sp>
        <p:nvSpPr>
          <p:cNvPr id="12" name="Shape 9"/>
          <p:cNvSpPr/>
          <p:nvPr/>
        </p:nvSpPr>
        <p:spPr>
          <a:xfrm>
            <a:off x="1047750" y="3002905"/>
            <a:ext cx="4711700" cy="0"/>
          </a:xfrm>
          <a:prstGeom prst="line">
            <a:avLst/>
          </a:prstGeom>
          <a:noFill/>
          <a:ln w="6350">
            <a:solidFill>
              <a:srgbClr val="D9DFEA"/>
            </a:solidFill>
            <a:prstDash val="solid"/>
          </a:ln>
        </p:spPr>
        <p:txBody>
          <a:bodyPr/>
          <a:lstStyle/>
          <a:p>
            <a:endParaRPr lang="en-US"/>
          </a:p>
        </p:txBody>
      </p:sp>
      <p:sp>
        <p:nvSpPr>
          <p:cNvPr id="13" name="Text 10"/>
          <p:cNvSpPr/>
          <p:nvPr/>
        </p:nvSpPr>
        <p:spPr>
          <a:xfrm>
            <a:off x="1047750" y="309498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Tracking over time</a:t>
            </a:r>
            <a:endParaRPr lang="en-US" sz="1400" dirty="0"/>
          </a:p>
        </p:txBody>
      </p:sp>
      <p:sp>
        <p:nvSpPr>
          <p:cNvPr id="14" name="Shape 11"/>
          <p:cNvSpPr/>
          <p:nvPr/>
        </p:nvSpPr>
        <p:spPr>
          <a:xfrm>
            <a:off x="1047750" y="3418185"/>
            <a:ext cx="4711700" cy="0"/>
          </a:xfrm>
          <a:prstGeom prst="line">
            <a:avLst/>
          </a:prstGeom>
          <a:noFill/>
          <a:ln w="6350">
            <a:solidFill>
              <a:srgbClr val="D9DFEA"/>
            </a:solidFill>
            <a:prstDash val="solid"/>
          </a:ln>
        </p:spPr>
        <p:txBody>
          <a:bodyPr/>
          <a:lstStyle/>
          <a:p>
            <a:endParaRPr lang="en-US"/>
          </a:p>
        </p:txBody>
      </p:sp>
      <p:sp>
        <p:nvSpPr>
          <p:cNvPr id="15" name="Text 12"/>
          <p:cNvSpPr/>
          <p:nvPr/>
        </p:nvSpPr>
        <p:spPr>
          <a:xfrm>
            <a:off x="1047750" y="351026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Regulated screening</a:t>
            </a:r>
            <a:endParaRPr lang="en-US" sz="1400" dirty="0"/>
          </a:p>
        </p:txBody>
      </p:sp>
      <p:sp>
        <p:nvSpPr>
          <p:cNvPr id="16" name="Shape 13"/>
          <p:cNvSpPr/>
          <p:nvPr/>
        </p:nvSpPr>
        <p:spPr>
          <a:xfrm>
            <a:off x="1047750" y="3833465"/>
            <a:ext cx="4711700" cy="0"/>
          </a:xfrm>
          <a:prstGeom prst="line">
            <a:avLst/>
          </a:prstGeom>
          <a:noFill/>
          <a:ln w="6350">
            <a:solidFill>
              <a:srgbClr val="D9DFEA"/>
            </a:solidFill>
            <a:prstDash val="solid"/>
          </a:ln>
        </p:spPr>
        <p:txBody>
          <a:bodyPr/>
          <a:lstStyle/>
          <a:p>
            <a:endParaRPr lang="en-US"/>
          </a:p>
        </p:txBody>
      </p:sp>
      <p:sp>
        <p:nvSpPr>
          <p:cNvPr id="17" name="Text 14"/>
          <p:cNvSpPr/>
          <p:nvPr/>
        </p:nvSpPr>
        <p:spPr>
          <a:xfrm>
            <a:off x="1047750" y="3925540"/>
            <a:ext cx="4853051"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Partnerships with retailers, contact-lens sellers, employers, and insurers</a:t>
            </a:r>
            <a:endParaRPr lang="en-US" sz="1400" dirty="0"/>
          </a:p>
        </p:txBody>
      </p:sp>
      <p:sp>
        <p:nvSpPr>
          <p:cNvPr id="18" name="Shape 15"/>
          <p:cNvSpPr/>
          <p:nvPr/>
        </p:nvSpPr>
        <p:spPr>
          <a:xfrm>
            <a:off x="1047750" y="4479875"/>
            <a:ext cx="4711700" cy="0"/>
          </a:xfrm>
          <a:prstGeom prst="line">
            <a:avLst/>
          </a:prstGeom>
          <a:noFill/>
          <a:ln w="6350">
            <a:solidFill>
              <a:srgbClr val="D9DFEA"/>
            </a:solidFill>
            <a:prstDash val="solid"/>
          </a:ln>
        </p:spPr>
        <p:txBody>
          <a:bodyPr/>
          <a:lstStyle/>
          <a:p>
            <a:endParaRPr lang="en-US"/>
          </a:p>
        </p:txBody>
      </p:sp>
      <p:sp>
        <p:nvSpPr>
          <p:cNvPr id="19" name="Text 16"/>
          <p:cNvSpPr/>
          <p:nvPr/>
        </p:nvSpPr>
        <p:spPr>
          <a:xfrm>
            <a:off x="1047750" y="457195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In-store testing that doesn’t require professional staff</a:t>
            </a:r>
            <a:endParaRPr lang="en-US" sz="1400" dirty="0"/>
          </a:p>
        </p:txBody>
      </p:sp>
      <p:sp>
        <p:nvSpPr>
          <p:cNvPr id="20" name="Shape 17"/>
          <p:cNvSpPr/>
          <p:nvPr/>
        </p:nvSpPr>
        <p:spPr>
          <a:xfrm>
            <a:off x="6200775" y="1489075"/>
            <a:ext cx="5175250" cy="4552950"/>
          </a:xfrm>
          <a:prstGeom prst="roundRect">
            <a:avLst>
              <a:gd name="adj" fmla="val 2720"/>
            </a:avLst>
          </a:prstGeom>
          <a:solidFill>
            <a:srgbClr val="FBFCFE"/>
          </a:solidFill>
          <a:ln w="6350">
            <a:solidFill>
              <a:srgbClr val="D9DFEA"/>
            </a:solidFill>
            <a:prstDash val="solid"/>
          </a:ln>
        </p:spPr>
        <p:txBody>
          <a:bodyPr/>
          <a:lstStyle/>
          <a:p>
            <a:endParaRPr lang="en-US"/>
          </a:p>
        </p:txBody>
      </p:sp>
      <p:sp>
        <p:nvSpPr>
          <p:cNvPr id="21" name="Text 18"/>
          <p:cNvSpPr/>
          <p:nvPr/>
        </p:nvSpPr>
        <p:spPr>
          <a:xfrm>
            <a:off x="6432550" y="1695450"/>
            <a:ext cx="68580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D6AAE"/>
                </a:solidFill>
                <a:latin typeface="Space Grotesk" pitchFamily="34" charset="0"/>
                <a:ea typeface="Space Grotesk" pitchFamily="34" charset="-122"/>
                <a:cs typeface="Space Grotesk" pitchFamily="34" charset="-120"/>
              </a:rPr>
              <a:t>T</a:t>
            </a:r>
            <a:endParaRPr lang="en-US" sz="6000" dirty="0"/>
          </a:p>
        </p:txBody>
      </p:sp>
      <p:sp>
        <p:nvSpPr>
          <p:cNvPr id="22" name="Text 19"/>
          <p:cNvSpPr/>
          <p:nvPr/>
        </p:nvSpPr>
        <p:spPr>
          <a:xfrm>
            <a:off x="7219950" y="1811040"/>
            <a:ext cx="1975844" cy="33273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E1B3D"/>
                </a:solidFill>
                <a:latin typeface="Space Grotesk" pitchFamily="34" charset="0"/>
                <a:ea typeface="Space Grotesk" pitchFamily="34" charset="-122"/>
                <a:cs typeface="Space Grotesk" pitchFamily="34" charset="-120"/>
              </a:rPr>
              <a:t>Threats</a:t>
            </a:r>
            <a:endParaRPr lang="en-US" sz="2200" dirty="0"/>
          </a:p>
        </p:txBody>
      </p:sp>
      <p:sp>
        <p:nvSpPr>
          <p:cNvPr id="23" name="Text 20"/>
          <p:cNvSpPr/>
          <p:nvPr/>
        </p:nvSpPr>
        <p:spPr>
          <a:xfrm>
            <a:off x="7219950" y="2143770"/>
            <a:ext cx="1975844"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What could stand in the way</a:t>
            </a:r>
            <a:endParaRPr lang="en-US" sz="1200" dirty="0"/>
          </a:p>
        </p:txBody>
      </p:sp>
      <p:sp>
        <p:nvSpPr>
          <p:cNvPr id="24" name="Shape 21"/>
          <p:cNvSpPr/>
          <p:nvPr/>
        </p:nvSpPr>
        <p:spPr>
          <a:xfrm>
            <a:off x="6432550" y="2587625"/>
            <a:ext cx="4711700" cy="0"/>
          </a:xfrm>
          <a:prstGeom prst="line">
            <a:avLst/>
          </a:prstGeom>
          <a:noFill/>
          <a:ln w="6350">
            <a:solidFill>
              <a:srgbClr val="D9DFEA"/>
            </a:solidFill>
            <a:prstDash val="solid"/>
          </a:ln>
        </p:spPr>
        <p:txBody>
          <a:bodyPr/>
          <a:lstStyle/>
          <a:p>
            <a:endParaRPr lang="en-US"/>
          </a:p>
        </p:txBody>
      </p:sp>
      <p:sp>
        <p:nvSpPr>
          <p:cNvPr id="25" name="Text 22"/>
          <p:cNvSpPr/>
          <p:nvPr/>
        </p:nvSpPr>
        <p:spPr>
          <a:xfrm>
            <a:off x="6432550" y="267970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Visibly expands into broader vision testing</a:t>
            </a:r>
            <a:endParaRPr lang="en-US" sz="1400" dirty="0"/>
          </a:p>
        </p:txBody>
      </p:sp>
      <p:sp>
        <p:nvSpPr>
          <p:cNvPr id="26" name="Shape 23"/>
          <p:cNvSpPr/>
          <p:nvPr/>
        </p:nvSpPr>
        <p:spPr>
          <a:xfrm>
            <a:off x="6432550" y="3002905"/>
            <a:ext cx="4711700" cy="0"/>
          </a:xfrm>
          <a:prstGeom prst="line">
            <a:avLst/>
          </a:prstGeom>
          <a:noFill/>
          <a:ln w="6350">
            <a:solidFill>
              <a:srgbClr val="D9DFEA"/>
            </a:solidFill>
            <a:prstDash val="solid"/>
          </a:ln>
        </p:spPr>
        <p:txBody>
          <a:bodyPr/>
          <a:lstStyle/>
          <a:p>
            <a:endParaRPr lang="en-US"/>
          </a:p>
        </p:txBody>
      </p:sp>
      <p:sp>
        <p:nvSpPr>
          <p:cNvPr id="27" name="Text 24"/>
          <p:cNvSpPr/>
          <p:nvPr/>
        </p:nvSpPr>
        <p:spPr>
          <a:xfrm>
            <a:off x="6432550" y="309498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Large eye-care companies build similar digital tools</a:t>
            </a:r>
            <a:endParaRPr lang="en-US" sz="1400" dirty="0"/>
          </a:p>
        </p:txBody>
      </p:sp>
      <p:sp>
        <p:nvSpPr>
          <p:cNvPr id="28" name="Shape 25"/>
          <p:cNvSpPr/>
          <p:nvPr/>
        </p:nvSpPr>
        <p:spPr>
          <a:xfrm>
            <a:off x="6432550" y="3418185"/>
            <a:ext cx="4711700" cy="0"/>
          </a:xfrm>
          <a:prstGeom prst="line">
            <a:avLst/>
          </a:prstGeom>
          <a:noFill/>
          <a:ln w="6350">
            <a:solidFill>
              <a:srgbClr val="D9DFEA"/>
            </a:solidFill>
            <a:prstDash val="solid"/>
          </a:ln>
        </p:spPr>
        <p:txBody>
          <a:bodyPr/>
          <a:lstStyle/>
          <a:p>
            <a:endParaRPr lang="en-US"/>
          </a:p>
        </p:txBody>
      </p:sp>
      <p:sp>
        <p:nvSpPr>
          <p:cNvPr id="29" name="Text 26"/>
          <p:cNvSpPr/>
          <p:nvPr/>
        </p:nvSpPr>
        <p:spPr>
          <a:xfrm>
            <a:off x="6432550" y="351026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Clinics or regulators don’t trust remote results</a:t>
            </a:r>
            <a:endParaRPr lang="en-US" sz="1400" dirty="0"/>
          </a:p>
        </p:txBody>
      </p:sp>
      <p:sp>
        <p:nvSpPr>
          <p:cNvPr id="30" name="Shape 27"/>
          <p:cNvSpPr/>
          <p:nvPr/>
        </p:nvSpPr>
        <p:spPr>
          <a:xfrm>
            <a:off x="6432550" y="3833465"/>
            <a:ext cx="4711700" cy="0"/>
          </a:xfrm>
          <a:prstGeom prst="line">
            <a:avLst/>
          </a:prstGeom>
          <a:noFill/>
          <a:ln w="6350">
            <a:solidFill>
              <a:srgbClr val="D9DFEA"/>
            </a:solidFill>
            <a:prstDash val="solid"/>
          </a:ln>
        </p:spPr>
        <p:txBody>
          <a:bodyPr/>
          <a:lstStyle/>
          <a:p>
            <a:endParaRPr lang="en-US"/>
          </a:p>
        </p:txBody>
      </p:sp>
      <p:sp>
        <p:nvSpPr>
          <p:cNvPr id="31" name="Text 28"/>
          <p:cNvSpPr/>
          <p:nvPr/>
        </p:nvSpPr>
        <p:spPr>
          <a:xfrm>
            <a:off x="6432550" y="3925540"/>
            <a:ext cx="485305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Privacy or cybersecurity issues with stored health data</a:t>
            </a:r>
            <a:endParaRPr lang="en-US" sz="1400" dirty="0"/>
          </a:p>
        </p:txBody>
      </p:sp>
      <p:sp>
        <p:nvSpPr>
          <p:cNvPr id="32" name="Shape 29"/>
          <p:cNvSpPr/>
          <p:nvPr/>
        </p:nvSpPr>
        <p:spPr>
          <a:xfrm>
            <a:off x="6432550" y="4248745"/>
            <a:ext cx="4711700" cy="0"/>
          </a:xfrm>
          <a:prstGeom prst="line">
            <a:avLst/>
          </a:prstGeom>
          <a:noFill/>
          <a:ln w="6350">
            <a:solidFill>
              <a:srgbClr val="D9DFEA"/>
            </a:solidFill>
            <a:prstDash val="solid"/>
          </a:ln>
        </p:spPr>
        <p:txBody>
          <a:bodyPr/>
          <a:lstStyle/>
          <a:p>
            <a:endParaRPr lang="en-US"/>
          </a:p>
        </p:txBody>
      </p:sp>
      <p:sp>
        <p:nvSpPr>
          <p:cNvPr id="33" name="Text 30"/>
          <p:cNvSpPr/>
          <p:nvPr/>
        </p:nvSpPr>
        <p:spPr>
          <a:xfrm>
            <a:off x="6432550" y="4340820"/>
            <a:ext cx="4853051"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0E1B3D"/>
                </a:solidFill>
                <a:latin typeface="IBM Plex Sans" pitchFamily="34" charset="0"/>
                <a:ea typeface="IBM Plex Sans" pitchFamily="34" charset="-122"/>
                <a:cs typeface="IBM Plex Sans" pitchFamily="34" charset="-120"/>
              </a:rPr>
              <a:t>Opposition from optometry specialists and lobbyists (“BigOpto”)</a:t>
            </a:r>
            <a:endParaRPr lang="en-US" sz="1400" dirty="0"/>
          </a:p>
        </p:txBody>
      </p:sp>
      <p:sp>
        <p:nvSpPr>
          <p:cNvPr id="34" name="Shape 31"/>
          <p:cNvSpPr/>
          <p:nvPr/>
        </p:nvSpPr>
        <p:spPr>
          <a:xfrm>
            <a:off x="6432550" y="4853880"/>
            <a:ext cx="982117" cy="238720"/>
          </a:xfrm>
          <a:prstGeom prst="roundRect">
            <a:avLst>
              <a:gd name="adj" fmla="val 21280"/>
            </a:avLst>
          </a:prstGeom>
          <a:solidFill>
            <a:srgbClr val="B0521A"/>
          </a:solidFill>
          <a:ln/>
        </p:spPr>
        <p:txBody>
          <a:bodyPr/>
          <a:lstStyle/>
          <a:p>
            <a:endParaRPr lang="en-US"/>
          </a:p>
        </p:txBody>
      </p:sp>
      <p:sp>
        <p:nvSpPr>
          <p:cNvPr id="35" name="Text 32"/>
          <p:cNvSpPr/>
          <p:nvPr/>
        </p:nvSpPr>
        <p:spPr>
          <a:xfrm>
            <a:off x="6508750" y="4866580"/>
            <a:ext cx="880517" cy="238720"/>
          </a:xfrm>
          <a:prstGeom prst="rect">
            <a:avLst/>
          </a:prstGeom>
          <a:noFill/>
          <a:ln/>
        </p:spPr>
        <p:txBody>
          <a:bodyPr wrap="none" lIns="0" tIns="0" rIns="0" bIns="0" rtlCol="0" anchor="t">
            <a:normAutofit/>
          </a:bodyPr>
          <a:lstStyle/>
          <a:p>
            <a:pPr marL="0" indent="0" algn="l">
              <a:lnSpc>
                <a:spcPts val="1680"/>
              </a:lnSpc>
              <a:buNone/>
            </a:pPr>
            <a:r>
              <a:rPr lang="en-US" sz="1200" b="1" kern="0" spc="50" dirty="0">
                <a:solidFill>
                  <a:srgbClr val="FBFCFE"/>
                </a:solidFill>
                <a:latin typeface="IBM Plex Sans" pitchFamily="34" charset="0"/>
                <a:ea typeface="IBM Plex Sans" pitchFamily="34" charset="-122"/>
                <a:cs typeface="IBM Plex Sans" pitchFamily="34" charset="-120"/>
              </a:rPr>
              <a:t>AI MISSED</a:t>
            </a:r>
            <a:endParaRPr lang="en-US" sz="1200" dirty="0"/>
          </a:p>
        </p:txBody>
      </p:sp>
      <p:sp>
        <p:nvSpPr>
          <p:cNvPr id="36" name="Text 33"/>
          <p:cNvSpPr/>
          <p:nvPr/>
        </p:nvSpPr>
        <p:spPr>
          <a:xfrm>
            <a:off x="7490867" y="4853880"/>
            <a:ext cx="3762985"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0521A"/>
                </a:solidFill>
                <a:latin typeface="IBM Plex Sans" pitchFamily="34" charset="0"/>
                <a:ea typeface="IBM Plex Sans" pitchFamily="34" charset="-122"/>
                <a:cs typeface="IBM Plex Sans" pitchFamily="34" charset="-120"/>
              </a:rPr>
              <a:t>The AI never mentioned the pushback Visibly and EyeQue face from optometry specialists across the country.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6981933" cy="444500"/>
          </a:xfrm>
          <a:prstGeom prst="rect">
            <a:avLst/>
          </a:prstGeom>
          <a:noFill/>
          <a:ln/>
        </p:spPr>
        <p:txBody>
          <a:bodyPr wrap="square" lIns="0" tIns="0" rIns="0" bIns="0" rtlCol="0" anchor="t">
            <a:normAutofit/>
          </a:bodyPr>
          <a:lstStyle/>
          <a:p>
            <a:pPr marL="0" indent="0" algn="l">
              <a:lnSpc>
                <a:spcPts val="3300"/>
              </a:lnSpc>
              <a:buNone/>
            </a:pPr>
            <a:r>
              <a:rPr lang="en-US" sz="3000" b="1" kern="0" spc="-50" dirty="0">
                <a:solidFill>
                  <a:srgbClr val="0E1B3D"/>
                </a:solidFill>
                <a:latin typeface="Space Grotesk" pitchFamily="34" charset="0"/>
                <a:ea typeface="Space Grotesk" pitchFamily="34" charset="-122"/>
                <a:cs typeface="Space Grotesk" pitchFamily="34" charset="-120"/>
              </a:rPr>
              <a:t>Harvey balls: 8 competitors, 17 criteria</a:t>
            </a:r>
            <a:endParaRPr lang="en-US" sz="3000" dirty="0"/>
          </a:p>
        </p:txBody>
      </p:sp>
      <p:sp>
        <p:nvSpPr>
          <p:cNvPr id="3" name="Shape 1"/>
          <p:cNvSpPr/>
          <p:nvPr/>
        </p:nvSpPr>
        <p:spPr>
          <a:xfrm>
            <a:off x="10111135" y="812800"/>
            <a:ext cx="1268065" cy="330200"/>
          </a:xfrm>
          <a:prstGeom prst="roundRect">
            <a:avLst>
              <a:gd name="adj" fmla="val 50000"/>
            </a:avLst>
          </a:prstGeom>
          <a:solidFill>
            <a:srgbClr val="E9EDF4"/>
          </a:solidFill>
          <a:ln/>
        </p:spPr>
        <p:txBody>
          <a:bodyPr/>
          <a:lstStyle/>
          <a:p>
            <a:endParaRPr lang="en-US"/>
          </a:p>
        </p:txBody>
      </p:sp>
      <p:pic>
        <p:nvPicPr>
          <p:cNvPr id="4" name="Image 0" descr="Focal logo"/>
          <p:cNvPicPr>
            <a:picLocks noChangeAspect="1"/>
          </p:cNvPicPr>
          <p:nvPr/>
        </p:nvPicPr>
        <p:blipFill>
          <a:blip r:embed="rId3"/>
          <a:srcRect/>
          <a:stretch/>
        </p:blipFill>
        <p:spPr>
          <a:xfrm>
            <a:off x="10161935" y="863600"/>
            <a:ext cx="228600" cy="228600"/>
          </a:xfrm>
          <a:prstGeom prst="rect">
            <a:avLst/>
          </a:prstGeom>
        </p:spPr>
      </p:pic>
      <p:sp>
        <p:nvSpPr>
          <p:cNvPr id="5" name="Text 2"/>
          <p:cNvSpPr/>
          <p:nvPr/>
        </p:nvSpPr>
        <p:spPr>
          <a:xfrm>
            <a:off x="10454035" y="886470"/>
            <a:ext cx="848965" cy="208260"/>
          </a:xfrm>
          <a:prstGeom prst="rect">
            <a:avLst/>
          </a:prstGeom>
          <a:noFill/>
          <a:ln/>
        </p:spPr>
        <p:txBody>
          <a:bodyPr wrap="none" lIns="0" tIns="0" rIns="0" bIns="0" rtlCol="0" anchor="t">
            <a:normAutofit/>
          </a:bodyPr>
          <a:lstStyle/>
          <a:p>
            <a:pPr marL="0" indent="0" algn="l">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Slide 6 · 5C</a:t>
            </a:r>
            <a:endParaRPr lang="en-US" sz="1200" dirty="0"/>
          </a:p>
        </p:txBody>
      </p:sp>
      <p:pic>
        <p:nvPicPr>
          <p:cNvPr id="6" name="Image 1" descr="Harvey ball matrix: 8 competitors across 17 criteria in 4 categories. Orange arcs around 18 cells show the AI’s original score where we changed it."/>
          <p:cNvPicPr>
            <a:picLocks noChangeAspect="1"/>
          </p:cNvPicPr>
          <p:nvPr/>
        </p:nvPicPr>
        <p:blipFill>
          <a:blip r:embed="rId4"/>
          <a:srcRect/>
          <a:stretch/>
        </p:blipFill>
        <p:spPr>
          <a:xfrm>
            <a:off x="812800" y="3365500"/>
            <a:ext cx="10566400" cy="2641600"/>
          </a:xfrm>
          <a:prstGeom prst="rect">
            <a:avLst/>
          </a:prstGeom>
        </p:spPr>
      </p:pic>
      <p:sp>
        <p:nvSpPr>
          <p:cNvPr id="7" name="Shape 3"/>
          <p:cNvSpPr/>
          <p:nvPr/>
        </p:nvSpPr>
        <p:spPr>
          <a:xfrm>
            <a:off x="2451100" y="1320800"/>
            <a:ext cx="1397000" cy="381000"/>
          </a:xfrm>
          <a:prstGeom prst="roundRect">
            <a:avLst>
              <a:gd name="adj" fmla="val 16667"/>
            </a:avLst>
          </a:prstGeom>
          <a:solidFill>
            <a:srgbClr val="E9EDF4"/>
          </a:solidFill>
          <a:ln/>
        </p:spPr>
        <p:txBody>
          <a:bodyPr/>
          <a:lstStyle/>
          <a:p>
            <a:endParaRPr lang="en-US"/>
          </a:p>
        </p:txBody>
      </p:sp>
      <p:sp>
        <p:nvSpPr>
          <p:cNvPr id="8" name="Text 4"/>
          <p:cNvSpPr/>
          <p:nvPr/>
        </p:nvSpPr>
        <p:spPr>
          <a:xfrm>
            <a:off x="2517626" y="1328440"/>
            <a:ext cx="1263948"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Access &amp; Service</a:t>
            </a:r>
            <a:endParaRPr lang="en-US" sz="1200" dirty="0"/>
          </a:p>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Delivery</a:t>
            </a:r>
            <a:endParaRPr lang="en-US" sz="1200" dirty="0"/>
          </a:p>
        </p:txBody>
      </p:sp>
      <p:sp>
        <p:nvSpPr>
          <p:cNvPr id="9" name="Text 5"/>
          <p:cNvSpPr/>
          <p:nvPr/>
        </p:nvSpPr>
        <p:spPr>
          <a:xfrm rot="16200000">
            <a:off x="1847850" y="2343150"/>
            <a:ext cx="1638300" cy="355600"/>
          </a:xfrm>
          <a:prstGeom prst="rect">
            <a:avLst/>
          </a:prstGeom>
          <a:noFill/>
          <a:ln/>
        </p:spPr>
        <p:txBody>
          <a:bodyPr wrap="none" lIns="0" tIns="0" rIns="0" bIns="0" rtlCol="0" anchor="t">
            <a:normAutofit/>
          </a:bodyPr>
          <a:lstStyle/>
          <a:p>
            <a:pPr marL="0" indent="0" algn="l">
              <a:lnSpc>
                <a:spcPts val="2604"/>
              </a:lnSpc>
              <a:buNone/>
            </a:pPr>
            <a:r>
              <a:rPr lang="en-US" sz="1200" dirty="0">
                <a:solidFill>
                  <a:srgbClr val="0E1B3D"/>
                </a:solidFill>
                <a:latin typeface="IBM Plex Sans" pitchFamily="34" charset="0"/>
                <a:ea typeface="IBM Plex Sans" pitchFamily="34" charset="-122"/>
                <a:cs typeface="IBM Plex Sans" pitchFamily="34" charset="-120"/>
              </a:rPr>
              <a:t>Accessibility</a:t>
            </a:r>
            <a:endParaRPr lang="en-US" sz="1200" dirty="0"/>
          </a:p>
        </p:txBody>
      </p:sp>
      <p:sp>
        <p:nvSpPr>
          <p:cNvPr id="10" name="Text 6"/>
          <p:cNvSpPr/>
          <p:nvPr/>
        </p:nvSpPr>
        <p:spPr>
          <a:xfrm rot="16200000">
            <a:off x="2178050" y="2343150"/>
            <a:ext cx="1638300" cy="355600"/>
          </a:xfrm>
          <a:prstGeom prst="rect">
            <a:avLst/>
          </a:prstGeom>
          <a:noFill/>
          <a:ln/>
        </p:spPr>
        <p:txBody>
          <a:bodyPr wrap="none" lIns="0" tIns="0" rIns="0" bIns="0" rtlCol="0" anchor="t">
            <a:normAutofit/>
          </a:bodyPr>
          <a:lstStyle/>
          <a:p>
            <a:pPr marL="0" indent="0" algn="l">
              <a:lnSpc>
                <a:spcPts val="2604"/>
              </a:lnSpc>
              <a:buNone/>
            </a:pPr>
            <a:r>
              <a:rPr lang="en-US" sz="1200" dirty="0">
                <a:solidFill>
                  <a:srgbClr val="0E1B3D"/>
                </a:solidFill>
                <a:latin typeface="IBM Plex Sans" pitchFamily="34" charset="0"/>
                <a:ea typeface="IBM Plex Sans" pitchFamily="34" charset="-122"/>
                <a:cs typeface="IBM Plex Sans" pitchFamily="34" charset="-120"/>
              </a:rPr>
              <a:t>Remote use</a:t>
            </a:r>
            <a:endParaRPr lang="en-US" sz="1200" dirty="0"/>
          </a:p>
        </p:txBody>
      </p:sp>
      <p:sp>
        <p:nvSpPr>
          <p:cNvPr id="11" name="Text 7"/>
          <p:cNvSpPr/>
          <p:nvPr/>
        </p:nvSpPr>
        <p:spPr>
          <a:xfrm rot="16200000">
            <a:off x="25082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Low equipment</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burden</a:t>
            </a:r>
            <a:endParaRPr lang="en-US" sz="1200" dirty="0"/>
          </a:p>
        </p:txBody>
      </p:sp>
      <p:sp>
        <p:nvSpPr>
          <p:cNvPr id="12" name="Text 8"/>
          <p:cNvSpPr/>
          <p:nvPr/>
        </p:nvSpPr>
        <p:spPr>
          <a:xfrm rot="16200000">
            <a:off x="28384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Low professional</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involvement</a:t>
            </a:r>
            <a:endParaRPr lang="en-US" sz="1200" dirty="0"/>
          </a:p>
        </p:txBody>
      </p:sp>
      <p:sp>
        <p:nvSpPr>
          <p:cNvPr id="13" name="Shape 9"/>
          <p:cNvSpPr/>
          <p:nvPr/>
        </p:nvSpPr>
        <p:spPr>
          <a:xfrm>
            <a:off x="3848100" y="1320800"/>
            <a:ext cx="1066800" cy="381000"/>
          </a:xfrm>
          <a:prstGeom prst="roundRect">
            <a:avLst>
              <a:gd name="adj" fmla="val 16667"/>
            </a:avLst>
          </a:prstGeom>
          <a:solidFill>
            <a:srgbClr val="FBE9DA"/>
          </a:solidFill>
          <a:ln/>
        </p:spPr>
        <p:txBody>
          <a:bodyPr/>
          <a:lstStyle/>
          <a:p>
            <a:endParaRPr lang="en-US"/>
          </a:p>
        </p:txBody>
      </p:sp>
      <p:sp>
        <p:nvSpPr>
          <p:cNvPr id="14" name="Text 10"/>
          <p:cNvSpPr/>
          <p:nvPr/>
        </p:nvSpPr>
        <p:spPr>
          <a:xfrm>
            <a:off x="3928368" y="1328440"/>
            <a:ext cx="906264"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B0521A"/>
                </a:solidFill>
                <a:latin typeface="IBM Plex Sans" pitchFamily="34" charset="0"/>
                <a:ea typeface="IBM Plex Sans" pitchFamily="34" charset="-122"/>
                <a:cs typeface="IBM Plex Sans" pitchFamily="34" charset="-120"/>
              </a:rPr>
              <a:t>Cost &amp; Time</a:t>
            </a:r>
            <a:endParaRPr lang="en-US" sz="1200" dirty="0"/>
          </a:p>
          <a:p>
            <a:pPr marL="0" indent="0" algn="ctr">
              <a:lnSpc>
                <a:spcPts val="1440"/>
              </a:lnSpc>
              <a:buNone/>
            </a:pPr>
            <a:r>
              <a:rPr lang="en-US" sz="1200" b="1" dirty="0">
                <a:solidFill>
                  <a:srgbClr val="B0521A"/>
                </a:solidFill>
                <a:latin typeface="IBM Plex Sans" pitchFamily="34" charset="0"/>
                <a:ea typeface="IBM Plex Sans" pitchFamily="34" charset="-122"/>
                <a:cs typeface="IBM Plex Sans" pitchFamily="34" charset="-120"/>
              </a:rPr>
              <a:t>(new)</a:t>
            </a:r>
            <a:endParaRPr lang="en-US" sz="1200" dirty="0"/>
          </a:p>
        </p:txBody>
      </p:sp>
      <p:sp>
        <p:nvSpPr>
          <p:cNvPr id="15" name="Text 11"/>
          <p:cNvSpPr/>
          <p:nvPr/>
        </p:nvSpPr>
        <p:spPr>
          <a:xfrm rot="16200000">
            <a:off x="3244850" y="2343150"/>
            <a:ext cx="1638300" cy="355600"/>
          </a:xfrm>
          <a:prstGeom prst="rect">
            <a:avLst/>
          </a:prstGeom>
          <a:noFill/>
          <a:ln/>
        </p:spPr>
        <p:txBody>
          <a:bodyPr wrap="none" lIns="0" tIns="0" rIns="0" bIns="0" rtlCol="0" anchor="t">
            <a:normAutofit/>
          </a:bodyPr>
          <a:lstStyle/>
          <a:p>
            <a:pPr marL="0" indent="0" algn="l">
              <a:lnSpc>
                <a:spcPts val="2604"/>
              </a:lnSpc>
              <a:buNone/>
            </a:pPr>
            <a:r>
              <a:rPr lang="en-US" sz="1200" b="1" dirty="0">
                <a:solidFill>
                  <a:srgbClr val="B0521A"/>
                </a:solidFill>
                <a:latin typeface="IBM Plex Sans" pitchFamily="34" charset="0"/>
                <a:ea typeface="IBM Plex Sans" pitchFamily="34" charset="-122"/>
                <a:cs typeface="IBM Plex Sans" pitchFamily="34" charset="-120"/>
              </a:rPr>
              <a:t>Affordability</a:t>
            </a:r>
            <a:endParaRPr lang="en-US" sz="1200" dirty="0"/>
          </a:p>
        </p:txBody>
      </p:sp>
      <p:sp>
        <p:nvSpPr>
          <p:cNvPr id="16" name="Text 12"/>
          <p:cNvSpPr/>
          <p:nvPr/>
        </p:nvSpPr>
        <p:spPr>
          <a:xfrm rot="16200000">
            <a:off x="35750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Speed /</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convenience</a:t>
            </a:r>
            <a:endParaRPr lang="en-US" sz="1200" dirty="0"/>
          </a:p>
        </p:txBody>
      </p:sp>
      <p:sp>
        <p:nvSpPr>
          <p:cNvPr id="17" name="Text 13"/>
          <p:cNvSpPr/>
          <p:nvPr/>
        </p:nvSpPr>
        <p:spPr>
          <a:xfrm rot="16200000">
            <a:off x="3905250" y="2343150"/>
            <a:ext cx="1638300" cy="355600"/>
          </a:xfrm>
          <a:prstGeom prst="rect">
            <a:avLst/>
          </a:prstGeom>
          <a:noFill/>
          <a:ln/>
        </p:spPr>
        <p:txBody>
          <a:bodyPr wrap="none" lIns="0" tIns="0" rIns="0" bIns="0" rtlCol="0" anchor="t">
            <a:normAutofit/>
          </a:bodyPr>
          <a:lstStyle/>
          <a:p>
            <a:pPr marL="0" indent="0" algn="l">
              <a:lnSpc>
                <a:spcPts val="2604"/>
              </a:lnSpc>
              <a:buNone/>
            </a:pPr>
            <a:r>
              <a:rPr lang="en-US" sz="1200" b="1" dirty="0">
                <a:solidFill>
                  <a:srgbClr val="B0521A"/>
                </a:solidFill>
                <a:latin typeface="IBM Plex Sans" pitchFamily="34" charset="0"/>
                <a:ea typeface="IBM Plex Sans" pitchFamily="34" charset="-122"/>
                <a:cs typeface="IBM Plex Sans" pitchFamily="34" charset="-120"/>
              </a:rPr>
              <a:t>Turnaround time</a:t>
            </a:r>
            <a:endParaRPr lang="en-US" sz="1200" dirty="0"/>
          </a:p>
        </p:txBody>
      </p:sp>
      <p:sp>
        <p:nvSpPr>
          <p:cNvPr id="18" name="Shape 14"/>
          <p:cNvSpPr/>
          <p:nvPr/>
        </p:nvSpPr>
        <p:spPr>
          <a:xfrm>
            <a:off x="4914900" y="1320800"/>
            <a:ext cx="1727200" cy="381000"/>
          </a:xfrm>
          <a:prstGeom prst="roundRect">
            <a:avLst>
              <a:gd name="adj" fmla="val 16667"/>
            </a:avLst>
          </a:prstGeom>
          <a:solidFill>
            <a:srgbClr val="E9EDF4"/>
          </a:solidFill>
          <a:ln/>
        </p:spPr>
        <p:txBody>
          <a:bodyPr/>
          <a:lstStyle/>
          <a:p>
            <a:endParaRPr lang="en-US"/>
          </a:p>
        </p:txBody>
      </p:sp>
      <p:sp>
        <p:nvSpPr>
          <p:cNvPr id="19" name="Text 15"/>
          <p:cNvSpPr/>
          <p:nvPr/>
        </p:nvSpPr>
        <p:spPr>
          <a:xfrm>
            <a:off x="5247035" y="1328440"/>
            <a:ext cx="1062930"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Assessment &amp;</a:t>
            </a:r>
            <a:endParaRPr lang="en-US" sz="1200" dirty="0"/>
          </a:p>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Monitoring</a:t>
            </a:r>
            <a:endParaRPr lang="en-US" sz="1200" dirty="0"/>
          </a:p>
        </p:txBody>
      </p:sp>
      <p:sp>
        <p:nvSpPr>
          <p:cNvPr id="20" name="Text 16"/>
          <p:cNvSpPr/>
          <p:nvPr/>
        </p:nvSpPr>
        <p:spPr>
          <a:xfrm rot="16200000">
            <a:off x="43116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Visual-acuity</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capability</a:t>
            </a:r>
            <a:endParaRPr lang="en-US" sz="1200" dirty="0"/>
          </a:p>
        </p:txBody>
      </p:sp>
      <p:sp>
        <p:nvSpPr>
          <p:cNvPr id="21" name="Text 17"/>
          <p:cNvSpPr/>
          <p:nvPr/>
        </p:nvSpPr>
        <p:spPr>
          <a:xfrm rot="16200000">
            <a:off x="46418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Refractive-error</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capability</a:t>
            </a:r>
            <a:endParaRPr lang="en-US" sz="1200" dirty="0"/>
          </a:p>
        </p:txBody>
      </p:sp>
      <p:sp>
        <p:nvSpPr>
          <p:cNvPr id="22" name="Text 18"/>
          <p:cNvSpPr/>
          <p:nvPr/>
        </p:nvSpPr>
        <p:spPr>
          <a:xfrm rot="16200000">
            <a:off x="49720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Broader vision</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screening</a:t>
            </a:r>
            <a:endParaRPr lang="en-US" sz="1200" dirty="0"/>
          </a:p>
        </p:txBody>
      </p:sp>
      <p:sp>
        <p:nvSpPr>
          <p:cNvPr id="23" name="Text 19"/>
          <p:cNvSpPr/>
          <p:nvPr/>
        </p:nvSpPr>
        <p:spPr>
          <a:xfrm rot="16200000">
            <a:off x="53022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Longitudinal</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tracking</a:t>
            </a:r>
            <a:endParaRPr lang="en-US" sz="1200" dirty="0"/>
          </a:p>
        </p:txBody>
      </p:sp>
      <p:sp>
        <p:nvSpPr>
          <p:cNvPr id="24" name="Text 20"/>
          <p:cNvSpPr/>
          <p:nvPr/>
        </p:nvSpPr>
        <p:spPr>
          <a:xfrm rot="16200000">
            <a:off x="56324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Comprehensive</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assessment depth</a:t>
            </a:r>
            <a:endParaRPr lang="en-US" sz="1200" dirty="0"/>
          </a:p>
        </p:txBody>
      </p:sp>
      <p:sp>
        <p:nvSpPr>
          <p:cNvPr id="25" name="Shape 21"/>
          <p:cNvSpPr/>
          <p:nvPr/>
        </p:nvSpPr>
        <p:spPr>
          <a:xfrm>
            <a:off x="6642100" y="1320800"/>
            <a:ext cx="1727200" cy="381000"/>
          </a:xfrm>
          <a:prstGeom prst="roundRect">
            <a:avLst>
              <a:gd name="adj" fmla="val 16667"/>
            </a:avLst>
          </a:prstGeom>
          <a:solidFill>
            <a:srgbClr val="E9EDF4"/>
          </a:solidFill>
          <a:ln/>
        </p:spPr>
        <p:txBody>
          <a:bodyPr/>
          <a:lstStyle/>
          <a:p>
            <a:endParaRPr lang="en-US"/>
          </a:p>
        </p:txBody>
      </p:sp>
      <p:sp>
        <p:nvSpPr>
          <p:cNvPr id="26" name="Text 22"/>
          <p:cNvSpPr/>
          <p:nvPr/>
        </p:nvSpPr>
        <p:spPr>
          <a:xfrm>
            <a:off x="6959848" y="1328440"/>
            <a:ext cx="1091704" cy="391120"/>
          </a:xfrm>
          <a:prstGeom prst="rect">
            <a:avLst/>
          </a:prstGeom>
          <a:noFill/>
          <a:ln/>
        </p:spPr>
        <p:txBody>
          <a:bodyPr wrap="square" lIns="0" tIns="0" rIns="0" bIns="0" rtlCol="0" anchor="t">
            <a:normAutofit/>
          </a:bodyPr>
          <a:lstStyle/>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Institutional &amp;</a:t>
            </a:r>
            <a:endParaRPr lang="en-US" sz="1200" dirty="0"/>
          </a:p>
          <a:p>
            <a:pPr marL="0" indent="0" algn="ctr">
              <a:lnSpc>
                <a:spcPts val="1440"/>
              </a:lnSpc>
              <a:buNone/>
            </a:pPr>
            <a:r>
              <a:rPr lang="en-US" sz="1200" b="1" dirty="0">
                <a:solidFill>
                  <a:srgbClr val="0E1B3D"/>
                </a:solidFill>
                <a:latin typeface="IBM Plex Sans" pitchFamily="34" charset="0"/>
                <a:ea typeface="IBM Plex Sans" pitchFamily="34" charset="-122"/>
                <a:cs typeface="IBM Plex Sans" pitchFamily="34" charset="-120"/>
              </a:rPr>
              <a:t>Market Fit</a:t>
            </a:r>
            <a:endParaRPr lang="en-US" sz="1200" dirty="0"/>
          </a:p>
        </p:txBody>
      </p:sp>
      <p:sp>
        <p:nvSpPr>
          <p:cNvPr id="27" name="Text 23"/>
          <p:cNvSpPr/>
          <p:nvPr/>
        </p:nvSpPr>
        <p:spPr>
          <a:xfrm rot="16200000">
            <a:off x="60388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Regulatory</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readiness</a:t>
            </a:r>
            <a:endParaRPr lang="en-US" sz="1200" dirty="0"/>
          </a:p>
        </p:txBody>
      </p:sp>
      <p:sp>
        <p:nvSpPr>
          <p:cNvPr id="28" name="Text 24"/>
          <p:cNvSpPr/>
          <p:nvPr/>
        </p:nvSpPr>
        <p:spPr>
          <a:xfrm rot="16200000">
            <a:off x="63690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Standardization /</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test integrity</a:t>
            </a:r>
            <a:endParaRPr lang="en-US" sz="1200" dirty="0"/>
          </a:p>
        </p:txBody>
      </p:sp>
      <p:sp>
        <p:nvSpPr>
          <p:cNvPr id="29" name="Text 25"/>
          <p:cNvSpPr/>
          <p:nvPr/>
        </p:nvSpPr>
        <p:spPr>
          <a:xfrm rot="16200000">
            <a:off x="66992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Organizational</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acceptability</a:t>
            </a:r>
            <a:endParaRPr lang="en-US" sz="1200" dirty="0"/>
          </a:p>
        </p:txBody>
      </p:sp>
      <p:sp>
        <p:nvSpPr>
          <p:cNvPr id="30" name="Text 26"/>
          <p:cNvSpPr/>
          <p:nvPr/>
        </p:nvSpPr>
        <p:spPr>
          <a:xfrm rot="16200000">
            <a:off x="70294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Direct-to-consumer</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suitability</a:t>
            </a:r>
            <a:endParaRPr lang="en-US" sz="1200" dirty="0"/>
          </a:p>
        </p:txBody>
      </p:sp>
      <p:sp>
        <p:nvSpPr>
          <p:cNvPr id="31" name="Text 27"/>
          <p:cNvSpPr/>
          <p:nvPr/>
        </p:nvSpPr>
        <p:spPr>
          <a:xfrm rot="16200000">
            <a:off x="7359650" y="2342604"/>
            <a:ext cx="1638300" cy="355600"/>
          </a:xfrm>
          <a:prstGeom prst="rect">
            <a:avLst/>
          </a:prstGeom>
          <a:noFill/>
          <a:ln/>
        </p:spPr>
        <p:txBody>
          <a:bodyPr wrap="non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School / community</a:t>
            </a:r>
            <a:endParaRPr lang="en-US" sz="1200" dirty="0"/>
          </a:p>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scalability</a:t>
            </a:r>
            <a:endParaRPr lang="en-US" sz="1200" dirty="0"/>
          </a:p>
        </p:txBody>
      </p:sp>
      <p:sp>
        <p:nvSpPr>
          <p:cNvPr id="32" name="Text 28"/>
          <p:cNvSpPr/>
          <p:nvPr/>
        </p:nvSpPr>
        <p:spPr>
          <a:xfrm>
            <a:off x="914400" y="3365500"/>
            <a:ext cx="1524000"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Comprehensive eye exam</a:t>
            </a:r>
            <a:endParaRPr lang="en-US" sz="1200" dirty="0"/>
          </a:p>
        </p:txBody>
      </p:sp>
      <p:sp>
        <p:nvSpPr>
          <p:cNvPr id="33" name="Text 29"/>
          <p:cNvSpPr/>
          <p:nvPr/>
        </p:nvSpPr>
        <p:spPr>
          <a:xfrm>
            <a:off x="914400" y="3778250"/>
            <a:ext cx="1524000"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Visibly</a:t>
            </a:r>
            <a:endParaRPr lang="en-US" sz="1200" dirty="0"/>
          </a:p>
        </p:txBody>
      </p:sp>
      <p:sp>
        <p:nvSpPr>
          <p:cNvPr id="34" name="Text 30"/>
          <p:cNvSpPr/>
          <p:nvPr/>
        </p:nvSpPr>
        <p:spPr>
          <a:xfrm>
            <a:off x="914400" y="4108450"/>
            <a:ext cx="1524000"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EyeQue</a:t>
            </a:r>
            <a:endParaRPr lang="en-US" sz="1200" dirty="0"/>
          </a:p>
        </p:txBody>
      </p:sp>
      <p:sp>
        <p:nvSpPr>
          <p:cNvPr id="35" name="Text 31"/>
          <p:cNvSpPr/>
          <p:nvPr/>
        </p:nvSpPr>
        <p:spPr>
          <a:xfrm>
            <a:off x="914400" y="4438650"/>
            <a:ext cx="1524000"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Peek Acuity</a:t>
            </a:r>
            <a:endParaRPr lang="en-US" sz="1200" dirty="0"/>
          </a:p>
        </p:txBody>
      </p:sp>
      <p:sp>
        <p:nvSpPr>
          <p:cNvPr id="36" name="Text 32"/>
          <p:cNvSpPr/>
          <p:nvPr/>
        </p:nvSpPr>
        <p:spPr>
          <a:xfrm>
            <a:off x="914400" y="4768850"/>
            <a:ext cx="1524000"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WHOeyes</a:t>
            </a:r>
            <a:endParaRPr lang="en-US" sz="1200" dirty="0"/>
          </a:p>
        </p:txBody>
      </p:sp>
      <p:sp>
        <p:nvSpPr>
          <p:cNvPr id="37" name="Text 33"/>
          <p:cNvSpPr/>
          <p:nvPr/>
        </p:nvSpPr>
        <p:spPr>
          <a:xfrm>
            <a:off x="914400" y="5099050"/>
            <a:ext cx="1524000" cy="189954"/>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Snellen chart</a:t>
            </a:r>
            <a:endParaRPr lang="en-US" sz="1200" dirty="0"/>
          </a:p>
        </p:txBody>
      </p:sp>
      <p:sp>
        <p:nvSpPr>
          <p:cNvPr id="38" name="Text 34"/>
          <p:cNvSpPr/>
          <p:nvPr/>
        </p:nvSpPr>
        <p:spPr>
          <a:xfrm>
            <a:off x="914400" y="5346700"/>
            <a:ext cx="1524000"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School screening programs</a:t>
            </a:r>
            <a:endParaRPr lang="en-US" sz="1200" dirty="0"/>
          </a:p>
        </p:txBody>
      </p:sp>
      <p:sp>
        <p:nvSpPr>
          <p:cNvPr id="39" name="Text 35"/>
          <p:cNvSpPr/>
          <p:nvPr/>
        </p:nvSpPr>
        <p:spPr>
          <a:xfrm>
            <a:off x="914400" y="5676900"/>
            <a:ext cx="1524000"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0E1B3D"/>
                </a:solidFill>
                <a:latin typeface="IBM Plex Sans" pitchFamily="34" charset="0"/>
                <a:ea typeface="IBM Plex Sans" pitchFamily="34" charset="-122"/>
                <a:cs typeface="IBM Plex Sans" pitchFamily="34" charset="-120"/>
              </a:rPr>
              <a:t>Airline vision qualification testing</a:t>
            </a:r>
            <a:endParaRPr lang="en-US" sz="1200" dirty="0"/>
          </a:p>
        </p:txBody>
      </p:sp>
      <p:sp>
        <p:nvSpPr>
          <p:cNvPr id="40" name="Text 36"/>
          <p:cNvSpPr/>
          <p:nvPr/>
        </p:nvSpPr>
        <p:spPr>
          <a:xfrm>
            <a:off x="8458200" y="36957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FDA-cleared for acuity only, ages 22–40; doesn’t screen for eye disease</a:t>
            </a:r>
            <a:endParaRPr lang="en-US" sz="1200" dirty="0"/>
          </a:p>
        </p:txBody>
      </p:sp>
      <p:sp>
        <p:nvSpPr>
          <p:cNvPr id="41" name="Text 37"/>
          <p:cNvSpPr/>
          <p:nvPr/>
        </p:nvSpPr>
        <p:spPr>
          <a:xfrm>
            <a:off x="8458200" y="40259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Needs $129 hardware and provider review; doesn’t evaluate ocular health</a:t>
            </a:r>
            <a:endParaRPr lang="en-US" sz="1200" dirty="0"/>
          </a:p>
        </p:txBody>
      </p:sp>
      <p:sp>
        <p:nvSpPr>
          <p:cNvPr id="42" name="Text 38"/>
          <p:cNvSpPr/>
          <p:nvPr/>
        </p:nvSpPr>
        <p:spPr>
          <a:xfrm>
            <a:off x="8458200" y="43561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No professional needed, but not a self-test; acuity only; no saved results</a:t>
            </a:r>
            <a:endParaRPr lang="en-US" sz="1200" dirty="0"/>
          </a:p>
        </p:txBody>
      </p:sp>
      <p:sp>
        <p:nvSpPr>
          <p:cNvPr id="43" name="Text 39"/>
          <p:cNvSpPr/>
          <p:nvPr/>
        </p:nvSpPr>
        <p:spPr>
          <a:xfrm>
            <a:off x="8458200" y="46863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Standardized and ETDRS-evaluated, but acuity only; misses peripheral defects</a:t>
            </a:r>
            <a:endParaRPr lang="en-US" sz="1200" dirty="0"/>
          </a:p>
        </p:txBody>
      </p:sp>
      <p:sp>
        <p:nvSpPr>
          <p:cNvPr id="44" name="Text 40"/>
          <p:cNvSpPr/>
          <p:nvPr/>
        </p:nvSpPr>
        <p:spPr>
          <a:xfrm>
            <a:off x="8458200" y="53467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Varies by jurisdiction and training; built for referral, not diagnosis</a:t>
            </a:r>
            <a:endParaRPr lang="en-US" sz="1200" dirty="0"/>
          </a:p>
        </p:txBody>
      </p:sp>
      <p:sp>
        <p:nvSpPr>
          <p:cNvPr id="45" name="Text 41"/>
          <p:cNvSpPr/>
          <p:nvPr/>
        </p:nvSpPr>
        <p:spPr>
          <a:xfrm>
            <a:off x="8458200" y="5676900"/>
            <a:ext cx="2903982" cy="354509"/>
          </a:xfrm>
          <a:prstGeom prst="rect">
            <a:avLst/>
          </a:prstGeom>
          <a:noFill/>
          <a:ln/>
        </p:spPr>
        <p:txBody>
          <a:bodyPr wrap="square" lIns="0" tIns="0" rIns="0" bIns="0" rtlCol="0" anchor="t">
            <a:normAutofit/>
          </a:bodyPr>
          <a:lstStyle/>
          <a:p>
            <a:pPr marL="0" indent="0" algn="l">
              <a:lnSpc>
                <a:spcPts val="1296"/>
              </a:lnSpc>
              <a:buNone/>
            </a:pPr>
            <a:r>
              <a:rPr lang="en-US" sz="1200" dirty="0">
                <a:solidFill>
                  <a:srgbClr val="3A4660"/>
                </a:solidFill>
                <a:latin typeface="IBM Plex Sans" pitchFamily="34" charset="0"/>
                <a:ea typeface="IBM Plex Sans" pitchFamily="34" charset="-122"/>
                <a:cs typeface="IBM Plex Sans" pitchFamily="34" charset="-120"/>
              </a:rPr>
              <a:t>FAA checks acuity thresholds; no refraction or prescription</a:t>
            </a:r>
            <a:endParaRPr lang="en-US" sz="1200" dirty="0"/>
          </a:p>
        </p:txBody>
      </p:sp>
      <p:pic>
        <p:nvPicPr>
          <p:cNvPr id="46" name="Image 2" descr="Harvey ball scale from strong to none"/>
          <p:cNvPicPr>
            <a:picLocks noChangeAspect="1"/>
          </p:cNvPicPr>
          <p:nvPr/>
        </p:nvPicPr>
        <p:blipFill>
          <a:blip r:embed="rId5"/>
          <a:srcRect/>
          <a:stretch/>
        </p:blipFill>
        <p:spPr>
          <a:xfrm>
            <a:off x="914400" y="1320800"/>
            <a:ext cx="1079500" cy="177800"/>
          </a:xfrm>
          <a:prstGeom prst="rect">
            <a:avLst/>
          </a:prstGeom>
        </p:spPr>
      </p:pic>
      <p:sp>
        <p:nvSpPr>
          <p:cNvPr id="47" name="Text 42"/>
          <p:cNvSpPr/>
          <p:nvPr/>
        </p:nvSpPr>
        <p:spPr>
          <a:xfrm>
            <a:off x="914400" y="1524000"/>
            <a:ext cx="50041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Strong</a:t>
            </a:r>
            <a:endParaRPr lang="en-US" sz="1200" dirty="0"/>
          </a:p>
        </p:txBody>
      </p:sp>
      <p:sp>
        <p:nvSpPr>
          <p:cNvPr id="48" name="Text 43"/>
          <p:cNvSpPr/>
          <p:nvPr/>
        </p:nvSpPr>
        <p:spPr>
          <a:xfrm>
            <a:off x="1630561" y="1524000"/>
            <a:ext cx="414139"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E6A82"/>
                </a:solidFill>
                <a:latin typeface="IBM Plex Sans" pitchFamily="34" charset="0"/>
                <a:ea typeface="IBM Plex Sans" pitchFamily="34" charset="-122"/>
                <a:cs typeface="IBM Plex Sans" pitchFamily="34" charset="-120"/>
              </a:rPr>
              <a:t>None</a:t>
            </a:r>
            <a:endParaRPr lang="en-US" sz="1200" dirty="0"/>
          </a:p>
        </p:txBody>
      </p:sp>
      <p:pic>
        <p:nvPicPr>
          <p:cNvPr id="49" name="Image 3" descr="Example: our score moderate-low, AI's arc moderate-high"/>
          <p:cNvPicPr>
            <a:picLocks noChangeAspect="1"/>
          </p:cNvPicPr>
          <p:nvPr/>
        </p:nvPicPr>
        <p:blipFill>
          <a:blip r:embed="rId6"/>
          <a:srcRect/>
          <a:stretch/>
        </p:blipFill>
        <p:spPr>
          <a:xfrm>
            <a:off x="914400" y="1823690"/>
            <a:ext cx="304800" cy="304800"/>
          </a:xfrm>
          <a:prstGeom prst="rect">
            <a:avLst/>
          </a:prstGeom>
        </p:spPr>
      </p:pic>
      <p:sp>
        <p:nvSpPr>
          <p:cNvPr id="50" name="Text 44"/>
          <p:cNvSpPr/>
          <p:nvPr/>
        </p:nvSpPr>
        <p:spPr>
          <a:xfrm>
            <a:off x="1295400" y="1823690"/>
            <a:ext cx="1143000"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0521A"/>
                </a:solidFill>
                <a:latin typeface="IBM Plex Sans" pitchFamily="34" charset="0"/>
                <a:ea typeface="IBM Plex Sans" pitchFamily="34" charset="-122"/>
                <a:cs typeface="IBM Plex Sans" pitchFamily="34" charset="-120"/>
              </a:rPr>
              <a:t>Orange arc: the AI’s original score</a:t>
            </a:r>
            <a:endParaRPr lang="en-US" sz="1200" dirty="0"/>
          </a:p>
        </p:txBody>
      </p:sp>
      <p:sp>
        <p:nvSpPr>
          <p:cNvPr id="51" name="Text 45"/>
          <p:cNvSpPr/>
          <p:nvPr/>
        </p:nvSpPr>
        <p:spPr>
          <a:xfrm>
            <a:off x="914400" y="2519561"/>
            <a:ext cx="152400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B0521A"/>
                </a:solidFill>
                <a:latin typeface="IBM Plex Sans" pitchFamily="34" charset="0"/>
                <a:ea typeface="IBM Plex Sans" pitchFamily="34" charset="-122"/>
                <a:cs typeface="IBM Plex Sans" pitchFamily="34" charset="-120"/>
              </a:rPr>
              <a:t>Orange labels: our additions</a:t>
            </a:r>
            <a:endParaRPr lang="en-US" sz="1200" dirty="0"/>
          </a:p>
        </p:txBody>
      </p:sp>
      <p:sp>
        <p:nvSpPr>
          <p:cNvPr id="52" name="Text 46"/>
          <p:cNvSpPr/>
          <p:nvPr/>
        </p:nvSpPr>
        <p:spPr>
          <a:xfrm>
            <a:off x="8458200" y="1486148"/>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521A"/>
                </a:solidFill>
                <a:latin typeface="IBM Plex Sans" pitchFamily="34" charset="0"/>
                <a:ea typeface="IBM Plex Sans" pitchFamily="34" charset="-122"/>
                <a:cs typeface="IBM Plex Sans" pitchFamily="34" charset="-120"/>
              </a:rPr>
              <a:t>CHANGES FROM THE AI</a:t>
            </a:r>
            <a:endParaRPr lang="en-US" sz="1200" dirty="0"/>
          </a:p>
        </p:txBody>
      </p:sp>
      <p:sp>
        <p:nvSpPr>
          <p:cNvPr id="53" name="Text 47"/>
          <p:cNvSpPr/>
          <p:nvPr/>
        </p:nvSpPr>
        <p:spPr>
          <a:xfrm>
            <a:off x="8458200" y="1775668"/>
            <a:ext cx="300863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B0521A"/>
                </a:solidFill>
                <a:latin typeface="IBM Plex Sans" pitchFamily="34" charset="0"/>
                <a:ea typeface="IBM Plex Sans" pitchFamily="34" charset="-122"/>
                <a:cs typeface="IBM Plex Sans" pitchFamily="34" charset="-120"/>
              </a:rPr>
              <a:t>Added</a:t>
            </a:r>
            <a:r>
              <a:rPr lang="en-US" sz="1200" dirty="0">
                <a:solidFill>
                  <a:srgbClr val="3A4660"/>
                </a:solidFill>
                <a:latin typeface="IBM Plex Sans" pitchFamily="34" charset="0"/>
                <a:ea typeface="IBM Plex Sans" pitchFamily="34" charset="-122"/>
                <a:cs typeface="IBM Plex Sans" pitchFamily="34" charset="-120"/>
              </a:rPr>
              <a:t> a Cost &amp; Time category, with new Affordability and Turnaround time criteria</a:t>
            </a:r>
            <a:endParaRPr lang="en-US" sz="1200" dirty="0"/>
          </a:p>
        </p:txBody>
      </p:sp>
      <p:sp>
        <p:nvSpPr>
          <p:cNvPr id="54" name="Text 48"/>
          <p:cNvSpPr/>
          <p:nvPr/>
        </p:nvSpPr>
        <p:spPr>
          <a:xfrm>
            <a:off x="8458200" y="2248049"/>
            <a:ext cx="3008630" cy="61967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B0521A"/>
                </a:solidFill>
                <a:latin typeface="IBM Plex Sans" pitchFamily="34" charset="0"/>
                <a:ea typeface="IBM Plex Sans" pitchFamily="34" charset="-122"/>
                <a:cs typeface="IBM Plex Sans" pitchFamily="34" charset="-120"/>
              </a:rPr>
              <a:t>Removed</a:t>
            </a:r>
            <a:r>
              <a:rPr lang="en-US" sz="1200" dirty="0">
                <a:solidFill>
                  <a:srgbClr val="3A4660"/>
                </a:solidFill>
                <a:latin typeface="IBM Plex Sans" pitchFamily="34" charset="0"/>
                <a:ea typeface="IBM Plex Sans" pitchFamily="34" charset="-122"/>
                <a:cs typeface="IBM Plex Sans" pitchFamily="34" charset="-120"/>
              </a:rPr>
              <a:t> licensing-agency and employer tests: testing contexts, not distinct products</a:t>
            </a:r>
            <a:endParaRPr lang="en-US" sz="1200" dirty="0"/>
          </a:p>
        </p:txBody>
      </p:sp>
      <p:sp>
        <p:nvSpPr>
          <p:cNvPr id="55" name="Text 49"/>
          <p:cNvSpPr/>
          <p:nvPr/>
        </p:nvSpPr>
        <p:spPr>
          <a:xfrm>
            <a:off x="8458200" y="2918520"/>
            <a:ext cx="300863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B0521A"/>
                </a:solidFill>
                <a:latin typeface="IBM Plex Sans" pitchFamily="34" charset="0"/>
                <a:ea typeface="IBM Plex Sans" pitchFamily="34" charset="-122"/>
                <a:cs typeface="IBM Plex Sans" pitchFamily="34" charset="-120"/>
              </a:rPr>
              <a:t>Rescored</a:t>
            </a:r>
            <a:r>
              <a:rPr lang="en-US" sz="1200" dirty="0">
                <a:solidFill>
                  <a:srgbClr val="3A4660"/>
                </a:solidFill>
                <a:latin typeface="IBM Plex Sans" pitchFamily="34" charset="0"/>
                <a:ea typeface="IBM Plex Sans" pitchFamily="34" charset="-122"/>
                <a:cs typeface="IBM Plex Sans" pitchFamily="34" charset="-120"/>
              </a:rPr>
              <a:t> 18 cells. Our evidence, row by row: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2610</Words>
  <Application>Microsoft Macintosh PowerPoint</Application>
  <PresentationFormat>Widescreen</PresentationFormat>
  <Paragraphs>220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Space Grotesk</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Focal — Competitive Landscape Analysis (Slides 1–7)</dc:title>
  <dc:subject>PptxGenJS Presentation</dc:subject>
  <dc:creator>PptxGenJS</dc:creator>
  <cp:lastModifiedBy>Haydn Stucker</cp:lastModifiedBy>
  <cp:revision>2</cp:revision>
  <dcterms:created xsi:type="dcterms:W3CDTF">2026-09-24T03:16:37Z</dcterms:created>
  <dcterms:modified xsi:type="dcterms:W3CDTF">2026-09-24T03:17:06Z</dcterms:modified>
</cp:coreProperties>
</file>